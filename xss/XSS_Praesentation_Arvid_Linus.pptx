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83f9f4483b543a4" /><Relationship Type="http://schemas.openxmlformats.org/officeDocument/2006/relationships/extended-properties" Target="/docProps/app.xml" Id="R662cc910ccfb4bac" /><Relationship Type="http://schemas.openxmlformats.org/officeDocument/2006/relationships/officeDocument" Target="/ppt/presentation.xml" Id="Rde2145d13d664c3c" /></Relationships>
</file>

<file path=ppt/presentation.xml><?xml version="1.0" encoding="utf-8"?>
<p:presentation xmlns:p="http://schemas.openxmlformats.org/presentationml/2006/main">
  <p:sldMasterIdLst>
    <p:sldMasterId xmlns:r="http://schemas.openxmlformats.org/officeDocument/2006/relationships" id="2147483648" r:id="R81c324147d444383"/>
  </p:sldMasterIdLst>
  <p:notesMasterIdLst>
    <p:notesMasterId xmlns:r="http://schemas.openxmlformats.org/officeDocument/2006/relationships" r:id="R08d3b26f6f114476"/>
  </p:notesMasterIdLst>
  <p:sldIdLst>
    <p:sldId xmlns:r="http://schemas.openxmlformats.org/officeDocument/2006/relationships" id="256" r:id="R130b2ee4f2c549b2"/>
    <p:sldId xmlns:r="http://schemas.openxmlformats.org/officeDocument/2006/relationships" id="257" r:id="Rfc6d1acdeadf4f80"/>
    <p:sldId xmlns:r="http://schemas.openxmlformats.org/officeDocument/2006/relationships" id="258" r:id="R2cf4c5c0040f48af"/>
    <p:sldId xmlns:r="http://schemas.openxmlformats.org/officeDocument/2006/relationships" id="259" r:id="Rbac907d00b444379"/>
    <p:sldId xmlns:r="http://schemas.openxmlformats.org/officeDocument/2006/relationships" id="260" r:id="R6630ffc027514858"/>
    <p:sldId xmlns:r="http://schemas.openxmlformats.org/officeDocument/2006/relationships" id="261" r:id="R7dddfac6ab9b4611"/>
    <p:sldId xmlns:r="http://schemas.openxmlformats.org/officeDocument/2006/relationships" id="262" r:id="Rbbd9a0c58e6549e6"/>
    <p:sldId xmlns:r="http://schemas.openxmlformats.org/officeDocument/2006/relationships" id="263" r:id="R83b65e5e6d2f4b32"/>
    <p:sldId xmlns:r="http://schemas.openxmlformats.org/officeDocument/2006/relationships" id="264" r:id="R29b8a691544f448d"/>
    <p:sldId xmlns:r="http://schemas.openxmlformats.org/officeDocument/2006/relationships" id="265" r:id="Rf9fe5c4bf85d4b33"/>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48766041553413d" /><Relationship Type="http://schemas.openxmlformats.org/officeDocument/2006/relationships/slideMaster" Target="/ppt/slideMasters/slideMaster1.xml" Id="R81c324147d444383" /><Relationship Type="http://schemas.openxmlformats.org/officeDocument/2006/relationships/notesMaster" Target="/ppt/notesMasters/notesMaster1.xml" Id="R08d3b26f6f114476" /><Relationship Type="http://schemas.openxmlformats.org/officeDocument/2006/relationships/presProps" Target="/ppt/presProps.xml" Id="R9f57afb5ab8d46c6" /><Relationship Type="http://schemas.openxmlformats.org/officeDocument/2006/relationships/viewProps" Target="/ppt/viewProps.xml" Id="Rb75b360831034825" /><Relationship Type="http://schemas.openxmlformats.org/officeDocument/2006/relationships/tableStyles" Target="/ppt/tableStyles.xml" Id="Ra218e905282944f1" /><Relationship Type="http://schemas.openxmlformats.org/officeDocument/2006/relationships/slide" Target="/ppt/slides/slide1.xml" Id="R130b2ee4f2c549b2" /><Relationship Type="http://schemas.openxmlformats.org/officeDocument/2006/relationships/slide" Target="/ppt/slides/slide2.xml" Id="Rfc6d1acdeadf4f80" /><Relationship Type="http://schemas.openxmlformats.org/officeDocument/2006/relationships/slide" Target="/ppt/slides/slide3.xml" Id="R2cf4c5c0040f48af" /><Relationship Type="http://schemas.openxmlformats.org/officeDocument/2006/relationships/slide" Target="/ppt/slides/slide4.xml" Id="Rbac907d00b444379" /><Relationship Type="http://schemas.openxmlformats.org/officeDocument/2006/relationships/slide" Target="/ppt/slides/slide5.xml" Id="R6630ffc027514858" /><Relationship Type="http://schemas.openxmlformats.org/officeDocument/2006/relationships/slide" Target="/ppt/slides/slide6.xml" Id="R7dddfac6ab9b4611" /><Relationship Type="http://schemas.openxmlformats.org/officeDocument/2006/relationships/slide" Target="/ppt/slides/slide7.xml" Id="Rbbd9a0c58e6549e6" /><Relationship Type="http://schemas.openxmlformats.org/officeDocument/2006/relationships/slide" Target="/ppt/slides/slide8.xml" Id="R83b65e5e6d2f4b32" /><Relationship Type="http://schemas.openxmlformats.org/officeDocument/2006/relationships/slide" Target="/ppt/slides/slide9.xml" Id="R29b8a691544f448d" /><Relationship Type="http://schemas.openxmlformats.org/officeDocument/2006/relationships/slide" Target="/ppt/slides/slide10.xml" Id="Rf9fe5c4bf85d4b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ceb660254d04f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0c0a7ededd454e" /><Relationship Type="http://schemas.openxmlformats.org/officeDocument/2006/relationships/notesMaster" Target="/ppt/notesMasters/notesMaster1.xml" Id="Rc1a2b07c82c242a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cecb1019684705" /><Relationship Type="http://schemas.openxmlformats.org/officeDocument/2006/relationships/notesMaster" Target="/ppt/notesMasters/notesMaster1.xml" Id="R3b121e1eae6d4f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c07ce1c13c4bb7" /><Relationship Type="http://schemas.openxmlformats.org/officeDocument/2006/relationships/notesMaster" Target="/ppt/notesMasters/notesMaster1.xml" Id="R7e7f3249dd7b47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6d3bd09fcca432b" /><Relationship Type="http://schemas.openxmlformats.org/officeDocument/2006/relationships/notesMaster" Target="/ppt/notesMasters/notesMaster1.xml" Id="Rfd9740719484425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16cdb274ba436d" /><Relationship Type="http://schemas.openxmlformats.org/officeDocument/2006/relationships/notesMaster" Target="/ppt/notesMasters/notesMaster1.xml" Id="R146d2e08151649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3fde17bcaa4533" /><Relationship Type="http://schemas.openxmlformats.org/officeDocument/2006/relationships/notesMaster" Target="/ppt/notesMasters/notesMaster1.xml" Id="R95b6d3a7e9564136"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39290005814ea5" /><Relationship Type="http://schemas.openxmlformats.org/officeDocument/2006/relationships/notesMaster" Target="/ppt/notesMasters/notesMaster1.xml" Id="R5527a94a3e9345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27c4b772579e474b" /><Relationship Type="http://schemas.openxmlformats.org/officeDocument/2006/relationships/notesMaster" Target="/ppt/notesMasters/notesMaster1.xml" Id="R5b49e5f3b5d84a8a" /></Relationships>
</file>

<file path=ppt/notesSlides/_rels/notesSlide9.xml.rels>&#65279;<?xml version="1.0" encoding="utf-8"?><Relationships xmlns="http://schemas.openxmlformats.org/package/2006/relationships"><Relationship Type="http://schemas.openxmlformats.org/officeDocument/2006/relationships/slide" Target="/ppt/slides/slide9.xml" Id="Rb9b6fd33d170430b" /><Relationship Type="http://schemas.openxmlformats.org/officeDocument/2006/relationships/notesMaster" Target="/ppt/notesMasters/notesMaster1.xml" Id="R02eaca74b8794dd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c2a52a2a7b24bb7" /><Relationship Type="http://schemas.openxmlformats.org/officeDocument/2006/relationships/notesMaster" Target="/ppt/notesMasters/notesMaster1.xml" Id="R9927582271d243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Linus: Wir erklären zunächst die Grundlagen von Cross Site Scripting und zeigen danach die konkrete Stored DOM XSS Schwachstelle im Scheduler.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Linus: XSS ist kein Fehler beim Speichern allein. Entscheidend ist die spätere Ausgabe. Sobald Nutzerdaten als HTML interpretiert werden, kann daraus ausführbarer Code werden.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Linus: Stored XSS bleibt in der Anwendung gespeichert. Reflected XSS wird direkt aus einer Anfrage zurückgegeben. DOM XSS entsteht beim unsicheren Schreiben in das DOM. Unsere Schwachstelle verbindet Stored XSS und DOM XSS.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Linus: Typische unsichere Senken sind innerHTML oder HTML Rendering ohne Escaping. Das sichere Grundprinzip ist Output Encoding. In Vue geschieht das bei normaler Interpolation automatisch.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Arvid: Die Schwachstelle liegt nicht in einer direkten Nutzung von v html im eigenen Code. Gespeicherte Werte werden an VueCal übergeben und dort im Standardrenderer mit innerHTML ausgegeben.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Arvid: Der Setup Test bereitet reproduzierbare lokale Daten vor. Danach zeigen wir dieselbe Route einmal mit der unsicheren und einmal mit der sicheren Kalenderkomponente.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Arvid: Zuerst die unsichere Variante öffnen und die Codeausführung zeigen. Danach die sichere Variante starten. Der gespeicherte Payload bleibt unverändert, wird aber nur noch als Text angezeigt.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Linus: Die Demo nutzt nur einen harmlosen sichtbaren Effekt. Reale XSS könnte sichtbare Daten lesen, API Requests im Kontext des Nutzers senden oder auf den im JavaScript Kontext verfügbaren Keycloak Token zugreifen.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Arvid: Der Fix ist ein eigener Event Slot. Vue Interpolation escaped den Event Titel und erzeugt Text. Dieser Fix muss auf alle VueCal Ansichten mit Datenbankwerten übertragen werden.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Arvid: Der wichtigste Schutz ist sichere Ausgabe. Content Security Policy, Validierung und Tests sind zusätzliche Schichten, ersetzen den eigentlichen Fix aber nicht.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532fc8d2cd478d"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cb49ddec0f14dcf" /><Relationship Type="http://schemas.openxmlformats.org/officeDocument/2006/relationships/slideLayout" Target="/ppt/slideLayouts/slideLayout1.xml" Id="R18919cf47db94558"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8919cf47db94558"/>
  </p:sldLayoutIdLst>
  <p:hf sldNum="0" hdr="0" ftr="0" dt="0"/>
  <p:txStyles>
    <p:titleStyle>
      <a:lvl1pPr xmlns:a="http://schemas.openxmlformats.org/drawingml/2006/main" algn="ctr">
        <a:spcBef>
          <a:spcPts val="0"/>
        </a:spcBef>
        <a:buNone/>
        <a:defRPr sz="4400">
          <a:solidFill>
            <a:schemeClr val="tx1"/>
          </a:solidFill>
          <a:latin typeface="+mj-lt"/>
          <a:ea typeface="+mj-lt"/>
          <a:cs typeface="+mj-lt"/>
        </a:defRPr>
      </a:lvl1pPr>
    </p:titleStyle>
    <p:bodyStyle>
      <a:lvl1pPr xmlns:a="http://schemas.openxmlformats.org/drawingml/2006/main" marL="342900" indent="-342900" algn="l">
        <a:spcBef>
          <a:spcPts val="0"/>
        </a:spcBef>
        <a:buChar char="•"/>
        <a:defRPr sz="3200">
          <a:solidFill>
            <a:schemeClr val="tx1"/>
          </a:solidFill>
          <a:latin typeface="+mn-lt"/>
          <a:ea typeface="+mn-lt"/>
          <a:cs typeface="+mn-lt"/>
        </a:defRPr>
      </a:lvl1pPr>
      <a:lvl2pPr xmlns:a="http://schemas.openxmlformats.org/drawingml/2006/main" marL="742950" indent="-285750" algn="l">
        <a:spcBef>
          <a:spcPts val="0"/>
        </a:spcBef>
        <a:buChar char="–"/>
        <a:defRPr sz="2800">
          <a:solidFill>
            <a:schemeClr val="tx1"/>
          </a:solidFill>
          <a:latin typeface="+mn-lt"/>
          <a:ea typeface="+mn-lt"/>
          <a:cs typeface="+mn-lt"/>
        </a:defRPr>
      </a:lvl2pPr>
      <a:lvl3pPr xmlns:a="http://schemas.openxmlformats.org/drawingml/2006/main" marL="1143000" indent="-228600" algn="l">
        <a:spcBef>
          <a:spcPts val="0"/>
        </a:spcBef>
        <a:buChar char="•"/>
        <a:defRPr sz="2400">
          <a:solidFill>
            <a:schemeClr val="tx1"/>
          </a:solidFill>
          <a:latin typeface="+mn-lt"/>
          <a:ea typeface="+mn-lt"/>
          <a:cs typeface="+mn-lt"/>
        </a:defRPr>
      </a:lvl3pPr>
      <a:lvl4pPr xmlns:a="http://schemas.openxmlformats.org/drawingml/2006/main" marL="1600200" indent="-228600" algn="l">
        <a:spcBef>
          <a:spcPts val="0"/>
        </a:spcBef>
        <a:buChar char="–"/>
        <a:defRPr sz="2000">
          <a:solidFill>
            <a:schemeClr val="tx1"/>
          </a:solidFill>
          <a:latin typeface="+mn-lt"/>
          <a:ea typeface="+mn-lt"/>
          <a:cs typeface="+mn-lt"/>
        </a:defRPr>
      </a:lvl4pPr>
      <a:lvl5pPr xmlns:a="http://schemas.openxmlformats.org/drawingml/2006/main" marL="2057400" indent="-228600" algn="l">
        <a:spcBef>
          <a:spcPts val="0"/>
        </a:spcBef>
        <a:buChar char="»"/>
        <a:defRPr sz="2000">
          <a:solidFill>
            <a:schemeClr val="tx1"/>
          </a:solidFill>
          <a:latin typeface="+mn-lt"/>
          <a:ea typeface="+mn-lt"/>
          <a:cs typeface="+mn-lt"/>
        </a:defRPr>
      </a:lvl5pPr>
      <a:lvl6pPr xmlns:a="http://schemas.openxmlformats.org/drawingml/2006/main" marL="2514600" indent="-228600" algn="l">
        <a:spcBef>
          <a:spcPts val="0"/>
        </a:spcBef>
        <a:buChar char="•"/>
        <a:defRPr sz="2000">
          <a:solidFill>
            <a:schemeClr val="tx1"/>
          </a:solidFill>
          <a:latin typeface="+mn-lt"/>
          <a:ea typeface="+mn-lt"/>
          <a:cs typeface="+mn-lt"/>
        </a:defRPr>
      </a:lvl6pPr>
      <a:lvl7pPr xmlns:a="http://schemas.openxmlformats.org/drawingml/2006/main" marL="2971800" indent="-228600" algn="l">
        <a:spcBef>
          <a:spcPts val="0"/>
        </a:spcBef>
        <a:buChar char="•"/>
        <a:defRPr sz="2000">
          <a:solidFill>
            <a:schemeClr val="tx1"/>
          </a:solidFill>
          <a:latin typeface="+mn-lt"/>
          <a:ea typeface="+mn-lt"/>
          <a:cs typeface="+mn-lt"/>
        </a:defRPr>
      </a:lvl7pPr>
      <a:lvl8pPr xmlns:a="http://schemas.openxmlformats.org/drawingml/2006/main" marL="3429000" indent="-228600" algn="l">
        <a:spcBef>
          <a:spcPts val="0"/>
        </a:spcBef>
        <a:buChar char="•"/>
        <a:defRPr sz="2000">
          <a:solidFill>
            <a:schemeClr val="tx1"/>
          </a:solidFill>
          <a:latin typeface="+mn-lt"/>
          <a:ea typeface="+mn-lt"/>
          <a:cs typeface="+mn-lt"/>
        </a:defRPr>
      </a:lvl8pPr>
      <a:lvl9pPr xmlns:a="http://schemas.openxmlformats.org/drawingml/2006/main" marL="3886200" indent="-228600" algn="l">
        <a:spcBef>
          <a:spcPts val="0"/>
        </a:spcBef>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4140ab994bf4737" /><Relationship Type="http://schemas.openxmlformats.org/officeDocument/2006/relationships/notesSlide" Target="/ppt/notesSlides/notesSlide1.xml" Id="Rca00f3715a7a44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ff4105cd2d44a86" /><Relationship Type="http://schemas.openxmlformats.org/officeDocument/2006/relationships/notesSlide" Target="/ppt/notesSlides/notesSlide2.xml" Id="R2013eda8147c4a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78fc4ea66e64121" /><Relationship Type="http://schemas.openxmlformats.org/officeDocument/2006/relationships/notesSlide" Target="/ppt/notesSlides/notesSlide3.xml" Id="R62410f1c4562407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cb72baa14a74921" /><Relationship Type="http://schemas.openxmlformats.org/officeDocument/2006/relationships/notesSlide" Target="/ppt/notesSlides/notesSlide4.xml" Id="R9791582d85cb43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05cccb1318b4f90" /><Relationship Type="http://schemas.openxmlformats.org/officeDocument/2006/relationships/notesSlide" Target="/ppt/notesSlides/notesSlide5.xml" Id="Ra3973f662dc84ca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60e5320737e46b0" /><Relationship Type="http://schemas.openxmlformats.org/officeDocument/2006/relationships/notesSlide" Target="/ppt/notesSlides/notesSlide6.xml" Id="R75b895ea667b4ec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614e244d11d4f94" /><Relationship Type="http://schemas.openxmlformats.org/officeDocument/2006/relationships/notesSlide" Target="/ppt/notesSlides/notesSlide7.xml" Id="Ree3b36457e09410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85bd5bb0e0643d7" /><Relationship Type="http://schemas.openxmlformats.org/officeDocument/2006/relationships/notesSlide" Target="/ppt/notesSlides/notesSlide8.xml" Id="R868966dc66a5463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01f901e42cf424c" /><Relationship Type="http://schemas.openxmlformats.org/officeDocument/2006/relationships/notesSlide" Target="/ppt/notesSlides/notesSlide9.xml" Id="Rf14d34fdc9b442d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33e938cbf3a44fa" /><Relationship Type="http://schemas.openxmlformats.org/officeDocument/2006/relationships/notesSlide" Target="/ppt/notesSlides/notesSlide10.xml" Id="Re94537e2e80248d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B95CA36-7AD5-4CED-959F-F065EF9A96F2}"/>
              </a:ext>
            </a:extLst>
          </p:cNvPr>
          <p:cNvSpPr>
            <a:spLocks xmlns:a="http://schemas.openxmlformats.org/drawingml/2006/main" noGrp="1"/>
          </p:cNvSpPr>
          <p:nvPr/>
        </p:nvSpPr>
        <p:spPr>
          <a:xfrm xmlns:a="http://schemas.openxmlformats.org/drawingml/2006/main">
            <a:off x="868680" y="1874520"/>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463FF"/>
                </a:solidFill>
                <a:latin typeface="Calibri"/>
                <a:ea typeface="Calibri"/>
                <a:cs typeface="Calibri"/>
              </a:rPr>
              <a:t>IT SECURITY · SCHEDULER</a:t>
            </a:r>
          </a:p>
        </p:txBody>
      </p:sp>
      <p:sp>
        <p:nvSpPr>
          <p:cNvPr id="3" name="Text 1">
            <a:extLst xmlns:a="http://schemas.openxmlformats.org/drawingml/2006/main">
              <a:ext uri="{FF2B5EF4-FFF2-40B4-BE49-F238E27FC236}">
                <a16:creationId xmlns:a16="http://schemas.microsoft.com/office/drawing/2014/main" id="{FD8DA67A-FD81-4D52-AB3E-0B0E93F9DAB5}"/>
              </a:ext>
            </a:extLst>
          </p:cNvPr>
          <p:cNvSpPr>
            <a:spLocks xmlns:a="http://schemas.openxmlformats.org/drawingml/2006/main" noGrp="1"/>
          </p:cNvSpPr>
          <p:nvPr/>
        </p:nvSpPr>
        <p:spPr>
          <a:xfrm xmlns:a="http://schemas.openxmlformats.org/drawingml/2006/main">
            <a:off x="822960" y="2194560"/>
            <a:ext cx="100584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0" b="1">
                <a:solidFill>
                  <a:srgbClr val="16181D"/>
                </a:solidFill>
                <a:latin typeface="Trebuchet MS"/>
                <a:ea typeface="Trebuchet MS"/>
                <a:cs typeface="Trebuchet MS"/>
              </a:rPr>
              <a:t>XSS</a:t>
            </a:r>
          </a:p>
        </p:txBody>
      </p:sp>
      <p:sp>
        <p:nvSpPr>
          <p:cNvPr id="4" name="Text 2">
            <a:extLst xmlns:a="http://schemas.openxmlformats.org/drawingml/2006/main">
              <a:ext uri="{FF2B5EF4-FFF2-40B4-BE49-F238E27FC236}">
                <a16:creationId xmlns:a16="http://schemas.microsoft.com/office/drawing/2014/main" id="{17D4FDB8-F8F0-4D96-95F0-9B90E32AF337}"/>
              </a:ext>
            </a:extLst>
          </p:cNvPr>
          <p:cNvSpPr>
            <a:spLocks xmlns:a="http://schemas.openxmlformats.org/drawingml/2006/main" noGrp="1"/>
          </p:cNvSpPr>
          <p:nvPr/>
        </p:nvSpPr>
        <p:spPr>
          <a:xfrm xmlns:a="http://schemas.openxmlformats.org/drawingml/2006/main">
            <a:off x="868680" y="3703320"/>
            <a:ext cx="10058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a:solidFill>
                  <a:srgbClr val="55606E"/>
                </a:solidFill>
                <a:latin typeface="Trebuchet MS"/>
                <a:ea typeface="Trebuchet MS"/>
                <a:cs typeface="Trebuchet MS"/>
              </a:rPr>
              <a:t>Cross Site Scripting</a:t>
            </a:r>
          </a:p>
        </p:txBody>
      </p:sp>
      <p:sp>
        <p:nvSpPr>
          <p:cNvPr id="5" name="Shape 3">
            <a:extLst xmlns:a="http://schemas.openxmlformats.org/drawingml/2006/main">
              <a:ext uri="{FF2B5EF4-FFF2-40B4-BE49-F238E27FC236}">
                <a16:creationId xmlns:a16="http://schemas.microsoft.com/office/drawing/2014/main" id="{42345276-9CC1-4302-B204-8758E42AE5A8}"/>
              </a:ext>
            </a:extLst>
          </p:cNvPr>
          <p:cNvSpPr>
            <a:spLocks xmlns:a="http://schemas.openxmlformats.org/drawingml/2006/main" noGrp="1"/>
          </p:cNvSpPr>
          <p:nvPr/>
        </p:nvSpPr>
        <p:spPr>
          <a:xfrm xmlns:a="http://schemas.openxmlformats.org/drawingml/2006/main">
            <a:off x="868680" y="4526280"/>
            <a:ext cx="1828800" cy="0"/>
          </a:xfrm>
          <a:prstGeom xmlns:a="http://schemas.openxmlformats.org/drawingml/2006/main" prst="line">
            <a:avLst/>
          </a:prstGeom>
          <a:noFill xmlns:a="http://schemas.openxmlformats.org/drawingml/2006/main"/>
          <a:ln xmlns:a="http://schemas.openxmlformats.org/drawingml/2006/main" w="28575">
            <a:solidFill>
              <a:srgbClr val="16181D"/>
            </a:solidFill>
            <a:prstDash val="solid"/>
          </a:ln>
        </p:spPr>
      </p:sp>
      <p:sp>
        <p:nvSpPr>
          <p:cNvPr id="6" name="Text 4">
            <a:extLst xmlns:a="http://schemas.openxmlformats.org/drawingml/2006/main">
              <a:ext uri="{FF2B5EF4-FFF2-40B4-BE49-F238E27FC236}">
                <a16:creationId xmlns:a16="http://schemas.microsoft.com/office/drawing/2014/main" id="{468481FB-4609-481A-89AB-8748CC339F06}"/>
              </a:ext>
            </a:extLst>
          </p:cNvPr>
          <p:cNvSpPr>
            <a:spLocks xmlns:a="http://schemas.openxmlformats.org/drawingml/2006/main" noGrp="1"/>
          </p:cNvSpPr>
          <p:nvPr/>
        </p:nvSpPr>
        <p:spPr>
          <a:xfrm xmlns:a="http://schemas.openxmlformats.org/drawingml/2006/main">
            <a:off x="868680" y="4754880"/>
            <a:ext cx="8686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55606E"/>
                </a:solidFill>
                <a:latin typeface="Calibri"/>
                <a:ea typeface="Calibri"/>
                <a:cs typeface="Calibri"/>
              </a:rPr>
              <a:t>Theorie, reale Schwachstelle und Live Demo im Scheduler.</a:t>
            </a:r>
          </a:p>
        </p:txBody>
      </p:sp>
      <p:sp>
        <p:nvSpPr>
          <p:cNvPr id="7" name="Text 5">
            <a:extLst xmlns:a="http://schemas.openxmlformats.org/drawingml/2006/main">
              <a:ext uri="{FF2B5EF4-FFF2-40B4-BE49-F238E27FC236}">
                <a16:creationId xmlns:a16="http://schemas.microsoft.com/office/drawing/2014/main" id="{94A987EA-ED23-44AA-ABC1-DB16DB020FDD}"/>
              </a:ext>
            </a:extLst>
          </p:cNvPr>
          <p:cNvSpPr>
            <a:spLocks xmlns:a="http://schemas.openxmlformats.org/drawingml/2006/main" noGrp="1"/>
          </p:cNvSpPr>
          <p:nvPr/>
        </p:nvSpPr>
        <p:spPr>
          <a:xfrm xmlns:a="http://schemas.openxmlformats.org/drawingml/2006/main">
            <a:off x="9448495" y="6080760"/>
            <a:ext cx="18745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i="1">
                <a:solidFill>
                  <a:srgbClr val="9AA3AF"/>
                </a:solidFill>
                <a:latin typeface="Calibri"/>
                <a:ea typeface="Calibri"/>
                <a:cs typeface="Calibri"/>
              </a:rPr>
              <a:t>Vortrag: Linus &amp; Arvid</a:t>
            </a:r>
          </a:p>
        </p:txBody>
      </p:sp>
    </p:spTree>
    <p:extLst>
      <p:ext uri="{BB962C8B-B14F-4D97-AF65-F5344CB8AC3E}">
        <p14:creationId xmlns:p14="http://schemas.microsoft.com/office/powerpoint/2010/main" val="14488387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14438A8-86E6-40A6-8F29-4F1D64CC14CD}"/>
              </a:ext>
            </a:extLst>
          </p:cNvPr>
          <p:cNvSpPr>
            <a:spLocks xmlns:a="http://schemas.openxmlformats.org/drawingml/2006/main" noGrp="1"/>
          </p:cNvSpPr>
          <p:nvPr/>
        </p:nvSpPr>
        <p:spPr>
          <a:xfrm xmlns:a="http://schemas.openxmlformats.org/drawingml/2006/main">
            <a:off x="868680" y="50292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AA3AF"/>
                </a:solidFill>
                <a:latin typeface="Calibri"/>
                <a:ea typeface="Calibri"/>
                <a:cs typeface="Calibri"/>
              </a:rPr>
              <a:t>GRUNDLAGE 01</a:t>
            </a:r>
          </a:p>
        </p:txBody>
      </p:sp>
      <p:sp>
        <p:nvSpPr>
          <p:cNvPr id="3" name="Text 1">
            <a:extLst xmlns:a="http://schemas.openxmlformats.org/drawingml/2006/main">
              <a:ext uri="{FF2B5EF4-FFF2-40B4-BE49-F238E27FC236}">
                <a16:creationId xmlns:a16="http://schemas.microsoft.com/office/drawing/2014/main" id="{EA54D12F-6CC7-44FD-991B-FF995A96322A}"/>
              </a:ext>
            </a:extLst>
          </p:cNvPr>
          <p:cNvSpPr>
            <a:spLocks xmlns:a="http://schemas.openxmlformats.org/drawingml/2006/main" noGrp="1"/>
          </p:cNvSpPr>
          <p:nvPr/>
        </p:nvSpPr>
        <p:spPr>
          <a:xfrm xmlns:a="http://schemas.openxmlformats.org/drawingml/2006/main">
            <a:off x="10774375" y="502920"/>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50" b="1">
                <a:solidFill>
                  <a:srgbClr val="9AA3AF"/>
                </a:solidFill>
                <a:latin typeface="Calibri"/>
                <a:ea typeface="Calibri"/>
                <a:cs typeface="Calibri"/>
              </a:rPr>
              <a:t>02</a:t>
            </a:r>
          </a:p>
        </p:txBody>
      </p:sp>
      <p:sp>
        <p:nvSpPr>
          <p:cNvPr id="4" name="Text 2">
            <a:extLst xmlns:a="http://schemas.openxmlformats.org/drawingml/2006/main">
              <a:ext uri="{FF2B5EF4-FFF2-40B4-BE49-F238E27FC236}">
                <a16:creationId xmlns:a16="http://schemas.microsoft.com/office/drawing/2014/main" id="{8C2A5EC1-0471-4723-B1A6-5E24B15C811C}"/>
              </a:ext>
            </a:extLst>
          </p:cNvPr>
          <p:cNvSpPr>
            <a:spLocks xmlns:a="http://schemas.openxmlformats.org/drawingml/2006/main" noGrp="1"/>
          </p:cNvSpPr>
          <p:nvPr/>
        </p:nvSpPr>
        <p:spPr>
          <a:xfrm xmlns:a="http://schemas.openxmlformats.org/drawingml/2006/main">
            <a:off x="868680" y="1600200"/>
            <a:ext cx="104241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16181D"/>
                </a:solidFill>
                <a:latin typeface="Trebuchet MS"/>
                <a:ea typeface="Trebuchet MS"/>
                <a:cs typeface="Trebuchet MS"/>
              </a:rPr>
              <a:t>XSS: Aus Text wird Code</a:t>
            </a:r>
          </a:p>
        </p:txBody>
      </p:sp>
      <p:sp>
        <p:nvSpPr>
          <p:cNvPr id="5" name="Text 3">
            <a:extLst xmlns:a="http://schemas.openxmlformats.org/drawingml/2006/main">
              <a:ext uri="{FF2B5EF4-FFF2-40B4-BE49-F238E27FC236}">
                <a16:creationId xmlns:a16="http://schemas.microsoft.com/office/drawing/2014/main" id="{05091A4B-9D74-4647-B741-E814B8C393B1}"/>
              </a:ext>
            </a:extLst>
          </p:cNvPr>
          <p:cNvSpPr>
            <a:spLocks xmlns:a="http://schemas.openxmlformats.org/drawingml/2006/main" noGrp="1"/>
          </p:cNvSpPr>
          <p:nvPr/>
        </p:nvSpPr>
        <p:spPr>
          <a:xfrm xmlns:a="http://schemas.openxmlformats.org/drawingml/2006/main">
            <a:off x="868680" y="3337560"/>
            <a:ext cx="98755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a:solidFill>
                  <a:srgbClr val="55606E"/>
                </a:solidFill>
                <a:latin typeface="Calibri"/>
                <a:ea typeface="Calibri"/>
                <a:cs typeface="Calibri"/>
              </a:rPr>
              <a:t>Cross Site Scripting bedeutet, dass fremder HTML oder JavaScript Code ausgeführt wird, obwohl die Anwendung ihn nur als Nutzereingabe behandeln sollte.</a:t>
            </a:r>
          </a:p>
        </p:txBody>
      </p:sp>
      <p:sp>
        <p:nvSpPr>
          <p:cNvPr id="6" name="Shape 4">
            <a:extLst xmlns:a="http://schemas.openxmlformats.org/drawingml/2006/main">
              <a:ext uri="{FF2B5EF4-FFF2-40B4-BE49-F238E27FC236}">
                <a16:creationId xmlns:a16="http://schemas.microsoft.com/office/drawing/2014/main" id="{463ACFA2-6607-478F-881D-1441DB8A61EA}"/>
              </a:ext>
            </a:extLst>
          </p:cNvPr>
          <p:cNvSpPr>
            <a:spLocks xmlns:a="http://schemas.openxmlformats.org/drawingml/2006/main" noGrp="1"/>
          </p:cNvSpPr>
          <p:nvPr/>
        </p:nvSpPr>
        <p:spPr>
          <a:xfrm xmlns:a="http://schemas.openxmlformats.org/drawingml/2006/main">
            <a:off x="868680" y="4572000"/>
            <a:ext cx="10454335" cy="0"/>
          </a:xfrm>
          <a:prstGeom xmlns:a="http://schemas.openxmlformats.org/drawingml/2006/main" prst="line">
            <a:avLst/>
          </a:prstGeom>
          <a:noFill xmlns:a="http://schemas.openxmlformats.org/drawingml/2006/main"/>
          <a:ln xmlns:a="http://schemas.openxmlformats.org/drawingml/2006/main" w="12700">
            <a:solidFill>
              <a:srgbClr val="E4E7EC"/>
            </a:solidFill>
            <a:prstDash val="solid"/>
          </a:ln>
        </p:spPr>
      </p:sp>
      <p:sp>
        <p:nvSpPr>
          <p:cNvPr id="7" name="Text 5">
            <a:extLst xmlns:a="http://schemas.openxmlformats.org/drawingml/2006/main">
              <a:ext uri="{FF2B5EF4-FFF2-40B4-BE49-F238E27FC236}">
                <a16:creationId xmlns:a16="http://schemas.microsoft.com/office/drawing/2014/main" id="{FB4026A1-996C-4904-B237-913D0AFC1C7E}"/>
              </a:ext>
            </a:extLst>
          </p:cNvPr>
          <p:cNvSpPr>
            <a:spLocks xmlns:a="http://schemas.openxmlformats.org/drawingml/2006/main" noGrp="1"/>
          </p:cNvSpPr>
          <p:nvPr/>
        </p:nvSpPr>
        <p:spPr>
          <a:xfrm xmlns:a="http://schemas.openxmlformats.org/drawingml/2006/main">
            <a:off x="868680" y="4846320"/>
            <a:ext cx="49377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6181D"/>
                </a:solidFill>
                <a:latin typeface="Calibri"/>
                <a:ea typeface="Calibri"/>
                <a:cs typeface="Calibri"/>
              </a:rPr>
              <a:t>URSACHE</a:t>
            </a:r>
          </a:p>
        </p:txBody>
      </p:sp>
      <p:sp>
        <p:nvSpPr>
          <p:cNvPr id="8" name="Text 6">
            <a:extLst xmlns:a="http://schemas.openxmlformats.org/drawingml/2006/main">
              <a:ext uri="{FF2B5EF4-FFF2-40B4-BE49-F238E27FC236}">
                <a16:creationId xmlns:a16="http://schemas.microsoft.com/office/drawing/2014/main" id="{0E4D9612-EDAB-4332-A7DB-FEFDEDC65C58}"/>
              </a:ext>
            </a:extLst>
          </p:cNvPr>
          <p:cNvSpPr>
            <a:spLocks xmlns:a="http://schemas.openxmlformats.org/drawingml/2006/main" noGrp="1"/>
          </p:cNvSpPr>
          <p:nvPr/>
        </p:nvSpPr>
        <p:spPr>
          <a:xfrm xmlns:a="http://schemas.openxmlformats.org/drawingml/2006/main">
            <a:off x="868680" y="5212080"/>
            <a:ext cx="47548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55606E"/>
                </a:solidFill>
                <a:latin typeface="Calibri"/>
                <a:ea typeface="Calibri"/>
                <a:cs typeface="Calibri"/>
              </a:rPr>
              <a:t>Unkontrollierte Daten werden als HTML interpretiert statt als Text ausgegeben.</a:t>
            </a:r>
          </a:p>
        </p:txBody>
      </p:sp>
      <p:sp>
        <p:nvSpPr>
          <p:cNvPr id="9" name="Shape 7">
            <a:extLst xmlns:a="http://schemas.openxmlformats.org/drawingml/2006/main">
              <a:ext uri="{FF2B5EF4-FFF2-40B4-BE49-F238E27FC236}">
                <a16:creationId xmlns:a16="http://schemas.microsoft.com/office/drawing/2014/main" id="{8710A285-2F57-4A43-B787-63EB729D85F5}"/>
              </a:ext>
            </a:extLst>
          </p:cNvPr>
          <p:cNvSpPr>
            <a:spLocks xmlns:a="http://schemas.openxmlformats.org/drawingml/2006/main" noGrp="1"/>
          </p:cNvSpPr>
          <p:nvPr/>
        </p:nvSpPr>
        <p:spPr>
          <a:xfrm xmlns:a="http://schemas.openxmlformats.org/drawingml/2006/main">
            <a:off x="6172200" y="4864608"/>
            <a:ext cx="0" cy="914400"/>
          </a:xfrm>
          <a:prstGeom xmlns:a="http://schemas.openxmlformats.org/drawingml/2006/main" prst="line">
            <a:avLst/>
          </a:prstGeom>
          <a:noFill xmlns:a="http://schemas.openxmlformats.org/drawingml/2006/main"/>
          <a:ln xmlns:a="http://schemas.openxmlformats.org/drawingml/2006/main" w="12700">
            <a:solidFill>
              <a:srgbClr val="E4E7EC"/>
            </a:solidFill>
            <a:prstDash val="solid"/>
          </a:ln>
        </p:spPr>
      </p:sp>
      <p:sp>
        <p:nvSpPr>
          <p:cNvPr id="10" name="Text 8">
            <a:extLst xmlns:a="http://schemas.openxmlformats.org/drawingml/2006/main">
              <a:ext uri="{FF2B5EF4-FFF2-40B4-BE49-F238E27FC236}">
                <a16:creationId xmlns:a16="http://schemas.microsoft.com/office/drawing/2014/main" id="{E1DC6AC7-F546-4546-BB72-38525E3A8824}"/>
              </a:ext>
            </a:extLst>
          </p:cNvPr>
          <p:cNvSpPr>
            <a:spLocks xmlns:a="http://schemas.openxmlformats.org/drawingml/2006/main" noGrp="1"/>
          </p:cNvSpPr>
          <p:nvPr/>
        </p:nvSpPr>
        <p:spPr>
          <a:xfrm xmlns:a="http://schemas.openxmlformats.org/drawingml/2006/main">
            <a:off x="6446520" y="4846320"/>
            <a:ext cx="49377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6181D"/>
                </a:solidFill>
                <a:latin typeface="Calibri"/>
                <a:ea typeface="Calibri"/>
                <a:cs typeface="Calibri"/>
              </a:rPr>
              <a:t>WIRKUNG</a:t>
            </a:r>
          </a:p>
        </p:txBody>
      </p:sp>
      <p:sp>
        <p:nvSpPr>
          <p:cNvPr id="11" name="Text 9">
            <a:extLst xmlns:a="http://schemas.openxmlformats.org/drawingml/2006/main">
              <a:ext uri="{FF2B5EF4-FFF2-40B4-BE49-F238E27FC236}">
                <a16:creationId xmlns:a16="http://schemas.microsoft.com/office/drawing/2014/main" id="{7DFA6E6B-4509-4421-BFE8-F8AFF7228670}"/>
              </a:ext>
            </a:extLst>
          </p:cNvPr>
          <p:cNvSpPr>
            <a:spLocks xmlns:a="http://schemas.openxmlformats.org/drawingml/2006/main" noGrp="1"/>
          </p:cNvSpPr>
          <p:nvPr/>
        </p:nvSpPr>
        <p:spPr>
          <a:xfrm xmlns:a="http://schemas.openxmlformats.org/drawingml/2006/main">
            <a:off x="6446520" y="5212080"/>
            <a:ext cx="47548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55606E"/>
                </a:solidFill>
                <a:latin typeface="Calibri"/>
                <a:ea typeface="Calibri"/>
                <a:cs typeface="Calibri"/>
              </a:rPr>
              <a:t>Der Code läuft im vertrauenswürdigen Browserkontext der echten Anwendung.</a:t>
            </a:r>
          </a:p>
        </p:txBody>
      </p:sp>
    </p:spTree>
    <p:extLst>
      <p:ext uri="{BB962C8B-B14F-4D97-AF65-F5344CB8AC3E}">
        <p14:creationId xmlns:p14="http://schemas.microsoft.com/office/powerpoint/2010/main" val="157290316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605B925-20F2-478D-ABE4-CF63D19317D7}"/>
              </a:ext>
            </a:extLst>
          </p:cNvPr>
          <p:cNvSpPr>
            <a:spLocks xmlns:a="http://schemas.openxmlformats.org/drawingml/2006/main" noGrp="1"/>
          </p:cNvSpPr>
          <p:nvPr/>
        </p:nvSpPr>
        <p:spPr>
          <a:xfrm xmlns:a="http://schemas.openxmlformats.org/drawingml/2006/main">
            <a:off x="868680" y="50292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AA3AF"/>
                </a:solidFill>
                <a:latin typeface="Calibri"/>
                <a:ea typeface="Calibri"/>
                <a:cs typeface="Calibri"/>
              </a:rPr>
              <a:t>GRUNDLAGE 02</a:t>
            </a:r>
          </a:p>
        </p:txBody>
      </p:sp>
      <p:sp>
        <p:nvSpPr>
          <p:cNvPr id="3" name="Text 1">
            <a:extLst xmlns:a="http://schemas.openxmlformats.org/drawingml/2006/main">
              <a:ext uri="{FF2B5EF4-FFF2-40B4-BE49-F238E27FC236}">
                <a16:creationId xmlns:a16="http://schemas.microsoft.com/office/drawing/2014/main" id="{E3BF8F1A-18FF-450F-A33E-7305BF3CC83C}"/>
              </a:ext>
            </a:extLst>
          </p:cNvPr>
          <p:cNvSpPr>
            <a:spLocks xmlns:a="http://schemas.openxmlformats.org/drawingml/2006/main" noGrp="1"/>
          </p:cNvSpPr>
          <p:nvPr/>
        </p:nvSpPr>
        <p:spPr>
          <a:xfrm xmlns:a="http://schemas.openxmlformats.org/drawingml/2006/main">
            <a:off x="10774375" y="502920"/>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50" b="1">
                <a:solidFill>
                  <a:srgbClr val="9AA3AF"/>
                </a:solidFill>
                <a:latin typeface="Calibri"/>
                <a:ea typeface="Calibri"/>
                <a:cs typeface="Calibri"/>
              </a:rPr>
              <a:t>03</a:t>
            </a:r>
          </a:p>
        </p:txBody>
      </p:sp>
      <p:sp>
        <p:nvSpPr>
          <p:cNvPr id="4" name="Text 2">
            <a:extLst xmlns:a="http://schemas.openxmlformats.org/drawingml/2006/main">
              <a:ext uri="{FF2B5EF4-FFF2-40B4-BE49-F238E27FC236}">
                <a16:creationId xmlns:a16="http://schemas.microsoft.com/office/drawing/2014/main" id="{0CA56D71-8EDE-4C16-B422-C390CBED320E}"/>
              </a:ext>
            </a:extLst>
          </p:cNvPr>
          <p:cNvSpPr>
            <a:spLocks xmlns:a="http://schemas.openxmlformats.org/drawingml/2006/main" noGrp="1"/>
          </p:cNvSpPr>
          <p:nvPr/>
        </p:nvSpPr>
        <p:spPr>
          <a:xfrm xmlns:a="http://schemas.openxmlformats.org/drawingml/2006/main">
            <a:off x="868680" y="1051560"/>
            <a:ext cx="100584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16181D"/>
                </a:solidFill>
                <a:latin typeface="Trebuchet MS"/>
                <a:ea typeface="Trebuchet MS"/>
                <a:cs typeface="Trebuchet MS"/>
              </a:rPr>
              <a:t>Drei Arten von XSS</a:t>
            </a:r>
          </a:p>
        </p:txBody>
      </p:sp>
      <p:sp>
        <p:nvSpPr>
          <p:cNvPr id="5" name="Text 3">
            <a:extLst xmlns:a="http://schemas.openxmlformats.org/drawingml/2006/main">
              <a:ext uri="{FF2B5EF4-FFF2-40B4-BE49-F238E27FC236}">
                <a16:creationId xmlns:a16="http://schemas.microsoft.com/office/drawing/2014/main" id="{1D91B4D8-43A2-49F5-AE0D-56AA8530603C}"/>
              </a:ext>
            </a:extLst>
          </p:cNvPr>
          <p:cNvSpPr>
            <a:spLocks xmlns:a="http://schemas.openxmlformats.org/drawingml/2006/main" noGrp="1"/>
          </p:cNvSpPr>
          <p:nvPr/>
        </p:nvSpPr>
        <p:spPr>
          <a:xfrm xmlns:a="http://schemas.openxmlformats.org/drawingml/2006/main">
            <a:off x="868680" y="1920240"/>
            <a:ext cx="8778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a:solidFill>
                  <a:srgbClr val="55606E"/>
                </a:solidFill>
                <a:latin typeface="Calibri"/>
                <a:ea typeface="Calibri"/>
                <a:cs typeface="Calibri"/>
              </a:rPr>
              <a:t>Sie unterscheiden sich durch die Herkunft des Payloads und den Zeitpunkt der Ausführung.</a:t>
            </a:r>
          </a:p>
        </p:txBody>
      </p:sp>
      <p:sp>
        <p:nvSpPr>
          <p:cNvPr id="6" name="Text 4">
            <a:extLst xmlns:a="http://schemas.openxmlformats.org/drawingml/2006/main">
              <a:ext uri="{FF2B5EF4-FFF2-40B4-BE49-F238E27FC236}">
                <a16:creationId xmlns:a16="http://schemas.microsoft.com/office/drawing/2014/main" id="{3BD51F4C-3C9E-470A-8612-D1DD25BD43BE}"/>
              </a:ext>
            </a:extLst>
          </p:cNvPr>
          <p:cNvSpPr>
            <a:spLocks xmlns:a="http://schemas.openxmlformats.org/drawingml/2006/main" noGrp="1"/>
          </p:cNvSpPr>
          <p:nvPr/>
        </p:nvSpPr>
        <p:spPr>
          <a:xfrm xmlns:a="http://schemas.openxmlformats.org/drawingml/2006/main">
            <a:off x="868680" y="3063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9AA3AF"/>
                </a:solidFill>
                <a:latin typeface="Calibri"/>
                <a:ea typeface="Calibri"/>
                <a:cs typeface="Calibri"/>
              </a:rPr>
              <a:t>DIE DREI ARTEN</a:t>
            </a:r>
          </a:p>
        </p:txBody>
      </p:sp>
      <p:sp>
        <p:nvSpPr>
          <p:cNvPr id="7" name="Text 5">
            <a:extLst xmlns:a="http://schemas.openxmlformats.org/drawingml/2006/main">
              <a:ext uri="{FF2B5EF4-FFF2-40B4-BE49-F238E27FC236}">
                <a16:creationId xmlns:a16="http://schemas.microsoft.com/office/drawing/2014/main" id="{1E658AE0-E6C3-4D3C-9055-289C7B506ACA}"/>
              </a:ext>
            </a:extLst>
          </p:cNvPr>
          <p:cNvSpPr>
            <a:spLocks xmlns:a="http://schemas.openxmlformats.org/drawingml/2006/main" noGrp="1"/>
          </p:cNvSpPr>
          <p:nvPr/>
        </p:nvSpPr>
        <p:spPr>
          <a:xfrm xmlns:a="http://schemas.openxmlformats.org/drawingml/2006/main">
            <a:off x="868680" y="3474720"/>
            <a:ext cx="2926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9AA3AF"/>
                </a:solidFill>
                <a:latin typeface="Calibri"/>
                <a:ea typeface="Calibri"/>
                <a:cs typeface="Calibri"/>
              </a:rPr>
              <a:t>Stored XSS</a:t>
            </a:r>
          </a:p>
        </p:txBody>
      </p:sp>
      <p:sp>
        <p:nvSpPr>
          <p:cNvPr id="8" name="Text 6">
            <a:extLst xmlns:a="http://schemas.openxmlformats.org/drawingml/2006/main">
              <a:ext uri="{FF2B5EF4-FFF2-40B4-BE49-F238E27FC236}">
                <a16:creationId xmlns:a16="http://schemas.microsoft.com/office/drawing/2014/main" id="{8BE5973D-4652-483C-9A38-77E49817E2B9}"/>
              </a:ext>
            </a:extLst>
          </p:cNvPr>
          <p:cNvSpPr>
            <a:spLocks xmlns:a="http://schemas.openxmlformats.org/drawingml/2006/main" noGrp="1"/>
          </p:cNvSpPr>
          <p:nvPr/>
        </p:nvSpPr>
        <p:spPr>
          <a:xfrm xmlns:a="http://schemas.openxmlformats.org/drawingml/2006/main">
            <a:off x="868680" y="3767328"/>
            <a:ext cx="29260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6181D"/>
                </a:solidFill>
                <a:latin typeface="Consolas"/>
                <a:ea typeface="Consolas"/>
                <a:cs typeface="Consolas"/>
              </a:rPr>
              <a:t>gespeichert</a:t>
            </a:r>
          </a:p>
        </p:txBody>
      </p:sp>
      <p:sp>
        <p:nvSpPr>
          <p:cNvPr id="9" name="Shape 7">
            <a:extLst xmlns:a="http://schemas.openxmlformats.org/drawingml/2006/main">
              <a:ext uri="{FF2B5EF4-FFF2-40B4-BE49-F238E27FC236}">
                <a16:creationId xmlns:a16="http://schemas.microsoft.com/office/drawing/2014/main" id="{5897FD2B-C080-4C86-8BD0-C9131E2B7687}"/>
              </a:ext>
            </a:extLst>
          </p:cNvPr>
          <p:cNvSpPr>
            <a:spLocks xmlns:a="http://schemas.openxmlformats.org/drawingml/2006/main" noGrp="1"/>
          </p:cNvSpPr>
          <p:nvPr/>
        </p:nvSpPr>
        <p:spPr>
          <a:xfrm xmlns:a="http://schemas.openxmlformats.org/drawingml/2006/main">
            <a:off x="3749040" y="3520440"/>
            <a:ext cx="0" cy="685800"/>
          </a:xfrm>
          <a:prstGeom xmlns:a="http://schemas.openxmlformats.org/drawingml/2006/main" prst="line">
            <a:avLst/>
          </a:prstGeom>
          <a:noFill xmlns:a="http://schemas.openxmlformats.org/drawingml/2006/main"/>
          <a:ln xmlns:a="http://schemas.openxmlformats.org/drawingml/2006/main" w="12700">
            <a:solidFill>
              <a:srgbClr val="E4E7EC"/>
            </a:solidFill>
            <a:prstDash val="solid"/>
          </a:ln>
        </p:spPr>
      </p:sp>
      <p:sp>
        <p:nvSpPr>
          <p:cNvPr id="10" name="Text 8">
            <a:extLst xmlns:a="http://schemas.openxmlformats.org/drawingml/2006/main">
              <a:ext uri="{FF2B5EF4-FFF2-40B4-BE49-F238E27FC236}">
                <a16:creationId xmlns:a16="http://schemas.microsoft.com/office/drawing/2014/main" id="{1C6B439C-F782-4D6A-AF21-F5220AB8EE5F}"/>
              </a:ext>
            </a:extLst>
          </p:cNvPr>
          <p:cNvSpPr>
            <a:spLocks xmlns:a="http://schemas.openxmlformats.org/drawingml/2006/main" noGrp="1"/>
          </p:cNvSpPr>
          <p:nvPr/>
        </p:nvSpPr>
        <p:spPr>
          <a:xfrm xmlns:a="http://schemas.openxmlformats.org/drawingml/2006/main">
            <a:off x="3794760" y="3474720"/>
            <a:ext cx="2926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9AA3AF"/>
                </a:solidFill>
                <a:latin typeface="Calibri"/>
                <a:ea typeface="Calibri"/>
                <a:cs typeface="Calibri"/>
              </a:rPr>
              <a:t>Reflected XSS</a:t>
            </a:r>
          </a:p>
        </p:txBody>
      </p:sp>
      <p:sp>
        <p:nvSpPr>
          <p:cNvPr id="11" name="Text 9">
            <a:extLst xmlns:a="http://schemas.openxmlformats.org/drawingml/2006/main">
              <a:ext uri="{FF2B5EF4-FFF2-40B4-BE49-F238E27FC236}">
                <a16:creationId xmlns:a16="http://schemas.microsoft.com/office/drawing/2014/main" id="{4E871371-98BF-442E-8AEB-FBEC23F7C643}"/>
              </a:ext>
            </a:extLst>
          </p:cNvPr>
          <p:cNvSpPr>
            <a:spLocks xmlns:a="http://schemas.openxmlformats.org/drawingml/2006/main" noGrp="1"/>
          </p:cNvSpPr>
          <p:nvPr/>
        </p:nvSpPr>
        <p:spPr>
          <a:xfrm xmlns:a="http://schemas.openxmlformats.org/drawingml/2006/main">
            <a:off x="3794760" y="3767328"/>
            <a:ext cx="29260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6181D"/>
                </a:solidFill>
                <a:latin typeface="Consolas"/>
                <a:ea typeface="Consolas"/>
                <a:cs typeface="Consolas"/>
              </a:rPr>
              <a:t>Anfrage</a:t>
            </a:r>
          </a:p>
        </p:txBody>
      </p:sp>
      <p:sp>
        <p:nvSpPr>
          <p:cNvPr id="12" name="Shape 10">
            <a:extLst xmlns:a="http://schemas.openxmlformats.org/drawingml/2006/main">
              <a:ext uri="{FF2B5EF4-FFF2-40B4-BE49-F238E27FC236}">
                <a16:creationId xmlns:a16="http://schemas.microsoft.com/office/drawing/2014/main" id="{29DBA76E-8A52-42F1-99E2-7A9F945E74BC}"/>
              </a:ext>
            </a:extLst>
          </p:cNvPr>
          <p:cNvSpPr>
            <a:spLocks xmlns:a="http://schemas.openxmlformats.org/drawingml/2006/main" noGrp="1"/>
          </p:cNvSpPr>
          <p:nvPr/>
        </p:nvSpPr>
        <p:spPr>
          <a:xfrm xmlns:a="http://schemas.openxmlformats.org/drawingml/2006/main">
            <a:off x="6675120" y="3520440"/>
            <a:ext cx="0" cy="685800"/>
          </a:xfrm>
          <a:prstGeom xmlns:a="http://schemas.openxmlformats.org/drawingml/2006/main" prst="line">
            <a:avLst/>
          </a:prstGeom>
          <a:noFill xmlns:a="http://schemas.openxmlformats.org/drawingml/2006/main"/>
          <a:ln xmlns:a="http://schemas.openxmlformats.org/drawingml/2006/main" w="12700">
            <a:solidFill>
              <a:srgbClr val="E4E7EC"/>
            </a:solidFill>
            <a:prstDash val="solid"/>
          </a:ln>
        </p:spPr>
      </p:sp>
      <p:sp>
        <p:nvSpPr>
          <p:cNvPr id="13" name="Text 11">
            <a:extLst xmlns:a="http://schemas.openxmlformats.org/drawingml/2006/main">
              <a:ext uri="{FF2B5EF4-FFF2-40B4-BE49-F238E27FC236}">
                <a16:creationId xmlns:a16="http://schemas.microsoft.com/office/drawing/2014/main" id="{93CBA382-695B-4C33-9819-3235851281A7}"/>
              </a:ext>
            </a:extLst>
          </p:cNvPr>
          <p:cNvSpPr>
            <a:spLocks xmlns:a="http://schemas.openxmlformats.org/drawingml/2006/main" noGrp="1"/>
          </p:cNvSpPr>
          <p:nvPr/>
        </p:nvSpPr>
        <p:spPr>
          <a:xfrm xmlns:a="http://schemas.openxmlformats.org/drawingml/2006/main">
            <a:off x="6720840" y="3474720"/>
            <a:ext cx="2926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9AA3AF"/>
                </a:solidFill>
                <a:latin typeface="Calibri"/>
                <a:ea typeface="Calibri"/>
                <a:cs typeface="Calibri"/>
              </a:rPr>
              <a:t>DOM XSS</a:t>
            </a:r>
          </a:p>
        </p:txBody>
      </p:sp>
      <p:sp>
        <p:nvSpPr>
          <p:cNvPr id="14" name="Text 12">
            <a:extLst xmlns:a="http://schemas.openxmlformats.org/drawingml/2006/main">
              <a:ext uri="{FF2B5EF4-FFF2-40B4-BE49-F238E27FC236}">
                <a16:creationId xmlns:a16="http://schemas.microsoft.com/office/drawing/2014/main" id="{D0A4CDE0-7F8C-421C-8867-6C2C3172BEAD}"/>
              </a:ext>
            </a:extLst>
          </p:cNvPr>
          <p:cNvSpPr>
            <a:spLocks xmlns:a="http://schemas.openxmlformats.org/drawingml/2006/main" noGrp="1"/>
          </p:cNvSpPr>
          <p:nvPr/>
        </p:nvSpPr>
        <p:spPr>
          <a:xfrm xmlns:a="http://schemas.openxmlformats.org/drawingml/2006/main">
            <a:off x="6720840" y="3767328"/>
            <a:ext cx="29260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6181D"/>
                </a:solidFill>
                <a:latin typeface="Consolas"/>
                <a:ea typeface="Consolas"/>
                <a:cs typeface="Consolas"/>
              </a:rPr>
              <a:t>Browser</a:t>
            </a:r>
          </a:p>
        </p:txBody>
      </p:sp>
      <p:sp>
        <p:nvSpPr>
          <p:cNvPr id="15" name="Shape 13">
            <a:extLst xmlns:a="http://schemas.openxmlformats.org/drawingml/2006/main">
              <a:ext uri="{FF2B5EF4-FFF2-40B4-BE49-F238E27FC236}">
                <a16:creationId xmlns:a16="http://schemas.microsoft.com/office/drawing/2014/main" id="{791309A0-BCB1-40B3-9663-F2F2BFB1CFA9}"/>
              </a:ext>
            </a:extLst>
          </p:cNvPr>
          <p:cNvSpPr>
            <a:spLocks xmlns:a="http://schemas.openxmlformats.org/drawingml/2006/main" noGrp="1"/>
          </p:cNvSpPr>
          <p:nvPr/>
        </p:nvSpPr>
        <p:spPr>
          <a:xfrm xmlns:a="http://schemas.openxmlformats.org/drawingml/2006/main">
            <a:off x="868680" y="4892040"/>
            <a:ext cx="10454335" cy="0"/>
          </a:xfrm>
          <a:prstGeom xmlns:a="http://schemas.openxmlformats.org/drawingml/2006/main" prst="line">
            <a:avLst/>
          </a:prstGeom>
          <a:noFill xmlns:a="http://schemas.openxmlformats.org/drawingml/2006/main"/>
          <a:ln xmlns:a="http://schemas.openxmlformats.org/drawingml/2006/main" w="12700">
            <a:solidFill>
              <a:srgbClr val="E4E7EC"/>
            </a:solidFill>
            <a:prstDash val="solid"/>
          </a:ln>
        </p:spPr>
      </p:sp>
      <p:sp>
        <p:nvSpPr>
          <p:cNvPr id="16" name="Text 14">
            <a:extLst xmlns:a="http://schemas.openxmlformats.org/drawingml/2006/main">
              <a:ext uri="{FF2B5EF4-FFF2-40B4-BE49-F238E27FC236}">
                <a16:creationId xmlns:a16="http://schemas.microsoft.com/office/drawing/2014/main" id="{F30095E8-2148-4819-914E-700293DA5DF9}"/>
              </a:ext>
            </a:extLst>
          </p:cNvPr>
          <p:cNvSpPr>
            <a:spLocks xmlns:a="http://schemas.openxmlformats.org/drawingml/2006/main" noGrp="1"/>
          </p:cNvSpPr>
          <p:nvPr/>
        </p:nvSpPr>
        <p:spPr>
          <a:xfrm xmlns:a="http://schemas.openxmlformats.org/drawingml/2006/main">
            <a:off x="868680" y="5166360"/>
            <a:ext cx="10058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16181D"/>
                </a:solidFill>
                <a:latin typeface="Trebuchet MS"/>
                <a:ea typeface="Trebuchet MS"/>
                <a:cs typeface="Trebuchet MS"/>
              </a:rPr>
              <a:t>FOKUS UNSERER DEMO</a:t>
            </a:r>
          </a:p>
        </p:txBody>
      </p:sp>
      <p:sp>
        <p:nvSpPr>
          <p:cNvPr id="17" name="Text 15">
            <a:extLst xmlns:a="http://schemas.openxmlformats.org/drawingml/2006/main">
              <a:ext uri="{FF2B5EF4-FFF2-40B4-BE49-F238E27FC236}">
                <a16:creationId xmlns:a16="http://schemas.microsoft.com/office/drawing/2014/main" id="{48721FF5-1478-4637-84E6-D34829A54E91}"/>
              </a:ext>
            </a:extLst>
          </p:cNvPr>
          <p:cNvSpPr>
            <a:spLocks xmlns:a="http://schemas.openxmlformats.org/drawingml/2006/main" noGrp="1"/>
          </p:cNvSpPr>
          <p:nvPr/>
        </p:nvSpPr>
        <p:spPr>
          <a:xfrm xmlns:a="http://schemas.openxmlformats.org/drawingml/2006/main">
            <a:off x="868680" y="5669280"/>
            <a:ext cx="10058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6181D"/>
                </a:solidFill>
                <a:latin typeface="Consolas"/>
                <a:ea typeface="Consolas"/>
                <a:cs typeface="Consolas"/>
              </a:rPr>
              <a:t>Stored DOM XSS: Gespeicherte Scheduler Daten werden durch die Kalenderbibliothek als HTML gerendert.</a:t>
            </a:r>
          </a:p>
        </p:txBody>
      </p:sp>
    </p:spTree>
    <p:extLst>
      <p:ext uri="{BB962C8B-B14F-4D97-AF65-F5344CB8AC3E}">
        <p14:creationId xmlns:p14="http://schemas.microsoft.com/office/powerpoint/2010/main" val="6613637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F0022C8-D9AA-4F49-BC42-2B1F2337DAD7}"/>
              </a:ext>
            </a:extLst>
          </p:cNvPr>
          <p:cNvSpPr>
            <a:spLocks xmlns:a="http://schemas.openxmlformats.org/drawingml/2006/main" noGrp="1"/>
          </p:cNvSpPr>
          <p:nvPr/>
        </p:nvSpPr>
        <p:spPr>
          <a:xfrm xmlns:a="http://schemas.openxmlformats.org/drawingml/2006/main">
            <a:off x="868680" y="50292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AA3AF"/>
                </a:solidFill>
                <a:latin typeface="Calibri"/>
                <a:ea typeface="Calibri"/>
                <a:cs typeface="Calibri"/>
              </a:rPr>
              <a:t>GRUNDLAGE 03</a:t>
            </a:r>
          </a:p>
        </p:txBody>
      </p:sp>
      <p:sp>
        <p:nvSpPr>
          <p:cNvPr id="3" name="Text 1">
            <a:extLst xmlns:a="http://schemas.openxmlformats.org/drawingml/2006/main">
              <a:ext uri="{FF2B5EF4-FFF2-40B4-BE49-F238E27FC236}">
                <a16:creationId xmlns:a16="http://schemas.microsoft.com/office/drawing/2014/main" id="{199CCCF6-EF46-4CE7-B473-24B5B44FF595}"/>
              </a:ext>
            </a:extLst>
          </p:cNvPr>
          <p:cNvSpPr>
            <a:spLocks xmlns:a="http://schemas.openxmlformats.org/drawingml/2006/main" noGrp="1"/>
          </p:cNvSpPr>
          <p:nvPr/>
        </p:nvSpPr>
        <p:spPr>
          <a:xfrm xmlns:a="http://schemas.openxmlformats.org/drawingml/2006/main">
            <a:off x="10774375" y="502920"/>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50" b="1">
                <a:solidFill>
                  <a:srgbClr val="9AA3AF"/>
                </a:solidFill>
                <a:latin typeface="Calibri"/>
                <a:ea typeface="Calibri"/>
                <a:cs typeface="Calibri"/>
              </a:rPr>
              <a:t>04</a:t>
            </a:r>
          </a:p>
        </p:txBody>
      </p:sp>
      <p:sp>
        <p:nvSpPr>
          <p:cNvPr id="4" name="Text 2">
            <a:extLst xmlns:a="http://schemas.openxmlformats.org/drawingml/2006/main">
              <a:ext uri="{FF2B5EF4-FFF2-40B4-BE49-F238E27FC236}">
                <a16:creationId xmlns:a16="http://schemas.microsoft.com/office/drawing/2014/main" id="{5A721529-E6AD-4D51-8A7D-4F2EBE4C9E7C}"/>
              </a:ext>
            </a:extLst>
          </p:cNvPr>
          <p:cNvSpPr>
            <a:spLocks xmlns:a="http://schemas.openxmlformats.org/drawingml/2006/main" noGrp="1"/>
          </p:cNvSpPr>
          <p:nvPr/>
        </p:nvSpPr>
        <p:spPr>
          <a:xfrm xmlns:a="http://schemas.openxmlformats.org/drawingml/2006/main">
            <a:off x="868680" y="1051560"/>
            <a:ext cx="1042416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16181D"/>
                </a:solidFill>
                <a:latin typeface="Trebuchet MS"/>
                <a:ea typeface="Trebuchet MS"/>
                <a:cs typeface="Trebuchet MS"/>
              </a:rPr>
              <a:t>Unsichere Senke trifft Nutzerdaten</a:t>
            </a:r>
          </a:p>
        </p:txBody>
      </p:sp>
      <p:sp>
        <p:nvSpPr>
          <p:cNvPr id="5" name="Text 3">
            <a:extLst xmlns:a="http://schemas.openxmlformats.org/drawingml/2006/main">
              <a:ext uri="{FF2B5EF4-FFF2-40B4-BE49-F238E27FC236}">
                <a16:creationId xmlns:a16="http://schemas.microsoft.com/office/drawing/2014/main" id="{DA3294EB-5FC9-4DBE-9954-022CB814A373}"/>
              </a:ext>
            </a:extLst>
          </p:cNvPr>
          <p:cNvSpPr>
            <a:spLocks xmlns:a="http://schemas.openxmlformats.org/drawingml/2006/main" noGrp="1"/>
          </p:cNvSpPr>
          <p:nvPr/>
        </p:nvSpPr>
        <p:spPr>
          <a:xfrm xmlns:a="http://schemas.openxmlformats.org/drawingml/2006/main">
            <a:off x="868680" y="1920240"/>
            <a:ext cx="103327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a:solidFill>
                  <a:srgbClr val="55606E"/>
                </a:solidFill>
                <a:latin typeface="Calibri"/>
                <a:ea typeface="Calibri"/>
                <a:cs typeface="Calibri"/>
              </a:rPr>
              <a:t>XSS entsteht, wenn ein kontrollierbarer Wert eine Ausgabestelle erreicht, die HTML interpretiert.</a:t>
            </a:r>
          </a:p>
        </p:txBody>
      </p:sp>
      <p:sp>
        <p:nvSpPr>
          <p:cNvPr id="6" name="Shape 4">
            <a:extLst xmlns:a="http://schemas.openxmlformats.org/drawingml/2006/main">
              <a:ext uri="{FF2B5EF4-FFF2-40B4-BE49-F238E27FC236}">
                <a16:creationId xmlns:a16="http://schemas.microsoft.com/office/drawing/2014/main" id="{35CC8568-A092-44D8-BF1C-AC3202FC2A48}"/>
              </a:ext>
            </a:extLst>
          </p:cNvPr>
          <p:cNvSpPr>
            <a:spLocks xmlns:a="http://schemas.openxmlformats.org/drawingml/2006/main" noGrp="1"/>
          </p:cNvSpPr>
          <p:nvPr/>
        </p:nvSpPr>
        <p:spPr>
          <a:xfrm xmlns:a="http://schemas.openxmlformats.org/drawingml/2006/main">
            <a:off x="6172200" y="2971800"/>
            <a:ext cx="0" cy="2834640"/>
          </a:xfrm>
          <a:prstGeom xmlns:a="http://schemas.openxmlformats.org/drawingml/2006/main" prst="line">
            <a:avLst/>
          </a:prstGeom>
          <a:noFill xmlns:a="http://schemas.openxmlformats.org/drawingml/2006/main"/>
          <a:ln xmlns:a="http://schemas.openxmlformats.org/drawingml/2006/main" w="12700">
            <a:solidFill>
              <a:srgbClr val="E4E7EC"/>
            </a:solidFill>
            <a:prstDash val="solid"/>
          </a:ln>
        </p:spPr>
      </p:sp>
      <p:sp>
        <p:nvSpPr>
          <p:cNvPr id="7" name="Text 5">
            <a:extLst xmlns:a="http://schemas.openxmlformats.org/drawingml/2006/main">
              <a:ext uri="{FF2B5EF4-FFF2-40B4-BE49-F238E27FC236}">
                <a16:creationId xmlns:a16="http://schemas.microsoft.com/office/drawing/2014/main" id="{2E954620-EAB1-47E4-83F4-35AD6B11F02F}"/>
              </a:ext>
            </a:extLst>
          </p:cNvPr>
          <p:cNvSpPr>
            <a:spLocks xmlns:a="http://schemas.openxmlformats.org/drawingml/2006/main" noGrp="1"/>
          </p:cNvSpPr>
          <p:nvPr/>
        </p:nvSpPr>
        <p:spPr>
          <a:xfrm xmlns:a="http://schemas.openxmlformats.org/drawingml/2006/main">
            <a:off x="868680" y="2971800"/>
            <a:ext cx="914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9AA3AF"/>
                </a:solidFill>
                <a:latin typeface="Trebuchet MS"/>
                <a:ea typeface="Trebuchet MS"/>
                <a:cs typeface="Trebuchet MS"/>
              </a:rPr>
              <a:t>01</a:t>
            </a:r>
          </a:p>
        </p:txBody>
      </p:sp>
      <p:sp>
        <p:nvSpPr>
          <p:cNvPr id="8" name="Text 6">
            <a:extLst xmlns:a="http://schemas.openxmlformats.org/drawingml/2006/main">
              <a:ext uri="{FF2B5EF4-FFF2-40B4-BE49-F238E27FC236}">
                <a16:creationId xmlns:a16="http://schemas.microsoft.com/office/drawing/2014/main" id="{EDE8088B-FE9F-4D2B-9299-FE4FB2CCAA1A}"/>
              </a:ext>
            </a:extLst>
          </p:cNvPr>
          <p:cNvSpPr>
            <a:spLocks xmlns:a="http://schemas.openxmlformats.org/drawingml/2006/main" noGrp="1"/>
          </p:cNvSpPr>
          <p:nvPr/>
        </p:nvSpPr>
        <p:spPr>
          <a:xfrm xmlns:a="http://schemas.openxmlformats.org/drawingml/2006/main">
            <a:off x="1508760" y="2990088"/>
            <a:ext cx="4297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16181D"/>
                </a:solidFill>
                <a:latin typeface="Trebuchet MS"/>
                <a:ea typeface="Trebuchet MS"/>
                <a:cs typeface="Trebuchet MS"/>
              </a:rPr>
              <a:t>TYPISCHE URSACHEN</a:t>
            </a:r>
          </a:p>
        </p:txBody>
      </p:sp>
      <p:sp>
        <p:nvSpPr>
          <p:cNvPr id="9" name="Text 7">
            <a:extLst xmlns:a="http://schemas.openxmlformats.org/drawingml/2006/main">
              <a:ext uri="{FF2B5EF4-FFF2-40B4-BE49-F238E27FC236}">
                <a16:creationId xmlns:a16="http://schemas.microsoft.com/office/drawing/2014/main" id="{FD9FD98D-F4AA-41B0-9050-F0A4D15667A3}"/>
              </a:ext>
            </a:extLst>
          </p:cNvPr>
          <p:cNvSpPr>
            <a:spLocks xmlns:a="http://schemas.openxmlformats.org/drawingml/2006/main" noGrp="1"/>
          </p:cNvSpPr>
          <p:nvPr/>
        </p:nvSpPr>
        <p:spPr>
          <a:xfrm xmlns:a="http://schemas.openxmlformats.org/drawingml/2006/main">
            <a:off x="868680" y="3611880"/>
            <a:ext cx="49377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55606E"/>
                </a:solidFill>
                <a:latin typeface="Calibri"/>
                <a:ea typeface="Calibri"/>
                <a:cs typeface="Calibri"/>
              </a:rPr>
              <a:t>Direktes HTML Rendering und fehlendes Escaping.</a:t>
            </a:r>
          </a:p>
        </p:txBody>
      </p:sp>
      <p:sp>
        <p:nvSpPr>
          <p:cNvPr id="10" name="Text 8">
            <a:extLst xmlns:a="http://schemas.openxmlformats.org/drawingml/2006/main">
              <a:ext uri="{FF2B5EF4-FFF2-40B4-BE49-F238E27FC236}">
                <a16:creationId xmlns:a16="http://schemas.microsoft.com/office/drawing/2014/main" id="{6A21CCA7-D51F-4EA3-B69E-45E922B4987A}"/>
              </a:ext>
            </a:extLst>
          </p:cNvPr>
          <p:cNvSpPr>
            <a:spLocks xmlns:a="http://schemas.openxmlformats.org/drawingml/2006/main" noGrp="1"/>
          </p:cNvSpPr>
          <p:nvPr/>
        </p:nvSpPr>
        <p:spPr>
          <a:xfrm xmlns:a="http://schemas.openxmlformats.org/drawingml/2006/main">
            <a:off x="868680" y="448056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16181D"/>
                </a:solidFill>
                <a:latin typeface="Consolas"/>
                <a:ea typeface="Consolas"/>
                <a:cs typeface="Consolas"/>
              </a:rPr>
              <a:t>innerHTML · v html · HTML Templates</a:t>
            </a:r>
          </a:p>
        </p:txBody>
      </p:sp>
      <p:sp>
        <p:nvSpPr>
          <p:cNvPr id="11" name="Text 9">
            <a:extLst xmlns:a="http://schemas.openxmlformats.org/drawingml/2006/main">
              <a:ext uri="{FF2B5EF4-FFF2-40B4-BE49-F238E27FC236}">
                <a16:creationId xmlns:a16="http://schemas.microsoft.com/office/drawing/2014/main" id="{E13CAE18-3B54-4F9F-9885-96165EA4B92C}"/>
              </a:ext>
            </a:extLst>
          </p:cNvPr>
          <p:cNvSpPr>
            <a:spLocks xmlns:a="http://schemas.openxmlformats.org/drawingml/2006/main" noGrp="1"/>
          </p:cNvSpPr>
          <p:nvPr/>
        </p:nvSpPr>
        <p:spPr>
          <a:xfrm xmlns:a="http://schemas.openxmlformats.org/drawingml/2006/main">
            <a:off x="868680" y="4983480"/>
            <a:ext cx="49377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i="1">
                <a:solidFill>
                  <a:srgbClr val="55606E"/>
                </a:solidFill>
                <a:latin typeface="Calibri"/>
                <a:ea typeface="Calibri"/>
                <a:cs typeface="Calibri"/>
              </a:rPr>
              <a:t>Auch Bibliotheken können unsichere Standardrenderer besitzen.</a:t>
            </a:r>
          </a:p>
        </p:txBody>
      </p:sp>
      <p:sp>
        <p:nvSpPr>
          <p:cNvPr id="12" name="Text 10">
            <a:extLst xmlns:a="http://schemas.openxmlformats.org/drawingml/2006/main">
              <a:ext uri="{FF2B5EF4-FFF2-40B4-BE49-F238E27FC236}">
                <a16:creationId xmlns:a16="http://schemas.microsoft.com/office/drawing/2014/main" id="{1CF1865D-5627-4085-9715-548E2F408F90}"/>
              </a:ext>
            </a:extLst>
          </p:cNvPr>
          <p:cNvSpPr>
            <a:spLocks xmlns:a="http://schemas.openxmlformats.org/drawingml/2006/main" noGrp="1"/>
          </p:cNvSpPr>
          <p:nvPr/>
        </p:nvSpPr>
        <p:spPr>
          <a:xfrm xmlns:a="http://schemas.openxmlformats.org/drawingml/2006/main">
            <a:off x="868680" y="5623560"/>
            <a:ext cx="4937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9AA3AF"/>
                </a:solidFill>
                <a:latin typeface="Consolas"/>
                <a:ea typeface="Consolas"/>
                <a:cs typeface="Consolas"/>
              </a:rPr>
              <a:t>HTML Senken</a:t>
            </a:r>
          </a:p>
        </p:txBody>
      </p:sp>
      <p:sp>
        <p:nvSpPr>
          <p:cNvPr id="13" name="Text 11">
            <a:extLst xmlns:a="http://schemas.openxmlformats.org/drawingml/2006/main">
              <a:ext uri="{FF2B5EF4-FFF2-40B4-BE49-F238E27FC236}">
                <a16:creationId xmlns:a16="http://schemas.microsoft.com/office/drawing/2014/main" id="{E807B7E2-C0CF-45F7-AE39-271D03D0F91C}"/>
              </a:ext>
            </a:extLst>
          </p:cNvPr>
          <p:cNvSpPr>
            <a:spLocks xmlns:a="http://schemas.openxmlformats.org/drawingml/2006/main" noGrp="1"/>
          </p:cNvSpPr>
          <p:nvPr/>
        </p:nvSpPr>
        <p:spPr>
          <a:xfrm xmlns:a="http://schemas.openxmlformats.org/drawingml/2006/main">
            <a:off x="6446520" y="2971800"/>
            <a:ext cx="914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9AA3AF"/>
                </a:solidFill>
                <a:latin typeface="Trebuchet MS"/>
                <a:ea typeface="Trebuchet MS"/>
                <a:cs typeface="Trebuchet MS"/>
              </a:rPr>
              <a:t>02</a:t>
            </a:r>
          </a:p>
        </p:txBody>
      </p:sp>
      <p:sp>
        <p:nvSpPr>
          <p:cNvPr id="14" name="Text 12">
            <a:extLst xmlns:a="http://schemas.openxmlformats.org/drawingml/2006/main">
              <a:ext uri="{FF2B5EF4-FFF2-40B4-BE49-F238E27FC236}">
                <a16:creationId xmlns:a16="http://schemas.microsoft.com/office/drawing/2014/main" id="{0F0510F5-569A-4889-9BB4-C3FC1A0DB3EC}"/>
              </a:ext>
            </a:extLst>
          </p:cNvPr>
          <p:cNvSpPr>
            <a:spLocks xmlns:a="http://schemas.openxmlformats.org/drawingml/2006/main" noGrp="1"/>
          </p:cNvSpPr>
          <p:nvPr/>
        </p:nvSpPr>
        <p:spPr>
          <a:xfrm xmlns:a="http://schemas.openxmlformats.org/drawingml/2006/main">
            <a:off x="7086600" y="2990088"/>
            <a:ext cx="4297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16181D"/>
                </a:solidFill>
                <a:latin typeface="Trebuchet MS"/>
                <a:ea typeface="Trebuchet MS"/>
                <a:cs typeface="Trebuchet MS"/>
              </a:rPr>
              <a:t>SICHERE GRENZE</a:t>
            </a:r>
          </a:p>
        </p:txBody>
      </p:sp>
      <p:sp>
        <p:nvSpPr>
          <p:cNvPr id="15" name="Text 13">
            <a:extLst xmlns:a="http://schemas.openxmlformats.org/drawingml/2006/main">
              <a:ext uri="{FF2B5EF4-FFF2-40B4-BE49-F238E27FC236}">
                <a16:creationId xmlns:a16="http://schemas.microsoft.com/office/drawing/2014/main" id="{1A943C59-EF01-4459-B15E-3A946AE37520}"/>
              </a:ext>
            </a:extLst>
          </p:cNvPr>
          <p:cNvSpPr>
            <a:spLocks xmlns:a="http://schemas.openxmlformats.org/drawingml/2006/main" noGrp="1"/>
          </p:cNvSpPr>
          <p:nvPr/>
        </p:nvSpPr>
        <p:spPr>
          <a:xfrm xmlns:a="http://schemas.openxmlformats.org/drawingml/2006/main">
            <a:off x="6446520" y="3611880"/>
            <a:ext cx="49377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55606E"/>
                </a:solidFill>
                <a:latin typeface="Calibri"/>
                <a:ea typeface="Calibri"/>
                <a:cs typeface="Calibri"/>
              </a:rPr>
              <a:t>Nutzerdaten bleiben Text und werden kontextgerecht escaped.</a:t>
            </a:r>
          </a:p>
        </p:txBody>
      </p:sp>
      <p:sp>
        <p:nvSpPr>
          <p:cNvPr id="16" name="Text 14">
            <a:extLst xmlns:a="http://schemas.openxmlformats.org/drawingml/2006/main">
              <a:ext uri="{FF2B5EF4-FFF2-40B4-BE49-F238E27FC236}">
                <a16:creationId xmlns:a16="http://schemas.microsoft.com/office/drawing/2014/main" id="{D8AE147B-555C-4CE1-BBF3-26A60718F958}"/>
              </a:ext>
            </a:extLst>
          </p:cNvPr>
          <p:cNvSpPr>
            <a:spLocks xmlns:a="http://schemas.openxmlformats.org/drawingml/2006/main" noGrp="1"/>
          </p:cNvSpPr>
          <p:nvPr/>
        </p:nvSpPr>
        <p:spPr>
          <a:xfrm xmlns:a="http://schemas.openxmlformats.org/drawingml/2006/main">
            <a:off x="6446520" y="4370832"/>
            <a:ext cx="3017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6181D"/>
                </a:solidFill>
                <a:latin typeface="Consolas"/>
                <a:ea typeface="Consolas"/>
                <a:cs typeface="Consolas"/>
              </a:rPr>
              <a:t>Vue Interpolation</a:t>
            </a:r>
          </a:p>
        </p:txBody>
      </p:sp>
      <p:sp>
        <p:nvSpPr>
          <p:cNvPr id="17" name="Text 15">
            <a:extLst xmlns:a="http://schemas.openxmlformats.org/drawingml/2006/main">
              <a:ext uri="{FF2B5EF4-FFF2-40B4-BE49-F238E27FC236}">
                <a16:creationId xmlns:a16="http://schemas.microsoft.com/office/drawing/2014/main" id="{441CAD51-1904-41F0-B93C-F9E91B00D6A5}"/>
              </a:ext>
            </a:extLst>
          </p:cNvPr>
          <p:cNvSpPr>
            <a:spLocks xmlns:a="http://schemas.openxmlformats.org/drawingml/2006/main" noGrp="1"/>
          </p:cNvSpPr>
          <p:nvPr/>
        </p:nvSpPr>
        <p:spPr>
          <a:xfrm xmlns:a="http://schemas.openxmlformats.org/drawingml/2006/main">
            <a:off x="9464040" y="4370832"/>
            <a:ext cx="1920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i="1">
                <a:solidFill>
                  <a:srgbClr val="D23B4E"/>
                </a:solidFill>
                <a:latin typeface="Calibri"/>
                <a:ea typeface="Calibri"/>
                <a:cs typeface="Calibri"/>
              </a:rPr>
              <a:t>Textausgabe</a:t>
            </a:r>
          </a:p>
        </p:txBody>
      </p:sp>
      <p:sp>
        <p:nvSpPr>
          <p:cNvPr id="18" name="Text 16">
            <a:extLst xmlns:a="http://schemas.openxmlformats.org/drawingml/2006/main">
              <a:ext uri="{FF2B5EF4-FFF2-40B4-BE49-F238E27FC236}">
                <a16:creationId xmlns:a16="http://schemas.microsoft.com/office/drawing/2014/main" id="{030DC8A2-C23C-480A-82E6-111FBF03444F}"/>
              </a:ext>
            </a:extLst>
          </p:cNvPr>
          <p:cNvSpPr>
            <a:spLocks xmlns:a="http://schemas.openxmlformats.org/drawingml/2006/main" noGrp="1"/>
          </p:cNvSpPr>
          <p:nvPr/>
        </p:nvSpPr>
        <p:spPr>
          <a:xfrm xmlns:a="http://schemas.openxmlformats.org/drawingml/2006/main">
            <a:off x="6446520" y="4782312"/>
            <a:ext cx="3017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6181D"/>
                </a:solidFill>
                <a:latin typeface="Consolas"/>
                <a:ea typeface="Consolas"/>
                <a:cs typeface="Consolas"/>
              </a:rPr>
              <a:t>Eigene Slots</a:t>
            </a:r>
          </a:p>
        </p:txBody>
      </p:sp>
      <p:sp>
        <p:nvSpPr>
          <p:cNvPr id="19" name="Text 17">
            <a:extLst xmlns:a="http://schemas.openxmlformats.org/drawingml/2006/main">
              <a:ext uri="{FF2B5EF4-FFF2-40B4-BE49-F238E27FC236}">
                <a16:creationId xmlns:a16="http://schemas.microsoft.com/office/drawing/2014/main" id="{68B27804-D89B-47C9-A881-B07F98D02BF7}"/>
              </a:ext>
            </a:extLst>
          </p:cNvPr>
          <p:cNvSpPr>
            <a:spLocks xmlns:a="http://schemas.openxmlformats.org/drawingml/2006/main" noGrp="1"/>
          </p:cNvSpPr>
          <p:nvPr/>
        </p:nvSpPr>
        <p:spPr>
          <a:xfrm xmlns:a="http://schemas.openxmlformats.org/drawingml/2006/main">
            <a:off x="9464040" y="4782312"/>
            <a:ext cx="1920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i="1">
                <a:solidFill>
                  <a:srgbClr val="D23B4E"/>
                </a:solidFill>
                <a:latin typeface="Calibri"/>
                <a:ea typeface="Calibri"/>
                <a:cs typeface="Calibri"/>
              </a:rPr>
              <a:t>kontrolliertes Rendering</a:t>
            </a:r>
          </a:p>
        </p:txBody>
      </p:sp>
      <p:sp>
        <p:nvSpPr>
          <p:cNvPr id="20" name="Text 18">
            <a:extLst xmlns:a="http://schemas.openxmlformats.org/drawingml/2006/main">
              <a:ext uri="{FF2B5EF4-FFF2-40B4-BE49-F238E27FC236}">
                <a16:creationId xmlns:a16="http://schemas.microsoft.com/office/drawing/2014/main" id="{9F5BCFF2-50DB-433A-B52F-9BECB837A4E0}"/>
              </a:ext>
            </a:extLst>
          </p:cNvPr>
          <p:cNvSpPr>
            <a:spLocks xmlns:a="http://schemas.openxmlformats.org/drawingml/2006/main" noGrp="1"/>
          </p:cNvSpPr>
          <p:nvPr/>
        </p:nvSpPr>
        <p:spPr>
          <a:xfrm xmlns:a="http://schemas.openxmlformats.org/drawingml/2006/main">
            <a:off x="6446520" y="5193792"/>
            <a:ext cx="3017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6181D"/>
                </a:solidFill>
                <a:latin typeface="Consolas"/>
                <a:ea typeface="Consolas"/>
                <a:cs typeface="Consolas"/>
              </a:rPr>
              <a:t>Sanitizer</a:t>
            </a:r>
          </a:p>
        </p:txBody>
      </p:sp>
      <p:sp>
        <p:nvSpPr>
          <p:cNvPr id="21" name="Text 19">
            <a:extLst xmlns:a="http://schemas.openxmlformats.org/drawingml/2006/main">
              <a:ext uri="{FF2B5EF4-FFF2-40B4-BE49-F238E27FC236}">
                <a16:creationId xmlns:a16="http://schemas.microsoft.com/office/drawing/2014/main" id="{97DC8436-6B9E-4ACA-8DCB-610FD3084EE3}"/>
              </a:ext>
            </a:extLst>
          </p:cNvPr>
          <p:cNvSpPr>
            <a:spLocks xmlns:a="http://schemas.openxmlformats.org/drawingml/2006/main" noGrp="1"/>
          </p:cNvSpPr>
          <p:nvPr/>
        </p:nvSpPr>
        <p:spPr>
          <a:xfrm xmlns:a="http://schemas.openxmlformats.org/drawingml/2006/main">
            <a:off x="9464040" y="5193792"/>
            <a:ext cx="1920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i="1">
                <a:solidFill>
                  <a:srgbClr val="D23B4E"/>
                </a:solidFill>
                <a:latin typeface="Calibri"/>
                <a:ea typeface="Calibri"/>
                <a:cs typeface="Calibri"/>
              </a:rPr>
              <a:t>nur falls HTML nötig ist</a:t>
            </a:r>
          </a:p>
        </p:txBody>
      </p:sp>
      <p:sp>
        <p:nvSpPr>
          <p:cNvPr id="22" name="Text 20">
            <a:extLst xmlns:a="http://schemas.openxmlformats.org/drawingml/2006/main">
              <a:ext uri="{FF2B5EF4-FFF2-40B4-BE49-F238E27FC236}">
                <a16:creationId xmlns:a16="http://schemas.microsoft.com/office/drawing/2014/main" id="{731FC50C-567F-4B1F-BDC7-CD198D0E5691}"/>
              </a:ext>
            </a:extLst>
          </p:cNvPr>
          <p:cNvSpPr>
            <a:spLocks xmlns:a="http://schemas.openxmlformats.org/drawingml/2006/main" noGrp="1"/>
          </p:cNvSpPr>
          <p:nvPr/>
        </p:nvSpPr>
        <p:spPr>
          <a:xfrm xmlns:a="http://schemas.openxmlformats.org/drawingml/2006/main">
            <a:off x="6446520" y="5623560"/>
            <a:ext cx="4937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9AA3AF"/>
                </a:solidFill>
                <a:latin typeface="Consolas"/>
                <a:ea typeface="Consolas"/>
                <a:cs typeface="Consolas"/>
              </a:rPr>
              <a:t>Output Encoding</a:t>
            </a:r>
          </a:p>
        </p:txBody>
      </p:sp>
    </p:spTree>
    <p:extLst>
      <p:ext uri="{BB962C8B-B14F-4D97-AF65-F5344CB8AC3E}">
        <p14:creationId xmlns:p14="http://schemas.microsoft.com/office/powerpoint/2010/main" val="19782303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F0022C8-D9AA-4F49-BC42-2B1F2337DAD7}"/>
              </a:ext>
            </a:extLst>
          </p:cNvPr>
          <p:cNvSpPr>
            <a:spLocks xmlns:a="http://schemas.openxmlformats.org/drawingml/2006/main" noGrp="1"/>
          </p:cNvSpPr>
          <p:nvPr/>
        </p:nvSpPr>
        <p:spPr>
          <a:xfrm xmlns:a="http://schemas.openxmlformats.org/drawingml/2006/main">
            <a:off x="868680" y="50292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AA3AF"/>
                </a:solidFill>
                <a:latin typeface="Calibri"/>
                <a:ea typeface="Calibri"/>
                <a:cs typeface="Calibri"/>
              </a:rPr>
              <a:t>PROBLEM IM PROJEKT · SCHEDULER</a:t>
            </a:r>
          </a:p>
        </p:txBody>
      </p:sp>
      <p:sp>
        <p:nvSpPr>
          <p:cNvPr id="3" name="Text 1">
            <a:extLst xmlns:a="http://schemas.openxmlformats.org/drawingml/2006/main">
              <a:ext uri="{FF2B5EF4-FFF2-40B4-BE49-F238E27FC236}">
                <a16:creationId xmlns:a16="http://schemas.microsoft.com/office/drawing/2014/main" id="{199CCCF6-EF46-4CE7-B473-24B5B44FF595}"/>
              </a:ext>
            </a:extLst>
          </p:cNvPr>
          <p:cNvSpPr>
            <a:spLocks xmlns:a="http://schemas.openxmlformats.org/drawingml/2006/main" noGrp="1"/>
          </p:cNvSpPr>
          <p:nvPr/>
        </p:nvSpPr>
        <p:spPr>
          <a:xfrm xmlns:a="http://schemas.openxmlformats.org/drawingml/2006/main">
            <a:off x="10774375" y="502920"/>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50" b="1">
                <a:solidFill>
                  <a:srgbClr val="9AA3AF"/>
                </a:solidFill>
                <a:latin typeface="Calibri"/>
                <a:ea typeface="Calibri"/>
                <a:cs typeface="Calibri"/>
              </a:rPr>
              <a:t>05</a:t>
            </a:r>
          </a:p>
        </p:txBody>
      </p:sp>
      <p:sp>
        <p:nvSpPr>
          <p:cNvPr id="4" name="Text 2">
            <a:extLst xmlns:a="http://schemas.openxmlformats.org/drawingml/2006/main">
              <a:ext uri="{FF2B5EF4-FFF2-40B4-BE49-F238E27FC236}">
                <a16:creationId xmlns:a16="http://schemas.microsoft.com/office/drawing/2014/main" id="{5A721529-E6AD-4D51-8A7D-4F2EBE4C9E7C}"/>
              </a:ext>
            </a:extLst>
          </p:cNvPr>
          <p:cNvSpPr>
            <a:spLocks xmlns:a="http://schemas.openxmlformats.org/drawingml/2006/main" noGrp="1"/>
          </p:cNvSpPr>
          <p:nvPr/>
        </p:nvSpPr>
        <p:spPr>
          <a:xfrm xmlns:a="http://schemas.openxmlformats.org/drawingml/2006/main">
            <a:off x="868680" y="1051560"/>
            <a:ext cx="1042416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16181D"/>
                </a:solidFill>
                <a:latin typeface="Trebuchet MS"/>
                <a:ea typeface="Trebuchet MS"/>
                <a:cs typeface="Trebuchet MS"/>
              </a:rPr>
              <a:t>Die reale Schwachstelle liegt in vue cal</a:t>
            </a:r>
          </a:p>
        </p:txBody>
      </p:sp>
      <p:sp>
        <p:nvSpPr>
          <p:cNvPr id="5" name="Text 3">
            <a:extLst xmlns:a="http://schemas.openxmlformats.org/drawingml/2006/main">
              <a:ext uri="{FF2B5EF4-FFF2-40B4-BE49-F238E27FC236}">
                <a16:creationId xmlns:a16="http://schemas.microsoft.com/office/drawing/2014/main" id="{DA3294EB-5FC9-4DBE-9954-022CB814A373}"/>
              </a:ext>
            </a:extLst>
          </p:cNvPr>
          <p:cNvSpPr>
            <a:spLocks xmlns:a="http://schemas.openxmlformats.org/drawingml/2006/main" noGrp="1"/>
          </p:cNvSpPr>
          <p:nvPr/>
        </p:nvSpPr>
        <p:spPr>
          <a:xfrm xmlns:a="http://schemas.openxmlformats.org/drawingml/2006/main">
            <a:off x="868680" y="1920240"/>
            <a:ext cx="103327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a:solidFill>
                  <a:srgbClr val="55606E"/>
                </a:solidFill>
                <a:latin typeface="Calibri"/>
                <a:ea typeface="Calibri"/>
                <a:cs typeface="Calibri"/>
              </a:rPr>
              <a:t>Im eigenen Vue Code wurde keine direkte unsichere HTML Ausgabe gefunden. Der Standardrenderer der Kalenderbibliothek verwendet jedoch innerHTML.</a:t>
            </a:r>
          </a:p>
        </p:txBody>
      </p:sp>
      <p:sp>
        <p:nvSpPr>
          <p:cNvPr id="6" name="Shape 4">
            <a:extLst xmlns:a="http://schemas.openxmlformats.org/drawingml/2006/main">
              <a:ext uri="{FF2B5EF4-FFF2-40B4-BE49-F238E27FC236}">
                <a16:creationId xmlns:a16="http://schemas.microsoft.com/office/drawing/2014/main" id="{35CC8568-A092-44D8-BF1C-AC3202FC2A48}"/>
              </a:ext>
            </a:extLst>
          </p:cNvPr>
          <p:cNvSpPr>
            <a:spLocks xmlns:a="http://schemas.openxmlformats.org/drawingml/2006/main" noGrp="1"/>
          </p:cNvSpPr>
          <p:nvPr/>
        </p:nvSpPr>
        <p:spPr>
          <a:xfrm xmlns:a="http://schemas.openxmlformats.org/drawingml/2006/main">
            <a:off x="6172200" y="2971800"/>
            <a:ext cx="0" cy="2834640"/>
          </a:xfrm>
          <a:prstGeom xmlns:a="http://schemas.openxmlformats.org/drawingml/2006/main" prst="line">
            <a:avLst/>
          </a:prstGeom>
          <a:noFill xmlns:a="http://schemas.openxmlformats.org/drawingml/2006/main"/>
          <a:ln xmlns:a="http://schemas.openxmlformats.org/drawingml/2006/main" w="12700">
            <a:solidFill>
              <a:srgbClr val="E4E7EC"/>
            </a:solidFill>
            <a:prstDash val="solid"/>
          </a:ln>
        </p:spPr>
      </p:sp>
      <p:sp>
        <p:nvSpPr>
          <p:cNvPr id="7" name="Text 5">
            <a:extLst xmlns:a="http://schemas.openxmlformats.org/drawingml/2006/main">
              <a:ext uri="{FF2B5EF4-FFF2-40B4-BE49-F238E27FC236}">
                <a16:creationId xmlns:a16="http://schemas.microsoft.com/office/drawing/2014/main" id="{2E954620-EAB1-47E4-83F4-35AD6B11F02F}"/>
              </a:ext>
            </a:extLst>
          </p:cNvPr>
          <p:cNvSpPr>
            <a:spLocks xmlns:a="http://schemas.openxmlformats.org/drawingml/2006/main" noGrp="1"/>
          </p:cNvSpPr>
          <p:nvPr/>
        </p:nvSpPr>
        <p:spPr>
          <a:xfrm xmlns:a="http://schemas.openxmlformats.org/drawingml/2006/main">
            <a:off x="868680" y="2971800"/>
            <a:ext cx="914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9AA3AF"/>
                </a:solidFill>
                <a:latin typeface="Trebuchet MS"/>
                <a:ea typeface="Trebuchet MS"/>
                <a:cs typeface="Trebuchet MS"/>
              </a:rPr>
              <a:t>01</a:t>
            </a:r>
          </a:p>
        </p:txBody>
      </p:sp>
      <p:sp>
        <p:nvSpPr>
          <p:cNvPr id="8" name="Text 6">
            <a:extLst xmlns:a="http://schemas.openxmlformats.org/drawingml/2006/main">
              <a:ext uri="{FF2B5EF4-FFF2-40B4-BE49-F238E27FC236}">
                <a16:creationId xmlns:a16="http://schemas.microsoft.com/office/drawing/2014/main" id="{EDE8088B-FE9F-4D2B-9299-FE4FB2CCAA1A}"/>
              </a:ext>
            </a:extLst>
          </p:cNvPr>
          <p:cNvSpPr>
            <a:spLocks xmlns:a="http://schemas.openxmlformats.org/drawingml/2006/main" noGrp="1"/>
          </p:cNvSpPr>
          <p:nvPr/>
        </p:nvSpPr>
        <p:spPr>
          <a:xfrm xmlns:a="http://schemas.openxmlformats.org/drawingml/2006/main">
            <a:off x="1508760" y="2990088"/>
            <a:ext cx="4297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16181D"/>
                </a:solidFill>
                <a:latin typeface="Trebuchet MS"/>
                <a:ea typeface="Trebuchet MS"/>
                <a:cs typeface="Trebuchet MS"/>
              </a:rPr>
              <a:t>DATENFLUSS</a:t>
            </a:r>
          </a:p>
        </p:txBody>
      </p:sp>
      <p:sp>
        <p:nvSpPr>
          <p:cNvPr id="9" name="Text 7">
            <a:extLst xmlns:a="http://schemas.openxmlformats.org/drawingml/2006/main">
              <a:ext uri="{FF2B5EF4-FFF2-40B4-BE49-F238E27FC236}">
                <a16:creationId xmlns:a16="http://schemas.microsoft.com/office/drawing/2014/main" id="{FD9FD98D-F4AA-41B0-9050-F0A4D15667A3}"/>
              </a:ext>
            </a:extLst>
          </p:cNvPr>
          <p:cNvSpPr>
            <a:spLocks xmlns:a="http://schemas.openxmlformats.org/drawingml/2006/main" noGrp="1"/>
          </p:cNvSpPr>
          <p:nvPr/>
        </p:nvSpPr>
        <p:spPr>
          <a:xfrm xmlns:a="http://schemas.openxmlformats.org/drawingml/2006/main">
            <a:off x="868680" y="3611880"/>
            <a:ext cx="49377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55606E"/>
                </a:solidFill>
                <a:latin typeface="Calibri"/>
                <a:ea typeface="Calibri"/>
                <a:cs typeface="Calibri"/>
              </a:rPr>
              <a:t>Reservierungslabel und Veranstaltungsnamen werden als Event Titel übergeben.</a:t>
            </a:r>
          </a:p>
        </p:txBody>
      </p:sp>
      <p:sp>
        <p:nvSpPr>
          <p:cNvPr id="10" name="Text 8">
            <a:extLst xmlns:a="http://schemas.openxmlformats.org/drawingml/2006/main">
              <a:ext uri="{FF2B5EF4-FFF2-40B4-BE49-F238E27FC236}">
                <a16:creationId xmlns:a16="http://schemas.microsoft.com/office/drawing/2014/main" id="{6A21CCA7-D51F-4EA3-B69E-45E922B4987A}"/>
              </a:ext>
            </a:extLst>
          </p:cNvPr>
          <p:cNvSpPr>
            <a:spLocks xmlns:a="http://schemas.openxmlformats.org/drawingml/2006/main" noGrp="1"/>
          </p:cNvSpPr>
          <p:nvPr/>
        </p:nvSpPr>
        <p:spPr>
          <a:xfrm xmlns:a="http://schemas.openxmlformats.org/drawingml/2006/main">
            <a:off x="868680" y="448056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16181D"/>
                </a:solidFill>
                <a:latin typeface="Consolas"/>
                <a:ea typeface="Consolas"/>
                <a:cs typeface="Consolas"/>
              </a:rPr>
              <a:t>DB → API → event.title → VueCal</a:t>
            </a:r>
          </a:p>
        </p:txBody>
      </p:sp>
      <p:sp>
        <p:nvSpPr>
          <p:cNvPr id="11" name="Text 9">
            <a:extLst xmlns:a="http://schemas.openxmlformats.org/drawingml/2006/main">
              <a:ext uri="{FF2B5EF4-FFF2-40B4-BE49-F238E27FC236}">
                <a16:creationId xmlns:a16="http://schemas.microsoft.com/office/drawing/2014/main" id="{E13CAE18-3B54-4F9F-9885-96165EA4B92C}"/>
              </a:ext>
            </a:extLst>
          </p:cNvPr>
          <p:cNvSpPr>
            <a:spLocks xmlns:a="http://schemas.openxmlformats.org/drawingml/2006/main" noGrp="1"/>
          </p:cNvSpPr>
          <p:nvPr/>
        </p:nvSpPr>
        <p:spPr>
          <a:xfrm xmlns:a="http://schemas.openxmlformats.org/drawingml/2006/main">
            <a:off x="868680" y="4983480"/>
            <a:ext cx="49377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i="1">
                <a:solidFill>
                  <a:srgbClr val="55606E"/>
                </a:solidFill>
                <a:latin typeface="Calibri"/>
                <a:ea typeface="Calibri"/>
                <a:cs typeface="Calibri"/>
              </a:rPr>
              <a:t>Der gespeicherte Payload erreicht die Kalenderansicht.</a:t>
            </a:r>
          </a:p>
        </p:txBody>
      </p:sp>
      <p:sp>
        <p:nvSpPr>
          <p:cNvPr id="12" name="Text 10">
            <a:extLst xmlns:a="http://schemas.openxmlformats.org/drawingml/2006/main">
              <a:ext uri="{FF2B5EF4-FFF2-40B4-BE49-F238E27FC236}">
                <a16:creationId xmlns:a16="http://schemas.microsoft.com/office/drawing/2014/main" id="{1CF1865D-5627-4085-9715-548E2F408F90}"/>
              </a:ext>
            </a:extLst>
          </p:cNvPr>
          <p:cNvSpPr>
            <a:spLocks xmlns:a="http://schemas.openxmlformats.org/drawingml/2006/main" noGrp="1"/>
          </p:cNvSpPr>
          <p:nvPr/>
        </p:nvSpPr>
        <p:spPr>
          <a:xfrm xmlns:a="http://schemas.openxmlformats.org/drawingml/2006/main">
            <a:off x="868680" y="5623560"/>
            <a:ext cx="4937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9AA3AF"/>
                </a:solidFill>
                <a:latin typeface="Consolas"/>
                <a:ea typeface="Consolas"/>
                <a:cs typeface="Consolas"/>
              </a:rPr>
              <a:t>ReserveTimeslot.vue</a:t>
            </a:r>
          </a:p>
        </p:txBody>
      </p:sp>
      <p:sp>
        <p:nvSpPr>
          <p:cNvPr id="13" name="Text 11">
            <a:extLst xmlns:a="http://schemas.openxmlformats.org/drawingml/2006/main">
              <a:ext uri="{FF2B5EF4-FFF2-40B4-BE49-F238E27FC236}">
                <a16:creationId xmlns:a16="http://schemas.microsoft.com/office/drawing/2014/main" id="{E807B7E2-C0CF-45F7-AE39-271D03D0F91C}"/>
              </a:ext>
            </a:extLst>
          </p:cNvPr>
          <p:cNvSpPr>
            <a:spLocks xmlns:a="http://schemas.openxmlformats.org/drawingml/2006/main" noGrp="1"/>
          </p:cNvSpPr>
          <p:nvPr/>
        </p:nvSpPr>
        <p:spPr>
          <a:xfrm xmlns:a="http://schemas.openxmlformats.org/drawingml/2006/main">
            <a:off x="6446520" y="2971800"/>
            <a:ext cx="914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9AA3AF"/>
                </a:solidFill>
                <a:latin typeface="Trebuchet MS"/>
                <a:ea typeface="Trebuchet MS"/>
                <a:cs typeface="Trebuchet MS"/>
              </a:rPr>
              <a:t>02</a:t>
            </a:r>
          </a:p>
        </p:txBody>
      </p:sp>
      <p:sp>
        <p:nvSpPr>
          <p:cNvPr id="14" name="Text 12">
            <a:extLst xmlns:a="http://schemas.openxmlformats.org/drawingml/2006/main">
              <a:ext uri="{FF2B5EF4-FFF2-40B4-BE49-F238E27FC236}">
                <a16:creationId xmlns:a16="http://schemas.microsoft.com/office/drawing/2014/main" id="{0F0510F5-569A-4889-9BB4-C3FC1A0DB3EC}"/>
              </a:ext>
            </a:extLst>
          </p:cNvPr>
          <p:cNvSpPr>
            <a:spLocks xmlns:a="http://schemas.openxmlformats.org/drawingml/2006/main" noGrp="1"/>
          </p:cNvSpPr>
          <p:nvPr/>
        </p:nvSpPr>
        <p:spPr>
          <a:xfrm xmlns:a="http://schemas.openxmlformats.org/drawingml/2006/main">
            <a:off x="7086600" y="2990088"/>
            <a:ext cx="4297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16181D"/>
                </a:solidFill>
                <a:latin typeface="Trebuchet MS"/>
                <a:ea typeface="Trebuchet MS"/>
                <a:cs typeface="Trebuchet MS"/>
              </a:rPr>
              <a:t>UNSICHERE AUSGABE</a:t>
            </a:r>
          </a:p>
        </p:txBody>
      </p:sp>
      <p:sp>
        <p:nvSpPr>
          <p:cNvPr id="15" name="Text 13">
            <a:extLst xmlns:a="http://schemas.openxmlformats.org/drawingml/2006/main">
              <a:ext uri="{FF2B5EF4-FFF2-40B4-BE49-F238E27FC236}">
                <a16:creationId xmlns:a16="http://schemas.microsoft.com/office/drawing/2014/main" id="{1A943C59-EF01-4459-B15E-3A946AE37520}"/>
              </a:ext>
            </a:extLst>
          </p:cNvPr>
          <p:cNvSpPr>
            <a:spLocks xmlns:a="http://schemas.openxmlformats.org/drawingml/2006/main" noGrp="1"/>
          </p:cNvSpPr>
          <p:nvPr/>
        </p:nvSpPr>
        <p:spPr>
          <a:xfrm xmlns:a="http://schemas.openxmlformats.org/drawingml/2006/main">
            <a:off x="6446520" y="3611880"/>
            <a:ext cx="49377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55606E"/>
                </a:solidFill>
                <a:latin typeface="Calibri"/>
                <a:ea typeface="Calibri"/>
                <a:cs typeface="Calibri"/>
              </a:rPr>
              <a:t>VueCal interpretiert Event Titel und Inhalte im Standardrenderer als HTML.</a:t>
            </a:r>
          </a:p>
        </p:txBody>
      </p:sp>
      <p:sp>
        <p:nvSpPr>
          <p:cNvPr id="16" name="Text 14">
            <a:extLst xmlns:a="http://schemas.openxmlformats.org/drawingml/2006/main">
              <a:ext uri="{FF2B5EF4-FFF2-40B4-BE49-F238E27FC236}">
                <a16:creationId xmlns:a16="http://schemas.microsoft.com/office/drawing/2014/main" id="{D8AE147B-555C-4CE1-BBF3-26A60718F958}"/>
              </a:ext>
            </a:extLst>
          </p:cNvPr>
          <p:cNvSpPr>
            <a:spLocks xmlns:a="http://schemas.openxmlformats.org/drawingml/2006/main" noGrp="1"/>
          </p:cNvSpPr>
          <p:nvPr/>
        </p:nvSpPr>
        <p:spPr>
          <a:xfrm xmlns:a="http://schemas.openxmlformats.org/drawingml/2006/main">
            <a:off x="6446520" y="4370832"/>
            <a:ext cx="3017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6181D"/>
                </a:solidFill>
                <a:latin typeface="Consolas"/>
                <a:ea typeface="Consolas"/>
                <a:cs typeface="Consolas"/>
              </a:rPr>
              <a:t>innerHTML</a:t>
            </a:r>
          </a:p>
        </p:txBody>
      </p:sp>
      <p:sp>
        <p:nvSpPr>
          <p:cNvPr id="17" name="Text 15">
            <a:extLst xmlns:a="http://schemas.openxmlformats.org/drawingml/2006/main">
              <a:ext uri="{FF2B5EF4-FFF2-40B4-BE49-F238E27FC236}">
                <a16:creationId xmlns:a16="http://schemas.microsoft.com/office/drawing/2014/main" id="{441CAD51-1904-41F0-B93C-F9E91B00D6A5}"/>
              </a:ext>
            </a:extLst>
          </p:cNvPr>
          <p:cNvSpPr>
            <a:spLocks xmlns:a="http://schemas.openxmlformats.org/drawingml/2006/main" noGrp="1"/>
          </p:cNvSpPr>
          <p:nvPr/>
        </p:nvSpPr>
        <p:spPr>
          <a:xfrm xmlns:a="http://schemas.openxmlformats.org/drawingml/2006/main">
            <a:off x="9464040" y="4370832"/>
            <a:ext cx="1920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i="1">
                <a:solidFill>
                  <a:srgbClr val="D23B4E"/>
                </a:solidFill>
                <a:latin typeface="Calibri"/>
                <a:ea typeface="Calibri"/>
                <a:cs typeface="Calibri"/>
              </a:rPr>
              <a:t>HTML Interpretation</a:t>
            </a:r>
          </a:p>
        </p:txBody>
      </p:sp>
      <p:sp>
        <p:nvSpPr>
          <p:cNvPr id="18" name="Text 16">
            <a:extLst xmlns:a="http://schemas.openxmlformats.org/drawingml/2006/main">
              <a:ext uri="{FF2B5EF4-FFF2-40B4-BE49-F238E27FC236}">
                <a16:creationId xmlns:a16="http://schemas.microsoft.com/office/drawing/2014/main" id="{030DC8A2-C23C-480A-82E6-111FBF03444F}"/>
              </a:ext>
            </a:extLst>
          </p:cNvPr>
          <p:cNvSpPr>
            <a:spLocks xmlns:a="http://schemas.openxmlformats.org/drawingml/2006/main" noGrp="1"/>
          </p:cNvSpPr>
          <p:nvPr/>
        </p:nvSpPr>
        <p:spPr>
          <a:xfrm xmlns:a="http://schemas.openxmlformats.org/drawingml/2006/main">
            <a:off x="6446520" y="4782312"/>
            <a:ext cx="3017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6181D"/>
                </a:solidFill>
                <a:latin typeface="Consolas"/>
                <a:ea typeface="Consolas"/>
                <a:cs typeface="Consolas"/>
              </a:rPr>
              <a:t>Stored DOM XSS</a:t>
            </a:r>
          </a:p>
        </p:txBody>
      </p:sp>
      <p:sp>
        <p:nvSpPr>
          <p:cNvPr id="19" name="Text 17">
            <a:extLst xmlns:a="http://schemas.openxmlformats.org/drawingml/2006/main">
              <a:ext uri="{FF2B5EF4-FFF2-40B4-BE49-F238E27FC236}">
                <a16:creationId xmlns:a16="http://schemas.microsoft.com/office/drawing/2014/main" id="{68B27804-D89B-47C9-A881-B07F98D02BF7}"/>
              </a:ext>
            </a:extLst>
          </p:cNvPr>
          <p:cNvSpPr>
            <a:spLocks xmlns:a="http://schemas.openxmlformats.org/drawingml/2006/main" noGrp="1"/>
          </p:cNvSpPr>
          <p:nvPr/>
        </p:nvSpPr>
        <p:spPr>
          <a:xfrm xmlns:a="http://schemas.openxmlformats.org/drawingml/2006/main">
            <a:off x="9464040" y="4782312"/>
            <a:ext cx="1920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i="1">
                <a:solidFill>
                  <a:srgbClr val="D23B4E"/>
                </a:solidFill>
                <a:latin typeface="Calibri"/>
                <a:ea typeface="Calibri"/>
                <a:cs typeface="Calibri"/>
              </a:rPr>
              <a:t>wiederholte Ausführung</a:t>
            </a:r>
          </a:p>
        </p:txBody>
      </p:sp>
      <p:sp>
        <p:nvSpPr>
          <p:cNvPr id="20" name="Text 18">
            <a:extLst xmlns:a="http://schemas.openxmlformats.org/drawingml/2006/main">
              <a:ext uri="{FF2B5EF4-FFF2-40B4-BE49-F238E27FC236}">
                <a16:creationId xmlns:a16="http://schemas.microsoft.com/office/drawing/2014/main" id="{9F5BCFF2-50DB-433A-B52F-9BECB837A4E0}"/>
              </a:ext>
            </a:extLst>
          </p:cNvPr>
          <p:cNvSpPr>
            <a:spLocks xmlns:a="http://schemas.openxmlformats.org/drawingml/2006/main" noGrp="1"/>
          </p:cNvSpPr>
          <p:nvPr/>
        </p:nvSpPr>
        <p:spPr>
          <a:xfrm xmlns:a="http://schemas.openxmlformats.org/drawingml/2006/main">
            <a:off x="6446520" y="5193792"/>
            <a:ext cx="3017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6181D"/>
                </a:solidFill>
                <a:latin typeface="Consolas"/>
                <a:ea typeface="Consolas"/>
                <a:cs typeface="Consolas"/>
              </a:rPr>
              <a:t>Sicheres Gegenbeispiel</a:t>
            </a:r>
          </a:p>
        </p:txBody>
      </p:sp>
      <p:sp>
        <p:nvSpPr>
          <p:cNvPr id="21" name="Text 19">
            <a:extLst xmlns:a="http://schemas.openxmlformats.org/drawingml/2006/main">
              <a:ext uri="{FF2B5EF4-FFF2-40B4-BE49-F238E27FC236}">
                <a16:creationId xmlns:a16="http://schemas.microsoft.com/office/drawing/2014/main" id="{97DC8436-6B9E-4ACA-8DCB-610FD3084EE3}"/>
              </a:ext>
            </a:extLst>
          </p:cNvPr>
          <p:cNvSpPr>
            <a:spLocks xmlns:a="http://schemas.openxmlformats.org/drawingml/2006/main" noGrp="1"/>
          </p:cNvSpPr>
          <p:nvPr/>
        </p:nvSpPr>
        <p:spPr>
          <a:xfrm xmlns:a="http://schemas.openxmlformats.org/drawingml/2006/main">
            <a:off x="9464040" y="5193792"/>
            <a:ext cx="1920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i="1">
                <a:solidFill>
                  <a:srgbClr val="D23B4E"/>
                </a:solidFill>
                <a:latin typeface="Calibri"/>
                <a:ea typeface="Calibri"/>
                <a:cs typeface="Calibri"/>
              </a:rPr>
              <a:t>eigener Event Slot</a:t>
            </a:r>
          </a:p>
        </p:txBody>
      </p:sp>
      <p:sp>
        <p:nvSpPr>
          <p:cNvPr id="22" name="Text 20">
            <a:extLst xmlns:a="http://schemas.openxmlformats.org/drawingml/2006/main">
              <a:ext uri="{FF2B5EF4-FFF2-40B4-BE49-F238E27FC236}">
                <a16:creationId xmlns:a16="http://schemas.microsoft.com/office/drawing/2014/main" id="{731FC50C-567F-4B1F-BDC7-CD198D0E5691}"/>
              </a:ext>
            </a:extLst>
          </p:cNvPr>
          <p:cNvSpPr>
            <a:spLocks xmlns:a="http://schemas.openxmlformats.org/drawingml/2006/main" noGrp="1"/>
          </p:cNvSpPr>
          <p:nvPr/>
        </p:nvSpPr>
        <p:spPr>
          <a:xfrm xmlns:a="http://schemas.openxmlformats.org/drawingml/2006/main">
            <a:off x="6446520" y="5623560"/>
            <a:ext cx="4937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9AA3AF"/>
                </a:solidFill>
                <a:latin typeface="Consolas"/>
                <a:ea typeface="Consolas"/>
                <a:cs typeface="Consolas"/>
              </a:rPr>
              <a:t>vue cal Standardrenderer</a:t>
            </a:r>
          </a:p>
        </p:txBody>
      </p:sp>
    </p:spTree>
    <p:extLst>
      <p:ext uri="{BB962C8B-B14F-4D97-AF65-F5344CB8AC3E}">
        <p14:creationId xmlns:p14="http://schemas.microsoft.com/office/powerpoint/2010/main" val="19782303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605B925-20F2-478D-ABE4-CF63D19317D7}"/>
              </a:ext>
            </a:extLst>
          </p:cNvPr>
          <p:cNvSpPr>
            <a:spLocks xmlns:a="http://schemas.openxmlformats.org/drawingml/2006/main" noGrp="1"/>
          </p:cNvSpPr>
          <p:nvPr/>
        </p:nvSpPr>
        <p:spPr>
          <a:xfrm xmlns:a="http://schemas.openxmlformats.org/drawingml/2006/main">
            <a:off x="868680" y="50292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AA3AF"/>
                </a:solidFill>
                <a:latin typeface="Calibri"/>
                <a:ea typeface="Calibri"/>
                <a:cs typeface="Calibri"/>
              </a:rPr>
              <a:t>DEMO · AUFBAU</a:t>
            </a:r>
          </a:p>
        </p:txBody>
      </p:sp>
      <p:sp>
        <p:nvSpPr>
          <p:cNvPr id="3" name="Text 1">
            <a:extLst xmlns:a="http://schemas.openxmlformats.org/drawingml/2006/main">
              <a:ext uri="{FF2B5EF4-FFF2-40B4-BE49-F238E27FC236}">
                <a16:creationId xmlns:a16="http://schemas.microsoft.com/office/drawing/2014/main" id="{E3BF8F1A-18FF-450F-A33E-7305BF3CC83C}"/>
              </a:ext>
            </a:extLst>
          </p:cNvPr>
          <p:cNvSpPr>
            <a:spLocks xmlns:a="http://schemas.openxmlformats.org/drawingml/2006/main" noGrp="1"/>
          </p:cNvSpPr>
          <p:nvPr/>
        </p:nvSpPr>
        <p:spPr>
          <a:xfrm xmlns:a="http://schemas.openxmlformats.org/drawingml/2006/main">
            <a:off x="10774375" y="502920"/>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50" b="1">
                <a:solidFill>
                  <a:srgbClr val="9AA3AF"/>
                </a:solidFill>
                <a:latin typeface="Calibri"/>
                <a:ea typeface="Calibri"/>
                <a:cs typeface="Calibri"/>
              </a:rPr>
              <a:t>06</a:t>
            </a:r>
          </a:p>
        </p:txBody>
      </p:sp>
      <p:sp>
        <p:nvSpPr>
          <p:cNvPr id="4" name="Text 2">
            <a:extLst xmlns:a="http://schemas.openxmlformats.org/drawingml/2006/main">
              <a:ext uri="{FF2B5EF4-FFF2-40B4-BE49-F238E27FC236}">
                <a16:creationId xmlns:a16="http://schemas.microsoft.com/office/drawing/2014/main" id="{0CA56D71-8EDE-4C16-B422-C390CBED320E}"/>
              </a:ext>
            </a:extLst>
          </p:cNvPr>
          <p:cNvSpPr>
            <a:spLocks xmlns:a="http://schemas.openxmlformats.org/drawingml/2006/main" noGrp="1"/>
          </p:cNvSpPr>
          <p:nvPr/>
        </p:nvSpPr>
        <p:spPr>
          <a:xfrm xmlns:a="http://schemas.openxmlformats.org/drawingml/2006/main">
            <a:off x="868680" y="1051560"/>
            <a:ext cx="100584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16181D"/>
                </a:solidFill>
                <a:latin typeface="Trebuchet MS"/>
                <a:ea typeface="Trebuchet MS"/>
                <a:cs typeface="Trebuchet MS"/>
              </a:rPr>
              <a:t>Setup</a:t>
            </a:r>
          </a:p>
        </p:txBody>
      </p:sp>
      <p:sp>
        <p:nvSpPr>
          <p:cNvPr id="5" name="Text 3">
            <a:extLst xmlns:a="http://schemas.openxmlformats.org/drawingml/2006/main">
              <a:ext uri="{FF2B5EF4-FFF2-40B4-BE49-F238E27FC236}">
                <a16:creationId xmlns:a16="http://schemas.microsoft.com/office/drawing/2014/main" id="{1D91B4D8-43A2-49F5-AE0D-56AA8530603C}"/>
              </a:ext>
            </a:extLst>
          </p:cNvPr>
          <p:cNvSpPr>
            <a:spLocks xmlns:a="http://schemas.openxmlformats.org/drawingml/2006/main" noGrp="1"/>
          </p:cNvSpPr>
          <p:nvPr/>
        </p:nvSpPr>
        <p:spPr>
          <a:xfrm xmlns:a="http://schemas.openxmlformats.org/drawingml/2006/main">
            <a:off x="868680" y="1920240"/>
            <a:ext cx="8778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a:solidFill>
                  <a:srgbClr val="55606E"/>
                </a:solidFill>
                <a:latin typeface="Calibri"/>
                <a:ea typeface="Calibri"/>
                <a:cs typeface="Calibri"/>
              </a:rPr>
              <a:t>Der direkte Vergleich verwendet dieselben gespeicherten Daten.</a:t>
            </a:r>
          </a:p>
        </p:txBody>
      </p:sp>
      <p:sp>
        <p:nvSpPr>
          <p:cNvPr id="6" name="Text 4">
            <a:extLst xmlns:a="http://schemas.openxmlformats.org/drawingml/2006/main">
              <a:ext uri="{FF2B5EF4-FFF2-40B4-BE49-F238E27FC236}">
                <a16:creationId xmlns:a16="http://schemas.microsoft.com/office/drawing/2014/main" id="{3BD51F4C-3C9E-470A-8612-D1DD25BD43BE}"/>
              </a:ext>
            </a:extLst>
          </p:cNvPr>
          <p:cNvSpPr>
            <a:spLocks xmlns:a="http://schemas.openxmlformats.org/drawingml/2006/main" noGrp="1"/>
          </p:cNvSpPr>
          <p:nvPr/>
        </p:nvSpPr>
        <p:spPr>
          <a:xfrm xmlns:a="http://schemas.openxmlformats.org/drawingml/2006/main">
            <a:off x="868680" y="3063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9AA3AF"/>
                </a:solidFill>
                <a:latin typeface="Calibri"/>
                <a:ea typeface="Calibri"/>
                <a:cs typeface="Calibri"/>
              </a:rPr>
              <a:t>DEMO BESTEHT AUS</a:t>
            </a:r>
          </a:p>
        </p:txBody>
      </p:sp>
      <p:sp>
        <p:nvSpPr>
          <p:cNvPr id="7" name="Text 5">
            <a:extLst xmlns:a="http://schemas.openxmlformats.org/drawingml/2006/main">
              <a:ext uri="{FF2B5EF4-FFF2-40B4-BE49-F238E27FC236}">
                <a16:creationId xmlns:a16="http://schemas.microsoft.com/office/drawing/2014/main" id="{1E658AE0-E6C3-4D3C-9055-289C7B506ACA}"/>
              </a:ext>
            </a:extLst>
          </p:cNvPr>
          <p:cNvSpPr>
            <a:spLocks xmlns:a="http://schemas.openxmlformats.org/drawingml/2006/main" noGrp="1"/>
          </p:cNvSpPr>
          <p:nvPr/>
        </p:nvSpPr>
        <p:spPr>
          <a:xfrm xmlns:a="http://schemas.openxmlformats.org/drawingml/2006/main">
            <a:off x="868680" y="3474720"/>
            <a:ext cx="2926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9AA3AF"/>
                </a:solidFill>
                <a:latin typeface="Calibri"/>
                <a:ea typeface="Calibri"/>
                <a:cs typeface="Calibri"/>
              </a:rPr>
              <a:t>TESTDATEN</a:t>
            </a:r>
          </a:p>
        </p:txBody>
      </p:sp>
      <p:sp>
        <p:nvSpPr>
          <p:cNvPr id="8" name="Text 6">
            <a:extLst xmlns:a="http://schemas.openxmlformats.org/drawingml/2006/main">
              <a:ext uri="{FF2B5EF4-FFF2-40B4-BE49-F238E27FC236}">
                <a16:creationId xmlns:a16="http://schemas.microsoft.com/office/drawing/2014/main" id="{8BE5973D-4652-483C-9A38-77E49817E2B9}"/>
              </a:ext>
            </a:extLst>
          </p:cNvPr>
          <p:cNvSpPr>
            <a:spLocks xmlns:a="http://schemas.openxmlformats.org/drawingml/2006/main" noGrp="1"/>
          </p:cNvSpPr>
          <p:nvPr/>
        </p:nvSpPr>
        <p:spPr>
          <a:xfrm xmlns:a="http://schemas.openxmlformats.org/drawingml/2006/main">
            <a:off x="868680" y="3767328"/>
            <a:ext cx="29260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6181D"/>
                </a:solidFill>
                <a:latin typeface="Consolas"/>
                <a:ea typeface="Consolas"/>
                <a:cs typeface="Consolas"/>
              </a:rPr>
              <a:t>Setup</a:t>
            </a:r>
          </a:p>
        </p:txBody>
      </p:sp>
      <p:sp>
        <p:nvSpPr>
          <p:cNvPr id="9" name="Shape 7">
            <a:extLst xmlns:a="http://schemas.openxmlformats.org/drawingml/2006/main">
              <a:ext uri="{FF2B5EF4-FFF2-40B4-BE49-F238E27FC236}">
                <a16:creationId xmlns:a16="http://schemas.microsoft.com/office/drawing/2014/main" id="{5897FD2B-C080-4C86-8BD0-C9131E2B7687}"/>
              </a:ext>
            </a:extLst>
          </p:cNvPr>
          <p:cNvSpPr>
            <a:spLocks xmlns:a="http://schemas.openxmlformats.org/drawingml/2006/main" noGrp="1"/>
          </p:cNvSpPr>
          <p:nvPr/>
        </p:nvSpPr>
        <p:spPr>
          <a:xfrm xmlns:a="http://schemas.openxmlformats.org/drawingml/2006/main">
            <a:off x="3749040" y="3520440"/>
            <a:ext cx="0" cy="685800"/>
          </a:xfrm>
          <a:prstGeom xmlns:a="http://schemas.openxmlformats.org/drawingml/2006/main" prst="line">
            <a:avLst/>
          </a:prstGeom>
          <a:noFill xmlns:a="http://schemas.openxmlformats.org/drawingml/2006/main"/>
          <a:ln xmlns:a="http://schemas.openxmlformats.org/drawingml/2006/main" w="12700">
            <a:solidFill>
              <a:srgbClr val="E4E7EC"/>
            </a:solidFill>
            <a:prstDash val="solid"/>
          </a:ln>
        </p:spPr>
      </p:sp>
      <p:sp>
        <p:nvSpPr>
          <p:cNvPr id="10" name="Text 8">
            <a:extLst xmlns:a="http://schemas.openxmlformats.org/drawingml/2006/main">
              <a:ext uri="{FF2B5EF4-FFF2-40B4-BE49-F238E27FC236}">
                <a16:creationId xmlns:a16="http://schemas.microsoft.com/office/drawing/2014/main" id="{1C6B439C-F782-4D6A-AF21-F5220AB8EE5F}"/>
              </a:ext>
            </a:extLst>
          </p:cNvPr>
          <p:cNvSpPr>
            <a:spLocks xmlns:a="http://schemas.openxmlformats.org/drawingml/2006/main" noGrp="1"/>
          </p:cNvSpPr>
          <p:nvPr/>
        </p:nvSpPr>
        <p:spPr>
          <a:xfrm xmlns:a="http://schemas.openxmlformats.org/drawingml/2006/main">
            <a:off x="3794760" y="3474720"/>
            <a:ext cx="2926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9AA3AF"/>
                </a:solidFill>
                <a:latin typeface="Calibri"/>
                <a:ea typeface="Calibri"/>
                <a:cs typeface="Calibri"/>
              </a:rPr>
              <a:t>UNSICHER</a:t>
            </a:r>
          </a:p>
        </p:txBody>
      </p:sp>
      <p:sp>
        <p:nvSpPr>
          <p:cNvPr id="11" name="Text 9">
            <a:extLst xmlns:a="http://schemas.openxmlformats.org/drawingml/2006/main">
              <a:ext uri="{FF2B5EF4-FFF2-40B4-BE49-F238E27FC236}">
                <a16:creationId xmlns:a16="http://schemas.microsoft.com/office/drawing/2014/main" id="{4E871371-98BF-442E-8AEB-FBEC23F7C643}"/>
              </a:ext>
            </a:extLst>
          </p:cNvPr>
          <p:cNvSpPr>
            <a:spLocks xmlns:a="http://schemas.openxmlformats.org/drawingml/2006/main" noGrp="1"/>
          </p:cNvSpPr>
          <p:nvPr/>
        </p:nvSpPr>
        <p:spPr>
          <a:xfrm xmlns:a="http://schemas.openxmlformats.org/drawingml/2006/main">
            <a:off x="3794760" y="3767328"/>
            <a:ext cx="29260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6181D"/>
                </a:solidFill>
                <a:latin typeface="Consolas"/>
                <a:ea typeface="Consolas"/>
                <a:cs typeface="Consolas"/>
              </a:rPr>
              <a:t>VueCal</a:t>
            </a:r>
          </a:p>
        </p:txBody>
      </p:sp>
      <p:sp>
        <p:nvSpPr>
          <p:cNvPr id="12" name="Shape 10">
            <a:extLst xmlns:a="http://schemas.openxmlformats.org/drawingml/2006/main">
              <a:ext uri="{FF2B5EF4-FFF2-40B4-BE49-F238E27FC236}">
                <a16:creationId xmlns:a16="http://schemas.microsoft.com/office/drawing/2014/main" id="{29DBA76E-8A52-42F1-99E2-7A9F945E74BC}"/>
              </a:ext>
            </a:extLst>
          </p:cNvPr>
          <p:cNvSpPr>
            <a:spLocks xmlns:a="http://schemas.openxmlformats.org/drawingml/2006/main" noGrp="1"/>
          </p:cNvSpPr>
          <p:nvPr/>
        </p:nvSpPr>
        <p:spPr>
          <a:xfrm xmlns:a="http://schemas.openxmlformats.org/drawingml/2006/main">
            <a:off x="6675120" y="3520440"/>
            <a:ext cx="0" cy="685800"/>
          </a:xfrm>
          <a:prstGeom xmlns:a="http://schemas.openxmlformats.org/drawingml/2006/main" prst="line">
            <a:avLst/>
          </a:prstGeom>
          <a:noFill xmlns:a="http://schemas.openxmlformats.org/drawingml/2006/main"/>
          <a:ln xmlns:a="http://schemas.openxmlformats.org/drawingml/2006/main" w="12700">
            <a:solidFill>
              <a:srgbClr val="E4E7EC"/>
            </a:solidFill>
            <a:prstDash val="solid"/>
          </a:ln>
        </p:spPr>
      </p:sp>
      <p:sp>
        <p:nvSpPr>
          <p:cNvPr id="13" name="Text 11">
            <a:extLst xmlns:a="http://schemas.openxmlformats.org/drawingml/2006/main">
              <a:ext uri="{FF2B5EF4-FFF2-40B4-BE49-F238E27FC236}">
                <a16:creationId xmlns:a16="http://schemas.microsoft.com/office/drawing/2014/main" id="{93CBA382-695B-4C33-9819-3235851281A7}"/>
              </a:ext>
            </a:extLst>
          </p:cNvPr>
          <p:cNvSpPr>
            <a:spLocks xmlns:a="http://schemas.openxmlformats.org/drawingml/2006/main" noGrp="1"/>
          </p:cNvSpPr>
          <p:nvPr/>
        </p:nvSpPr>
        <p:spPr>
          <a:xfrm xmlns:a="http://schemas.openxmlformats.org/drawingml/2006/main">
            <a:off x="6720840" y="3474720"/>
            <a:ext cx="2926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9AA3AF"/>
                </a:solidFill>
                <a:latin typeface="Calibri"/>
                <a:ea typeface="Calibri"/>
                <a:cs typeface="Calibri"/>
              </a:rPr>
              <a:t>SICHER</a:t>
            </a:r>
          </a:p>
        </p:txBody>
      </p:sp>
      <p:sp>
        <p:nvSpPr>
          <p:cNvPr id="14" name="Text 12">
            <a:extLst xmlns:a="http://schemas.openxmlformats.org/drawingml/2006/main">
              <a:ext uri="{FF2B5EF4-FFF2-40B4-BE49-F238E27FC236}">
                <a16:creationId xmlns:a16="http://schemas.microsoft.com/office/drawing/2014/main" id="{D0A4CDE0-7F8C-421C-8867-6C2C3172BEAD}"/>
              </a:ext>
            </a:extLst>
          </p:cNvPr>
          <p:cNvSpPr>
            <a:spLocks xmlns:a="http://schemas.openxmlformats.org/drawingml/2006/main" noGrp="1"/>
          </p:cNvSpPr>
          <p:nvPr/>
        </p:nvSpPr>
        <p:spPr>
          <a:xfrm xmlns:a="http://schemas.openxmlformats.org/drawingml/2006/main">
            <a:off x="6720840" y="3767328"/>
            <a:ext cx="29260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6181D"/>
                </a:solidFill>
                <a:latin typeface="Consolas"/>
                <a:ea typeface="Consolas"/>
                <a:cs typeface="Consolas"/>
              </a:rPr>
              <a:t>Event Slot</a:t>
            </a:r>
          </a:p>
        </p:txBody>
      </p:sp>
      <p:sp>
        <p:nvSpPr>
          <p:cNvPr id="15" name="Shape 13">
            <a:extLst xmlns:a="http://schemas.openxmlformats.org/drawingml/2006/main">
              <a:ext uri="{FF2B5EF4-FFF2-40B4-BE49-F238E27FC236}">
                <a16:creationId xmlns:a16="http://schemas.microsoft.com/office/drawing/2014/main" id="{791309A0-BCB1-40B3-9663-F2F2BFB1CFA9}"/>
              </a:ext>
            </a:extLst>
          </p:cNvPr>
          <p:cNvSpPr>
            <a:spLocks xmlns:a="http://schemas.openxmlformats.org/drawingml/2006/main" noGrp="1"/>
          </p:cNvSpPr>
          <p:nvPr/>
        </p:nvSpPr>
        <p:spPr>
          <a:xfrm xmlns:a="http://schemas.openxmlformats.org/drawingml/2006/main">
            <a:off x="868680" y="4892040"/>
            <a:ext cx="10454335" cy="0"/>
          </a:xfrm>
          <a:prstGeom xmlns:a="http://schemas.openxmlformats.org/drawingml/2006/main" prst="line">
            <a:avLst/>
          </a:prstGeom>
          <a:noFill xmlns:a="http://schemas.openxmlformats.org/drawingml/2006/main"/>
          <a:ln xmlns:a="http://schemas.openxmlformats.org/drawingml/2006/main" w="12700">
            <a:solidFill>
              <a:srgbClr val="E4E7EC"/>
            </a:solidFill>
            <a:prstDash val="solid"/>
          </a:ln>
        </p:spPr>
      </p:sp>
      <p:sp>
        <p:nvSpPr>
          <p:cNvPr id="16" name="Text 14">
            <a:extLst xmlns:a="http://schemas.openxmlformats.org/drawingml/2006/main">
              <a:ext uri="{FF2B5EF4-FFF2-40B4-BE49-F238E27FC236}">
                <a16:creationId xmlns:a16="http://schemas.microsoft.com/office/drawing/2014/main" id="{F30095E8-2148-4819-914E-700293DA5DF9}"/>
              </a:ext>
            </a:extLst>
          </p:cNvPr>
          <p:cNvSpPr>
            <a:spLocks xmlns:a="http://schemas.openxmlformats.org/drawingml/2006/main" noGrp="1"/>
          </p:cNvSpPr>
          <p:nvPr/>
        </p:nvSpPr>
        <p:spPr>
          <a:xfrm xmlns:a="http://schemas.openxmlformats.org/drawingml/2006/main">
            <a:off x="868680" y="5166360"/>
            <a:ext cx="10058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16181D"/>
                </a:solidFill>
                <a:latin typeface="Trebuchet MS"/>
                <a:ea typeface="Trebuchet MS"/>
                <a:cs typeface="Trebuchet MS"/>
              </a:rPr>
              <a:t>UMSCHALTUNG</a:t>
            </a:r>
          </a:p>
        </p:txBody>
      </p:sp>
      <p:sp>
        <p:nvSpPr>
          <p:cNvPr id="17" name="Text 15">
            <a:extLst xmlns:a="http://schemas.openxmlformats.org/drawingml/2006/main">
              <a:ext uri="{FF2B5EF4-FFF2-40B4-BE49-F238E27FC236}">
                <a16:creationId xmlns:a16="http://schemas.microsoft.com/office/drawing/2014/main" id="{48721FF5-1478-4637-84E6-D34829A54E91}"/>
              </a:ext>
            </a:extLst>
          </p:cNvPr>
          <p:cNvSpPr>
            <a:spLocks xmlns:a="http://schemas.openxmlformats.org/drawingml/2006/main" noGrp="1"/>
          </p:cNvSpPr>
          <p:nvPr/>
        </p:nvSpPr>
        <p:spPr>
          <a:xfrm xmlns:a="http://schemas.openxmlformats.org/drawingml/2006/main">
            <a:off x="868680" y="5669280"/>
            <a:ext cx="10058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6181D"/>
                </a:solidFill>
                <a:latin typeface="Consolas"/>
                <a:ea typeface="Consolas"/>
                <a:cs typeface="Consolas"/>
              </a:rPr>
              <a:t>router.js und die sichere Env Konfiguration wählen die Variante.</a:t>
            </a:r>
          </a:p>
        </p:txBody>
      </p:sp>
    </p:spTree>
    <p:extLst>
      <p:ext uri="{BB962C8B-B14F-4D97-AF65-F5344CB8AC3E}">
        <p14:creationId xmlns:p14="http://schemas.microsoft.com/office/powerpoint/2010/main" val="66136374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B95CA36-7AD5-4CED-959F-F065EF9A96F2}"/>
              </a:ext>
            </a:extLst>
          </p:cNvPr>
          <p:cNvSpPr>
            <a:spLocks xmlns:a="http://schemas.openxmlformats.org/drawingml/2006/main" noGrp="1"/>
          </p:cNvSpPr>
          <p:nvPr/>
        </p:nvSpPr>
        <p:spPr>
          <a:xfrm xmlns:a="http://schemas.openxmlformats.org/drawingml/2006/main">
            <a:off x="868680" y="1874520"/>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463FF"/>
                </a:solidFill>
                <a:latin typeface="Calibri"/>
                <a:ea typeface="Calibri"/>
                <a:cs typeface="Calibri"/>
              </a:rPr>
              <a:t>LIVE DEMO · XSS</a:t>
            </a:r>
          </a:p>
        </p:txBody>
      </p:sp>
      <p:sp>
        <p:nvSpPr>
          <p:cNvPr id="3" name="Text 1">
            <a:extLst xmlns:a="http://schemas.openxmlformats.org/drawingml/2006/main">
              <a:ext uri="{FF2B5EF4-FFF2-40B4-BE49-F238E27FC236}">
                <a16:creationId xmlns:a16="http://schemas.microsoft.com/office/drawing/2014/main" id="{FD8DA67A-FD81-4D52-AB3E-0B0E93F9DAB5}"/>
              </a:ext>
            </a:extLst>
          </p:cNvPr>
          <p:cNvSpPr>
            <a:spLocks xmlns:a="http://schemas.openxmlformats.org/drawingml/2006/main" noGrp="1"/>
          </p:cNvSpPr>
          <p:nvPr/>
        </p:nvSpPr>
        <p:spPr>
          <a:xfrm xmlns:a="http://schemas.openxmlformats.org/drawingml/2006/main">
            <a:off x="822960" y="2194560"/>
            <a:ext cx="100584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0" b="1">
                <a:solidFill>
                  <a:srgbClr val="16181D"/>
                </a:solidFill>
                <a:latin typeface="Trebuchet MS"/>
                <a:ea typeface="Trebuchet MS"/>
                <a:cs typeface="Trebuchet MS"/>
              </a:rPr>
              <a:t>Zur Live Demo</a:t>
            </a:r>
          </a:p>
        </p:txBody>
      </p:sp>
      <p:sp>
        <p:nvSpPr>
          <p:cNvPr id="4" name="Text 2">
            <a:extLst xmlns:a="http://schemas.openxmlformats.org/drawingml/2006/main">
              <a:ext uri="{FF2B5EF4-FFF2-40B4-BE49-F238E27FC236}">
                <a16:creationId xmlns:a16="http://schemas.microsoft.com/office/drawing/2014/main" id="{17D4FDB8-F8F0-4D96-95F0-9B90E32AF337}"/>
              </a:ext>
            </a:extLst>
          </p:cNvPr>
          <p:cNvSpPr>
            <a:spLocks xmlns:a="http://schemas.openxmlformats.org/drawingml/2006/main" noGrp="1"/>
          </p:cNvSpPr>
          <p:nvPr/>
        </p:nvSpPr>
        <p:spPr>
          <a:xfrm xmlns:a="http://schemas.openxmlformats.org/drawingml/2006/main">
            <a:off x="868680" y="3703320"/>
            <a:ext cx="10058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a:solidFill>
                  <a:srgbClr val="55606E"/>
                </a:solidFill>
                <a:latin typeface="Trebuchet MS"/>
                <a:ea typeface="Trebuchet MS"/>
                <a:cs typeface="Trebuchet MS"/>
              </a:rPr>
              <a:t/>
            </a:r>
          </a:p>
        </p:txBody>
      </p:sp>
      <p:sp>
        <p:nvSpPr>
          <p:cNvPr id="5" name="Shape 3">
            <a:extLst xmlns:a="http://schemas.openxmlformats.org/drawingml/2006/main">
              <a:ext uri="{FF2B5EF4-FFF2-40B4-BE49-F238E27FC236}">
                <a16:creationId xmlns:a16="http://schemas.microsoft.com/office/drawing/2014/main" id="{42345276-9CC1-4302-B204-8758E42AE5A8}"/>
              </a:ext>
            </a:extLst>
          </p:cNvPr>
          <p:cNvSpPr>
            <a:spLocks xmlns:a="http://schemas.openxmlformats.org/drawingml/2006/main" noGrp="1"/>
          </p:cNvSpPr>
          <p:nvPr/>
        </p:nvSpPr>
        <p:spPr>
          <a:xfrm xmlns:a="http://schemas.openxmlformats.org/drawingml/2006/main">
            <a:off x="868680" y="4526280"/>
            <a:ext cx="1828800" cy="0"/>
          </a:xfrm>
          <a:prstGeom xmlns:a="http://schemas.openxmlformats.org/drawingml/2006/main" prst="line">
            <a:avLst/>
          </a:prstGeom>
          <a:noFill xmlns:a="http://schemas.openxmlformats.org/drawingml/2006/main"/>
          <a:ln xmlns:a="http://schemas.openxmlformats.org/drawingml/2006/main" w="28575">
            <a:solidFill>
              <a:srgbClr val="16181D"/>
            </a:solidFill>
            <a:prstDash val="solid"/>
          </a:ln>
        </p:spPr>
      </p:sp>
      <p:sp>
        <p:nvSpPr>
          <p:cNvPr id="6" name="Text 4">
            <a:extLst xmlns:a="http://schemas.openxmlformats.org/drawingml/2006/main">
              <a:ext uri="{FF2B5EF4-FFF2-40B4-BE49-F238E27FC236}">
                <a16:creationId xmlns:a16="http://schemas.microsoft.com/office/drawing/2014/main" id="{468481FB-4609-481A-89AB-8748CC339F06}"/>
              </a:ext>
            </a:extLst>
          </p:cNvPr>
          <p:cNvSpPr>
            <a:spLocks xmlns:a="http://schemas.openxmlformats.org/drawingml/2006/main" noGrp="1"/>
          </p:cNvSpPr>
          <p:nvPr/>
        </p:nvSpPr>
        <p:spPr>
          <a:xfrm xmlns:a="http://schemas.openxmlformats.org/drawingml/2006/main">
            <a:off x="868680" y="4754880"/>
            <a:ext cx="8686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55606E"/>
                </a:solidFill>
                <a:latin typeface="Calibri"/>
                <a:ea typeface="Calibri"/>
                <a:cs typeface="Calibri"/>
              </a:rPr>
              <a:t>Derselbe gespeicherte Wert wird zuerst als HTML ausgeführt und bleibt danach in der sicheren Ansicht sichtbarer Text.</a:t>
            </a:r>
          </a:p>
        </p:txBody>
      </p:sp>
      <p:sp>
        <p:nvSpPr>
          <p:cNvPr id="7" name="Text 5">
            <a:extLst xmlns:a="http://schemas.openxmlformats.org/drawingml/2006/main">
              <a:ext uri="{FF2B5EF4-FFF2-40B4-BE49-F238E27FC236}">
                <a16:creationId xmlns:a16="http://schemas.microsoft.com/office/drawing/2014/main" id="{94A987EA-ED23-44AA-ABC1-DB16DB020FDD}"/>
              </a:ext>
            </a:extLst>
          </p:cNvPr>
          <p:cNvSpPr>
            <a:spLocks xmlns:a="http://schemas.openxmlformats.org/drawingml/2006/main" noGrp="1"/>
          </p:cNvSpPr>
          <p:nvPr/>
        </p:nvSpPr>
        <p:spPr>
          <a:xfrm xmlns:a="http://schemas.openxmlformats.org/drawingml/2006/main">
            <a:off x="9448495" y="6080760"/>
            <a:ext cx="18745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i="1">
                <a:solidFill>
                  <a:srgbClr val="9AA3AF"/>
                </a:solidFill>
                <a:latin typeface="Calibri"/>
                <a:ea typeface="Calibri"/>
                <a:cs typeface="Calibri"/>
              </a:rPr>
              <a:t>Linus &amp; Arvid</a:t>
            </a:r>
          </a:p>
        </p:txBody>
      </p:sp>
    </p:spTree>
    <p:extLst>
      <p:ext uri="{BB962C8B-B14F-4D97-AF65-F5344CB8AC3E}">
        <p14:creationId xmlns:p14="http://schemas.microsoft.com/office/powerpoint/2010/main" val="14488387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BB7AA5D-3470-4C6E-A95C-97BF34A9C9C8}"/>
              </a:ext>
            </a:extLst>
          </p:cNvPr>
          <p:cNvSpPr>
            <a:spLocks xmlns:a="http://schemas.openxmlformats.org/drawingml/2006/main" noGrp="1"/>
          </p:cNvSpPr>
          <p:nvPr/>
        </p:nvSpPr>
        <p:spPr>
          <a:xfrm xmlns:a="http://schemas.openxmlformats.org/drawingml/2006/main">
            <a:off x="868680" y="50292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AA3AF"/>
                </a:solidFill>
                <a:latin typeface="Calibri"/>
                <a:ea typeface="Calibri"/>
                <a:cs typeface="Calibri"/>
              </a:rPr>
              <a:t>KRITISCHES RISIKO · SCHEDULER</a:t>
            </a:r>
          </a:p>
        </p:txBody>
      </p:sp>
      <p:sp>
        <p:nvSpPr>
          <p:cNvPr id="3" name="Text 1">
            <a:extLst xmlns:a="http://schemas.openxmlformats.org/drawingml/2006/main">
              <a:ext uri="{FF2B5EF4-FFF2-40B4-BE49-F238E27FC236}">
                <a16:creationId xmlns:a16="http://schemas.microsoft.com/office/drawing/2014/main" id="{23B4F20E-B819-44B5-AA1E-B572EFDDA9EF}"/>
              </a:ext>
            </a:extLst>
          </p:cNvPr>
          <p:cNvSpPr>
            <a:spLocks xmlns:a="http://schemas.openxmlformats.org/drawingml/2006/main" noGrp="1"/>
          </p:cNvSpPr>
          <p:nvPr/>
        </p:nvSpPr>
        <p:spPr>
          <a:xfrm xmlns:a="http://schemas.openxmlformats.org/drawingml/2006/main">
            <a:off x="10774375" y="502920"/>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50" b="1">
                <a:solidFill>
                  <a:srgbClr val="9AA3AF"/>
                </a:solidFill>
                <a:latin typeface="Calibri"/>
                <a:ea typeface="Calibri"/>
                <a:cs typeface="Calibri"/>
              </a:rPr>
              <a:t>08</a:t>
            </a:r>
          </a:p>
        </p:txBody>
      </p:sp>
      <p:sp>
        <p:nvSpPr>
          <p:cNvPr id="4" name="Text 2">
            <a:extLst xmlns:a="http://schemas.openxmlformats.org/drawingml/2006/main">
              <a:ext uri="{FF2B5EF4-FFF2-40B4-BE49-F238E27FC236}">
                <a16:creationId xmlns:a16="http://schemas.microsoft.com/office/drawing/2014/main" id="{A08E6FF8-3FF4-4AF4-87A4-1B1301369BC7}"/>
              </a:ext>
            </a:extLst>
          </p:cNvPr>
          <p:cNvSpPr>
            <a:spLocks xmlns:a="http://schemas.openxmlformats.org/drawingml/2006/main" noGrp="1"/>
          </p:cNvSpPr>
          <p:nvPr/>
        </p:nvSpPr>
        <p:spPr>
          <a:xfrm xmlns:a="http://schemas.openxmlformats.org/drawingml/2006/main">
            <a:off x="868680" y="1051560"/>
            <a:ext cx="1042416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16181D"/>
                </a:solidFill>
                <a:latin typeface="Trebuchet MS"/>
                <a:ea typeface="Trebuchet MS"/>
                <a:cs typeface="Trebuchet MS"/>
              </a:rPr>
              <a:t>Das eigentliche Risiko</a:t>
            </a:r>
          </a:p>
        </p:txBody>
      </p:sp>
      <p:sp>
        <p:nvSpPr>
          <p:cNvPr id="5" name="Text 3">
            <a:extLst xmlns:a="http://schemas.openxmlformats.org/drawingml/2006/main">
              <a:ext uri="{FF2B5EF4-FFF2-40B4-BE49-F238E27FC236}">
                <a16:creationId xmlns:a16="http://schemas.microsoft.com/office/drawing/2014/main" id="{73388B0A-0119-4C41-85DF-2C9EC566263D}"/>
              </a:ext>
            </a:extLst>
          </p:cNvPr>
          <p:cNvSpPr>
            <a:spLocks xmlns:a="http://schemas.openxmlformats.org/drawingml/2006/main" noGrp="1"/>
          </p:cNvSpPr>
          <p:nvPr/>
        </p:nvSpPr>
        <p:spPr>
          <a:xfrm xmlns:a="http://schemas.openxmlformats.org/drawingml/2006/main">
            <a:off x="868680" y="1920240"/>
            <a:ext cx="102412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a:solidFill>
                  <a:srgbClr val="55606E"/>
                </a:solidFill>
                <a:latin typeface="Calibri"/>
                <a:ea typeface="Calibri"/>
                <a:cs typeface="Calibri"/>
              </a:rPr>
              <a:t>Ein Alert ist nur der sichtbare Beweis. Der eingeschleuste Code läuft im Browser eines eingeloggten Scheduler Nutzers.</a:t>
            </a:r>
          </a:p>
        </p:txBody>
      </p:sp>
      <p:sp>
        <p:nvSpPr>
          <p:cNvPr id="6" name="Text 4">
            <a:extLst xmlns:a="http://schemas.openxmlformats.org/drawingml/2006/main">
              <a:ext uri="{FF2B5EF4-FFF2-40B4-BE49-F238E27FC236}">
                <a16:creationId xmlns:a16="http://schemas.microsoft.com/office/drawing/2014/main" id="{142EFDBB-E9F9-4742-B225-1229ACD1B3B9}"/>
              </a:ext>
            </a:extLst>
          </p:cNvPr>
          <p:cNvSpPr>
            <a:spLocks xmlns:a="http://schemas.openxmlformats.org/drawingml/2006/main" noGrp="1"/>
          </p:cNvSpPr>
          <p:nvPr/>
        </p:nvSpPr>
        <p:spPr>
          <a:xfrm xmlns:a="http://schemas.openxmlformats.org/drawingml/2006/main">
            <a:off x="868680" y="3063240"/>
            <a:ext cx="9144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463FF"/>
                </a:solidFill>
                <a:latin typeface="Calibri"/>
                <a:ea typeface="Calibri"/>
                <a:cs typeface="Calibri"/>
              </a:rPr>
              <a:t>AUSLÖSER</a:t>
            </a:r>
          </a:p>
        </p:txBody>
      </p:sp>
      <p:sp>
        <p:nvSpPr>
          <p:cNvPr id="7" name="Text 5">
            <a:extLst xmlns:a="http://schemas.openxmlformats.org/drawingml/2006/main">
              <a:ext uri="{FF2B5EF4-FFF2-40B4-BE49-F238E27FC236}">
                <a16:creationId xmlns:a16="http://schemas.microsoft.com/office/drawing/2014/main" id="{0BF06041-94F2-410B-8AF8-5DBCCF29886E}"/>
              </a:ext>
            </a:extLst>
          </p:cNvPr>
          <p:cNvSpPr>
            <a:spLocks xmlns:a="http://schemas.openxmlformats.org/drawingml/2006/main" noGrp="1"/>
          </p:cNvSpPr>
          <p:nvPr/>
        </p:nvSpPr>
        <p:spPr>
          <a:xfrm xmlns:a="http://schemas.openxmlformats.org/drawingml/2006/main">
            <a:off x="868680" y="3429000"/>
            <a:ext cx="2880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6181D"/>
                </a:solidFill>
                <a:latin typeface="Trebuchet MS"/>
                <a:ea typeface="Trebuchet MS"/>
                <a:cs typeface="Trebuchet MS"/>
              </a:rPr>
              <a:t>Gespeicherter Payload</a:t>
            </a:r>
          </a:p>
        </p:txBody>
      </p:sp>
      <p:sp>
        <p:nvSpPr>
          <p:cNvPr id="8" name="Text 6">
            <a:extLst xmlns:a="http://schemas.openxmlformats.org/drawingml/2006/main">
              <a:ext uri="{FF2B5EF4-FFF2-40B4-BE49-F238E27FC236}">
                <a16:creationId xmlns:a16="http://schemas.microsoft.com/office/drawing/2014/main" id="{CD9997F8-D549-4239-9DD9-0385F5DBCEEB}"/>
              </a:ext>
            </a:extLst>
          </p:cNvPr>
          <p:cNvSpPr>
            <a:spLocks xmlns:a="http://schemas.openxmlformats.org/drawingml/2006/main" noGrp="1"/>
          </p:cNvSpPr>
          <p:nvPr/>
        </p:nvSpPr>
        <p:spPr>
          <a:xfrm xmlns:a="http://schemas.openxmlformats.org/drawingml/2006/main">
            <a:off x="868680" y="3813048"/>
            <a:ext cx="2880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55606E"/>
                </a:solidFill>
                <a:latin typeface="Calibri"/>
                <a:ea typeface="Calibri"/>
                <a:cs typeface="Calibri"/>
              </a:rPr>
              <a:t>wird im Kalender geöffnet</a:t>
            </a:r>
          </a:p>
        </p:txBody>
      </p:sp>
      <p:sp>
        <p:nvSpPr>
          <p:cNvPr id="9" name="Text 7">
            <a:extLst xmlns:a="http://schemas.openxmlformats.org/drawingml/2006/main">
              <a:ext uri="{FF2B5EF4-FFF2-40B4-BE49-F238E27FC236}">
                <a16:creationId xmlns:a16="http://schemas.microsoft.com/office/drawing/2014/main" id="{B8626B6E-A7FA-4FE6-BFA1-771B8586B8A7}"/>
              </a:ext>
            </a:extLst>
          </p:cNvPr>
          <p:cNvSpPr>
            <a:spLocks xmlns:a="http://schemas.openxmlformats.org/drawingml/2006/main" noGrp="1"/>
          </p:cNvSpPr>
          <p:nvPr/>
        </p:nvSpPr>
        <p:spPr>
          <a:xfrm xmlns:a="http://schemas.openxmlformats.org/drawingml/2006/main">
            <a:off x="3611880" y="3429000"/>
            <a:ext cx="4572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9AA3AF"/>
                </a:solidFill>
                <a:latin typeface="Calibri"/>
                <a:ea typeface="Calibri"/>
                <a:cs typeface="Calibri"/>
              </a:rPr>
              <a:t>→</a:t>
            </a:r>
          </a:p>
        </p:txBody>
      </p:sp>
      <p:sp>
        <p:nvSpPr>
          <p:cNvPr id="10" name="Text 8">
            <a:extLst xmlns:a="http://schemas.openxmlformats.org/drawingml/2006/main">
              <a:ext uri="{FF2B5EF4-FFF2-40B4-BE49-F238E27FC236}">
                <a16:creationId xmlns:a16="http://schemas.microsoft.com/office/drawing/2014/main" id="{C5CB29F0-5857-4E95-8E83-ADD5DEC41D7D}"/>
              </a:ext>
            </a:extLst>
          </p:cNvPr>
          <p:cNvSpPr>
            <a:spLocks xmlns:a="http://schemas.openxmlformats.org/drawingml/2006/main" noGrp="1"/>
          </p:cNvSpPr>
          <p:nvPr/>
        </p:nvSpPr>
        <p:spPr>
          <a:xfrm xmlns:a="http://schemas.openxmlformats.org/drawingml/2006/main">
            <a:off x="4114800" y="3429000"/>
            <a:ext cx="2880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6181D"/>
                </a:solidFill>
                <a:latin typeface="Trebuchet MS"/>
                <a:ea typeface="Trebuchet MS"/>
                <a:cs typeface="Trebuchet MS"/>
              </a:rPr>
              <a:t>Browserkontext</a:t>
            </a:r>
          </a:p>
        </p:txBody>
      </p:sp>
      <p:sp>
        <p:nvSpPr>
          <p:cNvPr id="11" name="Text 9">
            <a:extLst xmlns:a="http://schemas.openxmlformats.org/drawingml/2006/main">
              <a:ext uri="{FF2B5EF4-FFF2-40B4-BE49-F238E27FC236}">
                <a16:creationId xmlns:a16="http://schemas.microsoft.com/office/drawing/2014/main" id="{0DC55A0F-11AD-4E66-B497-3B0E59484AC6}"/>
              </a:ext>
            </a:extLst>
          </p:cNvPr>
          <p:cNvSpPr>
            <a:spLocks xmlns:a="http://schemas.openxmlformats.org/drawingml/2006/main" noGrp="1"/>
          </p:cNvSpPr>
          <p:nvPr/>
        </p:nvSpPr>
        <p:spPr>
          <a:xfrm xmlns:a="http://schemas.openxmlformats.org/drawingml/2006/main">
            <a:off x="4114800" y="3813048"/>
            <a:ext cx="2880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55606E"/>
                </a:solidFill>
                <a:latin typeface="Calibri"/>
                <a:ea typeface="Calibri"/>
                <a:cs typeface="Calibri"/>
              </a:rPr>
              <a:t>Scheduler Oberfläche</a:t>
            </a:r>
          </a:p>
        </p:txBody>
      </p:sp>
      <p:sp>
        <p:nvSpPr>
          <p:cNvPr id="12" name="Shape 10">
            <a:extLst xmlns:a="http://schemas.openxmlformats.org/drawingml/2006/main">
              <a:ext uri="{FF2B5EF4-FFF2-40B4-BE49-F238E27FC236}">
                <a16:creationId xmlns:a16="http://schemas.microsoft.com/office/drawing/2014/main" id="{F90C256D-5E14-4FA9-BDC4-06BD082E67F5}"/>
              </a:ext>
            </a:extLst>
          </p:cNvPr>
          <p:cNvSpPr>
            <a:spLocks xmlns:a="http://schemas.openxmlformats.org/drawingml/2006/main" noGrp="1"/>
          </p:cNvSpPr>
          <p:nvPr/>
        </p:nvSpPr>
        <p:spPr>
          <a:xfrm xmlns:a="http://schemas.openxmlformats.org/drawingml/2006/main">
            <a:off x="868680" y="4526280"/>
            <a:ext cx="10454335" cy="0"/>
          </a:xfrm>
          <a:prstGeom xmlns:a="http://schemas.openxmlformats.org/drawingml/2006/main" prst="line">
            <a:avLst/>
          </a:prstGeom>
          <a:noFill xmlns:a="http://schemas.openxmlformats.org/drawingml/2006/main"/>
          <a:ln xmlns:a="http://schemas.openxmlformats.org/drawingml/2006/main" w="12700">
            <a:solidFill>
              <a:srgbClr val="E4E7EC"/>
            </a:solidFill>
            <a:prstDash val="solid"/>
          </a:ln>
        </p:spPr>
      </p:sp>
      <p:sp>
        <p:nvSpPr>
          <p:cNvPr id="13" name="Text 11">
            <a:extLst xmlns:a="http://schemas.openxmlformats.org/drawingml/2006/main">
              <a:ext uri="{FF2B5EF4-FFF2-40B4-BE49-F238E27FC236}">
                <a16:creationId xmlns:a16="http://schemas.microsoft.com/office/drawing/2014/main" id="{EAE1B4B8-ECCC-498F-B560-F417BFE7F52A}"/>
              </a:ext>
            </a:extLst>
          </p:cNvPr>
          <p:cNvSpPr>
            <a:spLocks xmlns:a="http://schemas.openxmlformats.org/drawingml/2006/main" noGrp="1"/>
          </p:cNvSpPr>
          <p:nvPr/>
        </p:nvSpPr>
        <p:spPr>
          <a:xfrm xmlns:a="http://schemas.openxmlformats.org/drawingml/2006/main">
            <a:off x="868680" y="4846320"/>
            <a:ext cx="9144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D23B4E"/>
                </a:solidFill>
                <a:latin typeface="Calibri"/>
                <a:ea typeface="Calibri"/>
                <a:cs typeface="Calibri"/>
              </a:rPr>
              <a:t>MÖGLICHE FOLGEN</a:t>
            </a:r>
          </a:p>
        </p:txBody>
      </p:sp>
      <p:sp>
        <p:nvSpPr>
          <p:cNvPr id="14" name="Text 12">
            <a:extLst xmlns:a="http://schemas.openxmlformats.org/drawingml/2006/main">
              <a:ext uri="{FF2B5EF4-FFF2-40B4-BE49-F238E27FC236}">
                <a16:creationId xmlns:a16="http://schemas.microsoft.com/office/drawing/2014/main" id="{70747B67-D473-4779-9378-C3F4E97A1ECE}"/>
              </a:ext>
            </a:extLst>
          </p:cNvPr>
          <p:cNvSpPr>
            <a:spLocks xmlns:a="http://schemas.openxmlformats.org/drawingml/2006/main" noGrp="1"/>
          </p:cNvSpPr>
          <p:nvPr/>
        </p:nvSpPr>
        <p:spPr>
          <a:xfrm xmlns:a="http://schemas.openxmlformats.org/drawingml/2006/main">
            <a:off x="868680" y="5212080"/>
            <a:ext cx="2880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6181D"/>
                </a:solidFill>
                <a:latin typeface="Trebuchet MS"/>
                <a:ea typeface="Trebuchet MS"/>
                <a:cs typeface="Trebuchet MS"/>
              </a:rPr>
              <a:t>Sichtbare Daten lesen</a:t>
            </a:r>
          </a:p>
        </p:txBody>
      </p:sp>
      <p:sp>
        <p:nvSpPr>
          <p:cNvPr id="15" name="Text 13">
            <a:extLst xmlns:a="http://schemas.openxmlformats.org/drawingml/2006/main">
              <a:ext uri="{FF2B5EF4-FFF2-40B4-BE49-F238E27FC236}">
                <a16:creationId xmlns:a16="http://schemas.microsoft.com/office/drawing/2014/main" id="{CA0483C5-6E45-4D0E-95CA-281566E37CB4}"/>
              </a:ext>
            </a:extLst>
          </p:cNvPr>
          <p:cNvSpPr>
            <a:spLocks xmlns:a="http://schemas.openxmlformats.org/drawingml/2006/main" noGrp="1"/>
          </p:cNvSpPr>
          <p:nvPr/>
        </p:nvSpPr>
        <p:spPr>
          <a:xfrm xmlns:a="http://schemas.openxmlformats.org/drawingml/2006/main">
            <a:off x="868680" y="5596128"/>
            <a:ext cx="2880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55606E"/>
                </a:solidFill>
                <a:latin typeface="Calibri"/>
                <a:ea typeface="Calibri"/>
                <a:cs typeface="Calibri"/>
              </a:rPr>
              <a:t>Planungsdaten</a:t>
            </a:r>
          </a:p>
        </p:txBody>
      </p:sp>
      <p:sp>
        <p:nvSpPr>
          <p:cNvPr id="16" name="Text 14">
            <a:extLst xmlns:a="http://schemas.openxmlformats.org/drawingml/2006/main">
              <a:ext uri="{FF2B5EF4-FFF2-40B4-BE49-F238E27FC236}">
                <a16:creationId xmlns:a16="http://schemas.microsoft.com/office/drawing/2014/main" id="{39561BDA-AAA0-4F4D-800A-5FAE47B1DBC0}"/>
              </a:ext>
            </a:extLst>
          </p:cNvPr>
          <p:cNvSpPr>
            <a:spLocks xmlns:a="http://schemas.openxmlformats.org/drawingml/2006/main" noGrp="1"/>
          </p:cNvSpPr>
          <p:nvPr/>
        </p:nvSpPr>
        <p:spPr>
          <a:xfrm xmlns:a="http://schemas.openxmlformats.org/drawingml/2006/main">
            <a:off x="3611880" y="5212080"/>
            <a:ext cx="4572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9AA3AF"/>
                </a:solidFill>
                <a:latin typeface="Calibri"/>
                <a:ea typeface="Calibri"/>
                <a:cs typeface="Calibri"/>
              </a:rPr>
              <a:t>→</a:t>
            </a:r>
          </a:p>
        </p:txBody>
      </p:sp>
      <p:sp>
        <p:nvSpPr>
          <p:cNvPr id="17" name="Text 15">
            <a:extLst xmlns:a="http://schemas.openxmlformats.org/drawingml/2006/main">
              <a:ext uri="{FF2B5EF4-FFF2-40B4-BE49-F238E27FC236}">
                <a16:creationId xmlns:a16="http://schemas.microsoft.com/office/drawing/2014/main" id="{BDBC130B-2B31-45D2-B879-36DF0C4278AB}"/>
              </a:ext>
            </a:extLst>
          </p:cNvPr>
          <p:cNvSpPr>
            <a:spLocks xmlns:a="http://schemas.openxmlformats.org/drawingml/2006/main" noGrp="1"/>
          </p:cNvSpPr>
          <p:nvPr/>
        </p:nvSpPr>
        <p:spPr>
          <a:xfrm xmlns:a="http://schemas.openxmlformats.org/drawingml/2006/main">
            <a:off x="4114800" y="5212080"/>
            <a:ext cx="2880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6181D"/>
                </a:solidFill>
                <a:latin typeface="Trebuchet MS"/>
                <a:ea typeface="Trebuchet MS"/>
                <a:cs typeface="Trebuchet MS"/>
              </a:rPr>
              <a:t>API Aktionen auslösen</a:t>
            </a:r>
          </a:p>
        </p:txBody>
      </p:sp>
      <p:sp>
        <p:nvSpPr>
          <p:cNvPr id="18" name="Text 16">
            <a:extLst xmlns:a="http://schemas.openxmlformats.org/drawingml/2006/main">
              <a:ext uri="{FF2B5EF4-FFF2-40B4-BE49-F238E27FC236}">
                <a16:creationId xmlns:a16="http://schemas.microsoft.com/office/drawing/2014/main" id="{6666696C-18E9-46F1-A6A0-CBAECB612E00}"/>
              </a:ext>
            </a:extLst>
          </p:cNvPr>
          <p:cNvSpPr>
            <a:spLocks xmlns:a="http://schemas.openxmlformats.org/drawingml/2006/main" noGrp="1"/>
          </p:cNvSpPr>
          <p:nvPr/>
        </p:nvSpPr>
        <p:spPr>
          <a:xfrm xmlns:a="http://schemas.openxmlformats.org/drawingml/2006/main">
            <a:off x="4114800" y="5596128"/>
            <a:ext cx="2880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55606E"/>
                </a:solidFill>
                <a:latin typeface="Calibri"/>
                <a:ea typeface="Calibri"/>
                <a:cs typeface="Calibri"/>
              </a:rPr>
              <a:t>mit aktiver Sitzung</a:t>
            </a:r>
          </a:p>
        </p:txBody>
      </p:sp>
      <p:sp>
        <p:nvSpPr>
          <p:cNvPr id="19" name="Text 17">
            <a:extLst xmlns:a="http://schemas.openxmlformats.org/drawingml/2006/main">
              <a:ext uri="{FF2B5EF4-FFF2-40B4-BE49-F238E27FC236}">
                <a16:creationId xmlns:a16="http://schemas.microsoft.com/office/drawing/2014/main" id="{E72764EA-ABB2-4A98-9FA7-058BF2394BA6}"/>
              </a:ext>
            </a:extLst>
          </p:cNvPr>
          <p:cNvSpPr>
            <a:spLocks xmlns:a="http://schemas.openxmlformats.org/drawingml/2006/main" noGrp="1"/>
          </p:cNvSpPr>
          <p:nvPr/>
        </p:nvSpPr>
        <p:spPr>
          <a:xfrm xmlns:a="http://schemas.openxmlformats.org/drawingml/2006/main">
            <a:off x="6858000" y="5212080"/>
            <a:ext cx="4572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9AA3AF"/>
                </a:solidFill>
                <a:latin typeface="Calibri"/>
                <a:ea typeface="Calibri"/>
                <a:cs typeface="Calibri"/>
              </a:rPr>
              <a:t>→</a:t>
            </a:r>
          </a:p>
        </p:txBody>
      </p:sp>
      <p:sp>
        <p:nvSpPr>
          <p:cNvPr id="20" name="Text 18">
            <a:extLst xmlns:a="http://schemas.openxmlformats.org/drawingml/2006/main">
              <a:ext uri="{FF2B5EF4-FFF2-40B4-BE49-F238E27FC236}">
                <a16:creationId xmlns:a16="http://schemas.microsoft.com/office/drawing/2014/main" id="{FABDE965-8434-4C18-A0E7-29974E86BB2F}"/>
              </a:ext>
            </a:extLst>
          </p:cNvPr>
          <p:cNvSpPr>
            <a:spLocks xmlns:a="http://schemas.openxmlformats.org/drawingml/2006/main" noGrp="1"/>
          </p:cNvSpPr>
          <p:nvPr/>
        </p:nvSpPr>
        <p:spPr>
          <a:xfrm xmlns:a="http://schemas.openxmlformats.org/drawingml/2006/main">
            <a:off x="7360920" y="5212080"/>
            <a:ext cx="2880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6181D"/>
                </a:solidFill>
                <a:latin typeface="Trebuchet MS"/>
                <a:ea typeface="Trebuchet MS"/>
                <a:cs typeface="Trebuchet MS"/>
              </a:rPr>
              <a:t>Token angreifen</a:t>
            </a:r>
          </a:p>
        </p:txBody>
      </p:sp>
      <p:sp>
        <p:nvSpPr>
          <p:cNvPr id="21" name="Text 19">
            <a:extLst xmlns:a="http://schemas.openxmlformats.org/drawingml/2006/main">
              <a:ext uri="{FF2B5EF4-FFF2-40B4-BE49-F238E27FC236}">
                <a16:creationId xmlns:a16="http://schemas.microsoft.com/office/drawing/2014/main" id="{999A6B09-108B-49D2-9330-9B118FAC4155}"/>
              </a:ext>
            </a:extLst>
          </p:cNvPr>
          <p:cNvSpPr>
            <a:spLocks xmlns:a="http://schemas.openxmlformats.org/drawingml/2006/main" noGrp="1"/>
          </p:cNvSpPr>
          <p:nvPr/>
        </p:nvSpPr>
        <p:spPr>
          <a:xfrm xmlns:a="http://schemas.openxmlformats.org/drawingml/2006/main">
            <a:off x="7360920" y="5596128"/>
            <a:ext cx="2880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55606E"/>
                </a:solidFill>
                <a:latin typeface="Calibri"/>
                <a:ea typeface="Calibri"/>
                <a:cs typeface="Calibri"/>
              </a:rPr>
              <a:t>im JavaScript Kontext</a:t>
            </a:r>
          </a:p>
        </p:txBody>
      </p:sp>
    </p:spTree>
    <p:extLst>
      <p:ext uri="{BB962C8B-B14F-4D97-AF65-F5344CB8AC3E}">
        <p14:creationId xmlns:p14="http://schemas.microsoft.com/office/powerpoint/2010/main" val="48783054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F0022C8-D9AA-4F49-BC42-2B1F2337DAD7}"/>
              </a:ext>
            </a:extLst>
          </p:cNvPr>
          <p:cNvSpPr>
            <a:spLocks xmlns:a="http://schemas.openxmlformats.org/drawingml/2006/main" noGrp="1"/>
          </p:cNvSpPr>
          <p:nvPr/>
        </p:nvSpPr>
        <p:spPr>
          <a:xfrm xmlns:a="http://schemas.openxmlformats.org/drawingml/2006/main">
            <a:off x="868680" y="50292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AA3AF"/>
                </a:solidFill>
                <a:latin typeface="Calibri"/>
                <a:ea typeface="Calibri"/>
                <a:cs typeface="Calibri"/>
              </a:rPr>
              <a:t>BEHEBUNG · SCHEDULER</a:t>
            </a:r>
          </a:p>
        </p:txBody>
      </p:sp>
      <p:sp>
        <p:nvSpPr>
          <p:cNvPr id="3" name="Text 1">
            <a:extLst xmlns:a="http://schemas.openxmlformats.org/drawingml/2006/main">
              <a:ext uri="{FF2B5EF4-FFF2-40B4-BE49-F238E27FC236}">
                <a16:creationId xmlns:a16="http://schemas.microsoft.com/office/drawing/2014/main" id="{199CCCF6-EF46-4CE7-B473-24B5B44FF595}"/>
              </a:ext>
            </a:extLst>
          </p:cNvPr>
          <p:cNvSpPr>
            <a:spLocks xmlns:a="http://schemas.openxmlformats.org/drawingml/2006/main" noGrp="1"/>
          </p:cNvSpPr>
          <p:nvPr/>
        </p:nvSpPr>
        <p:spPr>
          <a:xfrm xmlns:a="http://schemas.openxmlformats.org/drawingml/2006/main">
            <a:off x="10774375" y="502920"/>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50" b="1">
                <a:solidFill>
                  <a:srgbClr val="9AA3AF"/>
                </a:solidFill>
                <a:latin typeface="Calibri"/>
                <a:ea typeface="Calibri"/>
                <a:cs typeface="Calibri"/>
              </a:rPr>
              <a:t>09</a:t>
            </a:r>
          </a:p>
        </p:txBody>
      </p:sp>
      <p:sp>
        <p:nvSpPr>
          <p:cNvPr id="4" name="Text 2">
            <a:extLst xmlns:a="http://schemas.openxmlformats.org/drawingml/2006/main">
              <a:ext uri="{FF2B5EF4-FFF2-40B4-BE49-F238E27FC236}">
                <a16:creationId xmlns:a16="http://schemas.microsoft.com/office/drawing/2014/main" id="{5A721529-E6AD-4D51-8A7D-4F2EBE4C9E7C}"/>
              </a:ext>
            </a:extLst>
          </p:cNvPr>
          <p:cNvSpPr>
            <a:spLocks xmlns:a="http://schemas.openxmlformats.org/drawingml/2006/main" noGrp="1"/>
          </p:cNvSpPr>
          <p:nvPr/>
        </p:nvSpPr>
        <p:spPr>
          <a:xfrm xmlns:a="http://schemas.openxmlformats.org/drawingml/2006/main">
            <a:off x="868680" y="1051560"/>
            <a:ext cx="1042416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16181D"/>
                </a:solidFill>
                <a:latin typeface="Trebuchet MS"/>
                <a:ea typeface="Trebuchet MS"/>
                <a:cs typeface="Trebuchet MS"/>
              </a:rPr>
              <a:t>Ein eigener Event Slot erzwingt Text</a:t>
            </a:r>
          </a:p>
        </p:txBody>
      </p:sp>
      <p:sp>
        <p:nvSpPr>
          <p:cNvPr id="5" name="Text 3">
            <a:extLst xmlns:a="http://schemas.openxmlformats.org/drawingml/2006/main">
              <a:ext uri="{FF2B5EF4-FFF2-40B4-BE49-F238E27FC236}">
                <a16:creationId xmlns:a16="http://schemas.microsoft.com/office/drawing/2014/main" id="{DA3294EB-5FC9-4DBE-9954-022CB814A373}"/>
              </a:ext>
            </a:extLst>
          </p:cNvPr>
          <p:cNvSpPr>
            <a:spLocks xmlns:a="http://schemas.openxmlformats.org/drawingml/2006/main" noGrp="1"/>
          </p:cNvSpPr>
          <p:nvPr/>
        </p:nvSpPr>
        <p:spPr>
          <a:xfrm xmlns:a="http://schemas.openxmlformats.org/drawingml/2006/main">
            <a:off x="868680" y="1920240"/>
            <a:ext cx="103327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a:solidFill>
                  <a:srgbClr val="55606E"/>
                </a:solidFill>
                <a:latin typeface="Calibri"/>
                <a:ea typeface="Calibri"/>
                <a:cs typeface="Calibri"/>
              </a:rPr>
              <a:t>Die sichere Variante übernimmt die Ausgabe selbst und rendert den Event Titel mit Vue Interpolation.</a:t>
            </a:r>
          </a:p>
        </p:txBody>
      </p:sp>
      <p:sp>
        <p:nvSpPr>
          <p:cNvPr id="6" name="Shape 4">
            <a:extLst xmlns:a="http://schemas.openxmlformats.org/drawingml/2006/main">
              <a:ext uri="{FF2B5EF4-FFF2-40B4-BE49-F238E27FC236}">
                <a16:creationId xmlns:a16="http://schemas.microsoft.com/office/drawing/2014/main" id="{35CC8568-A092-44D8-BF1C-AC3202FC2A48}"/>
              </a:ext>
            </a:extLst>
          </p:cNvPr>
          <p:cNvSpPr>
            <a:spLocks xmlns:a="http://schemas.openxmlformats.org/drawingml/2006/main" noGrp="1"/>
          </p:cNvSpPr>
          <p:nvPr/>
        </p:nvSpPr>
        <p:spPr>
          <a:xfrm xmlns:a="http://schemas.openxmlformats.org/drawingml/2006/main">
            <a:off x="6172200" y="2971800"/>
            <a:ext cx="0" cy="2834640"/>
          </a:xfrm>
          <a:prstGeom xmlns:a="http://schemas.openxmlformats.org/drawingml/2006/main" prst="line">
            <a:avLst/>
          </a:prstGeom>
          <a:noFill xmlns:a="http://schemas.openxmlformats.org/drawingml/2006/main"/>
          <a:ln xmlns:a="http://schemas.openxmlformats.org/drawingml/2006/main" w="12700">
            <a:solidFill>
              <a:srgbClr val="E4E7EC"/>
            </a:solidFill>
            <a:prstDash val="solid"/>
          </a:ln>
        </p:spPr>
      </p:sp>
      <p:sp>
        <p:nvSpPr>
          <p:cNvPr id="7" name="Text 5">
            <a:extLst xmlns:a="http://schemas.openxmlformats.org/drawingml/2006/main">
              <a:ext uri="{FF2B5EF4-FFF2-40B4-BE49-F238E27FC236}">
                <a16:creationId xmlns:a16="http://schemas.microsoft.com/office/drawing/2014/main" id="{2E954620-EAB1-47E4-83F4-35AD6B11F02F}"/>
              </a:ext>
            </a:extLst>
          </p:cNvPr>
          <p:cNvSpPr>
            <a:spLocks xmlns:a="http://schemas.openxmlformats.org/drawingml/2006/main" noGrp="1"/>
          </p:cNvSpPr>
          <p:nvPr/>
        </p:nvSpPr>
        <p:spPr>
          <a:xfrm xmlns:a="http://schemas.openxmlformats.org/drawingml/2006/main">
            <a:off x="868680" y="2971800"/>
            <a:ext cx="914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9AA3AF"/>
                </a:solidFill>
                <a:latin typeface="Trebuchet MS"/>
                <a:ea typeface="Trebuchet MS"/>
                <a:cs typeface="Trebuchet MS"/>
              </a:rPr>
              <a:t>01</a:t>
            </a:r>
          </a:p>
        </p:txBody>
      </p:sp>
      <p:sp>
        <p:nvSpPr>
          <p:cNvPr id="8" name="Text 6">
            <a:extLst xmlns:a="http://schemas.openxmlformats.org/drawingml/2006/main">
              <a:ext uri="{FF2B5EF4-FFF2-40B4-BE49-F238E27FC236}">
                <a16:creationId xmlns:a16="http://schemas.microsoft.com/office/drawing/2014/main" id="{EDE8088B-FE9F-4D2B-9299-FE4FB2CCAA1A}"/>
              </a:ext>
            </a:extLst>
          </p:cNvPr>
          <p:cNvSpPr>
            <a:spLocks xmlns:a="http://schemas.openxmlformats.org/drawingml/2006/main" noGrp="1"/>
          </p:cNvSpPr>
          <p:nvPr/>
        </p:nvSpPr>
        <p:spPr>
          <a:xfrm xmlns:a="http://schemas.openxmlformats.org/drawingml/2006/main">
            <a:off x="1508760" y="2990088"/>
            <a:ext cx="4297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16181D"/>
                </a:solidFill>
                <a:latin typeface="Trebuchet MS"/>
                <a:ea typeface="Trebuchet MS"/>
                <a:cs typeface="Trebuchet MS"/>
              </a:rPr>
              <a:t>UNSICHER</a:t>
            </a:r>
          </a:p>
        </p:txBody>
      </p:sp>
      <p:sp>
        <p:nvSpPr>
          <p:cNvPr id="9" name="Text 7">
            <a:extLst xmlns:a="http://schemas.openxmlformats.org/drawingml/2006/main">
              <a:ext uri="{FF2B5EF4-FFF2-40B4-BE49-F238E27FC236}">
                <a16:creationId xmlns:a16="http://schemas.microsoft.com/office/drawing/2014/main" id="{FD9FD98D-F4AA-41B0-9050-F0A4D15667A3}"/>
              </a:ext>
            </a:extLst>
          </p:cNvPr>
          <p:cNvSpPr>
            <a:spLocks xmlns:a="http://schemas.openxmlformats.org/drawingml/2006/main" noGrp="1"/>
          </p:cNvSpPr>
          <p:nvPr/>
        </p:nvSpPr>
        <p:spPr>
          <a:xfrm xmlns:a="http://schemas.openxmlformats.org/drawingml/2006/main">
            <a:off x="868680" y="3611880"/>
            <a:ext cx="49377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55606E"/>
                </a:solidFill>
                <a:latin typeface="Calibri"/>
                <a:ea typeface="Calibri"/>
                <a:cs typeface="Calibri"/>
              </a:rPr>
              <a:t>Der Standardrenderer entscheidet über die Ausgabe.</a:t>
            </a:r>
          </a:p>
        </p:txBody>
      </p:sp>
      <p:sp>
        <p:nvSpPr>
          <p:cNvPr id="10" name="Text 8">
            <a:extLst xmlns:a="http://schemas.openxmlformats.org/drawingml/2006/main">
              <a:ext uri="{FF2B5EF4-FFF2-40B4-BE49-F238E27FC236}">
                <a16:creationId xmlns:a16="http://schemas.microsoft.com/office/drawing/2014/main" id="{6A21CCA7-D51F-4EA3-B69E-45E922B4987A}"/>
              </a:ext>
            </a:extLst>
          </p:cNvPr>
          <p:cNvSpPr>
            <a:spLocks xmlns:a="http://schemas.openxmlformats.org/drawingml/2006/main" noGrp="1"/>
          </p:cNvSpPr>
          <p:nvPr/>
        </p:nvSpPr>
        <p:spPr>
          <a:xfrm xmlns:a="http://schemas.openxmlformats.org/drawingml/2006/main">
            <a:off x="868680" y="448056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16181D"/>
                </a:solidFill>
                <a:latin typeface="Consolas"/>
                <a:ea typeface="Consolas"/>
                <a:cs typeface="Consolas"/>
              </a:rPr>
              <a:t>&lt;VueCal :events="events" /&gt;</a:t>
            </a:r>
          </a:p>
        </p:txBody>
      </p:sp>
      <p:sp>
        <p:nvSpPr>
          <p:cNvPr id="11" name="Text 9">
            <a:extLst xmlns:a="http://schemas.openxmlformats.org/drawingml/2006/main">
              <a:ext uri="{FF2B5EF4-FFF2-40B4-BE49-F238E27FC236}">
                <a16:creationId xmlns:a16="http://schemas.microsoft.com/office/drawing/2014/main" id="{E13CAE18-3B54-4F9F-9885-96165EA4B92C}"/>
              </a:ext>
            </a:extLst>
          </p:cNvPr>
          <p:cNvSpPr>
            <a:spLocks xmlns:a="http://schemas.openxmlformats.org/drawingml/2006/main" noGrp="1"/>
          </p:cNvSpPr>
          <p:nvPr/>
        </p:nvSpPr>
        <p:spPr>
          <a:xfrm xmlns:a="http://schemas.openxmlformats.org/drawingml/2006/main">
            <a:off x="868680" y="4983480"/>
            <a:ext cx="49377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i="1">
                <a:solidFill>
                  <a:srgbClr val="55606E"/>
                </a:solidFill>
                <a:latin typeface="Calibri"/>
                <a:ea typeface="Calibri"/>
                <a:cs typeface="Calibri"/>
              </a:rPr>
              <a:t>Event Titel wird als HTML interpretiert.</a:t>
            </a:r>
          </a:p>
        </p:txBody>
      </p:sp>
      <p:sp>
        <p:nvSpPr>
          <p:cNvPr id="12" name="Text 10">
            <a:extLst xmlns:a="http://schemas.openxmlformats.org/drawingml/2006/main">
              <a:ext uri="{FF2B5EF4-FFF2-40B4-BE49-F238E27FC236}">
                <a16:creationId xmlns:a16="http://schemas.microsoft.com/office/drawing/2014/main" id="{1CF1865D-5627-4085-9715-548E2F408F90}"/>
              </a:ext>
            </a:extLst>
          </p:cNvPr>
          <p:cNvSpPr>
            <a:spLocks xmlns:a="http://schemas.openxmlformats.org/drawingml/2006/main" noGrp="1"/>
          </p:cNvSpPr>
          <p:nvPr/>
        </p:nvSpPr>
        <p:spPr>
          <a:xfrm xmlns:a="http://schemas.openxmlformats.org/drawingml/2006/main">
            <a:off x="868680" y="5623560"/>
            <a:ext cx="4937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9AA3AF"/>
                </a:solidFill>
                <a:latin typeface="Consolas"/>
                <a:ea typeface="Consolas"/>
                <a:cs typeface="Consolas"/>
              </a:rPr>
              <a:t>ReserveTimeslot.vue</a:t>
            </a:r>
          </a:p>
        </p:txBody>
      </p:sp>
      <p:sp>
        <p:nvSpPr>
          <p:cNvPr id="13" name="Text 11">
            <a:extLst xmlns:a="http://schemas.openxmlformats.org/drawingml/2006/main">
              <a:ext uri="{FF2B5EF4-FFF2-40B4-BE49-F238E27FC236}">
                <a16:creationId xmlns:a16="http://schemas.microsoft.com/office/drawing/2014/main" id="{E807B7E2-C0CF-45F7-AE39-271D03D0F91C}"/>
              </a:ext>
            </a:extLst>
          </p:cNvPr>
          <p:cNvSpPr>
            <a:spLocks xmlns:a="http://schemas.openxmlformats.org/drawingml/2006/main" noGrp="1"/>
          </p:cNvSpPr>
          <p:nvPr/>
        </p:nvSpPr>
        <p:spPr>
          <a:xfrm xmlns:a="http://schemas.openxmlformats.org/drawingml/2006/main">
            <a:off x="6446520" y="2971800"/>
            <a:ext cx="914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9AA3AF"/>
                </a:solidFill>
                <a:latin typeface="Trebuchet MS"/>
                <a:ea typeface="Trebuchet MS"/>
                <a:cs typeface="Trebuchet MS"/>
              </a:rPr>
              <a:t>02</a:t>
            </a:r>
          </a:p>
        </p:txBody>
      </p:sp>
      <p:sp>
        <p:nvSpPr>
          <p:cNvPr id="14" name="Text 12">
            <a:extLst xmlns:a="http://schemas.openxmlformats.org/drawingml/2006/main">
              <a:ext uri="{FF2B5EF4-FFF2-40B4-BE49-F238E27FC236}">
                <a16:creationId xmlns:a16="http://schemas.microsoft.com/office/drawing/2014/main" id="{0F0510F5-569A-4889-9BB4-C3FC1A0DB3EC}"/>
              </a:ext>
            </a:extLst>
          </p:cNvPr>
          <p:cNvSpPr>
            <a:spLocks xmlns:a="http://schemas.openxmlformats.org/drawingml/2006/main" noGrp="1"/>
          </p:cNvSpPr>
          <p:nvPr/>
        </p:nvSpPr>
        <p:spPr>
          <a:xfrm xmlns:a="http://schemas.openxmlformats.org/drawingml/2006/main">
            <a:off x="7086600" y="2990088"/>
            <a:ext cx="4297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16181D"/>
                </a:solidFill>
                <a:latin typeface="Trebuchet MS"/>
                <a:ea typeface="Trebuchet MS"/>
                <a:cs typeface="Trebuchet MS"/>
              </a:rPr>
              <a:t>SICHER</a:t>
            </a:r>
          </a:p>
        </p:txBody>
      </p:sp>
      <p:sp>
        <p:nvSpPr>
          <p:cNvPr id="15" name="Text 13">
            <a:extLst xmlns:a="http://schemas.openxmlformats.org/drawingml/2006/main">
              <a:ext uri="{FF2B5EF4-FFF2-40B4-BE49-F238E27FC236}">
                <a16:creationId xmlns:a16="http://schemas.microsoft.com/office/drawing/2014/main" id="{1A943C59-EF01-4459-B15E-3A946AE37520}"/>
              </a:ext>
            </a:extLst>
          </p:cNvPr>
          <p:cNvSpPr>
            <a:spLocks xmlns:a="http://schemas.openxmlformats.org/drawingml/2006/main" noGrp="1"/>
          </p:cNvSpPr>
          <p:nvPr/>
        </p:nvSpPr>
        <p:spPr>
          <a:xfrm xmlns:a="http://schemas.openxmlformats.org/drawingml/2006/main">
            <a:off x="6446520" y="3611880"/>
            <a:ext cx="49377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55606E"/>
                </a:solidFill>
                <a:latin typeface="Calibri"/>
                <a:ea typeface="Calibri"/>
                <a:cs typeface="Calibri"/>
              </a:rPr>
              <a:t>Ein eigener Event Slot kontrolliert die Ausgabe.</a:t>
            </a:r>
          </a:p>
        </p:txBody>
      </p:sp>
      <p:sp>
        <p:nvSpPr>
          <p:cNvPr id="16" name="Text 14">
            <a:extLst xmlns:a="http://schemas.openxmlformats.org/drawingml/2006/main">
              <a:ext uri="{FF2B5EF4-FFF2-40B4-BE49-F238E27FC236}">
                <a16:creationId xmlns:a16="http://schemas.microsoft.com/office/drawing/2014/main" id="{D8AE147B-555C-4CE1-BBF3-26A60718F958}"/>
              </a:ext>
            </a:extLst>
          </p:cNvPr>
          <p:cNvSpPr>
            <a:spLocks xmlns:a="http://schemas.openxmlformats.org/drawingml/2006/main" noGrp="1"/>
          </p:cNvSpPr>
          <p:nvPr/>
        </p:nvSpPr>
        <p:spPr>
          <a:xfrm xmlns:a="http://schemas.openxmlformats.org/drawingml/2006/main">
            <a:off x="6446520" y="4370832"/>
            <a:ext cx="3017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6181D"/>
                </a:solidFill>
                <a:latin typeface="Consolas"/>
                <a:ea typeface="Consolas"/>
                <a:cs typeface="Consolas"/>
              </a:rPr>
              <a:t>&lt;template #event&gt;</a:t>
            </a:r>
          </a:p>
        </p:txBody>
      </p:sp>
      <p:sp>
        <p:nvSpPr>
          <p:cNvPr id="17" name="Text 15">
            <a:extLst xmlns:a="http://schemas.openxmlformats.org/drawingml/2006/main">
              <a:ext uri="{FF2B5EF4-FFF2-40B4-BE49-F238E27FC236}">
                <a16:creationId xmlns:a16="http://schemas.microsoft.com/office/drawing/2014/main" id="{441CAD51-1904-41F0-B93C-F9E91B00D6A5}"/>
              </a:ext>
            </a:extLst>
          </p:cNvPr>
          <p:cNvSpPr>
            <a:spLocks xmlns:a="http://schemas.openxmlformats.org/drawingml/2006/main" noGrp="1"/>
          </p:cNvSpPr>
          <p:nvPr/>
        </p:nvSpPr>
        <p:spPr>
          <a:xfrm xmlns:a="http://schemas.openxmlformats.org/drawingml/2006/main">
            <a:off x="9464040" y="4370832"/>
            <a:ext cx="1920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i="1">
                <a:solidFill>
                  <a:srgbClr val="D23B4E"/>
                </a:solidFill>
                <a:latin typeface="Calibri"/>
                <a:ea typeface="Calibri"/>
                <a:cs typeface="Calibri"/>
              </a:rPr>
              <a:t>eigener Slot</a:t>
            </a:r>
          </a:p>
        </p:txBody>
      </p:sp>
      <p:sp>
        <p:nvSpPr>
          <p:cNvPr id="18" name="Text 16">
            <a:extLst xmlns:a="http://schemas.openxmlformats.org/drawingml/2006/main">
              <a:ext uri="{FF2B5EF4-FFF2-40B4-BE49-F238E27FC236}">
                <a16:creationId xmlns:a16="http://schemas.microsoft.com/office/drawing/2014/main" id="{030DC8A2-C23C-480A-82E6-111FBF03444F}"/>
              </a:ext>
            </a:extLst>
          </p:cNvPr>
          <p:cNvSpPr>
            <a:spLocks xmlns:a="http://schemas.openxmlformats.org/drawingml/2006/main" noGrp="1"/>
          </p:cNvSpPr>
          <p:nvPr/>
        </p:nvSpPr>
        <p:spPr>
          <a:xfrm xmlns:a="http://schemas.openxmlformats.org/drawingml/2006/main">
            <a:off x="6446520" y="4782312"/>
            <a:ext cx="3017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6181D"/>
                </a:solidFill>
                <a:latin typeface="Consolas"/>
                <a:ea typeface="Consolas"/>
                <a:cs typeface="Consolas"/>
              </a:rPr>
              <a:t>{{ event.title }}</a:t>
            </a:r>
          </a:p>
        </p:txBody>
      </p:sp>
      <p:sp>
        <p:nvSpPr>
          <p:cNvPr id="19" name="Text 17">
            <a:extLst xmlns:a="http://schemas.openxmlformats.org/drawingml/2006/main">
              <a:ext uri="{FF2B5EF4-FFF2-40B4-BE49-F238E27FC236}">
                <a16:creationId xmlns:a16="http://schemas.microsoft.com/office/drawing/2014/main" id="{68B27804-D89B-47C9-A881-B07F98D02BF7}"/>
              </a:ext>
            </a:extLst>
          </p:cNvPr>
          <p:cNvSpPr>
            <a:spLocks xmlns:a="http://schemas.openxmlformats.org/drawingml/2006/main" noGrp="1"/>
          </p:cNvSpPr>
          <p:nvPr/>
        </p:nvSpPr>
        <p:spPr>
          <a:xfrm xmlns:a="http://schemas.openxmlformats.org/drawingml/2006/main">
            <a:off x="9464040" y="4782312"/>
            <a:ext cx="1920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i="1">
                <a:solidFill>
                  <a:srgbClr val="D23B4E"/>
                </a:solidFill>
                <a:latin typeface="Calibri"/>
                <a:ea typeface="Calibri"/>
                <a:cs typeface="Calibri"/>
              </a:rPr>
              <a:t>Vue Interpolation</a:t>
            </a:r>
          </a:p>
        </p:txBody>
      </p:sp>
      <p:sp>
        <p:nvSpPr>
          <p:cNvPr id="20" name="Text 18">
            <a:extLst xmlns:a="http://schemas.openxmlformats.org/drawingml/2006/main">
              <a:ext uri="{FF2B5EF4-FFF2-40B4-BE49-F238E27FC236}">
                <a16:creationId xmlns:a16="http://schemas.microsoft.com/office/drawing/2014/main" id="{9F5BCFF2-50DB-433A-B52F-9BECB837A4E0}"/>
              </a:ext>
            </a:extLst>
          </p:cNvPr>
          <p:cNvSpPr>
            <a:spLocks xmlns:a="http://schemas.openxmlformats.org/drawingml/2006/main" noGrp="1"/>
          </p:cNvSpPr>
          <p:nvPr/>
        </p:nvSpPr>
        <p:spPr>
          <a:xfrm xmlns:a="http://schemas.openxmlformats.org/drawingml/2006/main">
            <a:off x="6446520" y="5193792"/>
            <a:ext cx="3017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6181D"/>
                </a:solidFill>
                <a:latin typeface="Consolas"/>
                <a:ea typeface="Consolas"/>
                <a:cs typeface="Consolas"/>
              </a:rPr>
              <a:t>Ergebnis</a:t>
            </a:r>
          </a:p>
        </p:txBody>
      </p:sp>
      <p:sp>
        <p:nvSpPr>
          <p:cNvPr id="21" name="Text 19">
            <a:extLst xmlns:a="http://schemas.openxmlformats.org/drawingml/2006/main">
              <a:ext uri="{FF2B5EF4-FFF2-40B4-BE49-F238E27FC236}">
                <a16:creationId xmlns:a16="http://schemas.microsoft.com/office/drawing/2014/main" id="{97DC8436-6B9E-4ACA-8DCB-610FD3084EE3}"/>
              </a:ext>
            </a:extLst>
          </p:cNvPr>
          <p:cNvSpPr>
            <a:spLocks xmlns:a="http://schemas.openxmlformats.org/drawingml/2006/main" noGrp="1"/>
          </p:cNvSpPr>
          <p:nvPr/>
        </p:nvSpPr>
        <p:spPr>
          <a:xfrm xmlns:a="http://schemas.openxmlformats.org/drawingml/2006/main">
            <a:off x="9464040" y="5193792"/>
            <a:ext cx="1920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i="1">
                <a:solidFill>
                  <a:srgbClr val="D23B4E"/>
                </a:solidFill>
                <a:latin typeface="Calibri"/>
                <a:ea typeface="Calibri"/>
                <a:cs typeface="Calibri"/>
              </a:rPr>
              <a:t>Text statt Code</a:t>
            </a:r>
          </a:p>
        </p:txBody>
      </p:sp>
      <p:sp>
        <p:nvSpPr>
          <p:cNvPr id="22" name="Text 20">
            <a:extLst xmlns:a="http://schemas.openxmlformats.org/drawingml/2006/main">
              <a:ext uri="{FF2B5EF4-FFF2-40B4-BE49-F238E27FC236}">
                <a16:creationId xmlns:a16="http://schemas.microsoft.com/office/drawing/2014/main" id="{731FC50C-567F-4B1F-BDC7-CD198D0E5691}"/>
              </a:ext>
            </a:extLst>
          </p:cNvPr>
          <p:cNvSpPr>
            <a:spLocks xmlns:a="http://schemas.openxmlformats.org/drawingml/2006/main" noGrp="1"/>
          </p:cNvSpPr>
          <p:nvPr/>
        </p:nvSpPr>
        <p:spPr>
          <a:xfrm xmlns:a="http://schemas.openxmlformats.org/drawingml/2006/main">
            <a:off x="6446520" y="5623560"/>
            <a:ext cx="4937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9AA3AF"/>
                </a:solidFill>
                <a:latin typeface="Consolas"/>
                <a:ea typeface="Consolas"/>
                <a:cs typeface="Consolas"/>
              </a:rPr>
              <a:t>ReserveTimeslotSafe.vue</a:t>
            </a:r>
          </a:p>
        </p:txBody>
      </p:sp>
    </p:spTree>
    <p:extLst>
      <p:ext uri="{BB962C8B-B14F-4D97-AF65-F5344CB8AC3E}">
        <p14:creationId xmlns:p14="http://schemas.microsoft.com/office/powerpoint/2010/main" val="197823039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14438A8-86E6-40A6-8F29-4F1D64CC14CD}"/>
              </a:ext>
            </a:extLst>
          </p:cNvPr>
          <p:cNvSpPr>
            <a:spLocks xmlns:a="http://schemas.openxmlformats.org/drawingml/2006/main" noGrp="1"/>
          </p:cNvSpPr>
          <p:nvPr/>
        </p:nvSpPr>
        <p:spPr>
          <a:xfrm xmlns:a="http://schemas.openxmlformats.org/drawingml/2006/main">
            <a:off x="868680" y="50292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AA3AF"/>
                </a:solidFill>
                <a:latin typeface="Calibri"/>
                <a:ea typeface="Calibri"/>
                <a:cs typeface="Calibri"/>
              </a:rPr>
              <a:t>FAZIT · XSS</a:t>
            </a:r>
          </a:p>
        </p:txBody>
      </p:sp>
      <p:sp>
        <p:nvSpPr>
          <p:cNvPr id="3" name="Text 1">
            <a:extLst xmlns:a="http://schemas.openxmlformats.org/drawingml/2006/main">
              <a:ext uri="{FF2B5EF4-FFF2-40B4-BE49-F238E27FC236}">
                <a16:creationId xmlns:a16="http://schemas.microsoft.com/office/drawing/2014/main" id="{EA54D12F-6CC7-44FD-991B-FF995A96322A}"/>
              </a:ext>
            </a:extLst>
          </p:cNvPr>
          <p:cNvSpPr>
            <a:spLocks xmlns:a="http://schemas.openxmlformats.org/drawingml/2006/main" noGrp="1"/>
          </p:cNvSpPr>
          <p:nvPr/>
        </p:nvSpPr>
        <p:spPr>
          <a:xfrm xmlns:a="http://schemas.openxmlformats.org/drawingml/2006/main">
            <a:off x="10774375" y="502920"/>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50" b="1">
                <a:solidFill>
                  <a:srgbClr val="9AA3AF"/>
                </a:solidFill>
                <a:latin typeface="Calibri"/>
                <a:ea typeface="Calibri"/>
                <a:cs typeface="Calibri"/>
              </a:rPr>
              <a:t>10</a:t>
            </a:r>
          </a:p>
        </p:txBody>
      </p:sp>
      <p:sp>
        <p:nvSpPr>
          <p:cNvPr id="4" name="Text 2">
            <a:extLst xmlns:a="http://schemas.openxmlformats.org/drawingml/2006/main">
              <a:ext uri="{FF2B5EF4-FFF2-40B4-BE49-F238E27FC236}">
                <a16:creationId xmlns:a16="http://schemas.microsoft.com/office/drawing/2014/main" id="{8C2A5EC1-0471-4723-B1A6-5E24B15C811C}"/>
              </a:ext>
            </a:extLst>
          </p:cNvPr>
          <p:cNvSpPr>
            <a:spLocks xmlns:a="http://schemas.openxmlformats.org/drawingml/2006/main" noGrp="1"/>
          </p:cNvSpPr>
          <p:nvPr/>
        </p:nvSpPr>
        <p:spPr>
          <a:xfrm xmlns:a="http://schemas.openxmlformats.org/drawingml/2006/main">
            <a:off x="868680" y="1600200"/>
            <a:ext cx="104241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16181D"/>
                </a:solidFill>
                <a:latin typeface="Trebuchet MS"/>
                <a:ea typeface="Trebuchet MS"/>
                <a:cs typeface="Trebuchet MS"/>
              </a:rPr>
              <a:t>Die Ausgabe ist die Sicherheitsgrenze.</a:t>
            </a:r>
          </a:p>
        </p:txBody>
      </p:sp>
      <p:sp>
        <p:nvSpPr>
          <p:cNvPr id="5" name="Text 3">
            <a:extLst xmlns:a="http://schemas.openxmlformats.org/drawingml/2006/main">
              <a:ext uri="{FF2B5EF4-FFF2-40B4-BE49-F238E27FC236}">
                <a16:creationId xmlns:a16="http://schemas.microsoft.com/office/drawing/2014/main" id="{05091A4B-9D74-4647-B741-E814B8C393B1}"/>
              </a:ext>
            </a:extLst>
          </p:cNvPr>
          <p:cNvSpPr>
            <a:spLocks xmlns:a="http://schemas.openxmlformats.org/drawingml/2006/main" noGrp="1"/>
          </p:cNvSpPr>
          <p:nvPr/>
        </p:nvSpPr>
        <p:spPr>
          <a:xfrm xmlns:a="http://schemas.openxmlformats.org/drawingml/2006/main">
            <a:off x="868680" y="3337560"/>
            <a:ext cx="98755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a:solidFill>
                  <a:srgbClr val="55606E"/>
                </a:solidFill>
                <a:latin typeface="Calibri"/>
                <a:ea typeface="Calibri"/>
                <a:cs typeface="Calibri"/>
              </a:rPr>
              <a:t>Stored DOM XSS entsteht hier, weil eine Bibliothek gespeicherte Daten als HTML rendert. Sichere Textausgabe beseitigt die Ursache.</a:t>
            </a:r>
          </a:p>
        </p:txBody>
      </p:sp>
      <p:sp>
        <p:nvSpPr>
          <p:cNvPr id="6" name="Shape 4">
            <a:extLst xmlns:a="http://schemas.openxmlformats.org/drawingml/2006/main">
              <a:ext uri="{FF2B5EF4-FFF2-40B4-BE49-F238E27FC236}">
                <a16:creationId xmlns:a16="http://schemas.microsoft.com/office/drawing/2014/main" id="{463ACFA2-6607-478F-881D-1441DB8A61EA}"/>
              </a:ext>
            </a:extLst>
          </p:cNvPr>
          <p:cNvSpPr>
            <a:spLocks xmlns:a="http://schemas.openxmlformats.org/drawingml/2006/main" noGrp="1"/>
          </p:cNvSpPr>
          <p:nvPr/>
        </p:nvSpPr>
        <p:spPr>
          <a:xfrm xmlns:a="http://schemas.openxmlformats.org/drawingml/2006/main">
            <a:off x="868680" y="4572000"/>
            <a:ext cx="10454335" cy="0"/>
          </a:xfrm>
          <a:prstGeom xmlns:a="http://schemas.openxmlformats.org/drawingml/2006/main" prst="line">
            <a:avLst/>
          </a:prstGeom>
          <a:noFill xmlns:a="http://schemas.openxmlformats.org/drawingml/2006/main"/>
          <a:ln xmlns:a="http://schemas.openxmlformats.org/drawingml/2006/main" w="12700">
            <a:solidFill>
              <a:srgbClr val="E4E7EC"/>
            </a:solidFill>
            <a:prstDash val="solid"/>
          </a:ln>
        </p:spPr>
      </p:sp>
      <p:sp>
        <p:nvSpPr>
          <p:cNvPr id="7" name="Text 5">
            <a:extLst xmlns:a="http://schemas.openxmlformats.org/drawingml/2006/main">
              <a:ext uri="{FF2B5EF4-FFF2-40B4-BE49-F238E27FC236}">
                <a16:creationId xmlns:a16="http://schemas.microsoft.com/office/drawing/2014/main" id="{FB4026A1-996C-4904-B237-913D0AFC1C7E}"/>
              </a:ext>
            </a:extLst>
          </p:cNvPr>
          <p:cNvSpPr>
            <a:spLocks xmlns:a="http://schemas.openxmlformats.org/drawingml/2006/main" noGrp="1"/>
          </p:cNvSpPr>
          <p:nvPr/>
        </p:nvSpPr>
        <p:spPr>
          <a:xfrm xmlns:a="http://schemas.openxmlformats.org/drawingml/2006/main">
            <a:off x="868680" y="4846320"/>
            <a:ext cx="49377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6181D"/>
                </a:solidFill>
                <a:latin typeface="Calibri"/>
                <a:ea typeface="Calibri"/>
                <a:cs typeface="Calibri"/>
              </a:rPr>
              <a:t>PRIMÄRER FIX</a:t>
            </a:r>
          </a:p>
        </p:txBody>
      </p:sp>
      <p:sp>
        <p:nvSpPr>
          <p:cNvPr id="8" name="Text 6">
            <a:extLst xmlns:a="http://schemas.openxmlformats.org/drawingml/2006/main">
              <a:ext uri="{FF2B5EF4-FFF2-40B4-BE49-F238E27FC236}">
                <a16:creationId xmlns:a16="http://schemas.microsoft.com/office/drawing/2014/main" id="{0E4D9612-EDAB-4332-A7DB-FEFDEDC65C58}"/>
              </a:ext>
            </a:extLst>
          </p:cNvPr>
          <p:cNvSpPr>
            <a:spLocks xmlns:a="http://schemas.openxmlformats.org/drawingml/2006/main" noGrp="1"/>
          </p:cNvSpPr>
          <p:nvPr/>
        </p:nvSpPr>
        <p:spPr>
          <a:xfrm xmlns:a="http://schemas.openxmlformats.org/drawingml/2006/main">
            <a:off x="868680" y="5212080"/>
            <a:ext cx="47548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55606E"/>
                </a:solidFill>
                <a:latin typeface="Calibri"/>
                <a:ea typeface="Calibri"/>
                <a:cs typeface="Calibri"/>
              </a:rPr>
              <a:t>Eigene VueCal Event Slots verwenden und nutzerkontrollierte Werte mit Vue Interpolation rendern.</a:t>
            </a:r>
          </a:p>
        </p:txBody>
      </p:sp>
      <p:sp>
        <p:nvSpPr>
          <p:cNvPr id="9" name="Shape 7">
            <a:extLst xmlns:a="http://schemas.openxmlformats.org/drawingml/2006/main">
              <a:ext uri="{FF2B5EF4-FFF2-40B4-BE49-F238E27FC236}">
                <a16:creationId xmlns:a16="http://schemas.microsoft.com/office/drawing/2014/main" id="{8710A285-2F57-4A43-B787-63EB729D85F5}"/>
              </a:ext>
            </a:extLst>
          </p:cNvPr>
          <p:cNvSpPr>
            <a:spLocks xmlns:a="http://schemas.openxmlformats.org/drawingml/2006/main" noGrp="1"/>
          </p:cNvSpPr>
          <p:nvPr/>
        </p:nvSpPr>
        <p:spPr>
          <a:xfrm xmlns:a="http://schemas.openxmlformats.org/drawingml/2006/main">
            <a:off x="6172200" y="4864608"/>
            <a:ext cx="0" cy="914400"/>
          </a:xfrm>
          <a:prstGeom xmlns:a="http://schemas.openxmlformats.org/drawingml/2006/main" prst="line">
            <a:avLst/>
          </a:prstGeom>
          <a:noFill xmlns:a="http://schemas.openxmlformats.org/drawingml/2006/main"/>
          <a:ln xmlns:a="http://schemas.openxmlformats.org/drawingml/2006/main" w="12700">
            <a:solidFill>
              <a:srgbClr val="E4E7EC"/>
            </a:solidFill>
            <a:prstDash val="solid"/>
          </a:ln>
        </p:spPr>
      </p:sp>
      <p:sp>
        <p:nvSpPr>
          <p:cNvPr id="10" name="Text 8">
            <a:extLst xmlns:a="http://schemas.openxmlformats.org/drawingml/2006/main">
              <a:ext uri="{FF2B5EF4-FFF2-40B4-BE49-F238E27FC236}">
                <a16:creationId xmlns:a16="http://schemas.microsoft.com/office/drawing/2014/main" id="{E1DC6AC7-F546-4546-BB72-38525E3A8824}"/>
              </a:ext>
            </a:extLst>
          </p:cNvPr>
          <p:cNvSpPr>
            <a:spLocks xmlns:a="http://schemas.openxmlformats.org/drawingml/2006/main" noGrp="1"/>
          </p:cNvSpPr>
          <p:nvPr/>
        </p:nvSpPr>
        <p:spPr>
          <a:xfrm xmlns:a="http://schemas.openxmlformats.org/drawingml/2006/main">
            <a:off x="6446520" y="4846320"/>
            <a:ext cx="49377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6181D"/>
                </a:solidFill>
                <a:latin typeface="Calibri"/>
                <a:ea typeface="Calibri"/>
                <a:cs typeface="Calibri"/>
              </a:rPr>
              <a:t>ZUSATZSCHUTZ</a:t>
            </a:r>
          </a:p>
        </p:txBody>
      </p:sp>
      <p:sp>
        <p:nvSpPr>
          <p:cNvPr id="11" name="Text 9">
            <a:extLst xmlns:a="http://schemas.openxmlformats.org/drawingml/2006/main">
              <a:ext uri="{FF2B5EF4-FFF2-40B4-BE49-F238E27FC236}">
                <a16:creationId xmlns:a16="http://schemas.microsoft.com/office/drawing/2014/main" id="{7DFA6E6B-4509-4421-BFE8-F8AFF7228670}"/>
              </a:ext>
            </a:extLst>
          </p:cNvPr>
          <p:cNvSpPr>
            <a:spLocks xmlns:a="http://schemas.openxmlformats.org/drawingml/2006/main" noGrp="1"/>
          </p:cNvSpPr>
          <p:nvPr/>
        </p:nvSpPr>
        <p:spPr>
          <a:xfrm xmlns:a="http://schemas.openxmlformats.org/drawingml/2006/main">
            <a:off x="6446520" y="5212080"/>
            <a:ext cx="47548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55606E"/>
                </a:solidFill>
                <a:latin typeface="Calibri"/>
                <a:ea typeface="Calibri"/>
                <a:cs typeface="Calibri"/>
              </a:rPr>
              <a:t>Weitere HTML Senken prüfen, serverseitige Längenregeln ergänzen und Content Security Policy einsetzen.</a:t>
            </a:r>
          </a:p>
        </p:txBody>
      </p:sp>
    </p:spTree>
    <p:extLst>
      <p:ext uri="{BB962C8B-B14F-4D97-AF65-F5344CB8AC3E}">
        <p14:creationId xmlns:p14="http://schemas.microsoft.com/office/powerpoint/2010/main" val="157290316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2026-06-09T16:20:32.4950000Z</dcterms:created>
  <dcterms:modified xsi:type="dcterms:W3CDTF">2026-06-09T16:20:32.4950000Z</dcterms:modified>
</coreProperties>
</file>