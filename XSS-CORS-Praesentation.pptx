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81" r:id="rId2"/>
    <p:sldId id="256" r:id="rId3"/>
    <p:sldId id="257" r:id="rId4"/>
    <p:sldId id="258" r:id="rId5"/>
    <p:sldId id="259" r:id="rId6"/>
    <p:sldId id="260" r:id="rId7"/>
    <p:sldId id="261" r:id="rId8"/>
    <p:sldId id="262" r:id="rId9"/>
    <p:sldId id="263" r:id="rId10"/>
    <p:sldId id="264" r:id="rId11"/>
    <p:sldId id="265" r:id="rId12"/>
    <p:sldId id="266" r:id="rId13"/>
    <p:sldId id="282" r:id="rId14"/>
    <p:sldId id="283" r:id="rId15"/>
    <p:sldId id="284" r:id="rId16"/>
    <p:sldId id="285" r:id="rId17"/>
    <p:sldId id="286" r:id="rId18"/>
    <p:sldId id="287" r:id="rId19"/>
    <p:sldId id="288" r:id="rId20"/>
    <p:sldId id="289" r:id="rId21"/>
    <p:sldId id="274" r:id="rId22"/>
    <p:sldId id="275" r:id="rId23"/>
    <p:sldId id="276" r:id="rId24"/>
    <p:sldId id="277" r:id="rId25"/>
    <p:sldId id="278" r:id="rId26"/>
    <p:sldId id="279" r:id="rId27"/>
    <p:sldId id="280" r:id="rId28"/>
    <p:sldId id="272" r:id="rId29"/>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57"/>
            <p14:sldId id="258"/>
            <p14:sldId id="259"/>
            <p14:sldId id="260"/>
            <p14:sldId id="261"/>
            <p14:sldId id="262"/>
            <p14:sldId id="263"/>
            <p14:sldId id="264"/>
            <p14:sldId id="265"/>
          </p14:sldIdLst>
        </p14:section>
        <p14:section name="CORS" id="{11B11767-8EC2-4D59-ACBC-E6EC4288162A}">
          <p14:sldIdLst>
            <p14:sldId id="266"/>
            <p14:sldId id="282"/>
            <p14:sldId id="283"/>
            <p14:sldId id="284"/>
            <p14:sldId id="285"/>
            <p14:sldId id="286"/>
            <p14:sldId id="287"/>
            <p14:sldId id="288"/>
            <p14:sldId id="289"/>
            <p14:sldId id="274"/>
            <p14:sldId id="275"/>
            <p14:sldId id="276"/>
            <p14:sldId id="277"/>
            <p14:sldId id="278"/>
            <p14:sldId id="279"/>
            <p14:sldId id="28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91" autoAdjust="0"/>
    <p:restoredTop sz="95680" autoAdjust="0"/>
  </p:normalViewPr>
  <p:slideViewPr>
    <p:cSldViewPr snapToGrid="0">
      <p:cViewPr varScale="1">
        <p:scale>
          <a:sx n="103" d="100"/>
          <a:sy n="103" d="100"/>
        </p:scale>
        <p:origin x="1200" y="176"/>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XSS ist kein Fehler beim Speichern allein. Entscheidend ist die spätere Ausgabe. Sobald Nutzerdaten als HTML interpretiert werden, kann daraus ausführbarer Code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Stored XSS bleibt in der Anwendung gespeichert. Reflected XSS wird direkt aus einer Anfrage zurückgegeben. DOM XSS entsteht beim unsicheren Schreiben in das DOM. Unsere Schwachstelle verbindet Stored XSS und DOM XSS.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Typische unsichere Senken sind innerHTML oder HTML Rendering ohne Escaping. Das sichere Grundprinzip ist Output Encoding. In Vue geschieht das bei normaler Interpolation automatisch.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01</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XSS: Aus Text wird Code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Cross Site Scripting bedeutet, dass fremder HTML oder JavaScript Code ausgeführt wird, obwohl die Anwendung ihn nur als Nutzereingabe behandeln sollte.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URSACHE</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dirty="0" err="1">
                <a:solidFill>
                  <a:srgbClr val="55606E"/>
                </a:solidFill>
                <a:latin typeface="Calibri"/>
                <a:ea typeface="Calibri"/>
                <a:cs typeface="Calibri"/>
              </a:rPr>
              <a:t>Unkontrollierte</a:t>
            </a:r>
            <a:r>
              <a:rPr sz="1400" dirty="0">
                <a:solidFill>
                  <a:srgbClr val="55606E"/>
                </a:solidFill>
                <a:latin typeface="Calibri"/>
                <a:ea typeface="Calibri"/>
                <a:cs typeface="Calibri"/>
              </a:rPr>
              <a:t> Daten </a:t>
            </a:r>
            <a:r>
              <a:rPr sz="1400" dirty="0" err="1">
                <a:solidFill>
                  <a:srgbClr val="55606E"/>
                </a:solidFill>
                <a:latin typeface="Calibri"/>
                <a:ea typeface="Calibri"/>
                <a:cs typeface="Calibri"/>
              </a:rPr>
              <a:t>werden</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als</a:t>
            </a:r>
            <a:r>
              <a:rPr sz="1400" dirty="0">
                <a:solidFill>
                  <a:srgbClr val="55606E"/>
                </a:solidFill>
                <a:latin typeface="Calibri"/>
                <a:ea typeface="Calibri"/>
                <a:cs typeface="Calibri"/>
              </a:rPr>
              <a:t> HTML </a:t>
            </a:r>
            <a:r>
              <a:rPr sz="1400" dirty="0" err="1">
                <a:solidFill>
                  <a:srgbClr val="55606E"/>
                </a:solidFill>
                <a:latin typeface="Calibri"/>
                <a:ea typeface="Calibri"/>
                <a:cs typeface="Calibri"/>
              </a:rPr>
              <a:t>interpretiert</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statt</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als</a:t>
            </a:r>
            <a:r>
              <a:rPr sz="1400" dirty="0">
                <a:solidFill>
                  <a:srgbClr val="55606E"/>
                </a:solidFill>
                <a:latin typeface="Calibri"/>
                <a:ea typeface="Calibri"/>
                <a:cs typeface="Calibri"/>
              </a:rPr>
              <a:t> Text </a:t>
            </a:r>
            <a:r>
              <a:rPr sz="1400" dirty="0" err="1">
                <a:solidFill>
                  <a:srgbClr val="55606E"/>
                </a:solidFill>
                <a:latin typeface="Calibri"/>
                <a:ea typeface="Calibri"/>
                <a:cs typeface="Calibri"/>
              </a:rPr>
              <a:t>ausgegeben</a:t>
            </a:r>
            <a:r>
              <a:rPr sz="1400" dirty="0">
                <a:solidFill>
                  <a:srgbClr val="55606E"/>
                </a:solidFill>
                <a:latin typeface="Calibri"/>
                <a:ea typeface="Calibri"/>
                <a:cs typeface="Calibri"/>
              </a:rPr>
              <a:t>.</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WIRKUNG</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Code läuft im vertrauenswürdigen Browserkontext der echten Anwendung.</a:t>
            </a:r>
          </a:p>
        </p:txBody>
      </p:sp>
      <p:sp>
        <p:nvSpPr>
          <p:cNvPr id="12" name="Text 1">
            <a:extLst>
              <a:ext uri="{FF2B5EF4-FFF2-40B4-BE49-F238E27FC236}">
                <a16:creationId xmlns:a16="http://schemas.microsoft.com/office/drawing/2014/main" id="{9E9017EA-4717-D9BD-92D9-CFE7983948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02</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Drei Arten von XSS</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Sie unterscheiden sich durch die Herkunft des Payloads und den Zeitpunkt der Ausführung.</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DIE DREI ARTEN</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Stored XSS</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gespeichert</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Reflected XSS</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Anfrage</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DOM XSS</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Browser</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FOKUS UNSERER DEMO</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Stored DOM XSS: Gespeicherte Scheduler Daten werden durch die Kalenderbibliothek als HTML gerendert.</a:t>
            </a:r>
          </a:p>
        </p:txBody>
      </p:sp>
      <p:sp>
        <p:nvSpPr>
          <p:cNvPr id="18" name="Text 1">
            <a:extLst>
              <a:ext uri="{FF2B5EF4-FFF2-40B4-BE49-F238E27FC236}">
                <a16:creationId xmlns:a16="http://schemas.microsoft.com/office/drawing/2014/main" id="{1CBD98DA-A7EE-9695-EA78-D1E20FEADF23}"/>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4</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03</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Unsichere Senke trifft Nutzerdaten</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XSS entsteht, wenn ein kontrollierbarer Wert eine Ausgabestelle erreicht, die HTML interpretiert.</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TYPISCHE URSACHEN</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Direktes HTML Rendering und fehlendes Escaping.</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innerHTML · v html · HTML Templates</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Auch Bibliotheken können unsichere Standardrenderer besitzen.</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HTML Senken</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SICHERE GRENZE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Nutzerdaten bleiben Text und werden kontextgerecht escaped.</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Vue Interpolation</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Textausgabe</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Eigene Slots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kontrolliertes Rendering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Sanitizer</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nur falls HTML nötig ist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Output Encoding</a:t>
            </a:r>
          </a:p>
        </p:txBody>
      </p:sp>
      <p:sp>
        <p:nvSpPr>
          <p:cNvPr id="23" name="Text 1">
            <a:extLst>
              <a:ext uri="{FF2B5EF4-FFF2-40B4-BE49-F238E27FC236}">
                <a16:creationId xmlns:a16="http://schemas.microsoft.com/office/drawing/2014/main" id="{A734CD51-9D0C-1406-192A-442785C69D0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5</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Die reale Schwachstelle liegt in vue cal</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6</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7</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Ergebnis</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Text statt Code</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10</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aber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7A4489E-BE97-24EF-F34D-606FEE20585A}"/>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Warum der Browser das blockiert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Ohne diese Regel </a:t>
            </a:r>
            <a:r>
              <a:rPr lang="en-US" sz="1700" dirty="0" err="1">
                <a:solidFill>
                  <a:srgbClr val="55606E"/>
                </a:solidFill>
                <a:latin typeface="Calibri" pitchFamily="34" charset="0"/>
                <a:ea typeface="Calibri" pitchFamily="34" charset="-122"/>
                <a:cs typeface="Calibri" pitchFamily="34" charset="-120"/>
              </a:rPr>
              <a:t>könnte</a:t>
            </a:r>
            <a:r>
              <a:rPr lang="en-US" sz="1700" dirty="0">
                <a:solidFill>
                  <a:srgbClr val="55606E"/>
                </a:solidFill>
                <a:latin typeface="Calibri" pitchFamily="34" charset="0"/>
                <a:ea typeface="Calibri" pitchFamily="34" charset="-122"/>
                <a:cs typeface="Calibri" pitchFamily="34" charset="-120"/>
              </a:rPr>
              <a:t> jede geöffnete Webseite im Hintergrund fremde Dienste in deinem Namen abfragen und die Antworten auslesen.</a:t>
            </a:r>
            <a:endParaRPr lang="en-US" sz="1700" dirty="0"/>
          </a:p>
        </p:txBody>
      </p:sp>
      <p:sp>
        <p:nvSpPr>
          <p:cNvPr id="6" name="Text 4"/>
          <p:cNvSpPr/>
          <p:nvPr/>
        </p:nvSpPr>
        <p:spPr>
          <a:xfrm>
            <a:off x="868680" y="2926080"/>
            <a:ext cx="73152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DAS SZENARIO OHNE SCHUTZ</a:t>
            </a:r>
            <a:endParaRPr lang="en-US" sz="1100" dirty="0"/>
          </a:p>
        </p:txBody>
      </p:sp>
      <p:sp>
        <p:nvSpPr>
          <p:cNvPr id="7" name="Text 5"/>
          <p:cNvSpPr/>
          <p:nvPr/>
        </p:nvSpPr>
        <p:spPr>
          <a:xfrm>
            <a:off x="868680" y="3310128"/>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01</a:t>
            </a:r>
            <a:endParaRPr lang="en-US" sz="1900" dirty="0"/>
          </a:p>
        </p:txBody>
      </p:sp>
      <p:sp>
        <p:nvSpPr>
          <p:cNvPr id="8" name="Text 6"/>
          <p:cNvSpPr/>
          <p:nvPr/>
        </p:nvSpPr>
        <p:spPr>
          <a:xfrm>
            <a:off x="1645920" y="3291840"/>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bist eingeloggt</a:t>
            </a:r>
            <a:endParaRPr lang="en-US" sz="1700" dirty="0"/>
          </a:p>
        </p:txBody>
      </p:sp>
      <p:sp>
        <p:nvSpPr>
          <p:cNvPr id="9" name="Text 7"/>
          <p:cNvSpPr/>
          <p:nvPr/>
        </p:nvSpPr>
        <p:spPr>
          <a:xfrm>
            <a:off x="6446520" y="3291840"/>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z. B. bei deiner Bank - das Cookie liegt im Browser.</a:t>
            </a:r>
            <a:endParaRPr lang="en-US" sz="1400" dirty="0"/>
          </a:p>
        </p:txBody>
      </p:sp>
      <p:sp>
        <p:nvSpPr>
          <p:cNvPr id="10" name="Shape 8"/>
          <p:cNvSpPr/>
          <p:nvPr/>
        </p:nvSpPr>
        <p:spPr>
          <a:xfrm>
            <a:off x="1033272" y="3794760"/>
            <a:ext cx="0" cy="237744"/>
          </a:xfrm>
          <a:prstGeom prst="line">
            <a:avLst/>
          </a:prstGeom>
          <a:noFill/>
          <a:ln w="15875">
            <a:solidFill>
              <a:srgbClr val="D2D8DF"/>
            </a:solidFill>
            <a:prstDash val="solid"/>
          </a:ln>
        </p:spPr>
      </p:sp>
      <p:sp>
        <p:nvSpPr>
          <p:cNvPr id="11" name="Text 9"/>
          <p:cNvSpPr/>
          <p:nvPr/>
        </p:nvSpPr>
        <p:spPr>
          <a:xfrm>
            <a:off x="868680" y="4096512"/>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02</a:t>
            </a:r>
            <a:endParaRPr lang="en-US" sz="1900" dirty="0"/>
          </a:p>
        </p:txBody>
      </p:sp>
      <p:sp>
        <p:nvSpPr>
          <p:cNvPr id="12" name="Text 10"/>
          <p:cNvSpPr/>
          <p:nvPr/>
        </p:nvSpPr>
        <p:spPr>
          <a:xfrm>
            <a:off x="1645920" y="4078224"/>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öffnest eine fremde Seite</a:t>
            </a:r>
            <a:endParaRPr lang="en-US" sz="1700" dirty="0"/>
          </a:p>
        </p:txBody>
      </p:sp>
      <p:sp>
        <p:nvSpPr>
          <p:cNvPr id="13" name="Text 11"/>
          <p:cNvSpPr/>
          <p:nvPr/>
        </p:nvSpPr>
        <p:spPr>
          <a:xfrm>
            <a:off x="6446520" y="4078224"/>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in einem anderen Tab, scheinbar harmlos.</a:t>
            </a:r>
            <a:endParaRPr lang="en-US" sz="1400" dirty="0"/>
          </a:p>
        </p:txBody>
      </p:sp>
      <p:sp>
        <p:nvSpPr>
          <p:cNvPr id="14" name="Shape 12"/>
          <p:cNvSpPr/>
          <p:nvPr/>
        </p:nvSpPr>
        <p:spPr>
          <a:xfrm>
            <a:off x="1033272" y="4581144"/>
            <a:ext cx="0" cy="237744"/>
          </a:xfrm>
          <a:prstGeom prst="line">
            <a:avLst/>
          </a:prstGeom>
          <a:noFill/>
          <a:ln w="15875">
            <a:solidFill>
              <a:srgbClr val="D2D8DF"/>
            </a:solidFill>
            <a:prstDash val="solid"/>
          </a:ln>
        </p:spPr>
      </p:sp>
      <p:sp>
        <p:nvSpPr>
          <p:cNvPr id="15" name="Text 13"/>
          <p:cNvSpPr/>
          <p:nvPr/>
        </p:nvSpPr>
        <p:spPr>
          <a:xfrm>
            <a:off x="868680" y="4882896"/>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03</a:t>
            </a:r>
            <a:endParaRPr lang="en-US" sz="1900" dirty="0"/>
          </a:p>
        </p:txBody>
      </p:sp>
      <p:sp>
        <p:nvSpPr>
          <p:cNvPr id="16" name="Text 14"/>
          <p:cNvSpPr/>
          <p:nvPr/>
        </p:nvSpPr>
        <p:spPr>
          <a:xfrm>
            <a:off x="1645920" y="4864608"/>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Deren Skript ruft die Bank auf</a:t>
            </a:r>
            <a:endParaRPr lang="en-US" sz="1700" dirty="0"/>
          </a:p>
        </p:txBody>
      </p:sp>
      <p:sp>
        <p:nvSpPr>
          <p:cNvPr id="17" name="Text 15"/>
          <p:cNvSpPr/>
          <p:nvPr/>
        </p:nvSpPr>
        <p:spPr>
          <a:xfrm>
            <a:off x="6446520" y="4864608"/>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Browser sendet dein Cookie automatisch mit.</a:t>
            </a:r>
            <a:endParaRPr lang="en-US" sz="1400" dirty="0"/>
          </a:p>
        </p:txBody>
      </p:sp>
      <p:sp>
        <p:nvSpPr>
          <p:cNvPr id="18" name="Shape 16"/>
          <p:cNvSpPr/>
          <p:nvPr/>
        </p:nvSpPr>
        <p:spPr>
          <a:xfrm>
            <a:off x="1033272" y="5367528"/>
            <a:ext cx="0" cy="237744"/>
          </a:xfrm>
          <a:prstGeom prst="line">
            <a:avLst/>
          </a:prstGeom>
          <a:noFill/>
          <a:ln w="15875">
            <a:solidFill>
              <a:srgbClr val="D2D8DF"/>
            </a:solidFill>
            <a:prstDash val="solid"/>
          </a:ln>
        </p:spPr>
      </p:sp>
      <p:sp>
        <p:nvSpPr>
          <p:cNvPr id="19" name="Text 17"/>
          <p:cNvSpPr/>
          <p:nvPr/>
        </p:nvSpPr>
        <p:spPr>
          <a:xfrm>
            <a:off x="868680" y="5669280"/>
            <a:ext cx="640080" cy="457200"/>
          </a:xfrm>
          <a:prstGeom prst="rect">
            <a:avLst/>
          </a:prstGeom>
          <a:noFill/>
          <a:ln/>
        </p:spPr>
        <p:txBody>
          <a:bodyPr wrap="square" lIns="0" tIns="0" rIns="0" bIns="0" rtlCol="0" anchor="ctr"/>
          <a:lstStyle/>
          <a:p>
            <a:pPr marL="0" indent="0">
              <a:buNone/>
            </a:pPr>
            <a:r>
              <a:rPr lang="en-US" sz="1900" b="1" dirty="0">
                <a:solidFill>
                  <a:srgbClr val="1E8F5E"/>
                </a:solidFill>
                <a:latin typeface="Trebuchet MS" pitchFamily="34" charset="0"/>
                <a:ea typeface="Trebuchet MS" pitchFamily="34" charset="-122"/>
                <a:cs typeface="Trebuchet MS" pitchFamily="34" charset="-120"/>
              </a:rPr>
              <a:t>04</a:t>
            </a:r>
            <a:endParaRPr lang="en-US" sz="1900" dirty="0"/>
          </a:p>
        </p:txBody>
      </p:sp>
      <p:sp>
        <p:nvSpPr>
          <p:cNvPr id="20" name="Text 18"/>
          <p:cNvSpPr/>
          <p:nvPr/>
        </p:nvSpPr>
        <p:spPr>
          <a:xfrm>
            <a:off x="1645920" y="5650992"/>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Antwort = blockiert</a:t>
            </a:r>
            <a:endParaRPr lang="en-US" sz="1700" dirty="0"/>
          </a:p>
        </p:txBody>
      </p:sp>
      <p:sp>
        <p:nvSpPr>
          <p:cNvPr id="21" name="Text 19"/>
          <p:cNvSpPr/>
          <p:nvPr/>
        </p:nvSpPr>
        <p:spPr>
          <a:xfrm>
            <a:off x="6446520" y="5650992"/>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die SOP verhindert, dass das Skript sie liest.</a:t>
            </a:r>
            <a:endParaRPr lang="en-US" sz="1400" dirty="0"/>
          </a:p>
        </p:txBody>
      </p:sp>
      <p:sp>
        <p:nvSpPr>
          <p:cNvPr id="22" name="Text 1">
            <a:extLst>
              <a:ext uri="{FF2B5EF4-FFF2-40B4-BE49-F238E27FC236}">
                <a16:creationId xmlns:a16="http://schemas.microsoft.com/office/drawing/2014/main" id="{1F01E120-F997-C1AE-D2A1-B30BD6621F2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14</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42416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Wenn eine fremde Origin doch lesen soll, muss der Server das </a:t>
            </a:r>
            <a:r>
              <a:rPr lang="en-US" sz="1700" dirty="0" err="1">
                <a:solidFill>
                  <a:srgbClr val="55606E"/>
                </a:solidFill>
                <a:latin typeface="Calibri" pitchFamily="34" charset="0"/>
                <a:ea typeface="Calibri" pitchFamily="34" charset="-122"/>
                <a:cs typeface="Calibri" pitchFamily="34" charset="-120"/>
              </a:rPr>
              <a:t>erlauben</a:t>
            </a:r>
            <a:r>
              <a:rPr lang="en-US" sz="1700" dirty="0">
                <a:solidFill>
                  <a:srgbClr val="55606E"/>
                </a:solidFill>
                <a:latin typeface="Calibri" pitchFamily="34" charset="0"/>
                <a:ea typeface="Calibri" pitchFamily="34" charset="-122"/>
                <a:cs typeface="Calibri" pitchFamily="34" charset="-120"/>
              </a:rPr>
              <a:t> per Header.</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4C0CAA97-4997-429E-2F9E-722BC644E38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04</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So läuft ein CORS-Request ab</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Der Browser hängt die Origin selbst an, der Server antwortet mit der </a:t>
            </a:r>
            <a:r>
              <a:rPr lang="en-US" sz="1650" dirty="0" err="1">
                <a:solidFill>
                  <a:srgbClr val="55606E"/>
                </a:solidFill>
                <a:latin typeface="Calibri" pitchFamily="34" charset="0"/>
                <a:ea typeface="Calibri" pitchFamily="34" charset="-122"/>
                <a:cs typeface="Calibri" pitchFamily="34" charset="-120"/>
              </a:rPr>
              <a:t>Freigabe</a:t>
            </a:r>
            <a:r>
              <a:rPr lang="en-US" sz="1650" dirty="0">
                <a:solidFill>
                  <a:srgbClr val="55606E"/>
                </a:solidFill>
                <a:latin typeface="Calibri" pitchFamily="34" charset="0"/>
                <a:ea typeface="Calibri" pitchFamily="34" charset="-122"/>
                <a:cs typeface="Calibri" pitchFamily="34" charset="-120"/>
              </a:rPr>
              <a:t> und der Browser entscheidet, ob das Skript lesen darf.</a:t>
            </a:r>
            <a:endParaRPr lang="en-US" sz="1650" dirty="0"/>
          </a:p>
        </p:txBody>
      </p:sp>
      <p:sp>
        <p:nvSpPr>
          <p:cNvPr id="6" name="Shape 4"/>
          <p:cNvSpPr/>
          <p:nvPr/>
        </p:nvSpPr>
        <p:spPr>
          <a:xfrm>
            <a:off x="6172200" y="2926080"/>
            <a:ext cx="0" cy="2880360"/>
          </a:xfrm>
          <a:prstGeom prst="line">
            <a:avLst/>
          </a:prstGeom>
          <a:noFill/>
          <a:ln w="12700">
            <a:solidFill>
              <a:srgbClr val="E4E7EC"/>
            </a:solidFill>
            <a:prstDash val="solid"/>
          </a:ln>
        </p:spPr>
      </p:sp>
      <p:sp>
        <p:nvSpPr>
          <p:cNvPr id="7" name="Text 5"/>
          <p:cNvSpPr/>
          <p:nvPr/>
        </p:nvSpPr>
        <p:spPr>
          <a:xfrm>
            <a:off x="86868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463FF"/>
                </a:solidFill>
                <a:latin typeface="Calibri" pitchFamily="34" charset="0"/>
                <a:ea typeface="Calibri" pitchFamily="34" charset="-122"/>
                <a:cs typeface="Calibri" pitchFamily="34" charset="-120"/>
              </a:rPr>
              <a:t>1 · REQUEST DES BROWSERS</a:t>
            </a:r>
            <a:endParaRPr lang="en-US" sz="1100" dirty="0"/>
          </a:p>
        </p:txBody>
      </p:sp>
      <p:sp>
        <p:nvSpPr>
          <p:cNvPr id="8" name="Text 6"/>
          <p:cNvSpPr/>
          <p:nvPr/>
        </p:nvSpPr>
        <p:spPr>
          <a:xfrm>
            <a:off x="86868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GET /session</a:t>
            </a:r>
            <a:endParaRPr lang="en-US" sz="1500" dirty="0"/>
          </a:p>
        </p:txBody>
      </p:sp>
      <p:sp>
        <p:nvSpPr>
          <p:cNvPr id="9" name="Text 7"/>
          <p:cNvSpPr/>
          <p:nvPr/>
        </p:nvSpPr>
        <p:spPr>
          <a:xfrm>
            <a:off x="86868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Origin: http://localhost:5173</a:t>
            </a:r>
            <a:endParaRPr lang="en-US" sz="1400" dirty="0"/>
          </a:p>
        </p:txBody>
      </p:sp>
      <p:sp>
        <p:nvSpPr>
          <p:cNvPr id="10" name="Text 8"/>
          <p:cNvSpPr/>
          <p:nvPr/>
        </p:nvSpPr>
        <p:spPr>
          <a:xfrm>
            <a:off x="868680" y="425196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Der Origin-Header wird vom Browser </a:t>
            </a:r>
            <a:r>
              <a:rPr lang="en-US" sz="1350" dirty="0" err="1">
                <a:solidFill>
                  <a:srgbClr val="000000"/>
                </a:solidFill>
                <a:latin typeface="Calibri" pitchFamily="34" charset="0"/>
                <a:ea typeface="Calibri" pitchFamily="34" charset="-122"/>
                <a:cs typeface="Calibri" pitchFamily="34" charset="-120"/>
              </a:rPr>
              <a:t>automatisch</a:t>
            </a:r>
            <a:r>
              <a:rPr lang="en-US" sz="1350" dirty="0">
                <a:solidFill>
                  <a:srgbClr val="000000"/>
                </a:solidFill>
                <a:latin typeface="Calibri" pitchFamily="34" charset="0"/>
                <a:ea typeface="Calibri" pitchFamily="34" charset="-122"/>
                <a:cs typeface="Calibri" pitchFamily="34" charset="-120"/>
              </a:rPr>
              <a:t> </a:t>
            </a:r>
            <a:r>
              <a:rPr lang="en-US" sz="1350" dirty="0" err="1">
                <a:solidFill>
                  <a:srgbClr val="000000"/>
                </a:solidFill>
                <a:latin typeface="Calibri" pitchFamily="34" charset="0"/>
                <a:ea typeface="Calibri" pitchFamily="34" charset="-122"/>
                <a:cs typeface="Calibri" pitchFamily="34" charset="-120"/>
              </a:rPr>
              <a:t>gesetzt</a:t>
            </a:r>
            <a:r>
              <a:rPr lang="en-US" sz="1350" dirty="0">
                <a:solidFill>
                  <a:srgbClr val="000000"/>
                </a:solidFill>
                <a:latin typeface="Calibri" pitchFamily="34" charset="0"/>
                <a:ea typeface="Calibri" pitchFamily="34" charset="-122"/>
                <a:cs typeface="Calibri" pitchFamily="34" charset="-120"/>
              </a:rPr>
              <a:t>, das Skript kann ihn nicht fälschen.</a:t>
            </a:r>
            <a:endParaRPr lang="en-US" sz="1350" dirty="0"/>
          </a:p>
        </p:txBody>
      </p:sp>
      <p:sp>
        <p:nvSpPr>
          <p:cNvPr id="11" name="Text 9"/>
          <p:cNvSpPr/>
          <p:nvPr/>
        </p:nvSpPr>
        <p:spPr>
          <a:xfrm>
            <a:off x="644652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E8F5E"/>
                </a:solidFill>
                <a:latin typeface="Calibri" pitchFamily="34" charset="0"/>
                <a:ea typeface="Calibri" pitchFamily="34" charset="-122"/>
                <a:cs typeface="Calibri" pitchFamily="34" charset="-120"/>
              </a:rPr>
              <a:t>2 · ANTWORT DES SERVERS</a:t>
            </a:r>
            <a:endParaRPr lang="en-US" sz="1100" dirty="0"/>
          </a:p>
        </p:txBody>
      </p:sp>
      <p:sp>
        <p:nvSpPr>
          <p:cNvPr id="12" name="Text 10"/>
          <p:cNvSpPr/>
          <p:nvPr/>
        </p:nvSpPr>
        <p:spPr>
          <a:xfrm>
            <a:off x="644652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200 OK</a:t>
            </a:r>
            <a:endParaRPr lang="en-US" sz="1500" dirty="0"/>
          </a:p>
        </p:txBody>
      </p:sp>
      <p:sp>
        <p:nvSpPr>
          <p:cNvPr id="13" name="Text 11"/>
          <p:cNvSpPr/>
          <p:nvPr/>
        </p:nvSpPr>
        <p:spPr>
          <a:xfrm>
            <a:off x="644652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Access-Control-Allow-Origin:</a:t>
            </a:r>
            <a:endParaRPr lang="en-US" sz="1400" dirty="0"/>
          </a:p>
        </p:txBody>
      </p:sp>
      <p:sp>
        <p:nvSpPr>
          <p:cNvPr id="14" name="Text 12"/>
          <p:cNvSpPr/>
          <p:nvPr/>
        </p:nvSpPr>
        <p:spPr>
          <a:xfrm>
            <a:off x="6446520" y="3931920"/>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  http://localhost:5173</a:t>
            </a:r>
            <a:endParaRPr lang="en-US" sz="1400" dirty="0"/>
          </a:p>
        </p:txBody>
      </p:sp>
      <p:sp>
        <p:nvSpPr>
          <p:cNvPr id="15" name="Text 13"/>
          <p:cNvSpPr/>
          <p:nvPr/>
        </p:nvSpPr>
        <p:spPr>
          <a:xfrm>
            <a:off x="6446520" y="452628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Passt der Header zur Origin, gibt der Browser die Antwort frei. Fehlt er, blockiert der Browser.</a:t>
            </a:r>
            <a:endParaRPr lang="en-US" sz="1350" dirty="0"/>
          </a:p>
        </p:txBody>
      </p:sp>
      <p:sp>
        <p:nvSpPr>
          <p:cNvPr id="16" name="Shape 14"/>
          <p:cNvSpPr/>
          <p:nvPr/>
        </p:nvSpPr>
        <p:spPr>
          <a:xfrm>
            <a:off x="868680" y="5806440"/>
            <a:ext cx="10454335" cy="0"/>
          </a:xfrm>
          <a:prstGeom prst="line">
            <a:avLst/>
          </a:prstGeom>
          <a:noFill/>
          <a:ln w="12700">
            <a:solidFill>
              <a:srgbClr val="E4E7EC"/>
            </a:solidFill>
            <a:prstDash val="solid"/>
          </a:ln>
        </p:spPr>
      </p:sp>
      <p:sp>
        <p:nvSpPr>
          <p:cNvPr id="17" name="Text 15"/>
          <p:cNvSpPr/>
          <p:nvPr/>
        </p:nvSpPr>
        <p:spPr>
          <a:xfrm>
            <a:off x="868680" y="5943600"/>
            <a:ext cx="10424160" cy="36576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Wichtig: Der Server schickt die Antwort immer - der Browser ist der Torwächter, nicht der Server.</a:t>
            </a:r>
            <a:endParaRPr lang="en-US" sz="1350" dirty="0"/>
          </a:p>
        </p:txBody>
      </p:sp>
      <p:sp>
        <p:nvSpPr>
          <p:cNvPr id="18" name="Text 1">
            <a:extLst>
              <a:ext uri="{FF2B5EF4-FFF2-40B4-BE49-F238E27FC236}">
                <a16:creationId xmlns:a16="http://schemas.microsoft.com/office/drawing/2014/main" id="{3CF26BD2-DA49-204E-19F6-EB562ECA4BE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05</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Einfacher Request vs. Preflight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Bei „besonderen“ Requests fragt der Browser vorher per OPTIONS nach, ob der eigentliche Request überhaupt erlaubt ist.</a:t>
            </a:r>
            <a:endParaRPr lang="en-US" sz="1650" dirty="0"/>
          </a:p>
        </p:txBody>
      </p:sp>
      <p:sp>
        <p:nvSpPr>
          <p:cNvPr id="6" name="Text 4"/>
          <p:cNvSpPr/>
          <p:nvPr/>
        </p:nvSpPr>
        <p:spPr>
          <a:xfrm>
            <a:off x="868680" y="288036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 (GET, EINFACHES POST)</a:t>
            </a:r>
            <a:endParaRPr lang="en-US" sz="1150" dirty="0"/>
          </a:p>
        </p:txBody>
      </p:sp>
      <p:sp>
        <p:nvSpPr>
          <p:cNvPr id="7" name="Text 5"/>
          <p:cNvSpPr/>
          <p:nvPr/>
        </p:nvSpPr>
        <p:spPr>
          <a:xfrm>
            <a:off x="86868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24612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343400"/>
            <a:ext cx="10454335" cy="0"/>
          </a:xfrm>
          <a:prstGeom prst="line">
            <a:avLst/>
          </a:prstGeom>
          <a:noFill/>
          <a:ln w="12700">
            <a:solidFill>
              <a:srgbClr val="E4E7EC"/>
            </a:solidFill>
            <a:prstDash val="solid"/>
          </a:ln>
        </p:spPr>
      </p:sp>
      <p:sp>
        <p:nvSpPr>
          <p:cNvPr id="13" name="Text 11"/>
          <p:cNvSpPr/>
          <p:nvPr/>
        </p:nvSpPr>
        <p:spPr>
          <a:xfrm>
            <a:off x="868680" y="46177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 (AUTHORIZATION, APPLICATION/JSON)</a:t>
            </a:r>
            <a:endParaRPr lang="en-US" sz="1150" dirty="0"/>
          </a:p>
        </p:txBody>
      </p:sp>
      <p:sp>
        <p:nvSpPr>
          <p:cNvPr id="14" name="Text 12"/>
          <p:cNvSpPr/>
          <p:nvPr/>
        </p:nvSpPr>
        <p:spPr>
          <a:xfrm>
            <a:off x="86868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2" name="Text 20"/>
          <p:cNvSpPr/>
          <p:nvPr/>
        </p:nvSpPr>
        <p:spPr>
          <a:xfrm>
            <a:off x="868680" y="5989320"/>
            <a:ext cx="10424160" cy="365760"/>
          </a:xfrm>
          <a:prstGeom prst="rect">
            <a:avLst/>
          </a:prstGeom>
          <a:noFill/>
          <a:ln/>
        </p:spPr>
        <p:txBody>
          <a:bodyPr wrap="square" lIns="0" tIns="0" rIns="0" bIns="0" rtlCol="0" anchor="ctr"/>
          <a:lstStyle/>
          <a:p>
            <a:pPr marL="0" indent="0">
              <a:buNone/>
            </a:pPr>
            <a:r>
              <a:rPr lang="en-US" sz="1300" i="1" dirty="0">
                <a:solidFill>
                  <a:srgbClr val="9AA3AF"/>
                </a:solidFill>
                <a:latin typeface="Calibri" pitchFamily="34" charset="0"/>
                <a:ea typeface="Calibri" pitchFamily="34" charset="-122"/>
                <a:cs typeface="Calibri" pitchFamily="34" charset="-120"/>
              </a:rPr>
              <a:t>Der Preflight kostet eine zusätzliche Runde - deshalb cachen Browser die Antwort (Access-Control-Max-Age).</a:t>
            </a:r>
            <a:endParaRPr lang="en-US" sz="1300" dirty="0"/>
          </a:p>
        </p:txBody>
      </p:sp>
      <p:sp>
        <p:nvSpPr>
          <p:cNvPr id="23" name="Text 1">
            <a:extLst>
              <a:ext uri="{FF2B5EF4-FFF2-40B4-BE49-F238E27FC236}">
                <a16:creationId xmlns:a16="http://schemas.microsoft.com/office/drawing/2014/main" id="{FD3F7E3C-122B-DBFF-219E-B221CD7E808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06</a:t>
            </a:r>
            <a:endParaRPr lang="en-US" sz="1050" dirty="0"/>
          </a:p>
        </p:txBody>
      </p:sp>
      <p:sp>
        <p:nvSpPr>
          <p:cNvPr id="4" name="Text 2"/>
          <p:cNvSpPr/>
          <p:nvPr/>
        </p:nvSpPr>
        <p:spPr>
          <a:xfrm>
            <a:off x="868680" y="1051560"/>
            <a:ext cx="1078992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Wildcard oder Credentials - nicht beides</a:t>
            </a:r>
            <a:endParaRPr lang="en-US" sz="34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Wie weit die Freigabe geht, hängt davon ab, ob Anmeldedaten im Spiel sind. Der Browser erzwingt hier eine klare Regel.</a:t>
            </a:r>
            <a:endParaRPr lang="en-US" sz="1650" dirty="0"/>
          </a:p>
        </p:txBody>
      </p:sp>
      <p:sp>
        <p:nvSpPr>
          <p:cNvPr id="6" name="Text 4"/>
          <p:cNvSpPr/>
          <p:nvPr/>
        </p:nvSpPr>
        <p:spPr>
          <a:xfrm>
            <a:off x="868680" y="2834640"/>
            <a:ext cx="4937760" cy="411480"/>
          </a:xfrm>
          <a:prstGeom prst="rect">
            <a:avLst/>
          </a:prstGeom>
          <a:noFill/>
          <a:ln/>
        </p:spPr>
        <p:txBody>
          <a:bodyPr wrap="square" lIns="0" tIns="0" rIns="0" bIns="0" rtlCol="0" anchor="ctr"/>
          <a:lstStyle/>
          <a:p>
            <a:pPr marL="0" indent="0">
              <a:buNone/>
            </a:pPr>
            <a:r>
              <a:rPr lang="en-US" sz="1600" b="1" dirty="0">
                <a:solidFill>
                  <a:srgbClr val="1463FF"/>
                </a:solidFill>
                <a:latin typeface="Consolas" pitchFamily="34" charset="0"/>
                <a:ea typeface="Consolas" pitchFamily="34" charset="-122"/>
                <a:cs typeface="Consolas" pitchFamily="34" charset="-120"/>
              </a:rPr>
              <a:t>Allow-Origin: *</a:t>
            </a:r>
            <a:endParaRPr lang="en-US" sz="1600" dirty="0"/>
          </a:p>
        </p:txBody>
      </p:sp>
      <p:sp>
        <p:nvSpPr>
          <p:cNvPr id="7" name="Shape 5"/>
          <p:cNvSpPr/>
          <p:nvPr/>
        </p:nvSpPr>
        <p:spPr>
          <a:xfrm>
            <a:off x="868680" y="3429000"/>
            <a:ext cx="4937760" cy="0"/>
          </a:xfrm>
          <a:prstGeom prst="line">
            <a:avLst/>
          </a:prstGeom>
          <a:noFill/>
          <a:ln w="12700">
            <a:solidFill>
              <a:srgbClr val="E4E7EC"/>
            </a:solidFill>
            <a:prstDash val="solid"/>
          </a:ln>
        </p:spPr>
      </p:sp>
      <p:sp>
        <p:nvSpPr>
          <p:cNvPr id="8" name="Text 6"/>
          <p:cNvSpPr/>
          <p:nvPr/>
        </p:nvSpPr>
        <p:spPr>
          <a:xfrm>
            <a:off x="86868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Jede Origin darf lesen.</a:t>
            </a:r>
            <a:endParaRPr lang="en-US" sz="1400" dirty="0"/>
          </a:p>
        </p:txBody>
      </p:sp>
      <p:sp>
        <p:nvSpPr>
          <p:cNvPr id="9" name="Shape 7"/>
          <p:cNvSpPr/>
          <p:nvPr/>
        </p:nvSpPr>
        <p:spPr>
          <a:xfrm>
            <a:off x="868680" y="4087368"/>
            <a:ext cx="4937760" cy="0"/>
          </a:xfrm>
          <a:prstGeom prst="line">
            <a:avLst/>
          </a:prstGeom>
          <a:noFill/>
          <a:ln w="12700">
            <a:solidFill>
              <a:srgbClr val="E4E7EC"/>
            </a:solidFill>
            <a:prstDash val="solid"/>
          </a:ln>
        </p:spPr>
      </p:sp>
      <p:sp>
        <p:nvSpPr>
          <p:cNvPr id="10" name="Text 8"/>
          <p:cNvSpPr/>
          <p:nvPr/>
        </p:nvSpPr>
        <p:spPr>
          <a:xfrm>
            <a:off x="86868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Nur für </a:t>
            </a:r>
            <a:r>
              <a:rPr lang="en-US" sz="1400" dirty="0" err="1">
                <a:solidFill>
                  <a:srgbClr val="55606E"/>
                </a:solidFill>
                <a:latin typeface="Calibri" pitchFamily="34" charset="0"/>
                <a:ea typeface="Calibri" pitchFamily="34" charset="-122"/>
                <a:cs typeface="Calibri" pitchFamily="34" charset="-120"/>
              </a:rPr>
              <a:t>öffentliche</a:t>
            </a:r>
            <a:r>
              <a:rPr lang="en-US" sz="1400" dirty="0">
                <a:solidFill>
                  <a:srgbClr val="55606E"/>
                </a:solidFill>
                <a:latin typeface="Calibri" pitchFamily="34" charset="0"/>
                <a:ea typeface="Calibri" pitchFamily="34" charset="-122"/>
                <a:cs typeface="Calibri" pitchFamily="34" charset="-120"/>
              </a:rPr>
              <a:t>, nicht vertrauliche Daten.</a:t>
            </a:r>
            <a:endParaRPr lang="en-US" sz="1400" dirty="0"/>
          </a:p>
        </p:txBody>
      </p:sp>
      <p:sp>
        <p:nvSpPr>
          <p:cNvPr id="11" name="Shape 9"/>
          <p:cNvSpPr/>
          <p:nvPr/>
        </p:nvSpPr>
        <p:spPr>
          <a:xfrm>
            <a:off x="868680" y="4745736"/>
            <a:ext cx="4937760" cy="0"/>
          </a:xfrm>
          <a:prstGeom prst="line">
            <a:avLst/>
          </a:prstGeom>
          <a:noFill/>
          <a:ln w="12700">
            <a:solidFill>
              <a:srgbClr val="E4E7EC"/>
            </a:solidFill>
            <a:prstDash val="solid"/>
          </a:ln>
        </p:spPr>
      </p:sp>
      <p:sp>
        <p:nvSpPr>
          <p:cNvPr id="12" name="Text 10"/>
          <p:cNvSpPr/>
          <p:nvPr/>
        </p:nvSpPr>
        <p:spPr>
          <a:xfrm>
            <a:off x="86868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Funktioniert NICHT zusammen mit Credentials.</a:t>
            </a:r>
            <a:endParaRPr lang="en-US" sz="1400" dirty="0"/>
          </a:p>
        </p:txBody>
      </p:sp>
      <p:sp>
        <p:nvSpPr>
          <p:cNvPr id="13" name="Text 11"/>
          <p:cNvSpPr/>
          <p:nvPr/>
        </p:nvSpPr>
        <p:spPr>
          <a:xfrm>
            <a:off x="6446520" y="2834640"/>
            <a:ext cx="4937760" cy="411480"/>
          </a:xfrm>
          <a:prstGeom prst="rect">
            <a:avLst/>
          </a:prstGeom>
          <a:noFill/>
          <a:ln/>
        </p:spPr>
        <p:txBody>
          <a:bodyPr wrap="square" lIns="0" tIns="0" rIns="0" bIns="0" rtlCol="0" anchor="ctr"/>
          <a:lstStyle/>
          <a:p>
            <a:pPr marL="0" indent="0">
              <a:buNone/>
            </a:pPr>
            <a:r>
              <a:rPr lang="en-US" sz="1600" b="1" dirty="0">
                <a:solidFill>
                  <a:srgbClr val="1E8F5E"/>
                </a:solidFill>
                <a:latin typeface="Consolas" pitchFamily="34" charset="0"/>
                <a:ea typeface="Consolas" pitchFamily="34" charset="-122"/>
                <a:cs typeface="Consolas" pitchFamily="34" charset="-120"/>
              </a:rPr>
              <a:t>Feste Origin + Credentials</a:t>
            </a:r>
            <a:endParaRPr lang="en-US" sz="1600" dirty="0"/>
          </a:p>
        </p:txBody>
      </p:sp>
      <p:sp>
        <p:nvSpPr>
          <p:cNvPr id="14" name="Shape 12"/>
          <p:cNvSpPr/>
          <p:nvPr/>
        </p:nvSpPr>
        <p:spPr>
          <a:xfrm>
            <a:off x="6446520" y="3429000"/>
            <a:ext cx="4937760" cy="0"/>
          </a:xfrm>
          <a:prstGeom prst="line">
            <a:avLst/>
          </a:prstGeom>
          <a:noFill/>
          <a:ln w="12700">
            <a:solidFill>
              <a:srgbClr val="E4E7EC"/>
            </a:solidFill>
            <a:prstDash val="solid"/>
          </a:ln>
        </p:spPr>
      </p:sp>
      <p:sp>
        <p:nvSpPr>
          <p:cNvPr id="15" name="Text 13"/>
          <p:cNvSpPr/>
          <p:nvPr/>
        </p:nvSpPr>
        <p:spPr>
          <a:xfrm>
            <a:off x="644652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Genau eine konkrete Origin erlaubt.</a:t>
            </a:r>
            <a:endParaRPr lang="en-US" sz="1400" dirty="0"/>
          </a:p>
        </p:txBody>
      </p:sp>
      <p:sp>
        <p:nvSpPr>
          <p:cNvPr id="16" name="Shape 14"/>
          <p:cNvSpPr/>
          <p:nvPr/>
        </p:nvSpPr>
        <p:spPr>
          <a:xfrm>
            <a:off x="6446520" y="4087368"/>
            <a:ext cx="4937760" cy="0"/>
          </a:xfrm>
          <a:prstGeom prst="line">
            <a:avLst/>
          </a:prstGeom>
          <a:noFill/>
          <a:ln w="12700">
            <a:solidFill>
              <a:srgbClr val="E4E7EC"/>
            </a:solidFill>
            <a:prstDash val="solid"/>
          </a:ln>
        </p:spPr>
      </p:sp>
      <p:sp>
        <p:nvSpPr>
          <p:cNvPr id="17" name="Text 15"/>
          <p:cNvSpPr/>
          <p:nvPr/>
        </p:nvSpPr>
        <p:spPr>
          <a:xfrm>
            <a:off x="644652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Cookies / Auth </a:t>
            </a:r>
            <a:r>
              <a:rPr lang="en-US" sz="1400" dirty="0" err="1">
                <a:solidFill>
                  <a:srgbClr val="55606E"/>
                </a:solidFill>
                <a:latin typeface="Calibri" pitchFamily="34" charset="0"/>
                <a:ea typeface="Calibri" pitchFamily="34" charset="-122"/>
                <a:cs typeface="Calibri" pitchFamily="34" charset="-120"/>
              </a:rPr>
              <a:t>dürfen</a:t>
            </a:r>
            <a:r>
              <a:rPr lang="en-US" sz="1400" dirty="0">
                <a:solidFill>
                  <a:srgbClr val="55606E"/>
                </a:solidFill>
                <a:latin typeface="Calibri" pitchFamily="34" charset="0"/>
                <a:ea typeface="Calibri" pitchFamily="34" charset="-122"/>
                <a:cs typeface="Calibri" pitchFamily="34" charset="-120"/>
              </a:rPr>
              <a:t> mitgesendet werden.</a:t>
            </a:r>
            <a:endParaRPr lang="en-US" sz="1400" dirty="0"/>
          </a:p>
        </p:txBody>
      </p:sp>
      <p:sp>
        <p:nvSpPr>
          <p:cNvPr id="18" name="Shape 16"/>
          <p:cNvSpPr/>
          <p:nvPr/>
        </p:nvSpPr>
        <p:spPr>
          <a:xfrm>
            <a:off x="6446520" y="4745736"/>
            <a:ext cx="4937760" cy="0"/>
          </a:xfrm>
          <a:prstGeom prst="line">
            <a:avLst/>
          </a:prstGeom>
          <a:noFill/>
          <a:ln w="12700">
            <a:solidFill>
              <a:srgbClr val="E4E7EC"/>
            </a:solidFill>
            <a:prstDash val="solid"/>
          </a:ln>
        </p:spPr>
      </p:sp>
      <p:sp>
        <p:nvSpPr>
          <p:cNvPr id="19" name="Text 17"/>
          <p:cNvSpPr/>
          <p:nvPr/>
        </p:nvSpPr>
        <p:spPr>
          <a:xfrm>
            <a:off x="644652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Pflicht, sobald es um Nutzerdaten geht.</a:t>
            </a:r>
            <a:endParaRPr lang="en-US" sz="1400" dirty="0"/>
          </a:p>
        </p:txBody>
      </p:sp>
      <p:sp>
        <p:nvSpPr>
          <p:cNvPr id="23" name="Text 1">
            <a:extLst>
              <a:ext uri="{FF2B5EF4-FFF2-40B4-BE49-F238E27FC236}">
                <a16:creationId xmlns:a16="http://schemas.microsoft.com/office/drawing/2014/main" id="{5A01C078-220C-60C8-AB8E-826648C197B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733DD691-8C5F-4799-AD01-2F0B39F5DEC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ZUSAMMENFASSUNG</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Das Wichtigste in Kürze</a:t>
            </a:r>
            <a:endParaRPr lang="en-US" sz="4000" dirty="0"/>
          </a:p>
        </p:txBody>
      </p:sp>
      <p:sp>
        <p:nvSpPr>
          <p:cNvPr id="5" name="Shape 3"/>
          <p:cNvSpPr/>
          <p:nvPr/>
        </p:nvSpPr>
        <p:spPr>
          <a:xfrm>
            <a:off x="868680" y="2240280"/>
            <a:ext cx="10454335" cy="0"/>
          </a:xfrm>
          <a:prstGeom prst="line">
            <a:avLst/>
          </a:prstGeom>
          <a:noFill/>
          <a:ln w="12700">
            <a:solidFill>
              <a:srgbClr val="E4E7EC"/>
            </a:solidFill>
            <a:prstDash val="solid"/>
          </a:ln>
        </p:spPr>
      </p:sp>
      <p:sp>
        <p:nvSpPr>
          <p:cNvPr id="6" name="Text 4"/>
          <p:cNvSpPr/>
          <p:nvPr/>
        </p:nvSpPr>
        <p:spPr>
          <a:xfrm>
            <a:off x="868680" y="256032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7" name="Text 5"/>
          <p:cNvSpPr/>
          <p:nvPr/>
        </p:nvSpPr>
        <p:spPr>
          <a:xfrm>
            <a:off x="1508760" y="256032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Die Same-Origin Policy blockiert standardmäßig Cross-Origin-Lesen.</a:t>
            </a:r>
            <a:endParaRPr lang="en-US" sz="1600" dirty="0"/>
          </a:p>
        </p:txBody>
      </p:sp>
      <p:sp>
        <p:nvSpPr>
          <p:cNvPr id="8" name="Text 6"/>
          <p:cNvSpPr/>
          <p:nvPr/>
        </p:nvSpPr>
        <p:spPr>
          <a:xfrm>
            <a:off x="868680" y="31089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9" name="Text 7"/>
          <p:cNvSpPr/>
          <p:nvPr/>
        </p:nvSpPr>
        <p:spPr>
          <a:xfrm>
            <a:off x="1508760" y="31089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lockert das </a:t>
            </a:r>
            <a:r>
              <a:rPr lang="en-US" sz="1600" dirty="0" err="1">
                <a:solidFill>
                  <a:srgbClr val="16181D"/>
                </a:solidFill>
                <a:latin typeface="Calibri" pitchFamily="34" charset="0"/>
                <a:ea typeface="Calibri" pitchFamily="34" charset="-122"/>
                <a:cs typeface="Calibri" pitchFamily="34" charset="-120"/>
              </a:rPr>
              <a:t>kontrolliert</a:t>
            </a:r>
            <a:r>
              <a:rPr lang="en-US" sz="1600" dirty="0">
                <a:solidFill>
                  <a:srgbClr val="16181D"/>
                </a:solidFill>
                <a:latin typeface="Calibri" pitchFamily="34" charset="0"/>
                <a:ea typeface="Calibri" pitchFamily="34" charset="-122"/>
                <a:cs typeface="Calibri" pitchFamily="34" charset="-120"/>
              </a:rPr>
              <a:t> per Header vom Server.</a:t>
            </a:r>
            <a:endParaRPr lang="en-US" sz="1600" dirty="0"/>
          </a:p>
        </p:txBody>
      </p:sp>
      <p:sp>
        <p:nvSpPr>
          <p:cNvPr id="10" name="Text 8"/>
          <p:cNvSpPr/>
          <p:nvPr/>
        </p:nvSpPr>
        <p:spPr>
          <a:xfrm>
            <a:off x="868680" y="36576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1" name="Text 9"/>
          <p:cNvSpPr/>
          <p:nvPr/>
        </p:nvSpPr>
        <p:spPr>
          <a:xfrm>
            <a:off x="1508760" y="365760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Der Browser entscheidet anhand der Header, nicht der Server.</a:t>
            </a:r>
            <a:endParaRPr lang="en-US" sz="1600" dirty="0"/>
          </a:p>
        </p:txBody>
      </p:sp>
      <p:sp>
        <p:nvSpPr>
          <p:cNvPr id="12" name="Text 10"/>
          <p:cNvSpPr/>
          <p:nvPr/>
        </p:nvSpPr>
        <p:spPr>
          <a:xfrm>
            <a:off x="868680" y="42062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3" name="Text 11"/>
          <p:cNvSpPr/>
          <p:nvPr/>
        </p:nvSpPr>
        <p:spPr>
          <a:xfrm>
            <a:off x="1508760" y="42062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Bei besonderen Requests kommt ein OPTIONS-Preflight davor.</a:t>
            </a:r>
            <a:endParaRPr lang="en-US" sz="1600" dirty="0"/>
          </a:p>
        </p:txBody>
      </p:sp>
      <p:sp>
        <p:nvSpPr>
          <p:cNvPr id="14" name="Text 12"/>
          <p:cNvSpPr/>
          <p:nvPr/>
        </p:nvSpPr>
        <p:spPr>
          <a:xfrm>
            <a:off x="868680" y="47548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05</a:t>
            </a:r>
            <a:endParaRPr lang="en-US" sz="1700" dirty="0"/>
          </a:p>
        </p:txBody>
      </p:sp>
      <p:sp>
        <p:nvSpPr>
          <p:cNvPr id="15" name="Text 13"/>
          <p:cNvSpPr/>
          <p:nvPr/>
        </p:nvSpPr>
        <p:spPr>
          <a:xfrm>
            <a:off x="1508760" y="47548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ist Lesefreigabe, kein Ersatz für Authentifizierung.</a:t>
            </a:r>
            <a:endParaRPr lang="en-US" sz="1600" dirty="0"/>
          </a:p>
        </p:txBody>
      </p:sp>
      <p:sp>
        <p:nvSpPr>
          <p:cNvPr id="16" name="Text 1">
            <a:extLst>
              <a:ext uri="{FF2B5EF4-FFF2-40B4-BE49-F238E27FC236}">
                <a16:creationId xmlns:a16="http://schemas.microsoft.com/office/drawing/2014/main" id="{1B8A174F-8C07-C37A-69B7-01A6BBFE981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20</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25</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26</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27</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Zwei Punkte zum Prüfen</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CORS schützt nicht vor direktem Zugriff – nur vor dem Lesen durch fremdes JavaScript. Diese zwei Stellen sind unabhängig davon sicherheitsrelevant.</a:t>
            </a:r>
            <a:endParaRPr lang="en-US" sz="1700" dirty="0"/>
          </a:p>
        </p:txBody>
      </p:sp>
      <p:sp>
        <p:nvSpPr>
          <p:cNvPr id="6" name="Shape 4"/>
          <p:cNvSpPr/>
          <p:nvPr/>
        </p:nvSpPr>
        <p:spPr>
          <a:xfrm>
            <a:off x="6172200" y="2971800"/>
            <a:ext cx="0" cy="2834640"/>
          </a:xfrm>
          <a:prstGeom prst="line">
            <a:avLst/>
          </a:prstGeom>
          <a:noFill/>
          <a:ln w="12700">
            <a:solidFill>
              <a:srgbClr val="E4E7EC"/>
            </a:solidFill>
            <a:prstDash val="solid"/>
          </a:ln>
        </p:spPr>
      </p:sp>
      <p:sp>
        <p:nvSpPr>
          <p:cNvPr id="7" name="Text 5"/>
          <p:cNvSpPr/>
          <p:nvPr/>
        </p:nvSpPr>
        <p:spPr>
          <a:xfrm>
            <a:off x="86868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01</a:t>
            </a:r>
            <a:endParaRPr lang="en-US" sz="2200" dirty="0"/>
          </a:p>
        </p:txBody>
      </p:sp>
      <p:sp>
        <p:nvSpPr>
          <p:cNvPr id="8" name="Text 6"/>
          <p:cNvSpPr/>
          <p:nvPr/>
        </p:nvSpPr>
        <p:spPr>
          <a:xfrm>
            <a:off x="150876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/files/** ist öffentlich</a:t>
            </a:r>
            <a:endParaRPr lang="en-US" sz="2200" dirty="0"/>
          </a:p>
        </p:txBody>
      </p:sp>
      <p:sp>
        <p:nvSpPr>
          <p:cNvPr id="9" name="Text 7"/>
          <p:cNvSpPr/>
          <p:nvPr/>
        </p:nvSpPr>
        <p:spPr>
          <a:xfrm>
            <a:off x="868680" y="3611880"/>
            <a:ext cx="4937760" cy="8229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Spring Security erlaubt alle Requests unter /files/** </a:t>
            </a:r>
            <a:r>
              <a:rPr lang="en-US" sz="1400" b="1" dirty="0">
                <a:solidFill>
                  <a:srgbClr val="D23B4E"/>
                </a:solidFill>
                <a:latin typeface="Calibri" pitchFamily="34" charset="0"/>
                <a:ea typeface="Calibri" pitchFamily="34" charset="-122"/>
                <a:cs typeface="Calibri" pitchFamily="34" charset="-120"/>
              </a:rPr>
              <a:t>ohne Authentifizierung</a:t>
            </a:r>
            <a:r>
              <a:rPr lang="en-US" sz="1400" dirty="0">
                <a:solidFill>
                  <a:srgbClr val="55606E"/>
                </a:solidFill>
                <a:latin typeface="Calibri" pitchFamily="34" charset="0"/>
                <a:ea typeface="Calibri" pitchFamily="34" charset="-122"/>
                <a:cs typeface="Calibri" pitchFamily="34" charset="-120"/>
              </a:rPr>
              <a:t> – u. a. Planungs- und ICS-Dateien.</a:t>
            </a:r>
            <a:endParaRPr lang="en-US" sz="1400" dirty="0"/>
          </a:p>
        </p:txBody>
      </p:sp>
      <p:sp>
        <p:nvSpPr>
          <p:cNvPr id="10" name="Text 8"/>
          <p:cNvSpPr/>
          <p:nvPr/>
        </p:nvSpPr>
        <p:spPr>
          <a:xfrm>
            <a:off x="868680" y="4480560"/>
            <a:ext cx="4937760" cy="365760"/>
          </a:xfrm>
          <a:prstGeom prst="rect">
            <a:avLst/>
          </a:prstGeom>
          <a:noFill/>
          <a:ln/>
        </p:spPr>
        <p:txBody>
          <a:bodyPr wrap="square" lIns="0" tIns="0" rIns="0" bIns="0" rtlCol="0" anchor="ctr"/>
          <a:lstStyle/>
          <a:p>
            <a:pPr marL="0" indent="0">
              <a:buNone/>
            </a:pPr>
            <a:r>
              <a:rPr lang="en-US" sz="1300" dirty="0">
                <a:solidFill>
                  <a:srgbClr val="16181D"/>
                </a:solidFill>
                <a:latin typeface="Consolas" pitchFamily="34" charset="0"/>
                <a:ea typeface="Consolas" pitchFamily="34" charset="-122"/>
                <a:cs typeface="Consolas" pitchFamily="34" charset="-120"/>
              </a:rPr>
              <a:t>GET /files/planningperiod/{id}/download</a:t>
            </a:r>
            <a:endParaRPr lang="en-US" sz="1300" dirty="0"/>
          </a:p>
        </p:txBody>
      </p:sp>
      <p:sp>
        <p:nvSpPr>
          <p:cNvPr id="11" name="Text 9"/>
          <p:cNvSpPr/>
          <p:nvPr/>
        </p:nvSpPr>
        <p:spPr>
          <a:xfrm>
            <a:off x="868680" y="4983480"/>
            <a:ext cx="4937760" cy="640080"/>
          </a:xfrm>
          <a:prstGeom prst="rect">
            <a:avLst/>
          </a:prstGeom>
          <a:noFill/>
          <a:ln/>
        </p:spPr>
        <p:txBody>
          <a:bodyPr wrap="square" lIns="0" tIns="0" rIns="0" bIns="0" rtlCol="0" anchor="ctr"/>
          <a:lstStyle/>
          <a:p>
            <a:pPr marL="0" indent="0">
              <a:buNone/>
            </a:pPr>
            <a:r>
              <a:rPr lang="en-US" sz="1250" i="1" dirty="0">
                <a:solidFill>
                  <a:srgbClr val="55606E"/>
                </a:solidFill>
                <a:latin typeface="Calibri" pitchFamily="34" charset="0"/>
                <a:ea typeface="Calibri" pitchFamily="34" charset="-122"/>
                <a:cs typeface="Calibri" pitchFamily="34" charset="-120"/>
              </a:rPr>
              <a:t>Guter Demo-Endpunkt – aber prüfen, ob wirklich alles öffentlich sein soll.</a:t>
            </a:r>
            <a:endParaRPr lang="en-US" sz="1250" dirty="0"/>
          </a:p>
        </p:txBody>
      </p:sp>
      <p:sp>
        <p:nvSpPr>
          <p:cNvPr id="12" name="Text 10"/>
          <p:cNvSpPr/>
          <p:nvPr/>
        </p:nvSpPr>
        <p:spPr>
          <a:xfrm>
            <a:off x="86868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SecurityConfiguration.java:48</a:t>
            </a:r>
            <a:endParaRPr lang="en-US" sz="1050" dirty="0"/>
          </a:p>
        </p:txBody>
      </p:sp>
      <p:sp>
        <p:nvSpPr>
          <p:cNvPr id="13" name="Text 11"/>
          <p:cNvSpPr/>
          <p:nvPr/>
        </p:nvSpPr>
        <p:spPr>
          <a:xfrm>
            <a:off x="644652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02</a:t>
            </a:r>
            <a:endParaRPr lang="en-US" sz="2200" dirty="0"/>
          </a:p>
        </p:txBody>
      </p:sp>
      <p:sp>
        <p:nvSpPr>
          <p:cNvPr id="14" name="Text 12"/>
          <p:cNvSpPr/>
          <p:nvPr/>
        </p:nvSpPr>
        <p:spPr>
          <a:xfrm>
            <a:off x="708660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Keycloak: webOrigins</a:t>
            </a:r>
            <a:endParaRPr lang="en-US" sz="2200" dirty="0"/>
          </a:p>
        </p:txBody>
      </p:sp>
      <p:sp>
        <p:nvSpPr>
          <p:cNvPr id="15" name="Text 13"/>
          <p:cNvSpPr/>
          <p:nvPr/>
        </p:nvSpPr>
        <p:spPr>
          <a:xfrm>
            <a:off x="6446520" y="3611880"/>
            <a:ext cx="4937760" cy="64008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Web-Client im Realm-Export nutzt eine Wildcard und unnötige OAuth-Flows – zu breit für einen SPA-Client.</a:t>
            </a:r>
            <a:endParaRPr lang="en-US" sz="1400" dirty="0"/>
          </a:p>
        </p:txBody>
      </p:sp>
      <p:sp>
        <p:nvSpPr>
          <p:cNvPr id="16" name="Text 14"/>
          <p:cNvSpPr/>
          <p:nvPr/>
        </p:nvSpPr>
        <p:spPr>
          <a:xfrm>
            <a:off x="6446520" y="437083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webOrigins: ["*"]</a:t>
            </a:r>
            <a:endParaRPr lang="en-US" sz="1300" dirty="0"/>
          </a:p>
        </p:txBody>
      </p:sp>
      <p:sp>
        <p:nvSpPr>
          <p:cNvPr id="17" name="Text 15"/>
          <p:cNvSpPr/>
          <p:nvPr/>
        </p:nvSpPr>
        <p:spPr>
          <a:xfrm>
            <a:off x="9464040" y="437083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jede Origin</a:t>
            </a:r>
            <a:endParaRPr lang="en-US" sz="1200" dirty="0"/>
          </a:p>
        </p:txBody>
      </p:sp>
      <p:sp>
        <p:nvSpPr>
          <p:cNvPr id="18" name="Text 16"/>
          <p:cNvSpPr/>
          <p:nvPr/>
        </p:nvSpPr>
        <p:spPr>
          <a:xfrm>
            <a:off x="6446520" y="478231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implicitFlowEnabled</a:t>
            </a:r>
            <a:endParaRPr lang="en-US" sz="1300" dirty="0"/>
          </a:p>
        </p:txBody>
      </p:sp>
      <p:sp>
        <p:nvSpPr>
          <p:cNvPr id="19" name="Text 17"/>
          <p:cNvSpPr/>
          <p:nvPr/>
        </p:nvSpPr>
        <p:spPr>
          <a:xfrm>
            <a:off x="9464040" y="478231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Token im Fragment</a:t>
            </a:r>
            <a:endParaRPr lang="en-US" sz="1200" dirty="0"/>
          </a:p>
        </p:txBody>
      </p:sp>
      <p:sp>
        <p:nvSpPr>
          <p:cNvPr id="20" name="Text 18"/>
          <p:cNvSpPr/>
          <p:nvPr/>
        </p:nvSpPr>
        <p:spPr>
          <a:xfrm>
            <a:off x="6446520" y="519379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directAccessGrants</a:t>
            </a:r>
            <a:endParaRPr lang="en-US" sz="1300" dirty="0"/>
          </a:p>
        </p:txBody>
      </p:sp>
      <p:sp>
        <p:nvSpPr>
          <p:cNvPr id="21" name="Text 19"/>
          <p:cNvSpPr/>
          <p:nvPr/>
        </p:nvSpPr>
        <p:spPr>
          <a:xfrm>
            <a:off x="9464040" y="519379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Passwort-Grant</a:t>
            </a:r>
            <a:endParaRPr lang="en-US" sz="1200" dirty="0"/>
          </a:p>
        </p:txBody>
      </p:sp>
      <p:sp>
        <p:nvSpPr>
          <p:cNvPr id="22" name="Text 20"/>
          <p:cNvSpPr/>
          <p:nvPr/>
        </p:nvSpPr>
        <p:spPr>
          <a:xfrm>
            <a:off x="644652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scheduler.json:859-867</a:t>
            </a:r>
            <a:endParaRPr lang="en-US" sz="1050" dirty="0"/>
          </a:p>
        </p:txBody>
      </p:sp>
      <p:sp>
        <p:nvSpPr>
          <p:cNvPr id="23" name="Text 1">
            <a:extLst>
              <a:ext uri="{FF2B5EF4-FFF2-40B4-BE49-F238E27FC236}">
                <a16:creationId xmlns:a16="http://schemas.microsoft.com/office/drawing/2014/main" id="{159D14D2-A691-AC5D-DD1D-60255DAD0117}"/>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28</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2102</Words>
  <Application>Microsoft Macintosh PowerPoint</Application>
  <DocSecurity>0</DocSecurity>
  <PresentationFormat>Widescreen</PresentationFormat>
  <Paragraphs>396</Paragraphs>
  <Slides>28</Slides>
  <Notes>28</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Raik Ole Kannenberg</cp:lastModifiedBy>
  <cp:revision>19</cp:revision>
  <dcterms:created xsi:type="dcterms:W3CDTF">2026-06-09T16:20:32Z</dcterms:created>
  <dcterms:modified xsi:type="dcterms:W3CDTF">2026-06-10T08:34:19Z</dcterms:modified>
</cp:coreProperties>
</file>