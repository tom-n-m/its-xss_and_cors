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281" r:id="rId2"/>
    <p:sldId id="256" r:id="rId3"/>
    <p:sldId id="257" r:id="rId4"/>
    <p:sldId id="258" r:id="rId5"/>
    <p:sldId id="259" r:id="rId6"/>
    <p:sldId id="260" r:id="rId7"/>
    <p:sldId id="261" r:id="rId8"/>
    <p:sldId id="262" r:id="rId9"/>
    <p:sldId id="263" r:id="rId10"/>
    <p:sldId id="264" r:id="rId11"/>
    <p:sldId id="265" r:id="rId12"/>
    <p:sldId id="266" r:id="rId13"/>
    <p:sldId id="282" r:id="rId14"/>
    <p:sldId id="283" r:id="rId15"/>
    <p:sldId id="284" r:id="rId16"/>
    <p:sldId id="285" r:id="rId17"/>
    <p:sldId id="286" r:id="rId18"/>
    <p:sldId id="287" r:id="rId19"/>
    <p:sldId id="288" r:id="rId20"/>
    <p:sldId id="289" r:id="rId21"/>
    <p:sldId id="274" r:id="rId22"/>
    <p:sldId id="275" r:id="rId23"/>
    <p:sldId id="276" r:id="rId24"/>
    <p:sldId id="277" r:id="rId25"/>
    <p:sldId id="278" r:id="rId26"/>
    <p:sldId id="279" r:id="rId27"/>
    <p:sldId id="280" r:id="rId28"/>
    <p:sldId id="272" r:id="rId29"/>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83E6BEB8-E7DD-4FA4-ADAD-A9F3F3A9B470}">
          <p14:sldIdLst>
            <p14:sldId id="281"/>
          </p14:sldIdLst>
        </p14:section>
        <p14:section name="XSS" id="{8D85D553-47C9-4C47-8041-E6C53F6B860B}">
          <p14:sldIdLst>
            <p14:sldId id="256"/>
            <p14:sldId id="257"/>
            <p14:sldId id="258"/>
            <p14:sldId id="259"/>
            <p14:sldId id="260"/>
            <p14:sldId id="261"/>
            <p14:sldId id="262"/>
            <p14:sldId id="263"/>
            <p14:sldId id="264"/>
            <p14:sldId id="265"/>
          </p14:sldIdLst>
        </p14:section>
        <p14:section name="CORS" id="{11B11767-8EC2-4D59-ACBC-E6EC4288162A}">
          <p14:sldIdLst>
            <p14:sldId id="266"/>
            <p14:sldId id="282"/>
            <p14:sldId id="283"/>
            <p14:sldId id="284"/>
            <p14:sldId id="285"/>
            <p14:sldId id="286"/>
            <p14:sldId id="287"/>
            <p14:sldId id="288"/>
            <p14:sldId id="289"/>
            <p14:sldId id="274"/>
            <p14:sldId id="275"/>
            <p14:sldId id="276"/>
            <p14:sldId id="277"/>
            <p14:sldId id="278"/>
            <p14:sldId id="279"/>
            <p14:sldId id="28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36D8B2-EE5C-4402-A73C-56A4568A741A}" v="48" dt="2026-06-10T13:26:20.2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91" autoAdjust="0"/>
    <p:restoredTop sz="95680" autoAdjust="0"/>
  </p:normalViewPr>
  <p:slideViewPr>
    <p:cSldViewPr snapToGrid="0">
      <p:cViewPr varScale="1">
        <p:scale>
          <a:sx n="103" d="100"/>
          <a:sy n="103" d="100"/>
        </p:scale>
        <p:origin x="1200" y="176"/>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6E5EA-881B-94FB-E3D0-D5D75D5F7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DC4CB-C3D3-E208-6501-D8FACA961F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06C05F-C8C1-3AF9-ECE3-22E303153D8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51B86BF-2386-82AE-FEFB-230FA31AEE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2456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Wir erklären zunächst die Grundlagen von Cross Site Scripting und zeigen danach die konkrete Stored DOM XSS Schwachstelle im Scheduler.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XSS ist kein Fehler beim Speichern allein. Entscheidend ist die spätere Ausgabe. Sobald Nutzerdaten als HTML interpretiert werden, kann daraus ausführbarer Code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Stored XSS bleibt in der Anwendung gespeichert. Reflected XSS wird direkt aus einer Anfrage zurückgegeben. DOM XSS entsteht beim unsicheren Schreiben in das DOM. Unsere Schwachstelle verbindet Stored XSS und DOM XSS.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Typische unsichere Senken sind innerHTML oder HTML Rendering ohne Escaping. Das sichere Grundprinzip ist Output Encoding. In Vue geschieht das bei normaler Interpolation automatisch.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Die Schwachstelle liegt nicht in einer direkten Nutzung von v html im eigenen Code. Gespeicherte Werte werden an VueCal übergeben und dort im Standardrenderer mit innerHTML ausgegeben.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Setup Test bereitet reproduzierbare lokale Daten vor. Danach zeigen wir dieselbe Route einmal mit der unsicheren und einmal mit der sicheren Kalenderkomponente.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Zuerst die unsichere Variante öffnen und die Codeausführung zeigen. Danach die sichere Variante starten. Der gespeicherte Payload bleibt unverändert, wird aber nur noch als Text angezeigt.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Die Demo nutzt nur einen harmlosen sichtbaren Effekt. Reale XSS könnte sichtbare Daten lesen, API Requests im Kontext des Nutzers senden oder auf den im JavaScript Kontext verfügbaren Keycloak Token zugreifen.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Fix ist ein eigener Event Slot. Vue Interpolation escaped den Event Titel und erzeugt Text. Dieser Fix muss auf alle VueCal Ansichten mit Datenbankwerten übertragen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wichtigste Schutz ist sichere Ausgabe. Content Security Policy, Validierung und Tests sind zusätzliche Schichten, ersetzen den eigentlichen Fix aber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07AD9-8F3E-A65E-7CDC-9B129834F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73D6ED-D1EE-C903-EB00-753D85251E91}"/>
              </a:ext>
            </a:extLst>
          </p:cNvPr>
          <p:cNvSpPr>
            <a:spLocks noGrp="1"/>
          </p:cNvSpPr>
          <p:nvPr/>
        </p:nvSpPr>
        <p:spPr>
          <a:xfrm>
            <a:off x="2426893" y="440616"/>
            <a:ext cx="7315200" cy="320040"/>
          </a:xfrm>
          <a:prstGeom prst="rect">
            <a:avLst/>
          </a:prstGeom>
          <a:noFill/>
        </p:spPr>
        <p:txBody>
          <a:bodyPr wrap="square" lIns="0" tIns="0" rIns="0" bIns="0" anchor="ctr"/>
          <a:lstStyle/>
          <a:p>
            <a:pPr marL="0" indent="0" algn="ctr">
              <a:buNone/>
            </a:pPr>
            <a:r>
              <a:rPr lang="de-DE" sz="1200" b="1" dirty="0">
                <a:solidFill>
                  <a:srgbClr val="1463FF"/>
                </a:solidFill>
                <a:latin typeface="Calibri"/>
                <a:ea typeface="Calibri"/>
                <a:cs typeface="Calibri"/>
              </a:rPr>
              <a:t>Berufliche Hochschule Hamburg | Informatik</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5D6158CB-DC6A-771B-FD87-31A3C529F457}"/>
              </a:ext>
            </a:extLst>
          </p:cNvPr>
          <p:cNvSpPr>
            <a:spLocks noGrp="1"/>
          </p:cNvSpPr>
          <p:nvPr/>
        </p:nvSpPr>
        <p:spPr>
          <a:xfrm>
            <a:off x="1055293" y="1416319"/>
            <a:ext cx="10058400" cy="1463040"/>
          </a:xfrm>
          <a:prstGeom prst="rect">
            <a:avLst/>
          </a:prstGeom>
          <a:noFill/>
        </p:spPr>
        <p:txBody>
          <a:bodyPr wrap="square" lIns="0" tIns="0" rIns="0" bIns="0" anchor="ctr"/>
          <a:lstStyle/>
          <a:p>
            <a:pPr marL="0" indent="0" algn="ctr">
              <a:buNone/>
            </a:pPr>
            <a:r>
              <a:rPr sz="11000" b="1" dirty="0">
                <a:solidFill>
                  <a:srgbClr val="16181D"/>
                </a:solidFill>
                <a:latin typeface="Trebuchet MS"/>
                <a:ea typeface="Trebuchet MS"/>
                <a:cs typeface="Trebuchet MS"/>
              </a:rPr>
              <a:t>XSS</a:t>
            </a:r>
            <a:r>
              <a:rPr lang="de-DE" sz="11000" b="1" dirty="0">
                <a:solidFill>
                  <a:srgbClr val="16181D"/>
                </a:solidFill>
                <a:latin typeface="Trebuchet MS"/>
                <a:ea typeface="Trebuchet MS"/>
                <a:cs typeface="Trebuchet MS"/>
              </a:rPr>
              <a:t> und CORS</a:t>
            </a:r>
            <a:endParaRPr sz="11000" b="1" dirty="0">
              <a:solidFill>
                <a:srgbClr val="16181D"/>
              </a:solidFill>
              <a:latin typeface="Trebuchet MS"/>
              <a:ea typeface="Trebuchet MS"/>
              <a:cs typeface="Trebuchet MS"/>
            </a:endParaRPr>
          </a:p>
        </p:txBody>
      </p:sp>
      <p:sp>
        <p:nvSpPr>
          <p:cNvPr id="4" name="Text 2">
            <a:extLst>
              <a:ext uri="{FF2B5EF4-FFF2-40B4-BE49-F238E27FC236}">
                <a16:creationId xmlns:a16="http://schemas.microsoft.com/office/drawing/2014/main" id="{2C2921CB-32AF-8397-509C-782B9F192604}"/>
              </a:ext>
            </a:extLst>
          </p:cNvPr>
          <p:cNvSpPr>
            <a:spLocks noGrp="1"/>
          </p:cNvSpPr>
          <p:nvPr/>
        </p:nvSpPr>
        <p:spPr>
          <a:xfrm>
            <a:off x="1055293" y="3177540"/>
            <a:ext cx="10058400" cy="502920"/>
          </a:xfrm>
          <a:prstGeom prst="rect">
            <a:avLst/>
          </a:prstGeom>
          <a:noFill/>
        </p:spPr>
        <p:txBody>
          <a:bodyPr wrap="square" lIns="0" tIns="0" rIns="0" bIns="0" anchor="ctr"/>
          <a:lstStyle/>
          <a:p>
            <a:pPr marL="0" indent="0" algn="ctr">
              <a:buNone/>
            </a:pPr>
            <a:r>
              <a:rPr lang="de-DE" sz="2600" dirty="0">
                <a:solidFill>
                  <a:srgbClr val="55606E"/>
                </a:solidFill>
                <a:latin typeface="Trebuchet MS"/>
                <a:ea typeface="Trebuchet MS"/>
                <a:cs typeface="Trebuchet MS"/>
              </a:rPr>
              <a:t>Theorie und Analyse des Scheduler-Projektes</a:t>
            </a:r>
          </a:p>
        </p:txBody>
      </p:sp>
      <p:sp>
        <p:nvSpPr>
          <p:cNvPr id="5" name="Shape 3">
            <a:extLst>
              <a:ext uri="{FF2B5EF4-FFF2-40B4-BE49-F238E27FC236}">
                <a16:creationId xmlns:a16="http://schemas.microsoft.com/office/drawing/2014/main" id="{EC14102A-537C-1A72-473F-796B7825FEF6}"/>
              </a:ext>
            </a:extLst>
          </p:cNvPr>
          <p:cNvSpPr>
            <a:spLocks noGrp="1"/>
          </p:cNvSpPr>
          <p:nvPr/>
        </p:nvSpPr>
        <p:spPr>
          <a:xfrm rot="5400000">
            <a:off x="5388343" y="5138985"/>
            <a:ext cx="1415316"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8D13DD9F-B7F8-9528-6DDF-82DAACED2A0F}"/>
              </a:ext>
            </a:extLst>
          </p:cNvPr>
          <p:cNvSpPr>
            <a:spLocks noGrp="1"/>
          </p:cNvSpPr>
          <p:nvPr/>
        </p:nvSpPr>
        <p:spPr>
          <a:xfrm>
            <a:off x="6418170" y="4754260"/>
            <a:ext cx="2154330" cy="769448"/>
          </a:xfrm>
          <a:prstGeom prst="rect">
            <a:avLst/>
          </a:prstGeom>
          <a:noFill/>
        </p:spPr>
        <p:txBody>
          <a:bodyPr wrap="square" lIns="0" tIns="0" rIns="0" bIns="0" anchor="t"/>
          <a:lstStyle/>
          <a:p>
            <a:r>
              <a:rPr lang="de-DE" sz="1600" dirty="0">
                <a:solidFill>
                  <a:srgbClr val="55606E"/>
                </a:solidFill>
                <a:ea typeface="Calibri"/>
                <a:cs typeface="Calibri"/>
              </a:rPr>
              <a:t>IT Security</a:t>
            </a:r>
          </a:p>
          <a:p>
            <a:endParaRPr lang="de-DE" sz="1600" dirty="0">
              <a:solidFill>
                <a:srgbClr val="55606E"/>
              </a:solidFill>
              <a:ea typeface="Calibri"/>
              <a:cs typeface="Calibri"/>
            </a:endParaRPr>
          </a:p>
          <a:p>
            <a:r>
              <a:rPr lang="de-DE" sz="1600" dirty="0">
                <a:solidFill>
                  <a:srgbClr val="55606E"/>
                </a:solidFill>
                <a:ea typeface="Calibri"/>
                <a:cs typeface="Calibri"/>
              </a:rPr>
              <a:t>10. Juni 2026</a:t>
            </a:r>
          </a:p>
        </p:txBody>
      </p:sp>
      <p:sp>
        <p:nvSpPr>
          <p:cNvPr id="7" name="Text 5">
            <a:extLst>
              <a:ext uri="{FF2B5EF4-FFF2-40B4-BE49-F238E27FC236}">
                <a16:creationId xmlns:a16="http://schemas.microsoft.com/office/drawing/2014/main" id="{90A7BE38-A326-1550-979C-31AD0B5D3EE6}"/>
              </a:ext>
            </a:extLst>
          </p:cNvPr>
          <p:cNvSpPr>
            <a:spLocks noGrp="1"/>
          </p:cNvSpPr>
          <p:nvPr/>
        </p:nvSpPr>
        <p:spPr>
          <a:xfrm>
            <a:off x="3625363" y="4627867"/>
            <a:ext cx="2148469" cy="1022235"/>
          </a:xfrm>
          <a:prstGeom prst="rect">
            <a:avLst/>
          </a:prstGeom>
          <a:noFill/>
        </p:spPr>
        <p:txBody>
          <a:bodyPr wrap="square" lIns="0" tIns="0" rIns="0" bIns="0" anchor="t"/>
          <a:lstStyle/>
          <a:p>
            <a:pPr algn="r"/>
            <a:r>
              <a:rPr lang="de-DE" sz="1600" dirty="0">
                <a:solidFill>
                  <a:srgbClr val="55606E"/>
                </a:solidFill>
                <a:ea typeface="Calibri"/>
                <a:cs typeface="Calibri"/>
              </a:rPr>
              <a:t>Linus </a:t>
            </a:r>
            <a:r>
              <a:rPr lang="de-DE" sz="1600" dirty="0" err="1">
                <a:solidFill>
                  <a:srgbClr val="55606E"/>
                </a:solidFill>
                <a:ea typeface="Calibri"/>
                <a:cs typeface="Calibri"/>
              </a:rPr>
              <a:t>Paliga</a:t>
            </a:r>
            <a:endParaRPr lang="de-DE" sz="1600" dirty="0">
              <a:solidFill>
                <a:srgbClr val="55606E"/>
              </a:solidFill>
              <a:ea typeface="Calibri"/>
              <a:cs typeface="Calibri"/>
            </a:endParaRPr>
          </a:p>
          <a:p>
            <a:pPr algn="r"/>
            <a:r>
              <a:rPr sz="1600" dirty="0">
                <a:solidFill>
                  <a:srgbClr val="55606E"/>
                </a:solidFill>
                <a:ea typeface="Calibri"/>
                <a:cs typeface="Calibri"/>
              </a:rPr>
              <a:t>Arvid</a:t>
            </a:r>
            <a:r>
              <a:rPr lang="de-DE" sz="1600" dirty="0">
                <a:solidFill>
                  <a:srgbClr val="55606E"/>
                </a:solidFill>
                <a:ea typeface="Calibri"/>
                <a:cs typeface="Calibri"/>
              </a:rPr>
              <a:t> Freese</a:t>
            </a:r>
          </a:p>
          <a:p>
            <a:pPr algn="r"/>
            <a:r>
              <a:rPr lang="de-DE" sz="1600" dirty="0">
                <a:solidFill>
                  <a:srgbClr val="55606E"/>
                </a:solidFill>
                <a:ea typeface="Calibri"/>
                <a:cs typeface="Calibri"/>
              </a:rPr>
              <a:t>Raik Ole Kannenberg</a:t>
            </a:r>
          </a:p>
          <a:p>
            <a:pPr algn="r"/>
            <a:r>
              <a:rPr lang="de-DE" sz="1600" dirty="0">
                <a:solidFill>
                  <a:srgbClr val="55606E"/>
                </a:solidFill>
                <a:ea typeface="Calibri"/>
                <a:cs typeface="Calibri"/>
              </a:rPr>
              <a:t>Tom Markmann</a:t>
            </a:r>
            <a:endParaRPr sz="1600" dirty="0">
              <a:solidFill>
                <a:srgbClr val="55606E"/>
              </a:solidFill>
              <a:ea typeface="Calibri"/>
              <a:cs typeface="Calibri"/>
            </a:endParaRPr>
          </a:p>
        </p:txBody>
      </p:sp>
    </p:spTree>
    <p:extLst>
      <p:ext uri="{BB962C8B-B14F-4D97-AF65-F5344CB8AC3E}">
        <p14:creationId xmlns:p14="http://schemas.microsoft.com/office/powerpoint/2010/main" val="427317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XSS</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r>
              <a:rPr sz="2600">
                <a:solidFill>
                  <a:srgbClr val="55606E"/>
                </a:solidFill>
                <a:latin typeface="Trebuchet MS"/>
                <a:ea typeface="Trebuchet MS"/>
                <a:cs typeface="Trebuchet MS"/>
              </a:rPr>
              <a:t>Cross Site Scripting</a:t>
            </a: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dirty="0" err="1">
                <a:solidFill>
                  <a:srgbClr val="55606E"/>
                </a:solidFill>
                <a:latin typeface="Calibri"/>
                <a:ea typeface="Calibri"/>
                <a:cs typeface="Calibri"/>
              </a:rPr>
              <a:t>Theorie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reale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Schwachstelle</a:t>
            </a:r>
            <a:r>
              <a:rPr sz="1600" dirty="0">
                <a:solidFill>
                  <a:srgbClr val="55606E"/>
                </a:solidFill>
                <a:latin typeface="Calibri"/>
                <a:ea typeface="Calibri"/>
                <a:cs typeface="Calibri"/>
              </a:rPr>
              <a:t> und Live Demo </a:t>
            </a:r>
            <a:r>
              <a:rPr sz="1600" dirty="0" err="1">
                <a:solidFill>
                  <a:srgbClr val="55606E"/>
                </a:solidFill>
                <a:latin typeface="Calibri"/>
                <a:ea typeface="Calibri"/>
                <a:cs typeface="Calibri"/>
              </a:rPr>
              <a:t>im</a:t>
            </a:r>
            <a:r>
              <a:rPr sz="1600" dirty="0">
                <a:solidFill>
                  <a:srgbClr val="55606E"/>
                </a:solidFill>
                <a:latin typeface="Calibri"/>
                <a:ea typeface="Calibri"/>
                <a:cs typeface="Calibri"/>
              </a:rPr>
              <a:t> Scheduler.</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01</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XSS: Aus Text wird Code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Cross Site Scripting bedeutet, dass fremder HTML oder JavaScript Code ausgeführt wird, obwohl die Anwendung ihn nur als Nutzereingabe behandeln sollte.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URSACHE</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dirty="0" err="1">
                <a:solidFill>
                  <a:srgbClr val="55606E"/>
                </a:solidFill>
                <a:latin typeface="Calibri"/>
                <a:ea typeface="Calibri"/>
                <a:cs typeface="Calibri"/>
              </a:rPr>
              <a:t>Unkontrollierte</a:t>
            </a:r>
            <a:r>
              <a:rPr sz="1400" dirty="0">
                <a:solidFill>
                  <a:srgbClr val="55606E"/>
                </a:solidFill>
                <a:latin typeface="Calibri"/>
                <a:ea typeface="Calibri"/>
                <a:cs typeface="Calibri"/>
              </a:rPr>
              <a:t> Daten </a:t>
            </a:r>
            <a:r>
              <a:rPr sz="1400" dirty="0" err="1">
                <a:solidFill>
                  <a:srgbClr val="55606E"/>
                </a:solidFill>
                <a:latin typeface="Calibri"/>
                <a:ea typeface="Calibri"/>
                <a:cs typeface="Calibri"/>
              </a:rPr>
              <a:t>werden</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als</a:t>
            </a:r>
            <a:r>
              <a:rPr sz="1400" dirty="0">
                <a:solidFill>
                  <a:srgbClr val="55606E"/>
                </a:solidFill>
                <a:latin typeface="Calibri"/>
                <a:ea typeface="Calibri"/>
                <a:cs typeface="Calibri"/>
              </a:rPr>
              <a:t> HTML </a:t>
            </a:r>
            <a:r>
              <a:rPr sz="1400" dirty="0" err="1">
                <a:solidFill>
                  <a:srgbClr val="55606E"/>
                </a:solidFill>
                <a:latin typeface="Calibri"/>
                <a:ea typeface="Calibri"/>
                <a:cs typeface="Calibri"/>
              </a:rPr>
              <a:t>interpretiert</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statt</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als</a:t>
            </a:r>
            <a:r>
              <a:rPr sz="1400" dirty="0">
                <a:solidFill>
                  <a:srgbClr val="55606E"/>
                </a:solidFill>
                <a:latin typeface="Calibri"/>
                <a:ea typeface="Calibri"/>
                <a:cs typeface="Calibri"/>
              </a:rPr>
              <a:t> Text </a:t>
            </a:r>
            <a:r>
              <a:rPr sz="1400" dirty="0" err="1">
                <a:solidFill>
                  <a:srgbClr val="55606E"/>
                </a:solidFill>
                <a:latin typeface="Calibri"/>
                <a:ea typeface="Calibri"/>
                <a:cs typeface="Calibri"/>
              </a:rPr>
              <a:t>ausgegeben</a:t>
            </a:r>
            <a:r>
              <a:rPr sz="1400" dirty="0">
                <a:solidFill>
                  <a:srgbClr val="55606E"/>
                </a:solidFill>
                <a:latin typeface="Calibri"/>
                <a:ea typeface="Calibri"/>
                <a:cs typeface="Calibri"/>
              </a:rPr>
              <a:t>.</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WIRKUNG</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Code läuft im vertrauenswürdigen Browserkontext der echten Anwendung.</a:t>
            </a:r>
          </a:p>
        </p:txBody>
      </p:sp>
      <p:sp>
        <p:nvSpPr>
          <p:cNvPr id="12" name="Text 1">
            <a:extLst>
              <a:ext uri="{FF2B5EF4-FFF2-40B4-BE49-F238E27FC236}">
                <a16:creationId xmlns:a16="http://schemas.microsoft.com/office/drawing/2014/main" id="{9E9017EA-4717-D9BD-92D9-CFE7983948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3</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02</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Drei Arten von XSS</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Sie unterscheiden sich durch die Herkunft des Payloads und den Zeitpunkt der Ausführung.</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DIE DREI ARTEN</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Stored XSS</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gespeichert</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Reflected XSS</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Anfrage</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DOM XSS</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Browser</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FOKUS UNSERER DEMO</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Stored DOM XSS: Gespeicherte Scheduler Daten werden durch die Kalenderbibliothek als HTML gerendert.</a:t>
            </a:r>
          </a:p>
        </p:txBody>
      </p:sp>
      <p:sp>
        <p:nvSpPr>
          <p:cNvPr id="18" name="Text 1">
            <a:extLst>
              <a:ext uri="{FF2B5EF4-FFF2-40B4-BE49-F238E27FC236}">
                <a16:creationId xmlns:a16="http://schemas.microsoft.com/office/drawing/2014/main" id="{1CBD98DA-A7EE-9695-EA78-D1E20FEADF23}"/>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4</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03</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Unsichere Senke trifft Nutzerdaten</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XSS entsteht, wenn ein kontrollierbarer Wert eine Ausgabestelle erreicht, die HTML interpretiert.</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TYPISCHE URSACHEN</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Direktes HTML Rendering und fehlendes Escaping.</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innerHTML · v html · HTML Templates</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Auch Bibliotheken können unsichere Standardrenderer besitzen.</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HTML Senken</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SICHERE GRENZE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Nutzerdaten bleiben Text und werden kontextgerecht escaped.</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Vue Interpolation</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Textausgabe</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Eigene Slots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kontrolliertes Rendering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Sanitizer</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nur falls HTML nötig ist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Output Encoding</a:t>
            </a:r>
          </a:p>
        </p:txBody>
      </p:sp>
      <p:sp>
        <p:nvSpPr>
          <p:cNvPr id="23" name="Text 1">
            <a:extLst>
              <a:ext uri="{FF2B5EF4-FFF2-40B4-BE49-F238E27FC236}">
                <a16:creationId xmlns:a16="http://schemas.microsoft.com/office/drawing/2014/main" id="{A734CD51-9D0C-1406-192A-442785C69D0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5</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PROBLEM IM PROJEKT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Die reale Schwachstelle liegt in vue cal</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Im eigenen Vue Code wurde keine direkte unsichere HTML Ausgabe gefunden. Der Standardrenderer der Kalenderbibliothek verwendet jedoch innerHTML.</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DATENFLUSS</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Reservierungslabel und Veranstaltungsnamen werden als Event Titel übergeben.</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DB → API → event.title → VueCal</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Der gespeicherte Payload erreicht die Kalenderansicht.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UNSICHERE AUSGABE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VueCal interpretiert Event Titel und Inhalte im Standardrenderer als HTML.</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innerHTML</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HTML Interpretation</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Stored DOM XSS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wiederholte Ausführung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Sicheres Gegenbeispiel</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Event Slot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vue cal Standardrenderer</a:t>
            </a:r>
          </a:p>
        </p:txBody>
      </p:sp>
      <p:sp>
        <p:nvSpPr>
          <p:cNvPr id="23" name="Text 1">
            <a:extLst>
              <a:ext uri="{FF2B5EF4-FFF2-40B4-BE49-F238E27FC236}">
                <a16:creationId xmlns:a16="http://schemas.microsoft.com/office/drawing/2014/main" id="{85309647-F8CA-35EF-2118-4FBC3ECEBC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6</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DEMO · AUFBAU</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Setup</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Der direkte Vergleich verwendet dieselben gespeicherten Daten.</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DEMO BESTEHT AUS</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TESTDATEN</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Setup</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UNSICHER</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VueCal</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SICHER</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Event Slot</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UMSCHALTUNG</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router.js und die sichere Env Konfiguration wählen die Variante.</a:t>
            </a:r>
          </a:p>
        </p:txBody>
      </p:sp>
      <p:sp>
        <p:nvSpPr>
          <p:cNvPr id="18" name="Text 1">
            <a:extLst>
              <a:ext uri="{FF2B5EF4-FFF2-40B4-BE49-F238E27FC236}">
                <a16:creationId xmlns:a16="http://schemas.microsoft.com/office/drawing/2014/main" id="{793D2100-7CF1-9397-D5CF-9C64A9EEB2DE}"/>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7</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a:solidFill>
                  <a:srgbClr val="1463FF"/>
                </a:solidFill>
                <a:latin typeface="Calibri"/>
                <a:ea typeface="Calibri"/>
                <a:cs typeface="Calibri"/>
              </a:rPr>
              <a:t>LIVE DEMO · XSS</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a:solidFill>
                  <a:srgbClr val="55606E"/>
                </a:solidFill>
                <a:latin typeface="Calibri"/>
                <a:ea typeface="Calibri"/>
                <a:cs typeface="Calibri"/>
              </a:rPr>
              <a:t>Derselbe gespeicherte Wert wird zuerst als HTML ausgeführt und bleibt danach in der sicheren Ansicht sichtbarer Text.</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a:solidFill>
                  <a:srgbClr val="9AA3AF"/>
                </a:solidFill>
                <a:latin typeface="Calibri"/>
                <a:ea typeface="Calibri"/>
                <a:cs typeface="Calibri"/>
              </a:rPr>
              <a:t>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BB7AA5D-3470-4C6E-A95C-97BF34A9C9C8}"/>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KRITISCHES RISIKO · SCHEDULER</a:t>
            </a:r>
          </a:p>
        </p:txBody>
      </p:sp>
      <p:sp>
        <p:nvSpPr>
          <p:cNvPr id="4" name="Text 2">
            <a:extLst>
              <a:ext uri="{FF2B5EF4-FFF2-40B4-BE49-F238E27FC236}">
                <a16:creationId xmlns:a16="http://schemas.microsoft.com/office/drawing/2014/main" id="{A08E6FF8-3FF4-4AF4-87A4-1B1301369BC7}"/>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Das eigentliche Risiko</a:t>
            </a:r>
          </a:p>
        </p:txBody>
      </p:sp>
      <p:sp>
        <p:nvSpPr>
          <p:cNvPr id="5" name="Text 3">
            <a:extLst>
              <a:ext uri="{FF2B5EF4-FFF2-40B4-BE49-F238E27FC236}">
                <a16:creationId xmlns:a16="http://schemas.microsoft.com/office/drawing/2014/main" id="{73388B0A-0119-4C41-85DF-2C9EC566263D}"/>
              </a:ext>
            </a:extLst>
          </p:cNvPr>
          <p:cNvSpPr>
            <a:spLocks noGrp="1"/>
          </p:cNvSpPr>
          <p:nvPr/>
        </p:nvSpPr>
        <p:spPr>
          <a:xfrm>
            <a:off x="868680" y="1920240"/>
            <a:ext cx="1024128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Ein Alert ist nur der sichtbare Beweis. Der eingeschleuste Code läuft im Browser eines eingeloggten Scheduler Nutzers.</a:t>
            </a:r>
          </a:p>
        </p:txBody>
      </p:sp>
      <p:sp>
        <p:nvSpPr>
          <p:cNvPr id="6" name="Text 4">
            <a:extLst>
              <a:ext uri="{FF2B5EF4-FFF2-40B4-BE49-F238E27FC236}">
                <a16:creationId xmlns:a16="http://schemas.microsoft.com/office/drawing/2014/main" id="{142EFDBB-E9F9-4742-B225-1229ACD1B3B9}"/>
              </a:ext>
            </a:extLst>
          </p:cNvPr>
          <p:cNvSpPr>
            <a:spLocks noGrp="1"/>
          </p:cNvSpPr>
          <p:nvPr/>
        </p:nvSpPr>
        <p:spPr>
          <a:xfrm>
            <a:off x="868680" y="3063240"/>
            <a:ext cx="9144000" cy="292608"/>
          </a:xfrm>
          <a:prstGeom prst="rect">
            <a:avLst/>
          </a:prstGeom>
          <a:noFill/>
        </p:spPr>
        <p:txBody>
          <a:bodyPr wrap="square" lIns="0" tIns="0" rIns="0" bIns="0" anchor="ctr"/>
          <a:lstStyle/>
          <a:p>
            <a:pPr marL="0" indent="0">
              <a:buNone/>
            </a:pPr>
            <a:r>
              <a:rPr sz="1150" b="1">
                <a:solidFill>
                  <a:srgbClr val="1463FF"/>
                </a:solidFill>
                <a:latin typeface="Calibri"/>
                <a:ea typeface="Calibri"/>
                <a:cs typeface="Calibri"/>
              </a:rPr>
              <a:t>AUSLÖSER</a:t>
            </a:r>
          </a:p>
        </p:txBody>
      </p:sp>
      <p:sp>
        <p:nvSpPr>
          <p:cNvPr id="7" name="Text 5">
            <a:extLst>
              <a:ext uri="{FF2B5EF4-FFF2-40B4-BE49-F238E27FC236}">
                <a16:creationId xmlns:a16="http://schemas.microsoft.com/office/drawing/2014/main" id="{0BF06041-94F2-410B-8AF8-5DBCCF29886E}"/>
              </a:ext>
            </a:extLst>
          </p:cNvPr>
          <p:cNvSpPr>
            <a:spLocks noGrp="1"/>
          </p:cNvSpPr>
          <p:nvPr/>
        </p:nvSpPr>
        <p:spPr>
          <a:xfrm>
            <a:off x="86868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Gespeicherter Payload</a:t>
            </a:r>
          </a:p>
        </p:txBody>
      </p:sp>
      <p:sp>
        <p:nvSpPr>
          <p:cNvPr id="8" name="Text 6">
            <a:extLst>
              <a:ext uri="{FF2B5EF4-FFF2-40B4-BE49-F238E27FC236}">
                <a16:creationId xmlns:a16="http://schemas.microsoft.com/office/drawing/2014/main" id="{CD9997F8-D549-4239-9DD9-0385F5DBCEEB}"/>
              </a:ext>
            </a:extLst>
          </p:cNvPr>
          <p:cNvSpPr>
            <a:spLocks noGrp="1"/>
          </p:cNvSpPr>
          <p:nvPr/>
        </p:nvSpPr>
        <p:spPr>
          <a:xfrm>
            <a:off x="86868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wird im Kalender geöffnet</a:t>
            </a:r>
          </a:p>
        </p:txBody>
      </p:sp>
      <p:sp>
        <p:nvSpPr>
          <p:cNvPr id="9" name="Text 7">
            <a:extLst>
              <a:ext uri="{FF2B5EF4-FFF2-40B4-BE49-F238E27FC236}">
                <a16:creationId xmlns:a16="http://schemas.microsoft.com/office/drawing/2014/main" id="{B8626B6E-A7FA-4FE6-BFA1-771B8586B8A7}"/>
              </a:ext>
            </a:extLst>
          </p:cNvPr>
          <p:cNvSpPr>
            <a:spLocks noGrp="1"/>
          </p:cNvSpPr>
          <p:nvPr/>
        </p:nvSpPr>
        <p:spPr>
          <a:xfrm>
            <a:off x="3611880" y="342900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0" name="Text 8">
            <a:extLst>
              <a:ext uri="{FF2B5EF4-FFF2-40B4-BE49-F238E27FC236}">
                <a16:creationId xmlns:a16="http://schemas.microsoft.com/office/drawing/2014/main" id="{C5CB29F0-5857-4E95-8E83-ADD5DEC41D7D}"/>
              </a:ext>
            </a:extLst>
          </p:cNvPr>
          <p:cNvSpPr>
            <a:spLocks noGrp="1"/>
          </p:cNvSpPr>
          <p:nvPr/>
        </p:nvSpPr>
        <p:spPr>
          <a:xfrm>
            <a:off x="411480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Browserkontext</a:t>
            </a:r>
          </a:p>
        </p:txBody>
      </p:sp>
      <p:sp>
        <p:nvSpPr>
          <p:cNvPr id="11" name="Text 9">
            <a:extLst>
              <a:ext uri="{FF2B5EF4-FFF2-40B4-BE49-F238E27FC236}">
                <a16:creationId xmlns:a16="http://schemas.microsoft.com/office/drawing/2014/main" id="{0DC55A0F-11AD-4E66-B497-3B0E59484AC6}"/>
              </a:ext>
            </a:extLst>
          </p:cNvPr>
          <p:cNvSpPr>
            <a:spLocks noGrp="1"/>
          </p:cNvSpPr>
          <p:nvPr/>
        </p:nvSpPr>
        <p:spPr>
          <a:xfrm>
            <a:off x="411480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Scheduler Oberfläche</a:t>
            </a:r>
          </a:p>
        </p:txBody>
      </p:sp>
      <p:sp>
        <p:nvSpPr>
          <p:cNvPr id="12" name="Shape 10">
            <a:extLst>
              <a:ext uri="{FF2B5EF4-FFF2-40B4-BE49-F238E27FC236}">
                <a16:creationId xmlns:a16="http://schemas.microsoft.com/office/drawing/2014/main" id="{F90C256D-5E14-4FA9-BDC4-06BD082E67F5}"/>
              </a:ext>
            </a:extLst>
          </p:cNvPr>
          <p:cNvSpPr>
            <a:spLocks noGrp="1"/>
          </p:cNvSpPr>
          <p:nvPr/>
        </p:nvSpPr>
        <p:spPr>
          <a:xfrm>
            <a:off x="868680" y="4526280"/>
            <a:ext cx="10454335" cy="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EAE1B4B8-ECCC-498F-B560-F417BFE7F52A}"/>
              </a:ext>
            </a:extLst>
          </p:cNvPr>
          <p:cNvSpPr>
            <a:spLocks noGrp="1"/>
          </p:cNvSpPr>
          <p:nvPr/>
        </p:nvSpPr>
        <p:spPr>
          <a:xfrm>
            <a:off x="868680" y="4846320"/>
            <a:ext cx="9144000" cy="292608"/>
          </a:xfrm>
          <a:prstGeom prst="rect">
            <a:avLst/>
          </a:prstGeom>
          <a:noFill/>
        </p:spPr>
        <p:txBody>
          <a:bodyPr wrap="square" lIns="0" tIns="0" rIns="0" bIns="0" anchor="ctr"/>
          <a:lstStyle/>
          <a:p>
            <a:pPr marL="0" indent="0">
              <a:buNone/>
            </a:pPr>
            <a:r>
              <a:rPr sz="1150" b="1">
                <a:solidFill>
                  <a:srgbClr val="D23B4E"/>
                </a:solidFill>
                <a:latin typeface="Calibri"/>
                <a:ea typeface="Calibri"/>
                <a:cs typeface="Calibri"/>
              </a:rPr>
              <a:t>MÖGLICHE FOLGEN</a:t>
            </a:r>
          </a:p>
        </p:txBody>
      </p:sp>
      <p:sp>
        <p:nvSpPr>
          <p:cNvPr id="14" name="Text 12">
            <a:extLst>
              <a:ext uri="{FF2B5EF4-FFF2-40B4-BE49-F238E27FC236}">
                <a16:creationId xmlns:a16="http://schemas.microsoft.com/office/drawing/2014/main" id="{70747B67-D473-4779-9378-C3F4E97A1ECE}"/>
              </a:ext>
            </a:extLst>
          </p:cNvPr>
          <p:cNvSpPr>
            <a:spLocks noGrp="1"/>
          </p:cNvSpPr>
          <p:nvPr/>
        </p:nvSpPr>
        <p:spPr>
          <a:xfrm>
            <a:off x="86868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Sichtbare Daten lesen</a:t>
            </a:r>
          </a:p>
        </p:txBody>
      </p:sp>
      <p:sp>
        <p:nvSpPr>
          <p:cNvPr id="15" name="Text 13">
            <a:extLst>
              <a:ext uri="{FF2B5EF4-FFF2-40B4-BE49-F238E27FC236}">
                <a16:creationId xmlns:a16="http://schemas.microsoft.com/office/drawing/2014/main" id="{CA0483C5-6E45-4D0E-95CA-281566E37CB4}"/>
              </a:ext>
            </a:extLst>
          </p:cNvPr>
          <p:cNvSpPr>
            <a:spLocks noGrp="1"/>
          </p:cNvSpPr>
          <p:nvPr/>
        </p:nvSpPr>
        <p:spPr>
          <a:xfrm>
            <a:off x="86868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Planungsdaten</a:t>
            </a:r>
          </a:p>
        </p:txBody>
      </p:sp>
      <p:sp>
        <p:nvSpPr>
          <p:cNvPr id="16" name="Text 14">
            <a:extLst>
              <a:ext uri="{FF2B5EF4-FFF2-40B4-BE49-F238E27FC236}">
                <a16:creationId xmlns:a16="http://schemas.microsoft.com/office/drawing/2014/main" id="{39561BDA-AAA0-4F4D-800A-5FAE47B1DBC0}"/>
              </a:ext>
            </a:extLst>
          </p:cNvPr>
          <p:cNvSpPr>
            <a:spLocks noGrp="1"/>
          </p:cNvSpPr>
          <p:nvPr/>
        </p:nvSpPr>
        <p:spPr>
          <a:xfrm>
            <a:off x="361188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7" name="Text 15">
            <a:extLst>
              <a:ext uri="{FF2B5EF4-FFF2-40B4-BE49-F238E27FC236}">
                <a16:creationId xmlns:a16="http://schemas.microsoft.com/office/drawing/2014/main" id="{BDBC130B-2B31-45D2-B879-36DF0C4278AB}"/>
              </a:ext>
            </a:extLst>
          </p:cNvPr>
          <p:cNvSpPr>
            <a:spLocks noGrp="1"/>
          </p:cNvSpPr>
          <p:nvPr/>
        </p:nvSpPr>
        <p:spPr>
          <a:xfrm>
            <a:off x="411480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API Aktionen auslösen</a:t>
            </a:r>
          </a:p>
        </p:txBody>
      </p:sp>
      <p:sp>
        <p:nvSpPr>
          <p:cNvPr id="18" name="Text 16">
            <a:extLst>
              <a:ext uri="{FF2B5EF4-FFF2-40B4-BE49-F238E27FC236}">
                <a16:creationId xmlns:a16="http://schemas.microsoft.com/office/drawing/2014/main" id="{6666696C-18E9-46F1-A6A0-CBAECB612E00}"/>
              </a:ext>
            </a:extLst>
          </p:cNvPr>
          <p:cNvSpPr>
            <a:spLocks noGrp="1"/>
          </p:cNvSpPr>
          <p:nvPr/>
        </p:nvSpPr>
        <p:spPr>
          <a:xfrm>
            <a:off x="411480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mit aktiver Sitzung</a:t>
            </a:r>
          </a:p>
        </p:txBody>
      </p:sp>
      <p:sp>
        <p:nvSpPr>
          <p:cNvPr id="19" name="Text 17">
            <a:extLst>
              <a:ext uri="{FF2B5EF4-FFF2-40B4-BE49-F238E27FC236}">
                <a16:creationId xmlns:a16="http://schemas.microsoft.com/office/drawing/2014/main" id="{E72764EA-ABB2-4A98-9FA7-058BF2394BA6}"/>
              </a:ext>
            </a:extLst>
          </p:cNvPr>
          <p:cNvSpPr>
            <a:spLocks noGrp="1"/>
          </p:cNvSpPr>
          <p:nvPr/>
        </p:nvSpPr>
        <p:spPr>
          <a:xfrm>
            <a:off x="685800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20" name="Text 18">
            <a:extLst>
              <a:ext uri="{FF2B5EF4-FFF2-40B4-BE49-F238E27FC236}">
                <a16:creationId xmlns:a16="http://schemas.microsoft.com/office/drawing/2014/main" id="{FABDE965-8434-4C18-A0E7-29974E86BB2F}"/>
              </a:ext>
            </a:extLst>
          </p:cNvPr>
          <p:cNvSpPr>
            <a:spLocks noGrp="1"/>
          </p:cNvSpPr>
          <p:nvPr/>
        </p:nvSpPr>
        <p:spPr>
          <a:xfrm>
            <a:off x="736092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Token angreifen</a:t>
            </a:r>
          </a:p>
        </p:txBody>
      </p:sp>
      <p:sp>
        <p:nvSpPr>
          <p:cNvPr id="21" name="Text 19">
            <a:extLst>
              <a:ext uri="{FF2B5EF4-FFF2-40B4-BE49-F238E27FC236}">
                <a16:creationId xmlns:a16="http://schemas.microsoft.com/office/drawing/2014/main" id="{999A6B09-108B-49D2-9330-9B118FAC4155}"/>
              </a:ext>
            </a:extLst>
          </p:cNvPr>
          <p:cNvSpPr>
            <a:spLocks noGrp="1"/>
          </p:cNvSpPr>
          <p:nvPr/>
        </p:nvSpPr>
        <p:spPr>
          <a:xfrm>
            <a:off x="736092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im JavaScript Kontext</a:t>
            </a:r>
          </a:p>
        </p:txBody>
      </p:sp>
      <p:sp>
        <p:nvSpPr>
          <p:cNvPr id="25" name="Text 1">
            <a:extLst>
              <a:ext uri="{FF2B5EF4-FFF2-40B4-BE49-F238E27FC236}">
                <a16:creationId xmlns:a16="http://schemas.microsoft.com/office/drawing/2014/main" id="{275F2E3C-1561-777B-3603-6DA2F01E760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9</a:t>
            </a:fld>
            <a:endParaRPr lang="en-US" sz="1050" dirty="0"/>
          </a:p>
        </p:txBody>
      </p:sp>
    </p:spTree>
    <p:extLst>
      <p:ext uri="{BB962C8B-B14F-4D97-AF65-F5344CB8AC3E}">
        <p14:creationId xmlns:p14="http://schemas.microsoft.com/office/powerpoint/2010/main" val="487830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BEHEBUNG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Ein eigener Event Slot erzwingt Text</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Die sichere Variante übernimmt die Ausgabe selbst und rendert den Event Titel mit Vue Interpolation.</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53615" y="2990385"/>
            <a:ext cx="9293" cy="3094835"/>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Standardrenderer entscheidet über die Ausgabe.</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&lt;VueCal :events="events" /&gt;</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5438822"/>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Event Titel wird als HTML interpretiert.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55813" y="3379563"/>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Ein eigener Event Slot kontrolliert die Ausgabe.</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688130" y="4203564"/>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&lt;template #event&gt;</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54747" y="4203564"/>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Slot</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7004081" y="4484946"/>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 event.title }}</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494239"/>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Vue Interpolation</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688130" y="4803500"/>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rPr>
              <a:t>&lt;</a:t>
            </a:r>
            <a:r>
              <a:rPr lang="de-DE" sz="1300" b="1" dirty="0" err="1">
                <a:solidFill>
                  <a:srgbClr val="16181D"/>
                </a:solidFill>
                <a:latin typeface="Consolas"/>
              </a:rPr>
              <a:t>template</a:t>
            </a:r>
            <a:r>
              <a:rPr lang="de-DE" sz="1300" b="1" dirty="0">
                <a:solidFill>
                  <a:srgbClr val="16181D"/>
                </a:solidFill>
                <a:latin typeface="Consolas"/>
              </a:rPr>
              <a:t>&gt;</a:t>
            </a:r>
            <a:endParaRPr lang="de-DE" dirty="0"/>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ReserveTimeslotSafe.vue</a:t>
            </a:r>
          </a:p>
        </p:txBody>
      </p:sp>
      <p:sp>
        <p:nvSpPr>
          <p:cNvPr id="24" name="Text 1">
            <a:extLst>
              <a:ext uri="{FF2B5EF4-FFF2-40B4-BE49-F238E27FC236}">
                <a16:creationId xmlns:a16="http://schemas.microsoft.com/office/drawing/2014/main" id="{47F29759-E576-9D9E-FE8A-752923102F9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10</a:t>
            </a:fld>
            <a:endParaRPr lang="en-US" sz="1050" dirty="0"/>
          </a:p>
        </p:txBody>
      </p:sp>
      <p:sp>
        <p:nvSpPr>
          <p:cNvPr id="23" name="Text 14">
            <a:extLst>
              <a:ext uri="{FF2B5EF4-FFF2-40B4-BE49-F238E27FC236}">
                <a16:creationId xmlns:a16="http://schemas.microsoft.com/office/drawing/2014/main" id="{790E6680-DEAF-79FE-997D-B579AC52F0A7}"/>
              </a:ext>
            </a:extLst>
          </p:cNvPr>
          <p:cNvSpPr>
            <a:spLocks noGrp="1"/>
          </p:cNvSpPr>
          <p:nvPr/>
        </p:nvSpPr>
        <p:spPr>
          <a:xfrm>
            <a:off x="6446519" y="3999124"/>
            <a:ext cx="3017520" cy="365760"/>
          </a:xfrm>
          <a:prstGeom prst="rect">
            <a:avLst/>
          </a:prstGeom>
          <a:noFill/>
        </p:spPr>
        <p:txBody>
          <a:bodyPr wrap="square" lIns="0" tIns="0" rIns="0" bIns="0" anchor="ctr"/>
          <a:lstStyle/>
          <a:p>
            <a:r>
              <a:rPr lang="en-US" sz="1300" b="1" dirty="0">
                <a:solidFill>
                  <a:srgbClr val="16181D"/>
                </a:solidFill>
                <a:latin typeface="Consolas"/>
                <a:ea typeface="Consolas"/>
                <a:cs typeface="Consolas"/>
              </a:rPr>
              <a:t>&lt;</a:t>
            </a:r>
            <a:r>
              <a:rPr lang="en-US" sz="1300" b="1" dirty="0" err="1">
                <a:solidFill>
                  <a:srgbClr val="16181D"/>
                </a:solidFill>
                <a:latin typeface="Consolas"/>
                <a:ea typeface="Consolas"/>
                <a:cs typeface="Consolas"/>
              </a:rPr>
              <a:t>VueCal</a:t>
            </a:r>
            <a:r>
              <a:rPr lang="en-US" sz="1300" b="1" dirty="0">
                <a:solidFill>
                  <a:srgbClr val="16181D"/>
                </a:solidFill>
                <a:latin typeface="Consolas"/>
                <a:ea typeface="Consolas"/>
                <a:cs typeface="Consolas"/>
              </a:rPr>
              <a:t> :events="events" /&gt;</a:t>
            </a:r>
          </a:p>
          <a:p>
            <a:pPr marL="0" indent="0">
              <a:buNone/>
            </a:pPr>
            <a:endParaRPr sz="1300" b="1" dirty="0">
              <a:solidFill>
                <a:srgbClr val="16181D"/>
              </a:solidFill>
              <a:latin typeface="Consolas"/>
              <a:ea typeface="Consolas"/>
              <a:cs typeface="Consolas"/>
            </a:endParaRPr>
          </a:p>
        </p:txBody>
      </p:sp>
      <p:sp>
        <p:nvSpPr>
          <p:cNvPr id="25" name="Text 9">
            <a:extLst>
              <a:ext uri="{FF2B5EF4-FFF2-40B4-BE49-F238E27FC236}">
                <a16:creationId xmlns:a16="http://schemas.microsoft.com/office/drawing/2014/main" id="{D1397139-91AE-B426-7B3D-BDAD328AE4ED}"/>
              </a:ext>
            </a:extLst>
          </p:cNvPr>
          <p:cNvSpPr>
            <a:spLocks noGrp="1"/>
          </p:cNvSpPr>
          <p:nvPr/>
        </p:nvSpPr>
        <p:spPr>
          <a:xfrm>
            <a:off x="6434996" y="5438821"/>
            <a:ext cx="3971322" cy="723714"/>
          </a:xfrm>
          <a:prstGeom prst="rect">
            <a:avLst/>
          </a:prstGeom>
          <a:noFill/>
        </p:spPr>
        <p:txBody>
          <a:bodyPr wrap="square" lIns="0" tIns="0" rIns="0" bIns="0" anchor="ctr"/>
          <a:lstStyle/>
          <a:p>
            <a:r>
              <a:rPr lang="de-DE" sz="1250" i="1">
                <a:solidFill>
                  <a:srgbClr val="55606E"/>
                </a:solidFill>
                <a:latin typeface="Calibri"/>
                <a:ea typeface="Calibri"/>
                <a:cs typeface="Calibri"/>
              </a:rPr>
              <a:t>Text statt Code</a:t>
            </a:r>
            <a:r>
              <a:rPr sz="1250" i="1">
                <a:solidFill>
                  <a:srgbClr val="55606E"/>
                </a:solidFill>
                <a:latin typeface="Calibri"/>
                <a:ea typeface="Calibri"/>
                <a:cs typeface="Calibri"/>
              </a:rPr>
              <a:t>.</a:t>
            </a:r>
          </a:p>
        </p:txBody>
      </p:sp>
      <p:sp>
        <p:nvSpPr>
          <p:cNvPr id="26" name="Text 18">
            <a:extLst>
              <a:ext uri="{FF2B5EF4-FFF2-40B4-BE49-F238E27FC236}">
                <a16:creationId xmlns:a16="http://schemas.microsoft.com/office/drawing/2014/main" id="{EA9AEB05-21AE-C13A-F79E-3E89CF72013B}"/>
              </a:ext>
            </a:extLst>
          </p:cNvPr>
          <p:cNvSpPr>
            <a:spLocks noGrp="1"/>
          </p:cNvSpPr>
          <p:nvPr/>
        </p:nvSpPr>
        <p:spPr>
          <a:xfrm>
            <a:off x="6437227" y="5128744"/>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ea typeface="+mn-lt"/>
                <a:cs typeface="+mn-lt"/>
              </a:rPr>
              <a:t>&lt;/</a:t>
            </a:r>
            <a:r>
              <a:rPr lang="de-DE" sz="1300" b="1" dirty="0" err="1">
                <a:solidFill>
                  <a:srgbClr val="16181D"/>
                </a:solidFill>
                <a:latin typeface="Consolas"/>
                <a:ea typeface="+mn-lt"/>
                <a:cs typeface="+mn-lt"/>
              </a:rPr>
              <a:t>VueCal</a:t>
            </a:r>
            <a:r>
              <a:rPr lang="de-DE" sz="1300" b="1" dirty="0">
                <a:solidFill>
                  <a:srgbClr val="16181D"/>
                </a:solidFill>
                <a:latin typeface="Consolas"/>
                <a:ea typeface="+mn-lt"/>
                <a:cs typeface="+mn-lt"/>
              </a:rPr>
              <a:t>&gt;</a:t>
            </a:r>
            <a:endParaRPr lang="de-DE"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FAZIT · XSS</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Die Ausgabe ist die Sicherheitsgrenze.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Stored DOM XSS entsteht hier, weil eine Bibliothek gespeicherte Daten als HTML rendert. Sichere Textausgabe beseitigt die Ursache.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PRIMÄRER FIX</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Eigene VueCal Event Slots verwenden und nutzerkontrollierte Werte mit Vue Interpolation rendern.</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ZUSATZSCHUTZ</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Weitere HTML Senken prüfen, serverseitige Längenregeln ergänzen und Content Security Policy einsetzen.</a:t>
            </a:r>
          </a:p>
        </p:txBody>
      </p:sp>
      <p:sp>
        <p:nvSpPr>
          <p:cNvPr id="12" name="Text 1">
            <a:extLst>
              <a:ext uri="{FF2B5EF4-FFF2-40B4-BE49-F238E27FC236}">
                <a16:creationId xmlns:a16="http://schemas.microsoft.com/office/drawing/2014/main" id="{EE088A71-32ED-B075-D75B-39A34473C0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11</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22960" y="2194560"/>
            <a:ext cx="10058400" cy="1463040"/>
          </a:xfrm>
          <a:prstGeom prst="rect">
            <a:avLst/>
          </a:prstGeom>
          <a:noFill/>
          <a:ln/>
        </p:spPr>
        <p:txBody>
          <a:bodyPr wrap="square" lIns="0" tIns="0" rIns="0" bIns="0" rtlCol="0" anchor="ctr"/>
          <a:lstStyle/>
          <a:p>
            <a:pPr marL="0" indent="0">
              <a:buNone/>
            </a:pPr>
            <a:r>
              <a:rPr lang="en-US" sz="11000" b="1" kern="0" spc="100" dirty="0">
                <a:solidFill>
                  <a:srgbClr val="16181D"/>
                </a:solidFill>
                <a:latin typeface="Trebuchet MS" pitchFamily="34" charset="0"/>
                <a:ea typeface="Trebuchet MS" pitchFamily="34" charset="-122"/>
                <a:cs typeface="Trebuchet MS" pitchFamily="34" charset="-120"/>
              </a:rPr>
              <a:t>CORS</a:t>
            </a:r>
            <a:endParaRPr lang="en-US" sz="11000" dirty="0"/>
          </a:p>
        </p:txBody>
      </p:sp>
      <p:sp>
        <p:nvSpPr>
          <p:cNvPr id="4" name="Text 2"/>
          <p:cNvSpPr/>
          <p:nvPr/>
        </p:nvSpPr>
        <p:spPr>
          <a:xfrm>
            <a:off x="868680" y="3703320"/>
            <a:ext cx="10058400" cy="502920"/>
          </a:xfrm>
          <a:prstGeom prst="rect">
            <a:avLst/>
          </a:prstGeom>
          <a:noFill/>
          <a:ln/>
        </p:spPr>
        <p:txBody>
          <a:bodyPr wrap="square" lIns="0" tIns="0" rIns="0" bIns="0" rtlCol="0" anchor="ctr"/>
          <a:lstStyle/>
          <a:p>
            <a:pPr marL="0" indent="0">
              <a:buNone/>
            </a:pPr>
            <a:r>
              <a:rPr lang="en-US" sz="2600" dirty="0">
                <a:solidFill>
                  <a:srgbClr val="55606E"/>
                </a:solidFill>
                <a:latin typeface="Trebuchet MS" pitchFamily="34" charset="0"/>
                <a:ea typeface="Trebuchet MS" pitchFamily="34" charset="-122"/>
                <a:cs typeface="Trebuchet MS" pitchFamily="34" charset="-120"/>
              </a:rPr>
              <a:t>Cross-Origin Resource Sharing</a:t>
            </a:r>
            <a:endParaRPr lang="en-US" sz="2600" dirty="0"/>
          </a:p>
        </p:txBody>
      </p:sp>
      <p:sp>
        <p:nvSpPr>
          <p:cNvPr id="5" name="Shape 3"/>
          <p:cNvSpPr/>
          <p:nvPr/>
        </p:nvSpPr>
        <p:spPr>
          <a:xfrm>
            <a:off x="868680" y="4526280"/>
            <a:ext cx="1828800" cy="0"/>
          </a:xfrm>
          <a:prstGeom prst="line">
            <a:avLst/>
          </a:prstGeom>
          <a:noFill/>
          <a:ln w="28575">
            <a:solidFill>
              <a:srgbClr val="16181D"/>
            </a:solidFill>
            <a:prstDash val="solid"/>
          </a:ln>
        </p:spPr>
      </p:sp>
      <p:sp>
        <p:nvSpPr>
          <p:cNvPr id="6" name="Text 4"/>
          <p:cNvSpPr/>
          <p:nvPr/>
        </p:nvSpPr>
        <p:spPr>
          <a:xfrm>
            <a:off x="868680" y="4754880"/>
            <a:ext cx="8686800" cy="457200"/>
          </a:xfrm>
          <a:prstGeom prst="rect">
            <a:avLst/>
          </a:prstGeom>
          <a:noFill/>
          <a:ln/>
        </p:spPr>
        <p:txBody>
          <a:bodyPr wrap="square" lIns="0" tIns="0" rIns="0" bIns="0" rtlCol="0" anchor="ctr"/>
          <a:lstStyle/>
          <a:p>
            <a:pPr marL="0" indent="0">
              <a:buNone/>
            </a:pPr>
            <a:r>
              <a:rPr lang="en-US" sz="1600" dirty="0">
                <a:solidFill>
                  <a:srgbClr val="55606E"/>
                </a:solidFill>
                <a:latin typeface="Calibri" pitchFamily="34" charset="0"/>
                <a:ea typeface="Calibri" pitchFamily="34" charset="-122"/>
                <a:cs typeface="Calibri" pitchFamily="34" charset="-120"/>
              </a:rPr>
              <a:t>Was der Browser </a:t>
            </a:r>
            <a:r>
              <a:rPr lang="en-US" sz="1600" dirty="0" err="1">
                <a:solidFill>
                  <a:srgbClr val="55606E"/>
                </a:solidFill>
                <a:latin typeface="Calibri" pitchFamily="34" charset="0"/>
                <a:ea typeface="Calibri" pitchFamily="34" charset="-122"/>
                <a:cs typeface="Calibri" pitchFamily="34" charset="-120"/>
              </a:rPr>
              <a:t>blockiert</a:t>
            </a:r>
            <a:r>
              <a:rPr lang="en-US" sz="1600" dirty="0">
                <a:solidFill>
                  <a:srgbClr val="55606E"/>
                </a:solidFill>
                <a:latin typeface="Calibri" pitchFamily="34" charset="0"/>
                <a:ea typeface="Calibri" pitchFamily="34" charset="-122"/>
                <a:cs typeface="Calibri" pitchFamily="34" charset="-120"/>
              </a:rPr>
              <a:t> - </a:t>
            </a:r>
            <a:r>
              <a:rPr lang="en-US" sz="1600" dirty="0" err="1">
                <a:solidFill>
                  <a:srgbClr val="55606E"/>
                </a:solidFill>
                <a:latin typeface="Calibri" pitchFamily="34" charset="0"/>
                <a:ea typeface="Calibri" pitchFamily="34" charset="-122"/>
                <a:cs typeface="Calibri" pitchFamily="34" charset="-120"/>
              </a:rPr>
              <a:t>warum</a:t>
            </a:r>
            <a:r>
              <a:rPr lang="en-US" sz="1600" dirty="0">
                <a:solidFill>
                  <a:srgbClr val="55606E"/>
                </a:solidFill>
                <a:latin typeface="Calibri" pitchFamily="34" charset="0"/>
                <a:ea typeface="Calibri" pitchFamily="34" charset="-122"/>
                <a:cs typeface="Calibri" pitchFamily="34" charset="-120"/>
              </a:rPr>
              <a:t> und </a:t>
            </a:r>
            <a:r>
              <a:rPr lang="en-US" sz="1600" dirty="0" err="1">
                <a:solidFill>
                  <a:srgbClr val="55606E"/>
                </a:solidFill>
                <a:latin typeface="Calibri" pitchFamily="34" charset="0"/>
                <a:ea typeface="Calibri" pitchFamily="34" charset="-122"/>
                <a:cs typeface="Calibri" pitchFamily="34" charset="-120"/>
              </a:rPr>
              <a:t>wie</a:t>
            </a:r>
            <a:r>
              <a:rPr lang="en-US" sz="1600" dirty="0">
                <a:solidFill>
                  <a:srgbClr val="55606E"/>
                </a:solidFill>
                <a:latin typeface="Calibri" pitchFamily="34" charset="0"/>
                <a:ea typeface="Calibri" pitchFamily="34" charset="-122"/>
                <a:cs typeface="Calibri" pitchFamily="34" charset="-120"/>
              </a:rPr>
              <a:t> die scheduler-API davon betroffen ist.</a:t>
            </a:r>
            <a:endParaRPr lang="en-US" sz="1600" dirty="0"/>
          </a:p>
        </p:txBody>
      </p:sp>
      <p:sp>
        <p:nvSpPr>
          <p:cNvPr id="8" name="Text 5">
            <a:extLst>
              <a:ext uri="{FF2B5EF4-FFF2-40B4-BE49-F238E27FC236}">
                <a16:creationId xmlns:a16="http://schemas.microsoft.com/office/drawing/2014/main" id="{5FDC3C88-357D-D86F-95D0-27F8EFCA191B}"/>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a:t>
            </a:r>
            <a:r>
              <a:rPr lang="de-DE" sz="1200" i="1" dirty="0">
                <a:solidFill>
                  <a:srgbClr val="9AA3AF"/>
                </a:solidFill>
                <a:latin typeface="Calibri"/>
                <a:ea typeface="Calibri"/>
                <a:cs typeface="Calibri"/>
              </a:rPr>
              <a:t>Ole</a:t>
            </a:r>
            <a:r>
              <a:rPr sz="1200" i="1" dirty="0">
                <a:solidFill>
                  <a:srgbClr val="9AA3AF"/>
                </a:solidFill>
                <a:latin typeface="Calibri"/>
                <a:ea typeface="Calibri"/>
                <a:cs typeface="Calibri"/>
              </a:rPr>
              <a:t> &amp;</a:t>
            </a:r>
            <a:r>
              <a:rPr lang="de-DE" sz="1200" i="1" dirty="0">
                <a:solidFill>
                  <a:srgbClr val="9AA3AF"/>
                </a:solidFill>
                <a:latin typeface="Calibri"/>
                <a:ea typeface="Calibri"/>
                <a:cs typeface="Calibri"/>
              </a:rPr>
              <a:t> Tom</a:t>
            </a:r>
            <a:endParaRPr sz="1200" i="1" dirty="0">
              <a:solidFill>
                <a:srgbClr val="9AA3AF"/>
              </a:solidFill>
              <a:latin typeface="Calibri"/>
              <a:ea typeface="Calibri"/>
              <a:cs typeface="Calibri"/>
            </a:endParaRPr>
          </a:p>
        </p:txBody>
      </p:sp>
      <p:sp>
        <p:nvSpPr>
          <p:cNvPr id="9" name="Text 0">
            <a:extLst>
              <a:ext uri="{FF2B5EF4-FFF2-40B4-BE49-F238E27FC236}">
                <a16:creationId xmlns:a16="http://schemas.microsoft.com/office/drawing/2014/main" id="{7CB978CC-B92F-47A9-E291-692F319275C4}"/>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01</a:t>
            </a:r>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Same-Origin Policy</a:t>
            </a:r>
            <a:endParaRPr lang="en-US" sz="4000" dirty="0"/>
          </a:p>
        </p:txBody>
      </p:sp>
      <p:sp>
        <p:nvSpPr>
          <p:cNvPr id="5" name="Text 3"/>
          <p:cNvSpPr/>
          <p:nvPr/>
        </p:nvSpPr>
        <p:spPr>
          <a:xfrm>
            <a:off x="868680" y="1920240"/>
            <a:ext cx="877824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Ein Skript darf einen Request an eine fremde Origin </a:t>
            </a:r>
            <a:r>
              <a:rPr lang="en-US" sz="1700" dirty="0" err="1">
                <a:solidFill>
                  <a:srgbClr val="55606E"/>
                </a:solidFill>
                <a:latin typeface="Calibri" pitchFamily="34" charset="0"/>
                <a:ea typeface="Calibri" pitchFamily="34" charset="-122"/>
                <a:cs typeface="Calibri" pitchFamily="34" charset="-120"/>
              </a:rPr>
              <a:t>senden</a:t>
            </a:r>
            <a:r>
              <a:rPr lang="en-US" sz="1700" dirty="0">
                <a:solidFill>
                  <a:srgbClr val="55606E"/>
                </a:solidFill>
                <a:latin typeface="Calibri" pitchFamily="34" charset="0"/>
                <a:ea typeface="Calibri" pitchFamily="34" charset="-122"/>
                <a:cs typeface="Calibri" pitchFamily="34" charset="-120"/>
              </a:rPr>
              <a:t>, aber die Antwort nicht lesen, wenn die Zielseite das nicht erlaubt.</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EINE ORIGIN BESTEHT AUS</a:t>
            </a:r>
            <a:endParaRPr lang="en-US" sz="1100" dirty="0"/>
          </a:p>
        </p:txBody>
      </p:sp>
      <p:sp>
        <p:nvSpPr>
          <p:cNvPr id="7" name="Text 5"/>
          <p:cNvSpPr/>
          <p:nvPr/>
        </p:nvSpPr>
        <p:spPr>
          <a:xfrm>
            <a:off x="86868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Schema</a:t>
            </a:r>
            <a:endParaRPr lang="en-US" sz="1300" dirty="0"/>
          </a:p>
        </p:txBody>
      </p:sp>
      <p:sp>
        <p:nvSpPr>
          <p:cNvPr id="8" name="Text 6"/>
          <p:cNvSpPr/>
          <p:nvPr/>
        </p:nvSpPr>
        <p:spPr>
          <a:xfrm>
            <a:off x="86868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http</a:t>
            </a:r>
            <a:endParaRPr lang="en-US" sz="3000" dirty="0"/>
          </a:p>
        </p:txBody>
      </p:sp>
      <p:sp>
        <p:nvSpPr>
          <p:cNvPr id="9" name="Shape 7"/>
          <p:cNvSpPr/>
          <p:nvPr/>
        </p:nvSpPr>
        <p:spPr>
          <a:xfrm>
            <a:off x="3749040" y="3520440"/>
            <a:ext cx="0" cy="685800"/>
          </a:xfrm>
          <a:prstGeom prst="line">
            <a:avLst/>
          </a:prstGeom>
          <a:noFill/>
          <a:ln w="12700">
            <a:solidFill>
              <a:srgbClr val="E4E7EC"/>
            </a:solidFill>
            <a:prstDash val="solid"/>
          </a:ln>
        </p:spPr>
      </p:sp>
      <p:sp>
        <p:nvSpPr>
          <p:cNvPr id="10" name="Text 8"/>
          <p:cNvSpPr/>
          <p:nvPr/>
        </p:nvSpPr>
        <p:spPr>
          <a:xfrm>
            <a:off x="379476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Host</a:t>
            </a:r>
            <a:endParaRPr lang="en-US" sz="1300" dirty="0"/>
          </a:p>
        </p:txBody>
      </p:sp>
      <p:sp>
        <p:nvSpPr>
          <p:cNvPr id="11" name="Text 9"/>
          <p:cNvSpPr/>
          <p:nvPr/>
        </p:nvSpPr>
        <p:spPr>
          <a:xfrm>
            <a:off x="379476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localhost</a:t>
            </a:r>
            <a:endParaRPr lang="en-US" sz="3000" dirty="0"/>
          </a:p>
        </p:txBody>
      </p:sp>
      <p:sp>
        <p:nvSpPr>
          <p:cNvPr id="12" name="Shape 10"/>
          <p:cNvSpPr/>
          <p:nvPr/>
        </p:nvSpPr>
        <p:spPr>
          <a:xfrm>
            <a:off x="6675120" y="3520440"/>
            <a:ext cx="0" cy="685800"/>
          </a:xfrm>
          <a:prstGeom prst="line">
            <a:avLst/>
          </a:prstGeom>
          <a:noFill/>
          <a:ln w="12700">
            <a:solidFill>
              <a:srgbClr val="E4E7EC"/>
            </a:solidFill>
            <a:prstDash val="solid"/>
          </a:ln>
        </p:spPr>
      </p:sp>
      <p:sp>
        <p:nvSpPr>
          <p:cNvPr id="13" name="Text 11"/>
          <p:cNvSpPr/>
          <p:nvPr/>
        </p:nvSpPr>
        <p:spPr>
          <a:xfrm>
            <a:off x="672084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Port</a:t>
            </a:r>
            <a:endParaRPr lang="en-US" sz="1300" dirty="0"/>
          </a:p>
        </p:txBody>
      </p:sp>
      <p:sp>
        <p:nvSpPr>
          <p:cNvPr id="14" name="Text 12"/>
          <p:cNvSpPr/>
          <p:nvPr/>
        </p:nvSpPr>
        <p:spPr>
          <a:xfrm>
            <a:off x="672084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8079</a:t>
            </a:r>
            <a:endParaRPr lang="en-US" sz="3000" dirty="0"/>
          </a:p>
        </p:txBody>
      </p:sp>
      <p:sp>
        <p:nvSpPr>
          <p:cNvPr id="15" name="Shape 13"/>
          <p:cNvSpPr/>
          <p:nvPr/>
        </p:nvSpPr>
        <p:spPr>
          <a:xfrm>
            <a:off x="868680" y="4892040"/>
            <a:ext cx="10454335" cy="0"/>
          </a:xfrm>
          <a:prstGeom prst="line">
            <a:avLst/>
          </a:prstGeom>
          <a:noFill/>
          <a:ln w="12700">
            <a:solidFill>
              <a:srgbClr val="E4E7EC"/>
            </a:solidFill>
            <a:prstDash val="solid"/>
          </a:ln>
        </p:spPr>
      </p:sp>
      <p:sp>
        <p:nvSpPr>
          <p:cNvPr id="16" name="Text 14"/>
          <p:cNvSpPr/>
          <p:nvPr/>
        </p:nvSpPr>
        <p:spPr>
          <a:xfrm>
            <a:off x="868680" y="5166360"/>
            <a:ext cx="10058400" cy="365760"/>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Verschiedene Ports = verschiedene Origins</a:t>
            </a:r>
            <a:endParaRPr lang="en-US" sz="1900" dirty="0"/>
          </a:p>
        </p:txBody>
      </p:sp>
      <p:sp>
        <p:nvSpPr>
          <p:cNvPr id="17" name="Text 15"/>
          <p:cNvSpPr/>
          <p:nvPr/>
        </p:nvSpPr>
        <p:spPr>
          <a:xfrm>
            <a:off x="868680" y="5669280"/>
            <a:ext cx="10058400" cy="457200"/>
          </a:xfrm>
          <a:prstGeom prst="rect">
            <a:avLst/>
          </a:prstGeom>
          <a:noFill/>
          <a:ln/>
        </p:spPr>
        <p:txBody>
          <a:bodyPr wrap="square" lIns="0" tIns="0" rIns="0" bIns="0" rtlCol="0" anchor="ctr"/>
          <a:lstStyle/>
          <a:p>
            <a:pPr marL="0" indent="0">
              <a:buNone/>
            </a:pPr>
            <a:r>
              <a:rPr lang="en-US" sz="1800" b="1" dirty="0">
                <a:solidFill>
                  <a:srgbClr val="16181D"/>
                </a:solidFill>
                <a:latin typeface="Consolas" pitchFamily="34" charset="0"/>
                <a:ea typeface="Consolas" pitchFamily="34" charset="-122"/>
                <a:cs typeface="Consolas" pitchFamily="34" charset="-120"/>
              </a:rPr>
              <a:t>localhost:8078</a:t>
            </a:r>
            <a:r>
              <a:rPr lang="en-US" sz="1800" b="1" dirty="0">
                <a:solidFill>
                  <a:srgbClr val="D23B4E"/>
                </a:solidFill>
                <a:latin typeface="Calibri" pitchFamily="34" charset="0"/>
                <a:ea typeface="Calibri" pitchFamily="34" charset="-122"/>
                <a:cs typeface="Calibri" pitchFamily="34" charset="-120"/>
              </a:rPr>
              <a:t>      ≠      </a:t>
            </a:r>
            <a:r>
              <a:rPr lang="en-US" sz="1800" b="1" dirty="0">
                <a:solidFill>
                  <a:srgbClr val="16181D"/>
                </a:solidFill>
                <a:latin typeface="Consolas" pitchFamily="34" charset="0"/>
                <a:ea typeface="Consolas" pitchFamily="34" charset="-122"/>
                <a:cs typeface="Consolas" pitchFamily="34" charset="-120"/>
              </a:rPr>
              <a:t>localhost:8079</a:t>
            </a:r>
            <a:endParaRPr lang="en-US" sz="1800" dirty="0"/>
          </a:p>
        </p:txBody>
      </p:sp>
      <p:sp>
        <p:nvSpPr>
          <p:cNvPr id="18" name="Text 1">
            <a:extLst>
              <a:ext uri="{FF2B5EF4-FFF2-40B4-BE49-F238E27FC236}">
                <a16:creationId xmlns:a16="http://schemas.microsoft.com/office/drawing/2014/main" id="{B7A4489E-BE97-24EF-F34D-606FEE20585A}"/>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13</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02</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Warum der Browser das blockiert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Ohne diese Regel </a:t>
            </a:r>
            <a:r>
              <a:rPr lang="en-US" sz="1700" dirty="0" err="1">
                <a:solidFill>
                  <a:srgbClr val="55606E"/>
                </a:solidFill>
                <a:latin typeface="Calibri" pitchFamily="34" charset="0"/>
                <a:ea typeface="Calibri" pitchFamily="34" charset="-122"/>
                <a:cs typeface="Calibri" pitchFamily="34" charset="-120"/>
              </a:rPr>
              <a:t>könnte</a:t>
            </a:r>
            <a:r>
              <a:rPr lang="en-US" sz="1700" dirty="0">
                <a:solidFill>
                  <a:srgbClr val="55606E"/>
                </a:solidFill>
                <a:latin typeface="Calibri" pitchFamily="34" charset="0"/>
                <a:ea typeface="Calibri" pitchFamily="34" charset="-122"/>
                <a:cs typeface="Calibri" pitchFamily="34" charset="-120"/>
              </a:rPr>
              <a:t> jede geöffnete Webseite im Hintergrund fremde Dienste in deinem Namen abfragen und die Antworten auslesen.</a:t>
            </a:r>
            <a:endParaRPr lang="en-US" sz="1700" dirty="0"/>
          </a:p>
        </p:txBody>
      </p:sp>
      <p:sp>
        <p:nvSpPr>
          <p:cNvPr id="6" name="Text 4"/>
          <p:cNvSpPr/>
          <p:nvPr/>
        </p:nvSpPr>
        <p:spPr>
          <a:xfrm>
            <a:off x="868680" y="2926080"/>
            <a:ext cx="73152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DAS SZENARIO OHNE SCHUTZ</a:t>
            </a:r>
            <a:endParaRPr lang="en-US" sz="1100" dirty="0"/>
          </a:p>
        </p:txBody>
      </p:sp>
      <p:sp>
        <p:nvSpPr>
          <p:cNvPr id="7" name="Text 5"/>
          <p:cNvSpPr/>
          <p:nvPr/>
        </p:nvSpPr>
        <p:spPr>
          <a:xfrm>
            <a:off x="868680" y="3310128"/>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01</a:t>
            </a:r>
            <a:endParaRPr lang="en-US" sz="1900" dirty="0"/>
          </a:p>
        </p:txBody>
      </p:sp>
      <p:sp>
        <p:nvSpPr>
          <p:cNvPr id="8" name="Text 6"/>
          <p:cNvSpPr/>
          <p:nvPr/>
        </p:nvSpPr>
        <p:spPr>
          <a:xfrm>
            <a:off x="1645920" y="3291840"/>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bist eingeloggt</a:t>
            </a:r>
            <a:endParaRPr lang="en-US" sz="1700" dirty="0"/>
          </a:p>
        </p:txBody>
      </p:sp>
      <p:sp>
        <p:nvSpPr>
          <p:cNvPr id="9" name="Text 7"/>
          <p:cNvSpPr/>
          <p:nvPr/>
        </p:nvSpPr>
        <p:spPr>
          <a:xfrm>
            <a:off x="6446520" y="3291840"/>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z. B. bei deiner Bank - das Cookie liegt im Browser.</a:t>
            </a:r>
            <a:endParaRPr lang="en-US" sz="1400" dirty="0"/>
          </a:p>
        </p:txBody>
      </p:sp>
      <p:sp>
        <p:nvSpPr>
          <p:cNvPr id="10" name="Shape 8"/>
          <p:cNvSpPr/>
          <p:nvPr/>
        </p:nvSpPr>
        <p:spPr>
          <a:xfrm>
            <a:off x="1033272" y="3794760"/>
            <a:ext cx="0" cy="237744"/>
          </a:xfrm>
          <a:prstGeom prst="line">
            <a:avLst/>
          </a:prstGeom>
          <a:noFill/>
          <a:ln w="15875">
            <a:solidFill>
              <a:srgbClr val="D2D8DF"/>
            </a:solidFill>
            <a:prstDash val="solid"/>
          </a:ln>
        </p:spPr>
      </p:sp>
      <p:sp>
        <p:nvSpPr>
          <p:cNvPr id="11" name="Text 9"/>
          <p:cNvSpPr/>
          <p:nvPr/>
        </p:nvSpPr>
        <p:spPr>
          <a:xfrm>
            <a:off x="868680" y="4096512"/>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02</a:t>
            </a:r>
            <a:endParaRPr lang="en-US" sz="1900" dirty="0"/>
          </a:p>
        </p:txBody>
      </p:sp>
      <p:sp>
        <p:nvSpPr>
          <p:cNvPr id="12" name="Text 10"/>
          <p:cNvSpPr/>
          <p:nvPr/>
        </p:nvSpPr>
        <p:spPr>
          <a:xfrm>
            <a:off x="1645920" y="4078224"/>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öffnest eine fremde Seite</a:t>
            </a:r>
            <a:endParaRPr lang="en-US" sz="1700" dirty="0"/>
          </a:p>
        </p:txBody>
      </p:sp>
      <p:sp>
        <p:nvSpPr>
          <p:cNvPr id="13" name="Text 11"/>
          <p:cNvSpPr/>
          <p:nvPr/>
        </p:nvSpPr>
        <p:spPr>
          <a:xfrm>
            <a:off x="6446520" y="4078224"/>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in einem anderen Tab, scheinbar harmlos.</a:t>
            </a:r>
            <a:endParaRPr lang="en-US" sz="1400" dirty="0"/>
          </a:p>
        </p:txBody>
      </p:sp>
      <p:sp>
        <p:nvSpPr>
          <p:cNvPr id="14" name="Shape 12"/>
          <p:cNvSpPr/>
          <p:nvPr/>
        </p:nvSpPr>
        <p:spPr>
          <a:xfrm>
            <a:off x="1033272" y="4581144"/>
            <a:ext cx="0" cy="237744"/>
          </a:xfrm>
          <a:prstGeom prst="line">
            <a:avLst/>
          </a:prstGeom>
          <a:noFill/>
          <a:ln w="15875">
            <a:solidFill>
              <a:srgbClr val="D2D8DF"/>
            </a:solidFill>
            <a:prstDash val="solid"/>
          </a:ln>
        </p:spPr>
      </p:sp>
      <p:sp>
        <p:nvSpPr>
          <p:cNvPr id="15" name="Text 13"/>
          <p:cNvSpPr/>
          <p:nvPr/>
        </p:nvSpPr>
        <p:spPr>
          <a:xfrm>
            <a:off x="868680" y="4882896"/>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03</a:t>
            </a:r>
            <a:endParaRPr lang="en-US" sz="1900" dirty="0"/>
          </a:p>
        </p:txBody>
      </p:sp>
      <p:sp>
        <p:nvSpPr>
          <p:cNvPr id="16" name="Text 14"/>
          <p:cNvSpPr/>
          <p:nvPr/>
        </p:nvSpPr>
        <p:spPr>
          <a:xfrm>
            <a:off x="1645920" y="4864608"/>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Deren Skript ruft die Bank auf</a:t>
            </a:r>
            <a:endParaRPr lang="en-US" sz="1700" dirty="0"/>
          </a:p>
        </p:txBody>
      </p:sp>
      <p:sp>
        <p:nvSpPr>
          <p:cNvPr id="17" name="Text 15"/>
          <p:cNvSpPr/>
          <p:nvPr/>
        </p:nvSpPr>
        <p:spPr>
          <a:xfrm>
            <a:off x="6446520" y="4864608"/>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Browser sendet dein Cookie automatisch mit.</a:t>
            </a:r>
            <a:endParaRPr lang="en-US" sz="1400" dirty="0"/>
          </a:p>
        </p:txBody>
      </p:sp>
      <p:sp>
        <p:nvSpPr>
          <p:cNvPr id="18" name="Shape 16"/>
          <p:cNvSpPr/>
          <p:nvPr/>
        </p:nvSpPr>
        <p:spPr>
          <a:xfrm>
            <a:off x="1033272" y="5367528"/>
            <a:ext cx="0" cy="237744"/>
          </a:xfrm>
          <a:prstGeom prst="line">
            <a:avLst/>
          </a:prstGeom>
          <a:noFill/>
          <a:ln w="15875">
            <a:solidFill>
              <a:srgbClr val="D2D8DF"/>
            </a:solidFill>
            <a:prstDash val="solid"/>
          </a:ln>
        </p:spPr>
      </p:sp>
      <p:sp>
        <p:nvSpPr>
          <p:cNvPr id="19" name="Text 17"/>
          <p:cNvSpPr/>
          <p:nvPr/>
        </p:nvSpPr>
        <p:spPr>
          <a:xfrm>
            <a:off x="868680" y="5669280"/>
            <a:ext cx="640080" cy="457200"/>
          </a:xfrm>
          <a:prstGeom prst="rect">
            <a:avLst/>
          </a:prstGeom>
          <a:noFill/>
          <a:ln/>
        </p:spPr>
        <p:txBody>
          <a:bodyPr wrap="square" lIns="0" tIns="0" rIns="0" bIns="0" rtlCol="0" anchor="ctr"/>
          <a:lstStyle/>
          <a:p>
            <a:pPr marL="0" indent="0">
              <a:buNone/>
            </a:pPr>
            <a:r>
              <a:rPr lang="en-US" sz="1900" b="1" dirty="0">
                <a:solidFill>
                  <a:srgbClr val="1E8F5E"/>
                </a:solidFill>
                <a:latin typeface="Trebuchet MS" pitchFamily="34" charset="0"/>
                <a:ea typeface="Trebuchet MS" pitchFamily="34" charset="-122"/>
                <a:cs typeface="Trebuchet MS" pitchFamily="34" charset="-120"/>
              </a:rPr>
              <a:t>04</a:t>
            </a:r>
            <a:endParaRPr lang="en-US" sz="1900" dirty="0"/>
          </a:p>
        </p:txBody>
      </p:sp>
      <p:sp>
        <p:nvSpPr>
          <p:cNvPr id="20" name="Text 18"/>
          <p:cNvSpPr/>
          <p:nvPr/>
        </p:nvSpPr>
        <p:spPr>
          <a:xfrm>
            <a:off x="1645920" y="5650992"/>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Antwort = blockiert</a:t>
            </a:r>
            <a:endParaRPr lang="en-US" sz="1700" dirty="0"/>
          </a:p>
        </p:txBody>
      </p:sp>
      <p:sp>
        <p:nvSpPr>
          <p:cNvPr id="21" name="Text 19"/>
          <p:cNvSpPr/>
          <p:nvPr/>
        </p:nvSpPr>
        <p:spPr>
          <a:xfrm>
            <a:off x="6446520" y="5650992"/>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die SOP verhindert, dass das Skript sie liest.</a:t>
            </a:r>
            <a:endParaRPr lang="en-US" sz="1400" dirty="0"/>
          </a:p>
        </p:txBody>
      </p:sp>
      <p:sp>
        <p:nvSpPr>
          <p:cNvPr id="22" name="Text 1">
            <a:extLst>
              <a:ext uri="{FF2B5EF4-FFF2-40B4-BE49-F238E27FC236}">
                <a16:creationId xmlns:a16="http://schemas.microsoft.com/office/drawing/2014/main" id="{1F01E120-F997-C1AE-D2A1-B30BD6621F2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14</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03</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CORS = ausdrückliche Lesefreigabe</a:t>
            </a:r>
            <a:endParaRPr lang="en-US" sz="3800" dirty="0"/>
          </a:p>
        </p:txBody>
      </p:sp>
      <p:sp>
        <p:nvSpPr>
          <p:cNvPr id="5" name="Text 3"/>
          <p:cNvSpPr/>
          <p:nvPr/>
        </p:nvSpPr>
        <p:spPr>
          <a:xfrm>
            <a:off x="868680" y="1874520"/>
            <a:ext cx="1042416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Wenn eine fremde Origin doch lesen soll, muss der Server das </a:t>
            </a:r>
            <a:r>
              <a:rPr lang="en-US" sz="1700" dirty="0" err="1">
                <a:solidFill>
                  <a:srgbClr val="55606E"/>
                </a:solidFill>
                <a:latin typeface="Calibri" pitchFamily="34" charset="0"/>
                <a:ea typeface="Calibri" pitchFamily="34" charset="-122"/>
                <a:cs typeface="Calibri" pitchFamily="34" charset="-120"/>
              </a:rPr>
              <a:t>erlauben</a:t>
            </a:r>
            <a:r>
              <a:rPr lang="en-US" sz="1700" dirty="0">
                <a:solidFill>
                  <a:srgbClr val="55606E"/>
                </a:solidFill>
                <a:latin typeface="Calibri" pitchFamily="34" charset="0"/>
                <a:ea typeface="Calibri" pitchFamily="34" charset="-122"/>
                <a:cs typeface="Calibri" pitchFamily="34" charset="-120"/>
              </a:rPr>
              <a:t> per Header.</a:t>
            </a:r>
            <a:endParaRPr lang="en-US" sz="1700" dirty="0"/>
          </a:p>
        </p:txBody>
      </p:sp>
      <p:sp>
        <p:nvSpPr>
          <p:cNvPr id="6" name="Shape 4"/>
          <p:cNvSpPr/>
          <p:nvPr/>
        </p:nvSpPr>
        <p:spPr>
          <a:xfrm>
            <a:off x="868680" y="2743200"/>
            <a:ext cx="4892040" cy="0"/>
          </a:xfrm>
          <a:prstGeom prst="line">
            <a:avLst/>
          </a:prstGeom>
          <a:noFill/>
          <a:ln w="12700">
            <a:solidFill>
              <a:srgbClr val="E4E7EC"/>
            </a:solidFill>
            <a:prstDash val="solid"/>
          </a:ln>
        </p:spPr>
      </p:sp>
      <p:sp>
        <p:nvSpPr>
          <p:cNvPr id="7" name="Text 5"/>
          <p:cNvSpPr/>
          <p:nvPr/>
        </p:nvSpPr>
        <p:spPr>
          <a:xfrm>
            <a:off x="86868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Access-Control-Allow-Origin</a:t>
            </a:r>
            <a:endParaRPr lang="en-US" sz="1450" dirty="0"/>
          </a:p>
        </p:txBody>
      </p:sp>
      <p:sp>
        <p:nvSpPr>
          <p:cNvPr id="8" name="Text 6"/>
          <p:cNvSpPr/>
          <p:nvPr/>
        </p:nvSpPr>
        <p:spPr>
          <a:xfrm>
            <a:off x="86868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Origin darf die Antwort lesen? Sicher = feste Allowlist.</a:t>
            </a:r>
            <a:endParaRPr lang="en-US" sz="1250" dirty="0"/>
          </a:p>
        </p:txBody>
      </p:sp>
      <p:sp>
        <p:nvSpPr>
          <p:cNvPr id="9" name="Shape 7"/>
          <p:cNvSpPr/>
          <p:nvPr/>
        </p:nvSpPr>
        <p:spPr>
          <a:xfrm>
            <a:off x="6446520" y="2743200"/>
            <a:ext cx="4892040" cy="0"/>
          </a:xfrm>
          <a:prstGeom prst="line">
            <a:avLst/>
          </a:prstGeom>
          <a:noFill/>
          <a:ln w="12700">
            <a:solidFill>
              <a:srgbClr val="E4E7EC"/>
            </a:solidFill>
            <a:prstDash val="solid"/>
          </a:ln>
        </p:spPr>
      </p:sp>
      <p:sp>
        <p:nvSpPr>
          <p:cNvPr id="10" name="Text 8"/>
          <p:cNvSpPr/>
          <p:nvPr/>
        </p:nvSpPr>
        <p:spPr>
          <a:xfrm>
            <a:off x="644652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Access-Control-Allow-Credentials</a:t>
            </a:r>
            <a:endParaRPr lang="en-US" sz="1450" dirty="0"/>
          </a:p>
        </p:txBody>
      </p:sp>
      <p:sp>
        <p:nvSpPr>
          <p:cNvPr id="11" name="Text 9"/>
          <p:cNvSpPr/>
          <p:nvPr/>
        </p:nvSpPr>
        <p:spPr>
          <a:xfrm>
            <a:off x="644652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Dürfen Cookies / Auth mitgesendet werden? Nur wenn nötig.</a:t>
            </a:r>
            <a:endParaRPr lang="en-US" sz="1250" dirty="0"/>
          </a:p>
        </p:txBody>
      </p:sp>
      <p:sp>
        <p:nvSpPr>
          <p:cNvPr id="12" name="Shape 10"/>
          <p:cNvSpPr/>
          <p:nvPr/>
        </p:nvSpPr>
        <p:spPr>
          <a:xfrm>
            <a:off x="868680" y="3822192"/>
            <a:ext cx="4892040" cy="0"/>
          </a:xfrm>
          <a:prstGeom prst="line">
            <a:avLst/>
          </a:prstGeom>
          <a:noFill/>
          <a:ln w="12700">
            <a:solidFill>
              <a:srgbClr val="E4E7EC"/>
            </a:solidFill>
            <a:prstDash val="solid"/>
          </a:ln>
        </p:spPr>
      </p:sp>
      <p:sp>
        <p:nvSpPr>
          <p:cNvPr id="13" name="Text 11"/>
          <p:cNvSpPr/>
          <p:nvPr/>
        </p:nvSpPr>
        <p:spPr>
          <a:xfrm>
            <a:off x="86868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Access-Control-Allow-Methods</a:t>
            </a:r>
            <a:endParaRPr lang="en-US" sz="1450" dirty="0"/>
          </a:p>
        </p:txBody>
      </p:sp>
      <p:sp>
        <p:nvSpPr>
          <p:cNvPr id="14" name="Text 12"/>
          <p:cNvSpPr/>
          <p:nvPr/>
        </p:nvSpPr>
        <p:spPr>
          <a:xfrm>
            <a:off x="86868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Methoden, z. B. GET, POST, PUT, DELETE.</a:t>
            </a:r>
            <a:endParaRPr lang="en-US" sz="1250" dirty="0"/>
          </a:p>
        </p:txBody>
      </p:sp>
      <p:sp>
        <p:nvSpPr>
          <p:cNvPr id="15" name="Shape 13"/>
          <p:cNvSpPr/>
          <p:nvPr/>
        </p:nvSpPr>
        <p:spPr>
          <a:xfrm>
            <a:off x="6446520" y="3822192"/>
            <a:ext cx="4892040" cy="0"/>
          </a:xfrm>
          <a:prstGeom prst="line">
            <a:avLst/>
          </a:prstGeom>
          <a:noFill/>
          <a:ln w="12700">
            <a:solidFill>
              <a:srgbClr val="E4E7EC"/>
            </a:solidFill>
            <a:prstDash val="solid"/>
          </a:ln>
        </p:spPr>
      </p:sp>
      <p:sp>
        <p:nvSpPr>
          <p:cNvPr id="16" name="Text 14"/>
          <p:cNvSpPr/>
          <p:nvPr/>
        </p:nvSpPr>
        <p:spPr>
          <a:xfrm>
            <a:off x="644652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Access-Control-Allow-Headers</a:t>
            </a:r>
            <a:endParaRPr lang="en-US" sz="1450" dirty="0"/>
          </a:p>
        </p:txBody>
      </p:sp>
      <p:sp>
        <p:nvSpPr>
          <p:cNvPr id="17" name="Text 15"/>
          <p:cNvSpPr/>
          <p:nvPr/>
        </p:nvSpPr>
        <p:spPr>
          <a:xfrm>
            <a:off x="644652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Request-Header, z. B. Authorization, Content-Type.</a:t>
            </a:r>
            <a:endParaRPr lang="en-US" sz="1250" dirty="0"/>
          </a:p>
        </p:txBody>
      </p:sp>
      <p:sp>
        <p:nvSpPr>
          <p:cNvPr id="18" name="Shape 16"/>
          <p:cNvSpPr/>
          <p:nvPr/>
        </p:nvSpPr>
        <p:spPr>
          <a:xfrm>
            <a:off x="868680" y="4901184"/>
            <a:ext cx="4892040" cy="0"/>
          </a:xfrm>
          <a:prstGeom prst="line">
            <a:avLst/>
          </a:prstGeom>
          <a:noFill/>
          <a:ln w="12700">
            <a:solidFill>
              <a:srgbClr val="E4E7EC"/>
            </a:solidFill>
            <a:prstDash val="solid"/>
          </a:ln>
        </p:spPr>
      </p:sp>
      <p:sp>
        <p:nvSpPr>
          <p:cNvPr id="19" name="Text 17"/>
          <p:cNvSpPr/>
          <p:nvPr/>
        </p:nvSpPr>
        <p:spPr>
          <a:xfrm>
            <a:off x="86868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Access-Control-Expose-Headers</a:t>
            </a:r>
            <a:endParaRPr lang="en-US" sz="1450" dirty="0"/>
          </a:p>
        </p:txBody>
      </p:sp>
      <p:sp>
        <p:nvSpPr>
          <p:cNvPr id="20" name="Text 18"/>
          <p:cNvSpPr/>
          <p:nvPr/>
        </p:nvSpPr>
        <p:spPr>
          <a:xfrm>
            <a:off x="86868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Response-Header darf JavaScript lesen, z. B. Content-Disposition.</a:t>
            </a:r>
            <a:endParaRPr lang="en-US" sz="1250" dirty="0"/>
          </a:p>
        </p:txBody>
      </p:sp>
      <p:sp>
        <p:nvSpPr>
          <p:cNvPr id="21" name="Shape 19"/>
          <p:cNvSpPr/>
          <p:nvPr/>
        </p:nvSpPr>
        <p:spPr>
          <a:xfrm>
            <a:off x="6446520" y="4901184"/>
            <a:ext cx="4892040" cy="0"/>
          </a:xfrm>
          <a:prstGeom prst="line">
            <a:avLst/>
          </a:prstGeom>
          <a:noFill/>
          <a:ln w="12700">
            <a:solidFill>
              <a:srgbClr val="E4E7EC"/>
            </a:solidFill>
            <a:prstDash val="solid"/>
          </a:ln>
        </p:spPr>
      </p:sp>
      <p:sp>
        <p:nvSpPr>
          <p:cNvPr id="22" name="Text 20"/>
          <p:cNvSpPr/>
          <p:nvPr/>
        </p:nvSpPr>
        <p:spPr>
          <a:xfrm>
            <a:off x="644652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Vary: Origin</a:t>
            </a:r>
            <a:endParaRPr lang="en-US" sz="1450" dirty="0"/>
          </a:p>
        </p:txBody>
      </p:sp>
      <p:sp>
        <p:nvSpPr>
          <p:cNvPr id="23" name="Text 21"/>
          <p:cNvSpPr/>
          <p:nvPr/>
        </p:nvSpPr>
        <p:spPr>
          <a:xfrm>
            <a:off x="644652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Bei dynamischer Origin-Wahl nötig, damit Caches nicht mischen.</a:t>
            </a:r>
            <a:endParaRPr lang="en-US" sz="1250" dirty="0"/>
          </a:p>
        </p:txBody>
      </p:sp>
      <p:sp>
        <p:nvSpPr>
          <p:cNvPr id="24" name="Text 1">
            <a:extLst>
              <a:ext uri="{FF2B5EF4-FFF2-40B4-BE49-F238E27FC236}">
                <a16:creationId xmlns:a16="http://schemas.microsoft.com/office/drawing/2014/main" id="{4C0CAA97-4997-429E-2F9E-722BC644E38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15</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04</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So läuft ein CORS-Request ab</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Der Browser hängt die Origin selbst an, der Server antwortet mit der </a:t>
            </a:r>
            <a:r>
              <a:rPr lang="en-US" sz="1650" dirty="0" err="1">
                <a:solidFill>
                  <a:srgbClr val="55606E"/>
                </a:solidFill>
                <a:latin typeface="Calibri" pitchFamily="34" charset="0"/>
                <a:ea typeface="Calibri" pitchFamily="34" charset="-122"/>
                <a:cs typeface="Calibri" pitchFamily="34" charset="-120"/>
              </a:rPr>
              <a:t>Freigabe</a:t>
            </a:r>
            <a:r>
              <a:rPr lang="en-US" sz="1650" dirty="0">
                <a:solidFill>
                  <a:srgbClr val="55606E"/>
                </a:solidFill>
                <a:latin typeface="Calibri" pitchFamily="34" charset="0"/>
                <a:ea typeface="Calibri" pitchFamily="34" charset="-122"/>
                <a:cs typeface="Calibri" pitchFamily="34" charset="-120"/>
              </a:rPr>
              <a:t> und der Browser entscheidet, ob das Skript lesen darf.</a:t>
            </a:r>
            <a:endParaRPr lang="en-US" sz="1650" dirty="0"/>
          </a:p>
        </p:txBody>
      </p:sp>
      <p:sp>
        <p:nvSpPr>
          <p:cNvPr id="6" name="Shape 4"/>
          <p:cNvSpPr/>
          <p:nvPr/>
        </p:nvSpPr>
        <p:spPr>
          <a:xfrm>
            <a:off x="6172200" y="2926080"/>
            <a:ext cx="0" cy="2880360"/>
          </a:xfrm>
          <a:prstGeom prst="line">
            <a:avLst/>
          </a:prstGeom>
          <a:noFill/>
          <a:ln w="12700">
            <a:solidFill>
              <a:srgbClr val="E4E7EC"/>
            </a:solidFill>
            <a:prstDash val="solid"/>
          </a:ln>
        </p:spPr>
      </p:sp>
      <p:sp>
        <p:nvSpPr>
          <p:cNvPr id="7" name="Text 5"/>
          <p:cNvSpPr/>
          <p:nvPr/>
        </p:nvSpPr>
        <p:spPr>
          <a:xfrm>
            <a:off x="86868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463FF"/>
                </a:solidFill>
                <a:latin typeface="Calibri" pitchFamily="34" charset="0"/>
                <a:ea typeface="Calibri" pitchFamily="34" charset="-122"/>
                <a:cs typeface="Calibri" pitchFamily="34" charset="-120"/>
              </a:rPr>
              <a:t>1 · REQUEST DES BROWSERS</a:t>
            </a:r>
            <a:endParaRPr lang="en-US" sz="1100" dirty="0"/>
          </a:p>
        </p:txBody>
      </p:sp>
      <p:sp>
        <p:nvSpPr>
          <p:cNvPr id="8" name="Text 6"/>
          <p:cNvSpPr/>
          <p:nvPr/>
        </p:nvSpPr>
        <p:spPr>
          <a:xfrm>
            <a:off x="86868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GET /session</a:t>
            </a:r>
            <a:endParaRPr lang="en-US" sz="1500" dirty="0"/>
          </a:p>
        </p:txBody>
      </p:sp>
      <p:sp>
        <p:nvSpPr>
          <p:cNvPr id="9" name="Text 7"/>
          <p:cNvSpPr/>
          <p:nvPr/>
        </p:nvSpPr>
        <p:spPr>
          <a:xfrm>
            <a:off x="86868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Origin: http://localhost:5173</a:t>
            </a:r>
            <a:endParaRPr lang="en-US" sz="1400" dirty="0"/>
          </a:p>
        </p:txBody>
      </p:sp>
      <p:sp>
        <p:nvSpPr>
          <p:cNvPr id="10" name="Text 8"/>
          <p:cNvSpPr/>
          <p:nvPr/>
        </p:nvSpPr>
        <p:spPr>
          <a:xfrm>
            <a:off x="868680" y="425196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Der Origin-Header wird vom Browser </a:t>
            </a:r>
            <a:r>
              <a:rPr lang="en-US" sz="1350" dirty="0" err="1">
                <a:solidFill>
                  <a:srgbClr val="000000"/>
                </a:solidFill>
                <a:latin typeface="Calibri" pitchFamily="34" charset="0"/>
                <a:ea typeface="Calibri" pitchFamily="34" charset="-122"/>
                <a:cs typeface="Calibri" pitchFamily="34" charset="-120"/>
              </a:rPr>
              <a:t>automatisch</a:t>
            </a:r>
            <a:r>
              <a:rPr lang="en-US" sz="1350" dirty="0">
                <a:solidFill>
                  <a:srgbClr val="000000"/>
                </a:solidFill>
                <a:latin typeface="Calibri" pitchFamily="34" charset="0"/>
                <a:ea typeface="Calibri" pitchFamily="34" charset="-122"/>
                <a:cs typeface="Calibri" pitchFamily="34" charset="-120"/>
              </a:rPr>
              <a:t> </a:t>
            </a:r>
            <a:r>
              <a:rPr lang="en-US" sz="1350" dirty="0" err="1">
                <a:solidFill>
                  <a:srgbClr val="000000"/>
                </a:solidFill>
                <a:latin typeface="Calibri" pitchFamily="34" charset="0"/>
                <a:ea typeface="Calibri" pitchFamily="34" charset="-122"/>
                <a:cs typeface="Calibri" pitchFamily="34" charset="-120"/>
              </a:rPr>
              <a:t>gesetzt</a:t>
            </a:r>
            <a:r>
              <a:rPr lang="en-US" sz="1350" dirty="0">
                <a:solidFill>
                  <a:srgbClr val="000000"/>
                </a:solidFill>
                <a:latin typeface="Calibri" pitchFamily="34" charset="0"/>
                <a:ea typeface="Calibri" pitchFamily="34" charset="-122"/>
                <a:cs typeface="Calibri" pitchFamily="34" charset="-120"/>
              </a:rPr>
              <a:t>, das Skript kann ihn nicht fälschen.</a:t>
            </a:r>
            <a:endParaRPr lang="en-US" sz="1350" dirty="0"/>
          </a:p>
        </p:txBody>
      </p:sp>
      <p:sp>
        <p:nvSpPr>
          <p:cNvPr id="11" name="Text 9"/>
          <p:cNvSpPr/>
          <p:nvPr/>
        </p:nvSpPr>
        <p:spPr>
          <a:xfrm>
            <a:off x="644652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E8F5E"/>
                </a:solidFill>
                <a:latin typeface="Calibri" pitchFamily="34" charset="0"/>
                <a:ea typeface="Calibri" pitchFamily="34" charset="-122"/>
                <a:cs typeface="Calibri" pitchFamily="34" charset="-120"/>
              </a:rPr>
              <a:t>2 · ANTWORT DES SERVERS</a:t>
            </a:r>
            <a:endParaRPr lang="en-US" sz="1100" dirty="0"/>
          </a:p>
        </p:txBody>
      </p:sp>
      <p:sp>
        <p:nvSpPr>
          <p:cNvPr id="12" name="Text 10"/>
          <p:cNvSpPr/>
          <p:nvPr/>
        </p:nvSpPr>
        <p:spPr>
          <a:xfrm>
            <a:off x="644652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200 OK</a:t>
            </a:r>
            <a:endParaRPr lang="en-US" sz="1500" dirty="0"/>
          </a:p>
        </p:txBody>
      </p:sp>
      <p:sp>
        <p:nvSpPr>
          <p:cNvPr id="13" name="Text 11"/>
          <p:cNvSpPr/>
          <p:nvPr/>
        </p:nvSpPr>
        <p:spPr>
          <a:xfrm>
            <a:off x="644652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Access-Control-Allow-Origin:</a:t>
            </a:r>
            <a:endParaRPr lang="en-US" sz="1400" dirty="0"/>
          </a:p>
        </p:txBody>
      </p:sp>
      <p:sp>
        <p:nvSpPr>
          <p:cNvPr id="14" name="Text 12"/>
          <p:cNvSpPr/>
          <p:nvPr/>
        </p:nvSpPr>
        <p:spPr>
          <a:xfrm>
            <a:off x="6446520" y="3931920"/>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  http://localhost:5173</a:t>
            </a:r>
            <a:endParaRPr lang="en-US" sz="1400" dirty="0"/>
          </a:p>
        </p:txBody>
      </p:sp>
      <p:sp>
        <p:nvSpPr>
          <p:cNvPr id="15" name="Text 13"/>
          <p:cNvSpPr/>
          <p:nvPr/>
        </p:nvSpPr>
        <p:spPr>
          <a:xfrm>
            <a:off x="6446520" y="452628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Passt der Header zur Origin, gibt der Browser die Antwort frei. Fehlt er, blockiert der Browser.</a:t>
            </a:r>
            <a:endParaRPr lang="en-US" sz="1350" dirty="0"/>
          </a:p>
        </p:txBody>
      </p:sp>
      <p:sp>
        <p:nvSpPr>
          <p:cNvPr id="16" name="Shape 14"/>
          <p:cNvSpPr/>
          <p:nvPr/>
        </p:nvSpPr>
        <p:spPr>
          <a:xfrm>
            <a:off x="868680" y="5806440"/>
            <a:ext cx="10454335" cy="0"/>
          </a:xfrm>
          <a:prstGeom prst="line">
            <a:avLst/>
          </a:prstGeom>
          <a:noFill/>
          <a:ln w="12700">
            <a:solidFill>
              <a:srgbClr val="E4E7EC"/>
            </a:solidFill>
            <a:prstDash val="solid"/>
          </a:ln>
        </p:spPr>
      </p:sp>
      <p:sp>
        <p:nvSpPr>
          <p:cNvPr id="17" name="Text 15"/>
          <p:cNvSpPr/>
          <p:nvPr/>
        </p:nvSpPr>
        <p:spPr>
          <a:xfrm>
            <a:off x="868680" y="5943600"/>
            <a:ext cx="10424160" cy="36576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Wichtig: Der Server schickt die Antwort immer - der Browser ist der Torwächter, nicht der Server.</a:t>
            </a:r>
            <a:endParaRPr lang="en-US" sz="1350" dirty="0"/>
          </a:p>
        </p:txBody>
      </p:sp>
      <p:sp>
        <p:nvSpPr>
          <p:cNvPr id="18" name="Text 1">
            <a:extLst>
              <a:ext uri="{FF2B5EF4-FFF2-40B4-BE49-F238E27FC236}">
                <a16:creationId xmlns:a16="http://schemas.microsoft.com/office/drawing/2014/main" id="{3CF26BD2-DA49-204E-19F6-EB562ECA4BE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05</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Einfacher Request vs. Preflight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Bei „besonderen“ Requests fragt der Browser vorher per OPTIONS nach, ob der eigentliche Request überhaupt erlaubt ist.</a:t>
            </a:r>
            <a:endParaRPr lang="en-US" sz="1650" dirty="0"/>
          </a:p>
        </p:txBody>
      </p:sp>
      <p:sp>
        <p:nvSpPr>
          <p:cNvPr id="6" name="Text 4"/>
          <p:cNvSpPr/>
          <p:nvPr/>
        </p:nvSpPr>
        <p:spPr>
          <a:xfrm>
            <a:off x="868680" y="2880360"/>
            <a:ext cx="9144000" cy="292608"/>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EINFACHER REQUEST (GET, EINFACHES POST)</a:t>
            </a:r>
            <a:endParaRPr lang="en-US" sz="1150" dirty="0"/>
          </a:p>
        </p:txBody>
      </p:sp>
      <p:sp>
        <p:nvSpPr>
          <p:cNvPr id="7" name="Text 5"/>
          <p:cNvSpPr/>
          <p:nvPr/>
        </p:nvSpPr>
        <p:spPr>
          <a:xfrm>
            <a:off x="86868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Browser</a:t>
            </a:r>
            <a:endParaRPr lang="en-US" sz="1700" dirty="0"/>
          </a:p>
        </p:txBody>
      </p:sp>
      <p:sp>
        <p:nvSpPr>
          <p:cNvPr id="8" name="Text 6"/>
          <p:cNvSpPr/>
          <p:nvPr/>
        </p:nvSpPr>
        <p:spPr>
          <a:xfrm>
            <a:off x="86868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sendet direkt</a:t>
            </a:r>
            <a:endParaRPr lang="en-US" sz="1250" dirty="0"/>
          </a:p>
        </p:txBody>
      </p:sp>
      <p:sp>
        <p:nvSpPr>
          <p:cNvPr id="9" name="Text 7"/>
          <p:cNvSpPr/>
          <p:nvPr/>
        </p:nvSpPr>
        <p:spPr>
          <a:xfrm>
            <a:off x="3611880" y="324612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0" name="Text 8"/>
          <p:cNvSpPr/>
          <p:nvPr/>
        </p:nvSpPr>
        <p:spPr>
          <a:xfrm>
            <a:off x="411480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API antwortet</a:t>
            </a:r>
            <a:endParaRPr lang="en-US" sz="1700" dirty="0"/>
          </a:p>
        </p:txBody>
      </p:sp>
      <p:sp>
        <p:nvSpPr>
          <p:cNvPr id="11" name="Text 9"/>
          <p:cNvSpPr/>
          <p:nvPr/>
        </p:nvSpPr>
        <p:spPr>
          <a:xfrm>
            <a:off x="411480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mit Allow-Origin</a:t>
            </a:r>
            <a:endParaRPr lang="en-US" sz="1250" dirty="0"/>
          </a:p>
        </p:txBody>
      </p:sp>
      <p:sp>
        <p:nvSpPr>
          <p:cNvPr id="12" name="Shape 10"/>
          <p:cNvSpPr/>
          <p:nvPr/>
        </p:nvSpPr>
        <p:spPr>
          <a:xfrm>
            <a:off x="868680" y="4343400"/>
            <a:ext cx="10454335" cy="0"/>
          </a:xfrm>
          <a:prstGeom prst="line">
            <a:avLst/>
          </a:prstGeom>
          <a:noFill/>
          <a:ln w="12700">
            <a:solidFill>
              <a:srgbClr val="E4E7EC"/>
            </a:solidFill>
            <a:prstDash val="solid"/>
          </a:ln>
        </p:spPr>
      </p:sp>
      <p:sp>
        <p:nvSpPr>
          <p:cNvPr id="13" name="Text 11"/>
          <p:cNvSpPr/>
          <p:nvPr/>
        </p:nvSpPr>
        <p:spPr>
          <a:xfrm>
            <a:off x="868680" y="4617720"/>
            <a:ext cx="91440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MIT PREFLIGHT (AUTHORIZATION, APPLICATION/JSON)</a:t>
            </a:r>
            <a:endParaRPr lang="en-US" sz="1150" dirty="0"/>
          </a:p>
        </p:txBody>
      </p:sp>
      <p:sp>
        <p:nvSpPr>
          <p:cNvPr id="14" name="Text 12"/>
          <p:cNvSpPr/>
          <p:nvPr/>
        </p:nvSpPr>
        <p:spPr>
          <a:xfrm>
            <a:off x="86868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OPTIONS</a:t>
            </a:r>
            <a:endParaRPr lang="en-US" sz="1700" dirty="0"/>
          </a:p>
        </p:txBody>
      </p:sp>
      <p:sp>
        <p:nvSpPr>
          <p:cNvPr id="15" name="Text 13"/>
          <p:cNvSpPr/>
          <p:nvPr/>
        </p:nvSpPr>
        <p:spPr>
          <a:xfrm>
            <a:off x="86868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Vorab-Anfrage</a:t>
            </a:r>
            <a:endParaRPr lang="en-US" sz="1250" dirty="0"/>
          </a:p>
        </p:txBody>
      </p:sp>
      <p:sp>
        <p:nvSpPr>
          <p:cNvPr id="16" name="Text 14"/>
          <p:cNvSpPr/>
          <p:nvPr/>
        </p:nvSpPr>
        <p:spPr>
          <a:xfrm>
            <a:off x="361188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411480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Server-OK?</a:t>
            </a:r>
            <a:endParaRPr lang="en-US" sz="1700" dirty="0"/>
          </a:p>
        </p:txBody>
      </p:sp>
      <p:sp>
        <p:nvSpPr>
          <p:cNvPr id="18" name="Text 16"/>
          <p:cNvSpPr/>
          <p:nvPr/>
        </p:nvSpPr>
        <p:spPr>
          <a:xfrm>
            <a:off x="411480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CORS-Header prüfen</a:t>
            </a:r>
            <a:endParaRPr lang="en-US" sz="1250" dirty="0"/>
          </a:p>
        </p:txBody>
      </p:sp>
      <p:sp>
        <p:nvSpPr>
          <p:cNvPr id="19" name="Text 17"/>
          <p:cNvSpPr/>
          <p:nvPr/>
        </p:nvSpPr>
        <p:spPr>
          <a:xfrm>
            <a:off x="685800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36092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Echter Request</a:t>
            </a:r>
            <a:endParaRPr lang="en-US" sz="1700" dirty="0"/>
          </a:p>
        </p:txBody>
      </p:sp>
      <p:sp>
        <p:nvSpPr>
          <p:cNvPr id="21" name="Text 19"/>
          <p:cNvSpPr/>
          <p:nvPr/>
        </p:nvSpPr>
        <p:spPr>
          <a:xfrm>
            <a:off x="736092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sonst blockiert</a:t>
            </a:r>
            <a:endParaRPr lang="en-US" sz="1250" dirty="0"/>
          </a:p>
        </p:txBody>
      </p:sp>
      <p:sp>
        <p:nvSpPr>
          <p:cNvPr id="22" name="Text 20"/>
          <p:cNvSpPr/>
          <p:nvPr/>
        </p:nvSpPr>
        <p:spPr>
          <a:xfrm>
            <a:off x="868680" y="5989320"/>
            <a:ext cx="10424160" cy="365760"/>
          </a:xfrm>
          <a:prstGeom prst="rect">
            <a:avLst/>
          </a:prstGeom>
          <a:noFill/>
          <a:ln/>
        </p:spPr>
        <p:txBody>
          <a:bodyPr wrap="square" lIns="0" tIns="0" rIns="0" bIns="0" rtlCol="0" anchor="ctr"/>
          <a:lstStyle/>
          <a:p>
            <a:pPr marL="0" indent="0">
              <a:buNone/>
            </a:pPr>
            <a:r>
              <a:rPr lang="en-US" sz="1300" i="1" dirty="0">
                <a:solidFill>
                  <a:srgbClr val="9AA3AF"/>
                </a:solidFill>
                <a:latin typeface="Calibri" pitchFamily="34" charset="0"/>
                <a:ea typeface="Calibri" pitchFamily="34" charset="-122"/>
                <a:cs typeface="Calibri" pitchFamily="34" charset="-120"/>
              </a:rPr>
              <a:t>Der Preflight kostet eine zusätzliche Runde - deshalb cachen Browser die Antwort (Access-Control-Max-Age).</a:t>
            </a:r>
            <a:endParaRPr lang="en-US" sz="1300" dirty="0"/>
          </a:p>
        </p:txBody>
      </p:sp>
      <p:sp>
        <p:nvSpPr>
          <p:cNvPr id="23" name="Text 1">
            <a:extLst>
              <a:ext uri="{FF2B5EF4-FFF2-40B4-BE49-F238E27FC236}">
                <a16:creationId xmlns:a16="http://schemas.microsoft.com/office/drawing/2014/main" id="{FD3F7E3C-122B-DBFF-219E-B221CD7E808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06</a:t>
            </a:r>
            <a:endParaRPr lang="en-US" sz="1050" dirty="0"/>
          </a:p>
        </p:txBody>
      </p:sp>
      <p:sp>
        <p:nvSpPr>
          <p:cNvPr id="4" name="Text 2"/>
          <p:cNvSpPr/>
          <p:nvPr/>
        </p:nvSpPr>
        <p:spPr>
          <a:xfrm>
            <a:off x="868680" y="1051560"/>
            <a:ext cx="1078992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Wildcard oder Credentials - nicht beides</a:t>
            </a:r>
            <a:endParaRPr lang="en-US" sz="34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Wie weit die Freigabe geht, hängt davon ab, ob Anmeldedaten im Spiel sind. Der Browser erzwingt hier eine klare Regel.</a:t>
            </a:r>
            <a:endParaRPr lang="en-US" sz="1650" dirty="0"/>
          </a:p>
        </p:txBody>
      </p:sp>
      <p:sp>
        <p:nvSpPr>
          <p:cNvPr id="6" name="Text 4"/>
          <p:cNvSpPr/>
          <p:nvPr/>
        </p:nvSpPr>
        <p:spPr>
          <a:xfrm>
            <a:off x="868680" y="2834640"/>
            <a:ext cx="4937760" cy="411480"/>
          </a:xfrm>
          <a:prstGeom prst="rect">
            <a:avLst/>
          </a:prstGeom>
          <a:noFill/>
          <a:ln/>
        </p:spPr>
        <p:txBody>
          <a:bodyPr wrap="square" lIns="0" tIns="0" rIns="0" bIns="0" rtlCol="0" anchor="ctr"/>
          <a:lstStyle/>
          <a:p>
            <a:pPr marL="0" indent="0">
              <a:buNone/>
            </a:pPr>
            <a:r>
              <a:rPr lang="en-US" sz="1600" b="1" dirty="0">
                <a:solidFill>
                  <a:srgbClr val="1463FF"/>
                </a:solidFill>
                <a:latin typeface="Consolas" pitchFamily="34" charset="0"/>
                <a:ea typeface="Consolas" pitchFamily="34" charset="-122"/>
                <a:cs typeface="Consolas" pitchFamily="34" charset="-120"/>
              </a:rPr>
              <a:t>Allow-Origin: *</a:t>
            </a:r>
            <a:endParaRPr lang="en-US" sz="1600" dirty="0"/>
          </a:p>
        </p:txBody>
      </p:sp>
      <p:sp>
        <p:nvSpPr>
          <p:cNvPr id="7" name="Shape 5"/>
          <p:cNvSpPr/>
          <p:nvPr/>
        </p:nvSpPr>
        <p:spPr>
          <a:xfrm>
            <a:off x="868680" y="3429000"/>
            <a:ext cx="4937760" cy="0"/>
          </a:xfrm>
          <a:prstGeom prst="line">
            <a:avLst/>
          </a:prstGeom>
          <a:noFill/>
          <a:ln w="12700">
            <a:solidFill>
              <a:srgbClr val="E4E7EC"/>
            </a:solidFill>
            <a:prstDash val="solid"/>
          </a:ln>
        </p:spPr>
      </p:sp>
      <p:sp>
        <p:nvSpPr>
          <p:cNvPr id="8" name="Text 6"/>
          <p:cNvSpPr/>
          <p:nvPr/>
        </p:nvSpPr>
        <p:spPr>
          <a:xfrm>
            <a:off x="86868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Jede Origin darf lesen.</a:t>
            </a:r>
            <a:endParaRPr lang="en-US" sz="1400" dirty="0"/>
          </a:p>
        </p:txBody>
      </p:sp>
      <p:sp>
        <p:nvSpPr>
          <p:cNvPr id="9" name="Shape 7"/>
          <p:cNvSpPr/>
          <p:nvPr/>
        </p:nvSpPr>
        <p:spPr>
          <a:xfrm>
            <a:off x="868680" y="4087368"/>
            <a:ext cx="4937760" cy="0"/>
          </a:xfrm>
          <a:prstGeom prst="line">
            <a:avLst/>
          </a:prstGeom>
          <a:noFill/>
          <a:ln w="12700">
            <a:solidFill>
              <a:srgbClr val="E4E7EC"/>
            </a:solidFill>
            <a:prstDash val="solid"/>
          </a:ln>
        </p:spPr>
      </p:sp>
      <p:sp>
        <p:nvSpPr>
          <p:cNvPr id="10" name="Text 8"/>
          <p:cNvSpPr/>
          <p:nvPr/>
        </p:nvSpPr>
        <p:spPr>
          <a:xfrm>
            <a:off x="86868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Nur für </a:t>
            </a:r>
            <a:r>
              <a:rPr lang="en-US" sz="1400" dirty="0" err="1">
                <a:solidFill>
                  <a:srgbClr val="55606E"/>
                </a:solidFill>
                <a:latin typeface="Calibri" pitchFamily="34" charset="0"/>
                <a:ea typeface="Calibri" pitchFamily="34" charset="-122"/>
                <a:cs typeface="Calibri" pitchFamily="34" charset="-120"/>
              </a:rPr>
              <a:t>öffentliche</a:t>
            </a:r>
            <a:r>
              <a:rPr lang="en-US" sz="1400" dirty="0">
                <a:solidFill>
                  <a:srgbClr val="55606E"/>
                </a:solidFill>
                <a:latin typeface="Calibri" pitchFamily="34" charset="0"/>
                <a:ea typeface="Calibri" pitchFamily="34" charset="-122"/>
                <a:cs typeface="Calibri" pitchFamily="34" charset="-120"/>
              </a:rPr>
              <a:t>, nicht vertrauliche Daten.</a:t>
            </a:r>
            <a:endParaRPr lang="en-US" sz="1400" dirty="0"/>
          </a:p>
        </p:txBody>
      </p:sp>
      <p:sp>
        <p:nvSpPr>
          <p:cNvPr id="11" name="Shape 9"/>
          <p:cNvSpPr/>
          <p:nvPr/>
        </p:nvSpPr>
        <p:spPr>
          <a:xfrm>
            <a:off x="868680" y="4745736"/>
            <a:ext cx="4937760" cy="0"/>
          </a:xfrm>
          <a:prstGeom prst="line">
            <a:avLst/>
          </a:prstGeom>
          <a:noFill/>
          <a:ln w="12700">
            <a:solidFill>
              <a:srgbClr val="E4E7EC"/>
            </a:solidFill>
            <a:prstDash val="solid"/>
          </a:ln>
        </p:spPr>
      </p:sp>
      <p:sp>
        <p:nvSpPr>
          <p:cNvPr id="12" name="Text 10"/>
          <p:cNvSpPr/>
          <p:nvPr/>
        </p:nvSpPr>
        <p:spPr>
          <a:xfrm>
            <a:off x="86868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Funktioniert NICHT zusammen mit Credentials.</a:t>
            </a:r>
            <a:endParaRPr lang="en-US" sz="1400" dirty="0"/>
          </a:p>
        </p:txBody>
      </p:sp>
      <p:sp>
        <p:nvSpPr>
          <p:cNvPr id="13" name="Text 11"/>
          <p:cNvSpPr/>
          <p:nvPr/>
        </p:nvSpPr>
        <p:spPr>
          <a:xfrm>
            <a:off x="6446520" y="2834640"/>
            <a:ext cx="4937760" cy="411480"/>
          </a:xfrm>
          <a:prstGeom prst="rect">
            <a:avLst/>
          </a:prstGeom>
          <a:noFill/>
          <a:ln/>
        </p:spPr>
        <p:txBody>
          <a:bodyPr wrap="square" lIns="0" tIns="0" rIns="0" bIns="0" rtlCol="0" anchor="ctr"/>
          <a:lstStyle/>
          <a:p>
            <a:pPr marL="0" indent="0">
              <a:buNone/>
            </a:pPr>
            <a:r>
              <a:rPr lang="en-US" sz="1600" b="1" dirty="0">
                <a:solidFill>
                  <a:srgbClr val="1E8F5E"/>
                </a:solidFill>
                <a:latin typeface="Consolas" pitchFamily="34" charset="0"/>
                <a:ea typeface="Consolas" pitchFamily="34" charset="-122"/>
                <a:cs typeface="Consolas" pitchFamily="34" charset="-120"/>
              </a:rPr>
              <a:t>Feste Origin + Credentials</a:t>
            </a:r>
            <a:endParaRPr lang="en-US" sz="1600" dirty="0"/>
          </a:p>
        </p:txBody>
      </p:sp>
      <p:sp>
        <p:nvSpPr>
          <p:cNvPr id="14" name="Shape 12"/>
          <p:cNvSpPr/>
          <p:nvPr/>
        </p:nvSpPr>
        <p:spPr>
          <a:xfrm>
            <a:off x="6446520" y="3429000"/>
            <a:ext cx="4937760" cy="0"/>
          </a:xfrm>
          <a:prstGeom prst="line">
            <a:avLst/>
          </a:prstGeom>
          <a:noFill/>
          <a:ln w="12700">
            <a:solidFill>
              <a:srgbClr val="E4E7EC"/>
            </a:solidFill>
            <a:prstDash val="solid"/>
          </a:ln>
        </p:spPr>
      </p:sp>
      <p:sp>
        <p:nvSpPr>
          <p:cNvPr id="15" name="Text 13"/>
          <p:cNvSpPr/>
          <p:nvPr/>
        </p:nvSpPr>
        <p:spPr>
          <a:xfrm>
            <a:off x="644652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Genau eine konkrete Origin erlaubt.</a:t>
            </a:r>
            <a:endParaRPr lang="en-US" sz="1400" dirty="0"/>
          </a:p>
        </p:txBody>
      </p:sp>
      <p:sp>
        <p:nvSpPr>
          <p:cNvPr id="16" name="Shape 14"/>
          <p:cNvSpPr/>
          <p:nvPr/>
        </p:nvSpPr>
        <p:spPr>
          <a:xfrm>
            <a:off x="6446520" y="4087368"/>
            <a:ext cx="4937760" cy="0"/>
          </a:xfrm>
          <a:prstGeom prst="line">
            <a:avLst/>
          </a:prstGeom>
          <a:noFill/>
          <a:ln w="12700">
            <a:solidFill>
              <a:srgbClr val="E4E7EC"/>
            </a:solidFill>
            <a:prstDash val="solid"/>
          </a:ln>
        </p:spPr>
      </p:sp>
      <p:sp>
        <p:nvSpPr>
          <p:cNvPr id="17" name="Text 15"/>
          <p:cNvSpPr/>
          <p:nvPr/>
        </p:nvSpPr>
        <p:spPr>
          <a:xfrm>
            <a:off x="644652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Cookies / Auth </a:t>
            </a:r>
            <a:r>
              <a:rPr lang="en-US" sz="1400" dirty="0" err="1">
                <a:solidFill>
                  <a:srgbClr val="55606E"/>
                </a:solidFill>
                <a:latin typeface="Calibri" pitchFamily="34" charset="0"/>
                <a:ea typeface="Calibri" pitchFamily="34" charset="-122"/>
                <a:cs typeface="Calibri" pitchFamily="34" charset="-120"/>
              </a:rPr>
              <a:t>dürfen</a:t>
            </a:r>
            <a:r>
              <a:rPr lang="en-US" sz="1400" dirty="0">
                <a:solidFill>
                  <a:srgbClr val="55606E"/>
                </a:solidFill>
                <a:latin typeface="Calibri" pitchFamily="34" charset="0"/>
                <a:ea typeface="Calibri" pitchFamily="34" charset="-122"/>
                <a:cs typeface="Calibri" pitchFamily="34" charset="-120"/>
              </a:rPr>
              <a:t> mitgesendet werden.</a:t>
            </a:r>
            <a:endParaRPr lang="en-US" sz="1400" dirty="0"/>
          </a:p>
        </p:txBody>
      </p:sp>
      <p:sp>
        <p:nvSpPr>
          <p:cNvPr id="18" name="Shape 16"/>
          <p:cNvSpPr/>
          <p:nvPr/>
        </p:nvSpPr>
        <p:spPr>
          <a:xfrm>
            <a:off x="6446520" y="4745736"/>
            <a:ext cx="4937760" cy="0"/>
          </a:xfrm>
          <a:prstGeom prst="line">
            <a:avLst/>
          </a:prstGeom>
          <a:noFill/>
          <a:ln w="12700">
            <a:solidFill>
              <a:srgbClr val="E4E7EC"/>
            </a:solidFill>
            <a:prstDash val="solid"/>
          </a:ln>
        </p:spPr>
      </p:sp>
      <p:sp>
        <p:nvSpPr>
          <p:cNvPr id="19" name="Text 17"/>
          <p:cNvSpPr/>
          <p:nvPr/>
        </p:nvSpPr>
        <p:spPr>
          <a:xfrm>
            <a:off x="644652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Pflicht, sobald es um Nutzerdaten geht.</a:t>
            </a:r>
            <a:endParaRPr lang="en-US" sz="1400" dirty="0"/>
          </a:p>
        </p:txBody>
      </p:sp>
      <p:sp>
        <p:nvSpPr>
          <p:cNvPr id="23" name="Text 1">
            <a:extLst>
              <a:ext uri="{FF2B5EF4-FFF2-40B4-BE49-F238E27FC236}">
                <a16:creationId xmlns:a16="http://schemas.microsoft.com/office/drawing/2014/main" id="{5A01C078-220C-60C8-AB8E-826648C197B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WICHTIGSTE BOTSCHAFT</a:t>
            </a:r>
            <a:endParaRPr lang="en-US" sz="1050" dirty="0"/>
          </a:p>
        </p:txBody>
      </p:sp>
      <p:sp>
        <p:nvSpPr>
          <p:cNvPr id="4" name="Text 2"/>
          <p:cNvSpPr/>
          <p:nvPr/>
        </p:nvSpPr>
        <p:spPr>
          <a:xfrm>
            <a:off x="868680" y="1600200"/>
            <a:ext cx="10424160" cy="1554480"/>
          </a:xfrm>
          <a:prstGeom prst="rect">
            <a:avLst/>
          </a:prstGeom>
          <a:noFill/>
          <a:ln/>
        </p:spPr>
        <p:txBody>
          <a:bodyPr wrap="square" lIns="0" tIns="0" rIns="0" bIns="0" rtlCol="0" anchor="ctr"/>
          <a:lstStyle/>
          <a:p>
            <a:pPr marL="0" indent="0">
              <a:buNone/>
            </a:pPr>
            <a:r>
              <a:rPr lang="en-US" sz="4800" b="1" dirty="0">
                <a:solidFill>
                  <a:srgbClr val="16181D"/>
                </a:solidFill>
                <a:latin typeface="Trebuchet MS" pitchFamily="34" charset="0"/>
                <a:ea typeface="Trebuchet MS" pitchFamily="34" charset="-122"/>
                <a:cs typeface="Trebuchet MS" pitchFamily="34" charset="-120"/>
              </a:rPr>
              <a:t>CORS ist </a:t>
            </a:r>
            <a:r>
              <a:rPr lang="en-US" sz="4800" b="1" dirty="0">
                <a:solidFill>
                  <a:srgbClr val="D23B4E"/>
                </a:solidFill>
                <a:latin typeface="Trebuchet MS" pitchFamily="34" charset="0"/>
                <a:ea typeface="Trebuchet MS" pitchFamily="34" charset="-122"/>
                <a:cs typeface="Trebuchet MS" pitchFamily="34" charset="-120"/>
              </a:rPr>
              <a:t>keine</a:t>
            </a:r>
            <a:r>
              <a:rPr lang="en-US" sz="4800" b="1" dirty="0">
                <a:solidFill>
                  <a:srgbClr val="16181D"/>
                </a:solidFill>
                <a:latin typeface="Trebuchet MS" pitchFamily="34" charset="0"/>
                <a:ea typeface="Trebuchet MS" pitchFamily="34" charset="-122"/>
                <a:cs typeface="Trebuchet MS" pitchFamily="34" charset="-120"/>
              </a:rPr>
              <a:t> Authentifizierung.</a:t>
            </a:r>
            <a:endParaRPr lang="en-US" sz="4800" dirty="0"/>
          </a:p>
        </p:txBody>
      </p:sp>
      <p:sp>
        <p:nvSpPr>
          <p:cNvPr id="5" name="Text 3"/>
          <p:cNvSpPr/>
          <p:nvPr/>
        </p:nvSpPr>
        <p:spPr>
          <a:xfrm>
            <a:off x="868680" y="3337560"/>
            <a:ext cx="9875520" cy="731520"/>
          </a:xfrm>
          <a:prstGeom prst="rect">
            <a:avLst/>
          </a:prstGeom>
          <a:noFill/>
          <a:ln/>
        </p:spPr>
        <p:txBody>
          <a:bodyPr wrap="square" lIns="0" tIns="0" rIns="0" bIns="0" rtlCol="0" anchor="ctr"/>
          <a:lstStyle/>
          <a:p>
            <a:pPr marL="0" indent="0">
              <a:buNone/>
            </a:pPr>
            <a:r>
              <a:rPr lang="en-US" sz="1900" dirty="0">
                <a:solidFill>
                  <a:srgbClr val="55606E"/>
                </a:solidFill>
                <a:latin typeface="Calibri" pitchFamily="34" charset="0"/>
                <a:ea typeface="Calibri" pitchFamily="34" charset="-122"/>
                <a:cs typeface="Calibri" pitchFamily="34" charset="-120"/>
              </a:rPr>
              <a:t>Es regelt nur, ob fremdes JavaScript die Antwort lesen darf. Wer der Nutzer ist und was er darf, muss der Server weiterhin selbst prüfen.</a:t>
            </a:r>
            <a:endParaRPr lang="en-US" sz="1900" dirty="0"/>
          </a:p>
        </p:txBody>
      </p:sp>
      <p:sp>
        <p:nvSpPr>
          <p:cNvPr id="6" name="Shape 4"/>
          <p:cNvSpPr/>
          <p:nvPr/>
        </p:nvSpPr>
        <p:spPr>
          <a:xfrm>
            <a:off x="868680" y="4572000"/>
            <a:ext cx="10454335" cy="0"/>
          </a:xfrm>
          <a:prstGeom prst="line">
            <a:avLst/>
          </a:prstGeom>
          <a:noFill/>
          <a:ln w="12700">
            <a:solidFill>
              <a:srgbClr val="E4E7EC"/>
            </a:solidFill>
            <a:prstDash val="solid"/>
          </a:ln>
        </p:spPr>
      </p:sp>
      <p:sp>
        <p:nvSpPr>
          <p:cNvPr id="7" name="Text 5"/>
          <p:cNvSpPr/>
          <p:nvPr/>
        </p:nvSpPr>
        <p:spPr>
          <a:xfrm>
            <a:off x="86868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AUTHENTIFIZIERUNG &amp; RECHTE</a:t>
            </a:r>
            <a:endParaRPr lang="en-US" sz="1150" dirty="0"/>
          </a:p>
        </p:txBody>
      </p:sp>
      <p:sp>
        <p:nvSpPr>
          <p:cNvPr id="8" name="Text 6"/>
          <p:cNvSpPr/>
          <p:nvPr/>
        </p:nvSpPr>
        <p:spPr>
          <a:xfrm>
            <a:off x="86868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Prüft serverseitig, wer der Nutzer ist und was er sehen darf. Schützt die Daten selbst.</a:t>
            </a:r>
            <a:endParaRPr lang="en-US" sz="1400" dirty="0"/>
          </a:p>
        </p:txBody>
      </p:sp>
      <p:sp>
        <p:nvSpPr>
          <p:cNvPr id="9" name="Shape 7"/>
          <p:cNvSpPr/>
          <p:nvPr/>
        </p:nvSpPr>
        <p:spPr>
          <a:xfrm>
            <a:off x="6172200" y="4864608"/>
            <a:ext cx="0" cy="914400"/>
          </a:xfrm>
          <a:prstGeom prst="line">
            <a:avLst/>
          </a:prstGeom>
          <a:noFill/>
          <a:ln w="12700">
            <a:solidFill>
              <a:srgbClr val="E4E7EC"/>
            </a:solidFill>
            <a:prstDash val="solid"/>
          </a:ln>
        </p:spPr>
      </p:sp>
      <p:sp>
        <p:nvSpPr>
          <p:cNvPr id="10" name="Text 8"/>
          <p:cNvSpPr/>
          <p:nvPr/>
        </p:nvSpPr>
        <p:spPr>
          <a:xfrm>
            <a:off x="644652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CORS</a:t>
            </a:r>
            <a:endParaRPr lang="en-US" sz="1150" dirty="0"/>
          </a:p>
        </p:txBody>
      </p:sp>
      <p:sp>
        <p:nvSpPr>
          <p:cNvPr id="11" name="Text 9"/>
          <p:cNvSpPr/>
          <p:nvPr/>
        </p:nvSpPr>
        <p:spPr>
          <a:xfrm>
            <a:off x="644652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Hebt nur die Browser-Lesesperre für bestimmte Origins auf. Gibt keinerlei Rechte.</a:t>
            </a:r>
            <a:endParaRPr lang="en-US" sz="1400" dirty="0"/>
          </a:p>
        </p:txBody>
      </p:sp>
      <p:sp>
        <p:nvSpPr>
          <p:cNvPr id="12" name="Text 1">
            <a:extLst>
              <a:ext uri="{FF2B5EF4-FFF2-40B4-BE49-F238E27FC236}">
                <a16:creationId xmlns:a16="http://schemas.microsoft.com/office/drawing/2014/main" id="{733DD691-8C5F-4799-AD01-2F0B39F5DEC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ZUSAMMENFASSUNG</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Das Wichtigste in Kürze</a:t>
            </a:r>
            <a:endParaRPr lang="en-US" sz="4000" dirty="0"/>
          </a:p>
        </p:txBody>
      </p:sp>
      <p:sp>
        <p:nvSpPr>
          <p:cNvPr id="5" name="Shape 3"/>
          <p:cNvSpPr/>
          <p:nvPr/>
        </p:nvSpPr>
        <p:spPr>
          <a:xfrm>
            <a:off x="868680" y="2240280"/>
            <a:ext cx="10454335" cy="0"/>
          </a:xfrm>
          <a:prstGeom prst="line">
            <a:avLst/>
          </a:prstGeom>
          <a:noFill/>
          <a:ln w="12700">
            <a:solidFill>
              <a:srgbClr val="E4E7EC"/>
            </a:solidFill>
            <a:prstDash val="solid"/>
          </a:ln>
        </p:spPr>
      </p:sp>
      <p:sp>
        <p:nvSpPr>
          <p:cNvPr id="6" name="Text 4"/>
          <p:cNvSpPr/>
          <p:nvPr/>
        </p:nvSpPr>
        <p:spPr>
          <a:xfrm>
            <a:off x="868680" y="256032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7" name="Text 5"/>
          <p:cNvSpPr/>
          <p:nvPr/>
        </p:nvSpPr>
        <p:spPr>
          <a:xfrm>
            <a:off x="1508760" y="256032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Die Same-Origin Policy blockiert standardmäßig Cross-Origin-Lesen.</a:t>
            </a:r>
            <a:endParaRPr lang="en-US" sz="1600" dirty="0"/>
          </a:p>
        </p:txBody>
      </p:sp>
      <p:sp>
        <p:nvSpPr>
          <p:cNvPr id="8" name="Text 6"/>
          <p:cNvSpPr/>
          <p:nvPr/>
        </p:nvSpPr>
        <p:spPr>
          <a:xfrm>
            <a:off x="868680" y="31089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9" name="Text 7"/>
          <p:cNvSpPr/>
          <p:nvPr/>
        </p:nvSpPr>
        <p:spPr>
          <a:xfrm>
            <a:off x="1508760" y="31089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lockert das </a:t>
            </a:r>
            <a:r>
              <a:rPr lang="en-US" sz="1600" dirty="0" err="1">
                <a:solidFill>
                  <a:srgbClr val="16181D"/>
                </a:solidFill>
                <a:latin typeface="Calibri" pitchFamily="34" charset="0"/>
                <a:ea typeface="Calibri" pitchFamily="34" charset="-122"/>
                <a:cs typeface="Calibri" pitchFamily="34" charset="-120"/>
              </a:rPr>
              <a:t>kontrolliert</a:t>
            </a:r>
            <a:r>
              <a:rPr lang="en-US" sz="1600" dirty="0">
                <a:solidFill>
                  <a:srgbClr val="16181D"/>
                </a:solidFill>
                <a:latin typeface="Calibri" pitchFamily="34" charset="0"/>
                <a:ea typeface="Calibri" pitchFamily="34" charset="-122"/>
                <a:cs typeface="Calibri" pitchFamily="34" charset="-120"/>
              </a:rPr>
              <a:t> per Header vom Server.</a:t>
            </a:r>
            <a:endParaRPr lang="en-US" sz="1600" dirty="0"/>
          </a:p>
        </p:txBody>
      </p:sp>
      <p:sp>
        <p:nvSpPr>
          <p:cNvPr id="10" name="Text 8"/>
          <p:cNvSpPr/>
          <p:nvPr/>
        </p:nvSpPr>
        <p:spPr>
          <a:xfrm>
            <a:off x="868680" y="36576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1" name="Text 9"/>
          <p:cNvSpPr/>
          <p:nvPr/>
        </p:nvSpPr>
        <p:spPr>
          <a:xfrm>
            <a:off x="1508760" y="365760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Der Browser entscheidet anhand der Header, nicht der Server.</a:t>
            </a:r>
            <a:endParaRPr lang="en-US" sz="1600" dirty="0"/>
          </a:p>
        </p:txBody>
      </p:sp>
      <p:sp>
        <p:nvSpPr>
          <p:cNvPr id="12" name="Text 10"/>
          <p:cNvSpPr/>
          <p:nvPr/>
        </p:nvSpPr>
        <p:spPr>
          <a:xfrm>
            <a:off x="868680" y="42062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3" name="Text 11"/>
          <p:cNvSpPr/>
          <p:nvPr/>
        </p:nvSpPr>
        <p:spPr>
          <a:xfrm>
            <a:off x="1508760" y="42062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Bei besonderen Requests kommt ein OPTIONS-Preflight davor.</a:t>
            </a:r>
            <a:endParaRPr lang="en-US" sz="1600" dirty="0"/>
          </a:p>
        </p:txBody>
      </p:sp>
      <p:sp>
        <p:nvSpPr>
          <p:cNvPr id="14" name="Text 12"/>
          <p:cNvSpPr/>
          <p:nvPr/>
        </p:nvSpPr>
        <p:spPr>
          <a:xfrm>
            <a:off x="868680" y="47548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05</a:t>
            </a:r>
            <a:endParaRPr lang="en-US" sz="1700" dirty="0"/>
          </a:p>
        </p:txBody>
      </p:sp>
      <p:sp>
        <p:nvSpPr>
          <p:cNvPr id="15" name="Text 13"/>
          <p:cNvSpPr/>
          <p:nvPr/>
        </p:nvSpPr>
        <p:spPr>
          <a:xfrm>
            <a:off x="1508760" y="47548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ist Lesefreigabe, kein Ersatz für Authentifizierung.</a:t>
            </a:r>
            <a:endParaRPr lang="en-US" sz="1600" dirty="0"/>
          </a:p>
        </p:txBody>
      </p:sp>
      <p:sp>
        <p:nvSpPr>
          <p:cNvPr id="16" name="Text 1">
            <a:extLst>
              <a:ext uri="{FF2B5EF4-FFF2-40B4-BE49-F238E27FC236}">
                <a16:creationId xmlns:a16="http://schemas.microsoft.com/office/drawing/2014/main" id="{1B8A174F-8C07-C37A-69B7-01A6BBFE981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AUFBAU</a:t>
            </a:r>
            <a:endParaRPr lang="en-US" sz="1050" dirty="0"/>
          </a:p>
        </p:txBody>
      </p:sp>
      <p:sp>
        <p:nvSpPr>
          <p:cNvPr id="3" name="Text 1"/>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21</a:t>
            </a:fld>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Setup</a:t>
            </a:r>
            <a:endParaRPr lang="en-US" sz="4000" dirty="0"/>
          </a:p>
        </p:txBody>
      </p:sp>
      <p:sp>
        <p:nvSpPr>
          <p:cNvPr id="5" name="Text 3"/>
          <p:cNvSpPr/>
          <p:nvPr/>
        </p:nvSpPr>
        <p:spPr>
          <a:xfrm>
            <a:off x="868680" y="1920240"/>
            <a:ext cx="10424160" cy="640080"/>
          </a:xfrm>
          <a:prstGeom prst="rect">
            <a:avLst/>
          </a:prstGeom>
          <a:noFill/>
          <a:ln/>
        </p:spPr>
        <p:txBody>
          <a:bodyPr wrap="square" lIns="0" tIns="0" rIns="0" bIns="0" rtlCol="0" anchor="ctr"/>
          <a:lstStyle/>
          <a:p>
            <a:r>
              <a:rPr lang="en-US" sz="1700" dirty="0">
                <a:solidFill>
                  <a:srgbClr val="55606E"/>
                </a:solidFill>
                <a:latin typeface="Calibri" pitchFamily="34" charset="0"/>
                <a:ea typeface="Calibri" pitchFamily="34" charset="-122"/>
                <a:cs typeface="Calibri" pitchFamily="34" charset="-120"/>
              </a:rPr>
              <a:t>Vier </a:t>
            </a:r>
            <a:r>
              <a:rPr lang="en-US" sz="1700" dirty="0" err="1">
                <a:solidFill>
                  <a:srgbClr val="55606E"/>
                </a:solidFill>
                <a:latin typeface="Calibri" pitchFamily="34" charset="0"/>
                <a:ea typeface="Calibri" pitchFamily="34" charset="-122"/>
                <a:cs typeface="Calibri" pitchFamily="34" charset="-120"/>
              </a:rPr>
              <a:t>lokale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Komponenten</a:t>
            </a:r>
            <a:endParaRPr lang="en-US" sz="1700" dirty="0"/>
          </a:p>
        </p:txBody>
      </p:sp>
      <p:sp>
        <p:nvSpPr>
          <p:cNvPr id="6" name="Shape 4"/>
          <p:cNvSpPr/>
          <p:nvPr/>
        </p:nvSpPr>
        <p:spPr>
          <a:xfrm>
            <a:off x="868680" y="2788920"/>
            <a:ext cx="10454335" cy="0"/>
          </a:xfrm>
          <a:prstGeom prst="line">
            <a:avLst/>
          </a:prstGeom>
          <a:noFill/>
          <a:ln w="12700">
            <a:solidFill>
              <a:srgbClr val="E4E7EC"/>
            </a:solidFill>
            <a:prstDash val="solid"/>
          </a:ln>
        </p:spPr>
      </p:sp>
      <p:sp>
        <p:nvSpPr>
          <p:cNvPr id="7" name="Text 5"/>
          <p:cNvSpPr/>
          <p:nvPr/>
        </p:nvSpPr>
        <p:spPr>
          <a:xfrm>
            <a:off x="868680" y="2916936"/>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docker-compose up</a:t>
            </a:r>
            <a:endParaRPr lang="en-US" sz="1500" dirty="0"/>
          </a:p>
        </p:txBody>
      </p:sp>
      <p:sp>
        <p:nvSpPr>
          <p:cNvPr id="8" name="Text 6"/>
          <p:cNvSpPr/>
          <p:nvPr/>
        </p:nvSpPr>
        <p:spPr>
          <a:xfrm>
            <a:off x="868680" y="3246120"/>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Keycloak · Postgres</a:t>
            </a:r>
            <a:endParaRPr lang="en-US" sz="1250" dirty="0"/>
          </a:p>
        </p:txBody>
      </p:sp>
      <p:sp>
        <p:nvSpPr>
          <p:cNvPr id="9" name="Text 7"/>
          <p:cNvSpPr/>
          <p:nvPr/>
        </p:nvSpPr>
        <p:spPr>
          <a:xfrm>
            <a:off x="8579815" y="2916936"/>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:8080 / :5432</a:t>
            </a:r>
            <a:endParaRPr lang="en-US" sz="1500" dirty="0"/>
          </a:p>
        </p:txBody>
      </p:sp>
      <p:sp>
        <p:nvSpPr>
          <p:cNvPr id="10" name="Shape 8"/>
          <p:cNvSpPr/>
          <p:nvPr/>
        </p:nvSpPr>
        <p:spPr>
          <a:xfrm>
            <a:off x="868680" y="3630168"/>
            <a:ext cx="10454335" cy="0"/>
          </a:xfrm>
          <a:prstGeom prst="line">
            <a:avLst/>
          </a:prstGeom>
          <a:noFill/>
          <a:ln w="12700">
            <a:solidFill>
              <a:srgbClr val="E4E7EC"/>
            </a:solidFill>
            <a:prstDash val="solid"/>
          </a:ln>
        </p:spPr>
      </p:sp>
      <p:sp>
        <p:nvSpPr>
          <p:cNvPr id="11" name="Text 9"/>
          <p:cNvSpPr/>
          <p:nvPr/>
        </p:nvSpPr>
        <p:spPr>
          <a:xfrm>
            <a:off x="868680" y="3758184"/>
            <a:ext cx="5943600" cy="384048"/>
          </a:xfrm>
          <a:prstGeom prst="rect">
            <a:avLst/>
          </a:prstGeom>
          <a:noFill/>
          <a:ln/>
        </p:spPr>
        <p:txBody>
          <a:bodyPr wrap="square" lIns="0" tIns="0" rIns="0" bIns="0" rtlCol="0" anchor="ctr"/>
          <a:lstStyle/>
          <a:p>
            <a:pPr marL="0" indent="0">
              <a:buNone/>
            </a:pPr>
            <a:r>
              <a:rPr lang="en-US" sz="1500" b="1" dirty="0" err="1">
                <a:solidFill>
                  <a:srgbClr val="16181D"/>
                </a:solidFill>
                <a:latin typeface="Consolas" pitchFamily="34" charset="0"/>
                <a:ea typeface="Consolas" pitchFamily="34" charset="-122"/>
                <a:cs typeface="Consolas" pitchFamily="34" charset="-120"/>
              </a:rPr>
              <a:t>gradlew</a:t>
            </a:r>
            <a:r>
              <a:rPr lang="en-US" sz="1500" b="1" dirty="0">
                <a:solidFill>
                  <a:srgbClr val="16181D"/>
                </a:solidFill>
                <a:latin typeface="Consolas" pitchFamily="34" charset="0"/>
                <a:ea typeface="Consolas" pitchFamily="34" charset="-122"/>
                <a:cs typeface="Consolas" pitchFamily="34" charset="-120"/>
              </a:rPr>
              <a:t> </a:t>
            </a:r>
            <a:r>
              <a:rPr lang="en-US" sz="1500" b="1" dirty="0" err="1">
                <a:solidFill>
                  <a:srgbClr val="16181D"/>
                </a:solidFill>
                <a:latin typeface="Consolas" pitchFamily="34" charset="0"/>
                <a:ea typeface="Consolas" pitchFamily="34" charset="-122"/>
                <a:cs typeface="Consolas" pitchFamily="34" charset="-120"/>
              </a:rPr>
              <a:t>bootRun</a:t>
            </a:r>
            <a:endParaRPr lang="en-US" sz="1500" dirty="0"/>
          </a:p>
        </p:txBody>
      </p:sp>
      <p:sp>
        <p:nvSpPr>
          <p:cNvPr id="12" name="Text 10"/>
          <p:cNvSpPr/>
          <p:nvPr/>
        </p:nvSpPr>
        <p:spPr>
          <a:xfrm>
            <a:off x="868680" y="4087368"/>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Spring-Boot-API</a:t>
            </a:r>
            <a:endParaRPr lang="en-US" sz="1250" dirty="0"/>
          </a:p>
        </p:txBody>
      </p:sp>
      <p:sp>
        <p:nvSpPr>
          <p:cNvPr id="13" name="Text 11"/>
          <p:cNvSpPr/>
          <p:nvPr/>
        </p:nvSpPr>
        <p:spPr>
          <a:xfrm>
            <a:off x="8579815" y="3758184"/>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:8079</a:t>
            </a:r>
            <a:endParaRPr lang="en-US" sz="1500" dirty="0"/>
          </a:p>
        </p:txBody>
      </p:sp>
      <p:sp>
        <p:nvSpPr>
          <p:cNvPr id="14" name="Shape 12"/>
          <p:cNvSpPr/>
          <p:nvPr/>
        </p:nvSpPr>
        <p:spPr>
          <a:xfrm>
            <a:off x="868680" y="4471416"/>
            <a:ext cx="10454335" cy="0"/>
          </a:xfrm>
          <a:prstGeom prst="line">
            <a:avLst/>
          </a:prstGeom>
          <a:noFill/>
          <a:ln w="12700">
            <a:solidFill>
              <a:srgbClr val="E4E7EC"/>
            </a:solidFill>
            <a:prstDash val="solid"/>
          </a:ln>
        </p:spPr>
      </p:sp>
      <p:sp>
        <p:nvSpPr>
          <p:cNvPr id="15" name="Text 13"/>
          <p:cNvSpPr/>
          <p:nvPr/>
        </p:nvSpPr>
        <p:spPr>
          <a:xfrm>
            <a:off x="868680" y="4599432"/>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npm run dev</a:t>
            </a:r>
            <a:endParaRPr lang="en-US" sz="1500" dirty="0"/>
          </a:p>
        </p:txBody>
      </p:sp>
      <p:sp>
        <p:nvSpPr>
          <p:cNvPr id="16" name="Text 14"/>
          <p:cNvSpPr/>
          <p:nvPr/>
        </p:nvSpPr>
        <p:spPr>
          <a:xfrm>
            <a:off x="868680" y="4928616"/>
            <a:ext cx="6400800" cy="329184"/>
          </a:xfrm>
          <a:prstGeom prst="rect">
            <a:avLst/>
          </a:prstGeom>
          <a:noFill/>
          <a:ln/>
        </p:spPr>
        <p:txBody>
          <a:bodyPr wrap="square" lIns="0" tIns="0" rIns="0" bIns="0" rtlCol="0" anchor="ctr"/>
          <a:lstStyle/>
          <a:p>
            <a:pPr marL="0" indent="0">
              <a:buNone/>
            </a:pPr>
            <a:r>
              <a:rPr lang="en-US" sz="1250" dirty="0" err="1">
                <a:solidFill>
                  <a:srgbClr val="55606E"/>
                </a:solidFill>
                <a:latin typeface="Calibri" pitchFamily="34" charset="0"/>
                <a:ea typeface="Calibri" pitchFamily="34" charset="-122"/>
                <a:cs typeface="Calibri" pitchFamily="34" charset="-120"/>
              </a:rPr>
              <a:t>reguläres</a:t>
            </a:r>
            <a:r>
              <a:rPr lang="en-US" sz="1250" dirty="0">
                <a:solidFill>
                  <a:srgbClr val="55606E"/>
                </a:solidFill>
                <a:latin typeface="Calibri" pitchFamily="34" charset="0"/>
                <a:ea typeface="Calibri" pitchFamily="34" charset="-122"/>
                <a:cs typeface="Calibri" pitchFamily="34" charset="-120"/>
              </a:rPr>
              <a:t> Vue-Frontend</a:t>
            </a:r>
            <a:endParaRPr lang="en-US" sz="1250" dirty="0"/>
          </a:p>
        </p:txBody>
      </p:sp>
      <p:sp>
        <p:nvSpPr>
          <p:cNvPr id="17" name="Text 15"/>
          <p:cNvSpPr/>
          <p:nvPr/>
        </p:nvSpPr>
        <p:spPr>
          <a:xfrm>
            <a:off x="8579815" y="4599432"/>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:8078</a:t>
            </a:r>
            <a:endParaRPr lang="en-US" sz="1500" dirty="0"/>
          </a:p>
        </p:txBody>
      </p:sp>
      <p:sp>
        <p:nvSpPr>
          <p:cNvPr id="18" name="Shape 16"/>
          <p:cNvSpPr/>
          <p:nvPr/>
        </p:nvSpPr>
        <p:spPr>
          <a:xfrm>
            <a:off x="868680" y="5312664"/>
            <a:ext cx="10454335" cy="0"/>
          </a:xfrm>
          <a:prstGeom prst="line">
            <a:avLst/>
          </a:prstGeom>
          <a:noFill/>
          <a:ln w="12700">
            <a:solidFill>
              <a:srgbClr val="E4E7EC"/>
            </a:solidFill>
            <a:prstDash val="solid"/>
          </a:ln>
        </p:spPr>
      </p:sp>
      <p:sp>
        <p:nvSpPr>
          <p:cNvPr id="19" name="Text 17"/>
          <p:cNvSpPr/>
          <p:nvPr/>
        </p:nvSpPr>
        <p:spPr>
          <a:xfrm>
            <a:off x="868680" y="5440680"/>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python -m http.server 5173</a:t>
            </a:r>
            <a:endParaRPr lang="en-US" sz="1500" dirty="0"/>
          </a:p>
        </p:txBody>
      </p:sp>
      <p:sp>
        <p:nvSpPr>
          <p:cNvPr id="20" name="Text 18"/>
          <p:cNvSpPr/>
          <p:nvPr/>
        </p:nvSpPr>
        <p:spPr>
          <a:xfrm>
            <a:off x="868680" y="5769864"/>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exploit.html - die </a:t>
            </a:r>
            <a:r>
              <a:rPr lang="en-US" sz="1250" dirty="0" err="1">
                <a:solidFill>
                  <a:srgbClr val="55606E"/>
                </a:solidFill>
                <a:latin typeface="Calibri" pitchFamily="34" charset="0"/>
                <a:ea typeface="Calibri" pitchFamily="34" charset="-122"/>
                <a:cs typeface="Calibri" pitchFamily="34" charset="-120"/>
              </a:rPr>
              <a:t>Angreifer-Seite</a:t>
            </a:r>
            <a:r>
              <a:rPr lang="en-US" sz="1250" dirty="0">
                <a:solidFill>
                  <a:srgbClr val="55606E"/>
                </a:solidFill>
                <a:latin typeface="Calibri" pitchFamily="34" charset="0"/>
                <a:ea typeface="Calibri" pitchFamily="34" charset="-122"/>
                <a:cs typeface="Calibri" pitchFamily="34" charset="-120"/>
              </a:rPr>
              <a:t> auf </a:t>
            </a:r>
            <a:r>
              <a:rPr lang="en-US" sz="1250" dirty="0" err="1">
                <a:solidFill>
                  <a:srgbClr val="55606E"/>
                </a:solidFill>
                <a:latin typeface="Calibri" pitchFamily="34" charset="0"/>
                <a:ea typeface="Calibri" pitchFamily="34" charset="-122"/>
                <a:cs typeface="Calibri" pitchFamily="34" charset="-120"/>
              </a:rPr>
              <a:t>anderem</a:t>
            </a:r>
            <a:r>
              <a:rPr lang="en-US" sz="1250" dirty="0">
                <a:solidFill>
                  <a:srgbClr val="55606E"/>
                </a:solidFill>
                <a:latin typeface="Calibri" pitchFamily="34" charset="0"/>
                <a:ea typeface="Calibri" pitchFamily="34" charset="-122"/>
                <a:cs typeface="Calibri" pitchFamily="34" charset="-120"/>
              </a:rPr>
              <a:t> Port für CORS</a:t>
            </a:r>
            <a:endParaRPr lang="en-US" sz="1250" dirty="0"/>
          </a:p>
        </p:txBody>
      </p:sp>
      <p:sp>
        <p:nvSpPr>
          <p:cNvPr id="21" name="Text 19"/>
          <p:cNvSpPr/>
          <p:nvPr/>
        </p:nvSpPr>
        <p:spPr>
          <a:xfrm>
            <a:off x="8579815" y="5440680"/>
            <a:ext cx="2743200" cy="548640"/>
          </a:xfrm>
          <a:prstGeom prst="rect">
            <a:avLst/>
          </a:prstGeom>
          <a:noFill/>
          <a:ln/>
        </p:spPr>
        <p:txBody>
          <a:bodyPr wrap="square" lIns="0" tIns="0" rIns="0" bIns="0" rtlCol="0" anchor="ctr"/>
          <a:lstStyle/>
          <a:p>
            <a:pPr marL="0" indent="0" algn="r">
              <a:buNone/>
            </a:pPr>
            <a:r>
              <a:rPr lang="en-US" sz="1500" b="1" dirty="0">
                <a:solidFill>
                  <a:srgbClr val="D23B4E"/>
                </a:solidFill>
                <a:latin typeface="Consolas" pitchFamily="34" charset="0"/>
                <a:ea typeface="Consolas" pitchFamily="34" charset="-122"/>
                <a:cs typeface="Consolas" pitchFamily="34" charset="-120"/>
              </a:rPr>
              <a:t>:5173</a:t>
            </a:r>
            <a:endParaRPr lang="en-US" sz="15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1</a:t>
            </a:r>
            <a:endParaRPr lang="en-US" sz="1050" dirty="0"/>
          </a:p>
        </p:txBody>
      </p:sp>
      <p:sp>
        <p:nvSpPr>
          <p:cNvPr id="4" name="Text 2"/>
          <p:cNvSpPr/>
          <p:nvPr/>
        </p:nvSpPr>
        <p:spPr>
          <a:xfrm>
            <a:off x="868680" y="914400"/>
            <a:ext cx="64008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DER ERFOLGREICHE HACK · UNSICHERES CORS</a:t>
            </a:r>
            <a:endParaRPr lang="en-US" sz="1150" dirty="0"/>
          </a:p>
        </p:txBody>
      </p:sp>
      <p:sp>
        <p:nvSpPr>
          <p:cNvPr id="5" name="Text 3"/>
          <p:cNvSpPr/>
          <p:nvPr/>
        </p:nvSpPr>
        <p:spPr>
          <a:xfrm>
            <a:off x="8686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Lautloser Download</a:t>
            </a:r>
            <a:endParaRPr lang="en-US" sz="3600" dirty="0"/>
          </a:p>
        </p:txBody>
      </p:sp>
      <p:sp>
        <p:nvSpPr>
          <p:cNvPr id="6" name="Text 4"/>
          <p:cNvSpPr/>
          <p:nvPr/>
        </p:nvSpPr>
        <p:spPr>
          <a:xfrm>
            <a:off x="868680" y="2011680"/>
            <a:ext cx="5122544" cy="822960"/>
          </a:xfrm>
          <a:prstGeom prst="rect">
            <a:avLst/>
          </a:prstGeom>
          <a:noFill/>
          <a:ln/>
        </p:spPr>
        <p:txBody>
          <a:bodyPr wrap="square" lIns="0" tIns="0" rIns="0" bIns="0" rtlCol="0" anchor="ctr"/>
          <a:lstStyle/>
          <a:p>
            <a:pPr marL="0" indent="0">
              <a:buNone/>
            </a:pPr>
            <a:r>
              <a:rPr lang="en-US" sz="1550" dirty="0" err="1">
                <a:solidFill>
                  <a:srgbClr val="55606E"/>
                </a:solidFill>
                <a:latin typeface="Calibri" pitchFamily="34" charset="0"/>
                <a:ea typeface="Calibri" pitchFamily="34" charset="-122"/>
                <a:cs typeface="Calibri" pitchFamily="34" charset="-120"/>
              </a:rPr>
              <a:t>Unsichere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im</a:t>
            </a:r>
            <a:r>
              <a:rPr lang="en-US" sz="1550" dirty="0">
                <a:solidFill>
                  <a:srgbClr val="55606E"/>
                </a:solidFill>
                <a:latin typeface="Calibri" pitchFamily="34" charset="0"/>
                <a:ea typeface="Calibri" pitchFamily="34" charset="-122"/>
                <a:cs typeface="Calibri" pitchFamily="34" charset="-120"/>
              </a:rPr>
              <a:t> Spring-Backend</a:t>
            </a:r>
            <a:endParaRPr lang="en-US" sz="1550" dirty="0"/>
          </a:p>
        </p:txBody>
      </p:sp>
      <p:sp>
        <p:nvSpPr>
          <p:cNvPr id="7" name="Text 5"/>
          <p:cNvSpPr/>
          <p:nvPr/>
        </p:nvSpPr>
        <p:spPr>
          <a:xfrm>
            <a:off x="8686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8" name="Text 6"/>
          <p:cNvSpPr/>
          <p:nvPr/>
        </p:nvSpPr>
        <p:spPr>
          <a:xfrm>
            <a:off x="868680" y="3269408"/>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allowedOriginPatterns("*")</a:t>
            </a:r>
            <a:endParaRPr lang="en-US" sz="1350" dirty="0"/>
          </a:p>
        </p:txBody>
      </p:sp>
      <p:sp>
        <p:nvSpPr>
          <p:cNvPr id="9" name="Text 7"/>
          <p:cNvSpPr/>
          <p:nvPr/>
        </p:nvSpPr>
        <p:spPr>
          <a:xfrm>
            <a:off x="868680" y="3653456"/>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allowCredentials(true)</a:t>
            </a:r>
            <a:endParaRPr lang="en-US" sz="1350" dirty="0"/>
          </a:p>
        </p:txBody>
      </p:sp>
      <p:sp>
        <p:nvSpPr>
          <p:cNvPr id="10" name="Text 8"/>
          <p:cNvSpPr/>
          <p:nvPr/>
        </p:nvSpPr>
        <p:spPr>
          <a:xfrm>
            <a:off x="8686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EFFEKT</a:t>
            </a:r>
            <a:endParaRPr lang="en-US" sz="1100" dirty="0"/>
          </a:p>
        </p:txBody>
      </p:sp>
      <p:sp>
        <p:nvSpPr>
          <p:cNvPr id="11" name="Text 9"/>
          <p:cNvSpPr/>
          <p:nvPr/>
        </p:nvSpPr>
        <p:spPr>
          <a:xfrm>
            <a:off x="868680" y="4572856"/>
            <a:ext cx="4893944"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Ein Klick </a:t>
            </a:r>
            <a:r>
              <a:rPr lang="en-US" sz="1400" dirty="0" err="1">
                <a:solidFill>
                  <a:srgbClr val="000000"/>
                </a:solidFill>
                <a:latin typeface="Calibri" pitchFamily="34" charset="0"/>
                <a:ea typeface="Calibri" pitchFamily="34" charset="-122"/>
                <a:cs typeface="Calibri" pitchFamily="34" charset="-120"/>
              </a:rPr>
              <a:t>triggert</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einen</a:t>
            </a:r>
            <a:r>
              <a:rPr lang="en-US" sz="1400" dirty="0">
                <a:solidFill>
                  <a:srgbClr val="000000"/>
                </a:solidFill>
                <a:latin typeface="Calibri" pitchFamily="34" charset="0"/>
                <a:ea typeface="Calibri" pitchFamily="34" charset="-122"/>
                <a:cs typeface="Calibri" pitchFamily="34" charset="-120"/>
              </a:rPr>
              <a:t> automatischen, lautlosen Download der echten Excel-Datei Stundenplan_Export.xlsx von der Scheduler-API</a:t>
            </a:r>
            <a:endParaRPr lang="en-US" sz="1400" dirty="0"/>
          </a:p>
        </p:txBody>
      </p:sp>
      <p:sp>
        <p:nvSpPr>
          <p:cNvPr id="14" name="Shape 4">
            <a:extLst>
              <a:ext uri="{FF2B5EF4-FFF2-40B4-BE49-F238E27FC236}">
                <a16:creationId xmlns:a16="http://schemas.microsoft.com/office/drawing/2014/main" id="{F74A304D-4C30-1941-E54D-816F2E12DCFD}"/>
              </a:ext>
            </a:extLst>
          </p:cNvPr>
          <p:cNvSpPr/>
          <p:nvPr/>
        </p:nvSpPr>
        <p:spPr>
          <a:xfrm rot="16200000" flipH="1">
            <a:off x="3169922" y="3429002"/>
            <a:ext cx="5852157" cy="0"/>
          </a:xfrm>
          <a:prstGeom prst="line">
            <a:avLst/>
          </a:prstGeom>
          <a:noFill/>
          <a:ln w="12700">
            <a:solidFill>
              <a:srgbClr val="E4E7EC"/>
            </a:solidFill>
            <a:prstDash val="solid"/>
          </a:ln>
        </p:spPr>
      </p:sp>
      <p:sp>
        <p:nvSpPr>
          <p:cNvPr id="15" name="Text 0">
            <a:extLst>
              <a:ext uri="{FF2B5EF4-FFF2-40B4-BE49-F238E27FC236}">
                <a16:creationId xmlns:a16="http://schemas.microsoft.com/office/drawing/2014/main" id="{0AD32B5F-4A91-871B-56E9-FF2D91F6C299}"/>
              </a:ext>
            </a:extLst>
          </p:cNvPr>
          <p:cNvSpPr/>
          <p:nvPr/>
        </p:nvSpPr>
        <p:spPr>
          <a:xfrm>
            <a:off x="63550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2</a:t>
            </a:r>
            <a:endParaRPr lang="en-US" sz="1050" dirty="0"/>
          </a:p>
        </p:txBody>
      </p:sp>
      <p:sp>
        <p:nvSpPr>
          <p:cNvPr id="16" name="Text 2">
            <a:extLst>
              <a:ext uri="{FF2B5EF4-FFF2-40B4-BE49-F238E27FC236}">
                <a16:creationId xmlns:a16="http://schemas.microsoft.com/office/drawing/2014/main" id="{07971162-B37B-8A9D-D9B1-4A5EB8C332EF}"/>
              </a:ext>
            </a:extLst>
          </p:cNvPr>
          <p:cNvSpPr/>
          <p:nvPr/>
        </p:nvSpPr>
        <p:spPr>
          <a:xfrm>
            <a:off x="6355080" y="914400"/>
            <a:ext cx="6400800" cy="292608"/>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DER SICHERE FIX · DIE ALLOWLIST</a:t>
            </a:r>
            <a:endParaRPr lang="en-US" sz="1150" dirty="0"/>
          </a:p>
        </p:txBody>
      </p:sp>
      <p:sp>
        <p:nvSpPr>
          <p:cNvPr id="17" name="Text 3">
            <a:extLst>
              <a:ext uri="{FF2B5EF4-FFF2-40B4-BE49-F238E27FC236}">
                <a16:creationId xmlns:a16="http://schemas.microsoft.com/office/drawing/2014/main" id="{80968698-DED7-F625-46E5-4E85083A0B26}"/>
              </a:ext>
            </a:extLst>
          </p:cNvPr>
          <p:cNvSpPr/>
          <p:nvPr/>
        </p:nvSpPr>
        <p:spPr>
          <a:xfrm>
            <a:off x="63550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Feste Allowlist</a:t>
            </a:r>
            <a:endParaRPr lang="en-US" sz="3600" dirty="0"/>
          </a:p>
        </p:txBody>
      </p:sp>
      <p:sp>
        <p:nvSpPr>
          <p:cNvPr id="18" name="Text 4">
            <a:extLst>
              <a:ext uri="{FF2B5EF4-FFF2-40B4-BE49-F238E27FC236}">
                <a16:creationId xmlns:a16="http://schemas.microsoft.com/office/drawing/2014/main" id="{31024434-F174-3604-AE84-1156CBF01313}"/>
              </a:ext>
            </a:extLst>
          </p:cNvPr>
          <p:cNvSpPr/>
          <p:nvPr/>
        </p:nvSpPr>
        <p:spPr>
          <a:xfrm>
            <a:off x="6355080" y="2011680"/>
            <a:ext cx="5486400" cy="822960"/>
          </a:xfrm>
          <a:prstGeom prst="rect">
            <a:avLst/>
          </a:prstGeom>
          <a:noFill/>
          <a:ln/>
        </p:spPr>
        <p:txBody>
          <a:bodyPr wrap="square" lIns="0" tIns="0" rIns="0" bIns="0" rtlCol="0" anchor="ctr"/>
          <a:lstStyle/>
          <a:p>
            <a:r>
              <a:rPr lang="en-US" sz="1550" dirty="0" err="1">
                <a:solidFill>
                  <a:srgbClr val="55606E"/>
                </a:solidFill>
                <a:latin typeface="Calibri" pitchFamily="34" charset="0"/>
                <a:ea typeface="Calibri" pitchFamily="34" charset="-122"/>
                <a:cs typeface="Calibri" pitchFamily="34" charset="-120"/>
              </a:rPr>
              <a:t>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durch</a:t>
            </a:r>
            <a:r>
              <a:rPr lang="en-US" sz="1550" dirty="0">
                <a:solidFill>
                  <a:srgbClr val="55606E"/>
                </a:solidFill>
                <a:latin typeface="Calibri" pitchFamily="34" charset="0"/>
                <a:ea typeface="Calibri" pitchFamily="34" charset="-122"/>
                <a:cs typeface="Calibri" pitchFamily="34" charset="-120"/>
              </a:rPr>
              <a:t> feste, </a:t>
            </a:r>
            <a:r>
              <a:rPr lang="en-US" sz="1550" dirty="0" err="1">
                <a:solidFill>
                  <a:srgbClr val="55606E"/>
                </a:solidFill>
                <a:latin typeface="Calibri" pitchFamily="34" charset="0"/>
                <a:ea typeface="Calibri" pitchFamily="34" charset="-122"/>
                <a:cs typeface="Calibri" pitchFamily="34" charset="-120"/>
              </a:rPr>
              <a:t>restriktive</a:t>
            </a:r>
            <a:r>
              <a:rPr lang="en-US" sz="1550" dirty="0">
                <a:solidFill>
                  <a:srgbClr val="55606E"/>
                </a:solidFill>
                <a:latin typeface="Calibri" pitchFamily="34" charset="0"/>
                <a:ea typeface="Calibri" pitchFamily="34" charset="-122"/>
                <a:cs typeface="Calibri" pitchFamily="34" charset="-120"/>
              </a:rPr>
              <a:t> Allowlist</a:t>
            </a:r>
          </a:p>
        </p:txBody>
      </p:sp>
      <p:sp>
        <p:nvSpPr>
          <p:cNvPr id="19" name="Text 5">
            <a:extLst>
              <a:ext uri="{FF2B5EF4-FFF2-40B4-BE49-F238E27FC236}">
                <a16:creationId xmlns:a16="http://schemas.microsoft.com/office/drawing/2014/main" id="{2B154276-CA3F-BA90-796B-19D34E1D4906}"/>
              </a:ext>
            </a:extLst>
          </p:cNvPr>
          <p:cNvSpPr/>
          <p:nvPr/>
        </p:nvSpPr>
        <p:spPr>
          <a:xfrm>
            <a:off x="63550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1E8F5E"/>
                </a:solidFill>
                <a:latin typeface="Calibri" pitchFamily="34" charset="0"/>
                <a:ea typeface="Calibri" pitchFamily="34" charset="-122"/>
                <a:cs typeface="Calibri" pitchFamily="34" charset="-120"/>
              </a:rPr>
              <a:t>EFFEKT</a:t>
            </a:r>
            <a:endParaRPr lang="en-US" sz="1100" dirty="0"/>
          </a:p>
        </p:txBody>
      </p:sp>
      <p:sp>
        <p:nvSpPr>
          <p:cNvPr id="20" name="Text 6">
            <a:extLst>
              <a:ext uri="{FF2B5EF4-FFF2-40B4-BE49-F238E27FC236}">
                <a16:creationId xmlns:a16="http://schemas.microsoft.com/office/drawing/2014/main" id="{E4A428AB-491B-8447-BABC-BDBB61382490}"/>
              </a:ext>
            </a:extLst>
          </p:cNvPr>
          <p:cNvSpPr/>
          <p:nvPr/>
        </p:nvSpPr>
        <p:spPr>
          <a:xfrm>
            <a:off x="6355080" y="4572856"/>
            <a:ext cx="5486398"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Das </a:t>
            </a:r>
            <a:r>
              <a:rPr lang="en-US" sz="1400" dirty="0" err="1">
                <a:solidFill>
                  <a:srgbClr val="000000"/>
                </a:solidFill>
                <a:latin typeface="Calibri" pitchFamily="34" charset="0"/>
                <a:ea typeface="Calibri" pitchFamily="34" charset="-122"/>
                <a:cs typeface="Calibri" pitchFamily="34" charset="-120"/>
              </a:rPr>
              <a:t>reguläre</a:t>
            </a:r>
            <a:r>
              <a:rPr lang="en-US" sz="1400" dirty="0">
                <a:solidFill>
                  <a:srgbClr val="000000"/>
                </a:solidFill>
                <a:latin typeface="Calibri" pitchFamily="34" charset="0"/>
                <a:ea typeface="Calibri" pitchFamily="34" charset="-122"/>
                <a:cs typeface="Calibri" pitchFamily="34" charset="-120"/>
              </a:rPr>
              <a:t> Frontend auf Port 8078 darf </a:t>
            </a:r>
            <a:r>
              <a:rPr lang="en-US" sz="1400" dirty="0" err="1">
                <a:solidFill>
                  <a:srgbClr val="000000"/>
                </a:solidFill>
                <a:latin typeface="Calibri" pitchFamily="34" charset="0"/>
                <a:ea typeface="Calibri" pitchFamily="34" charset="-122"/>
                <a:cs typeface="Calibri" pitchFamily="34" charset="-120"/>
              </a:rPr>
              <a:t>arbeiten</a:t>
            </a:r>
            <a:r>
              <a:rPr lang="en-US" sz="1400" dirty="0">
                <a:solidFill>
                  <a:srgbClr val="000000"/>
                </a:solidFill>
                <a:latin typeface="Calibri" pitchFamily="34" charset="0"/>
                <a:ea typeface="Calibri" pitchFamily="34" charset="-122"/>
                <a:cs typeface="Calibri" pitchFamily="34" charset="-120"/>
              </a:rPr>
              <a:t>.</a:t>
            </a:r>
          </a:p>
          <a:p>
            <a:r>
              <a:rPr lang="en-US" sz="1400" dirty="0">
                <a:solidFill>
                  <a:srgbClr val="000000"/>
                </a:solidFill>
                <a:latin typeface="Calibri" pitchFamily="34" charset="0"/>
                <a:ea typeface="Calibri" pitchFamily="34" charset="-122"/>
                <a:cs typeface="Calibri" pitchFamily="34" charset="-120"/>
              </a:rPr>
              <a:t>Die </a:t>
            </a:r>
            <a:r>
              <a:rPr lang="en-US" sz="1400" dirty="0" err="1">
                <a:solidFill>
                  <a:srgbClr val="000000"/>
                </a:solidFill>
                <a:latin typeface="Calibri" pitchFamily="34" charset="0"/>
                <a:ea typeface="Calibri" pitchFamily="34" charset="-122"/>
                <a:cs typeface="Calibri" pitchFamily="34" charset="-120"/>
              </a:rPr>
              <a:t>Angreifer</a:t>
            </a:r>
            <a:r>
              <a:rPr lang="en-US" sz="1400" dirty="0">
                <a:solidFill>
                  <a:srgbClr val="000000"/>
                </a:solidFill>
                <a:latin typeface="Calibri" pitchFamily="34" charset="0"/>
                <a:ea typeface="Calibri" pitchFamily="34" charset="-122"/>
                <a:cs typeface="Calibri" pitchFamily="34" charset="-120"/>
              </a:rPr>
              <a:t>-Origin - </a:t>
            </a:r>
            <a:r>
              <a:rPr lang="en-US" sz="1400" dirty="0" err="1">
                <a:solidFill>
                  <a:srgbClr val="000000"/>
                </a:solidFill>
                <a:latin typeface="Calibri" pitchFamily="34" charset="0"/>
                <a:ea typeface="Calibri" pitchFamily="34" charset="-122"/>
                <a:cs typeface="Calibri" pitchFamily="34" charset="-120"/>
              </a:rPr>
              <a:t>oder</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unbefugter</a:t>
            </a:r>
            <a:r>
              <a:rPr lang="en-US" sz="1400" dirty="0">
                <a:solidFill>
                  <a:srgbClr val="000000"/>
                </a:solidFill>
                <a:latin typeface="Calibri" pitchFamily="34" charset="0"/>
                <a:ea typeface="Calibri" pitchFamily="34" charset="-122"/>
                <a:cs typeface="Calibri" pitchFamily="34" charset="-120"/>
              </a:rPr>
              <a:t> Port - </a:t>
            </a:r>
            <a:r>
              <a:rPr lang="en-US" sz="1400" dirty="0" err="1">
                <a:solidFill>
                  <a:srgbClr val="000000"/>
                </a:solidFill>
                <a:latin typeface="Calibri" pitchFamily="34" charset="0"/>
                <a:ea typeface="Calibri" pitchFamily="34" charset="-122"/>
                <a:cs typeface="Calibri" pitchFamily="34" charset="-120"/>
              </a:rPr>
              <a:t>wird</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blockiert</a:t>
            </a: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3" name="Text 5">
            <a:extLst>
              <a:ext uri="{FF2B5EF4-FFF2-40B4-BE49-F238E27FC236}">
                <a16:creationId xmlns:a16="http://schemas.microsoft.com/office/drawing/2014/main" id="{5F800674-4C8E-75DF-CFFF-6DF82993985D}"/>
              </a:ext>
            </a:extLst>
          </p:cNvPr>
          <p:cNvSpPr/>
          <p:nvPr/>
        </p:nvSpPr>
        <p:spPr>
          <a:xfrm>
            <a:off x="63550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24" name="Text 6">
            <a:extLst>
              <a:ext uri="{FF2B5EF4-FFF2-40B4-BE49-F238E27FC236}">
                <a16:creationId xmlns:a16="http://schemas.microsoft.com/office/drawing/2014/main" id="{F6FC7321-DEED-5FB3-4F5E-1D428DD48DB9}"/>
              </a:ext>
            </a:extLst>
          </p:cNvPr>
          <p:cNvSpPr/>
          <p:nvPr/>
        </p:nvSpPr>
        <p:spPr>
          <a:xfrm>
            <a:off x="6355080" y="3269408"/>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allowedOriginPatterns</a:t>
            </a:r>
            <a:r>
              <a:rPr lang="en-US" sz="1350" b="1" dirty="0">
                <a:solidFill>
                  <a:srgbClr val="16181D"/>
                </a:solidFill>
                <a:latin typeface="Consolas" pitchFamily="34" charset="0"/>
                <a:ea typeface="Consolas" pitchFamily="34" charset="-122"/>
                <a:cs typeface="Consolas" pitchFamily="34" charset="-120"/>
              </a:rPr>
              <a:t>(</a:t>
            </a:r>
            <a:r>
              <a:rPr lang="en-US" sz="1350" b="1" dirty="0" err="1">
                <a:solidFill>
                  <a:srgbClr val="16181D"/>
                </a:solidFill>
                <a:latin typeface="Consolas" pitchFamily="34" charset="0"/>
                <a:ea typeface="Consolas" pitchFamily="34" charset="-122"/>
                <a:cs typeface="Consolas" pitchFamily="34" charset="-120"/>
              </a:rPr>
              <a:t>List.of</a:t>
            </a:r>
            <a:r>
              <a:rPr lang="en-US" sz="1350" b="1" dirty="0">
                <a:solidFill>
                  <a:srgbClr val="16181D"/>
                </a:solidFill>
                <a:latin typeface="Consolas" pitchFamily="34" charset="0"/>
                <a:ea typeface="Consolas" pitchFamily="34" charset="-122"/>
                <a:cs typeface="Consolas" pitchFamily="34" charset="-120"/>
              </a:rPr>
              <a:t>("http://localhost:8078"))</a:t>
            </a:r>
            <a:endParaRPr lang="en-US" sz="1350" dirty="0"/>
          </a:p>
        </p:txBody>
      </p:sp>
      <p:sp>
        <p:nvSpPr>
          <p:cNvPr id="25" name="Text 7">
            <a:extLst>
              <a:ext uri="{FF2B5EF4-FFF2-40B4-BE49-F238E27FC236}">
                <a16:creationId xmlns:a16="http://schemas.microsoft.com/office/drawing/2014/main" id="{99790533-209D-69DC-D303-9149D137A1B2}"/>
              </a:ext>
            </a:extLst>
          </p:cNvPr>
          <p:cNvSpPr/>
          <p:nvPr/>
        </p:nvSpPr>
        <p:spPr>
          <a:xfrm>
            <a:off x="6355080" y="3653456"/>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allowCredentials</a:t>
            </a:r>
            <a:r>
              <a:rPr lang="en-US" sz="1350" b="1" dirty="0">
                <a:solidFill>
                  <a:srgbClr val="16181D"/>
                </a:solidFill>
                <a:latin typeface="Consolas" pitchFamily="34" charset="0"/>
                <a:ea typeface="Consolas" pitchFamily="34" charset="-122"/>
                <a:cs typeface="Consolas" pitchFamily="34" charset="-120"/>
              </a:rPr>
              <a:t>(false)</a:t>
            </a:r>
            <a:endParaRPr lang="en-US" sz="1350" dirty="0"/>
          </a:p>
        </p:txBody>
      </p:sp>
      <p:sp>
        <p:nvSpPr>
          <p:cNvPr id="12" name="Text 1">
            <a:extLst>
              <a:ext uri="{FF2B5EF4-FFF2-40B4-BE49-F238E27FC236}">
                <a16:creationId xmlns:a16="http://schemas.microsoft.com/office/drawing/2014/main" id="{BD236A1F-AEF5-3B98-3186-848018F9A35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22</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3" grpId="0" animBg="1"/>
      <p:bldP spid="24" grpId="0" animBg="1"/>
      <p:bldP spid="2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LIVE DEMO · </a:t>
            </a:r>
            <a:r>
              <a:rPr lang="de-DE" sz="1200" b="1" dirty="0">
                <a:solidFill>
                  <a:srgbClr val="1463FF"/>
                </a:solidFill>
                <a:latin typeface="Calibri"/>
                <a:ea typeface="Calibri"/>
                <a:cs typeface="Calibri"/>
              </a:rPr>
              <a:t>CORS</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lang="de-DE" sz="1600" dirty="0">
                <a:solidFill>
                  <a:srgbClr val="55606E"/>
                </a:solidFill>
                <a:latin typeface="Calibri"/>
                <a:ea typeface="Calibri"/>
                <a:cs typeface="Calibri"/>
              </a:rPr>
              <a:t>Cross Origin Anfragen werden erst durch eine Unsichere Konfiguration durchgelassen und dann blockiert.</a:t>
            </a:r>
            <a:endParaRPr sz="1600" dirty="0">
              <a:solidFill>
                <a:srgbClr val="55606E"/>
              </a:solidFill>
              <a:latin typeface="Calibri"/>
              <a:ea typeface="Calibri"/>
              <a:cs typeface="Calibri"/>
            </a:endParaRP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lang="de-DE" sz="1200" i="1" dirty="0">
                <a:solidFill>
                  <a:srgbClr val="9AA3AF"/>
                </a:solidFill>
                <a:latin typeface="Calibri"/>
                <a:ea typeface="Calibri"/>
                <a:cs typeface="Calibri"/>
              </a:rPr>
              <a:t>Ole &amp; Tom</a:t>
            </a:r>
            <a:endParaRPr sz="1200" i="1" dirty="0">
              <a:solidFill>
                <a:srgbClr val="9AA3AF"/>
              </a:solidFill>
              <a:latin typeface="Calibri"/>
              <a:ea typeface="Calibri"/>
              <a:cs typeface="Calibri"/>
            </a:endParaRPr>
          </a:p>
        </p:txBody>
      </p:sp>
    </p:spTree>
    <p:extLst>
      <p:ext uri="{BB962C8B-B14F-4D97-AF65-F5344CB8AC3E}">
        <p14:creationId xmlns:p14="http://schemas.microsoft.com/office/powerpoint/2010/main" val="2481334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ARCHITEKTUR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Das eigentliche Risiko</a:t>
            </a:r>
            <a:endParaRPr lang="en-US" sz="3800" dirty="0"/>
          </a:p>
        </p:txBody>
      </p:sp>
      <p:sp>
        <p:nvSpPr>
          <p:cNvPr id="5" name="Text 3"/>
          <p:cNvSpPr/>
          <p:nvPr/>
        </p:nvSpPr>
        <p:spPr>
          <a:xfrm>
            <a:off x="868680" y="187452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Die Excel-Demo ist nur der sichtbare Teil. Kritisch wird es durch </a:t>
            </a:r>
            <a:r>
              <a:rPr lang="en-US" sz="1700" dirty="0" err="1">
                <a:solidFill>
                  <a:srgbClr val="55606E"/>
                </a:solidFill>
                <a:latin typeface="Calibri" pitchFamily="34" charset="0"/>
                <a:ea typeface="Calibri" pitchFamily="34" charset="-122"/>
                <a:cs typeface="Calibri" pitchFamily="34" charset="-120"/>
              </a:rPr>
              <a:t>eine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Fehlerkette</a:t>
            </a:r>
            <a:r>
              <a:rPr lang="en-US" sz="1700" dirty="0">
                <a:solidFill>
                  <a:srgbClr val="55606E"/>
                </a:solidFill>
                <a:latin typeface="Calibri" pitchFamily="34" charset="0"/>
                <a:ea typeface="Calibri" pitchFamily="34" charset="-122"/>
                <a:cs typeface="Calibri" pitchFamily="34" charset="-120"/>
              </a:rPr>
              <a:t>, beginnend bei Keycloak.</a:t>
            </a:r>
            <a:endParaRPr lang="en-US" sz="1700" dirty="0"/>
          </a:p>
        </p:txBody>
      </p:sp>
      <p:sp>
        <p:nvSpPr>
          <p:cNvPr id="6" name="Text 4"/>
          <p:cNvSpPr/>
          <p:nvPr/>
        </p:nvSpPr>
        <p:spPr>
          <a:xfrm>
            <a:off x="868680" y="288036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IN scheduler.json</a:t>
            </a:r>
            <a:endParaRPr lang="en-US" sz="1150" dirty="0"/>
          </a:p>
        </p:txBody>
      </p:sp>
      <p:sp>
        <p:nvSpPr>
          <p:cNvPr id="7" name="Shape 5"/>
          <p:cNvSpPr/>
          <p:nvPr/>
        </p:nvSpPr>
        <p:spPr>
          <a:xfrm>
            <a:off x="868680" y="3291840"/>
            <a:ext cx="10454335" cy="0"/>
          </a:xfrm>
          <a:prstGeom prst="line">
            <a:avLst/>
          </a:prstGeom>
          <a:noFill/>
          <a:ln w="12700">
            <a:solidFill>
              <a:srgbClr val="E4E7EC"/>
            </a:solidFill>
            <a:prstDash val="solid"/>
          </a:ln>
        </p:spPr>
      </p:sp>
      <p:sp>
        <p:nvSpPr>
          <p:cNvPr id="8" name="Text 6"/>
          <p:cNvSpPr/>
          <p:nvPr/>
        </p:nvSpPr>
        <p:spPr>
          <a:xfrm>
            <a:off x="868680" y="3410712"/>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webOrigins: ["*"]</a:t>
            </a:r>
            <a:endParaRPr lang="en-US" sz="1500" dirty="0"/>
          </a:p>
        </p:txBody>
      </p:sp>
      <p:sp>
        <p:nvSpPr>
          <p:cNvPr id="9" name="Text 7"/>
          <p:cNvSpPr/>
          <p:nvPr/>
        </p:nvSpPr>
        <p:spPr>
          <a:xfrm>
            <a:off x="6751015" y="3410712"/>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jede Origin erlaubt</a:t>
            </a:r>
            <a:endParaRPr lang="en-US" sz="1400" dirty="0"/>
          </a:p>
        </p:txBody>
      </p:sp>
      <p:sp>
        <p:nvSpPr>
          <p:cNvPr id="10" name="Shape 8"/>
          <p:cNvSpPr/>
          <p:nvPr/>
        </p:nvSpPr>
        <p:spPr>
          <a:xfrm>
            <a:off x="868680" y="3950208"/>
            <a:ext cx="10454335" cy="0"/>
          </a:xfrm>
          <a:prstGeom prst="line">
            <a:avLst/>
          </a:prstGeom>
          <a:noFill/>
          <a:ln w="12700">
            <a:solidFill>
              <a:srgbClr val="E4E7EC"/>
            </a:solidFill>
            <a:prstDash val="solid"/>
          </a:ln>
        </p:spPr>
      </p:sp>
      <p:sp>
        <p:nvSpPr>
          <p:cNvPr id="11" name="Text 9"/>
          <p:cNvSpPr/>
          <p:nvPr/>
        </p:nvSpPr>
        <p:spPr>
          <a:xfrm>
            <a:off x="868680" y="4069080"/>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implicitFlowEnabled</a:t>
            </a:r>
            <a:endParaRPr lang="en-US" sz="1500" dirty="0"/>
          </a:p>
        </p:txBody>
      </p:sp>
      <p:sp>
        <p:nvSpPr>
          <p:cNvPr id="12" name="Text 10"/>
          <p:cNvSpPr/>
          <p:nvPr/>
        </p:nvSpPr>
        <p:spPr>
          <a:xfrm>
            <a:off x="6751015" y="4069080"/>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veralteter Flow aktiv</a:t>
            </a:r>
            <a:endParaRPr lang="en-US" sz="1400" dirty="0"/>
          </a:p>
        </p:txBody>
      </p:sp>
      <p:sp>
        <p:nvSpPr>
          <p:cNvPr id="13" name="Shape 11"/>
          <p:cNvSpPr/>
          <p:nvPr/>
        </p:nvSpPr>
        <p:spPr>
          <a:xfrm>
            <a:off x="868680" y="4608576"/>
            <a:ext cx="10454335" cy="0"/>
          </a:xfrm>
          <a:prstGeom prst="line">
            <a:avLst/>
          </a:prstGeom>
          <a:noFill/>
          <a:ln w="12700">
            <a:solidFill>
              <a:srgbClr val="E4E7EC"/>
            </a:solidFill>
            <a:prstDash val="solid"/>
          </a:ln>
        </p:spPr>
      </p:sp>
      <p:sp>
        <p:nvSpPr>
          <p:cNvPr id="14" name="Text 12"/>
          <p:cNvSpPr/>
          <p:nvPr/>
        </p:nvSpPr>
        <p:spPr>
          <a:xfrm>
            <a:off x="868680" y="4727448"/>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directAccessGrants</a:t>
            </a:r>
            <a:endParaRPr lang="en-US" sz="1500" dirty="0"/>
          </a:p>
        </p:txBody>
      </p:sp>
      <p:sp>
        <p:nvSpPr>
          <p:cNvPr id="15" name="Text 13"/>
          <p:cNvSpPr/>
          <p:nvPr/>
        </p:nvSpPr>
        <p:spPr>
          <a:xfrm>
            <a:off x="6751015" y="4727448"/>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Passwort-Grant aktiv</a:t>
            </a:r>
            <a:endParaRPr lang="en-US" sz="1400" dirty="0"/>
          </a:p>
        </p:txBody>
      </p:sp>
      <p:sp>
        <p:nvSpPr>
          <p:cNvPr id="16" name="Text 14"/>
          <p:cNvSpPr/>
          <p:nvPr/>
        </p:nvSpPr>
        <p:spPr>
          <a:xfrm>
            <a:off x="868680" y="5358384"/>
            <a:ext cx="10241280" cy="45720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Veraltete Flows und eine Wildcard bei den Web-Origins - </a:t>
            </a:r>
            <a:r>
              <a:rPr lang="en-US" sz="1350" i="1" dirty="0" err="1">
                <a:solidFill>
                  <a:srgbClr val="9AA3AF"/>
                </a:solidFill>
                <a:latin typeface="Calibri" pitchFamily="34" charset="0"/>
                <a:ea typeface="Calibri" pitchFamily="34" charset="-122"/>
                <a:cs typeface="Calibri" pitchFamily="34" charset="-120"/>
              </a:rPr>
              <a:t>zu</a:t>
            </a:r>
            <a:r>
              <a:rPr lang="en-US" sz="1350" i="1" dirty="0">
                <a:solidFill>
                  <a:srgbClr val="9AA3AF"/>
                </a:solidFill>
                <a:latin typeface="Calibri" pitchFamily="34" charset="0"/>
                <a:ea typeface="Calibri" pitchFamily="34" charset="-122"/>
                <a:cs typeface="Calibri" pitchFamily="34" charset="-120"/>
              </a:rPr>
              <a:t> </a:t>
            </a:r>
            <a:r>
              <a:rPr lang="en-US" sz="1350" i="1" dirty="0" err="1">
                <a:solidFill>
                  <a:srgbClr val="9AA3AF"/>
                </a:solidFill>
                <a:latin typeface="Calibri" pitchFamily="34" charset="0"/>
                <a:ea typeface="Calibri" pitchFamily="34" charset="-122"/>
                <a:cs typeface="Calibri" pitchFamily="34" charset="-120"/>
              </a:rPr>
              <a:t>breit</a:t>
            </a:r>
            <a:r>
              <a:rPr lang="en-US" sz="1350" i="1" dirty="0">
                <a:solidFill>
                  <a:srgbClr val="9AA3AF"/>
                </a:solidFill>
                <a:latin typeface="Calibri" pitchFamily="34" charset="0"/>
                <a:ea typeface="Calibri" pitchFamily="34" charset="-122"/>
                <a:cs typeface="Calibri" pitchFamily="34" charset="-120"/>
              </a:rPr>
              <a:t> für einen SPA-Client.</a:t>
            </a:r>
            <a:endParaRPr lang="en-US" sz="1350" dirty="0"/>
          </a:p>
        </p:txBody>
      </p:sp>
      <p:sp>
        <p:nvSpPr>
          <p:cNvPr id="17" name="Text 1">
            <a:extLst>
              <a:ext uri="{FF2B5EF4-FFF2-40B4-BE49-F238E27FC236}">
                <a16:creationId xmlns:a16="http://schemas.microsoft.com/office/drawing/2014/main" id="{E4CBF162-AD41-8BBF-E6AF-09E8ABA6A2D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24</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ACCOUNT-TAKEOVER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Token-Diebstahl als Fehlerkette</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err="1">
                <a:solidFill>
                  <a:srgbClr val="55606E"/>
                </a:solidFill>
                <a:latin typeface="Calibri" pitchFamily="34" charset="0"/>
                <a:ea typeface="Calibri" pitchFamily="34" charset="-122"/>
                <a:cs typeface="Calibri" pitchFamily="34" charset="-120"/>
              </a:rPr>
              <a:t>Über</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dieselbe</a:t>
            </a:r>
            <a:r>
              <a:rPr lang="en-US" sz="1650" dirty="0">
                <a:solidFill>
                  <a:srgbClr val="55606E"/>
                </a:solidFill>
                <a:latin typeface="Calibri" pitchFamily="34" charset="0"/>
                <a:ea typeface="Calibri" pitchFamily="34" charset="-122"/>
                <a:cs typeface="Calibri" pitchFamily="34" charset="-120"/>
              </a:rPr>
              <a:t> CORS-</a:t>
            </a:r>
            <a:r>
              <a:rPr lang="en-US" sz="1650" dirty="0" err="1">
                <a:solidFill>
                  <a:srgbClr val="55606E"/>
                </a:solidFill>
                <a:latin typeface="Calibri" pitchFamily="34" charset="0"/>
                <a:ea typeface="Calibri" pitchFamily="34" charset="-122"/>
                <a:cs typeface="Calibri" pitchFamily="34" charset="-120"/>
              </a:rPr>
              <a:t>Lücke</a:t>
            </a:r>
            <a:r>
              <a:rPr lang="en-US" sz="1650" dirty="0">
                <a:solidFill>
                  <a:srgbClr val="55606E"/>
                </a:solidFill>
                <a:latin typeface="Calibri" pitchFamily="34" charset="0"/>
                <a:ea typeface="Calibri" pitchFamily="34" charset="-122"/>
                <a:cs typeface="Calibri" pitchFamily="34" charset="-120"/>
              </a:rPr>
              <a:t> an der API </a:t>
            </a:r>
            <a:r>
              <a:rPr lang="en-US" sz="1650" dirty="0" err="1">
                <a:solidFill>
                  <a:srgbClr val="55606E"/>
                </a:solidFill>
                <a:latin typeface="Calibri" pitchFamily="34" charset="0"/>
                <a:ea typeface="Calibri" pitchFamily="34" charset="-122"/>
                <a:cs typeface="Calibri" pitchFamily="34" charset="-120"/>
              </a:rPr>
              <a:t>wird</a:t>
            </a:r>
            <a:r>
              <a:rPr lang="en-US" sz="1650" dirty="0">
                <a:solidFill>
                  <a:srgbClr val="55606E"/>
                </a:solidFill>
                <a:latin typeface="Calibri" pitchFamily="34" charset="0"/>
                <a:ea typeface="Calibri" pitchFamily="34" charset="-122"/>
                <a:cs typeface="Calibri" pitchFamily="34" charset="-120"/>
              </a:rPr>
              <a:t> aus Mitlesen </a:t>
            </a:r>
            <a:r>
              <a:rPr lang="en-US" sz="1650" dirty="0" err="1">
                <a:solidFill>
                  <a:srgbClr val="55606E"/>
                </a:solidFill>
                <a:latin typeface="Calibri" pitchFamily="34" charset="0"/>
                <a:ea typeface="Calibri" pitchFamily="34" charset="-122"/>
                <a:cs typeface="Calibri" pitchFamily="34" charset="-120"/>
              </a:rPr>
              <a:t>eine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vollständige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Identitätsübernahme</a:t>
            </a:r>
            <a:r>
              <a:rPr lang="en-US" sz="1650" dirty="0">
                <a:solidFill>
                  <a:srgbClr val="55606E"/>
                </a:solidFill>
                <a:latin typeface="Calibri" pitchFamily="34" charset="0"/>
                <a:ea typeface="Calibri" pitchFamily="34" charset="-122"/>
                <a:cs typeface="Calibri" pitchFamily="34" charset="-120"/>
              </a:rPr>
              <a:t>.</a:t>
            </a:r>
            <a:endParaRPr lang="en-US" sz="1650" dirty="0"/>
          </a:p>
        </p:txBody>
      </p:sp>
      <p:sp>
        <p:nvSpPr>
          <p:cNvPr id="6" name="Text 4"/>
          <p:cNvSpPr/>
          <p:nvPr/>
        </p:nvSpPr>
        <p:spPr>
          <a:xfrm>
            <a:off x="1080897" y="2898648"/>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1883665" y="2898648"/>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Login</a:t>
            </a:r>
            <a:endParaRPr lang="en-US" sz="1800" dirty="0"/>
          </a:p>
        </p:txBody>
      </p:sp>
      <p:sp>
        <p:nvSpPr>
          <p:cNvPr id="8" name="Text 6"/>
          <p:cNvSpPr/>
          <p:nvPr/>
        </p:nvSpPr>
        <p:spPr>
          <a:xfrm>
            <a:off x="3566312" y="2898648"/>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Nutzer</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ist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angemeldet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gültiges</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liegt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Browser.</a:t>
            </a:r>
            <a:endParaRPr lang="en-US" sz="1450" dirty="0"/>
          </a:p>
        </p:txBody>
      </p:sp>
      <p:sp>
        <p:nvSpPr>
          <p:cNvPr id="9" name="Shape 7"/>
          <p:cNvSpPr/>
          <p:nvPr/>
        </p:nvSpPr>
        <p:spPr>
          <a:xfrm>
            <a:off x="1245489" y="3419856"/>
            <a:ext cx="0" cy="256032"/>
          </a:xfrm>
          <a:prstGeom prst="line">
            <a:avLst/>
          </a:prstGeom>
          <a:noFill/>
          <a:ln w="15875">
            <a:solidFill>
              <a:srgbClr val="D2D8DF"/>
            </a:solidFill>
            <a:prstDash val="solid"/>
          </a:ln>
        </p:spPr>
      </p:sp>
      <p:sp>
        <p:nvSpPr>
          <p:cNvPr id="10" name="Text 8"/>
          <p:cNvSpPr/>
          <p:nvPr/>
        </p:nvSpPr>
        <p:spPr>
          <a:xfrm>
            <a:off x="1080897" y="3739896"/>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02</a:t>
            </a:r>
            <a:endParaRPr lang="en-US" sz="2000" dirty="0"/>
          </a:p>
        </p:txBody>
      </p:sp>
      <p:sp>
        <p:nvSpPr>
          <p:cNvPr id="11" name="Text 9"/>
          <p:cNvSpPr/>
          <p:nvPr/>
        </p:nvSpPr>
        <p:spPr>
          <a:xfrm>
            <a:off x="1883665" y="3739896"/>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/session</a:t>
            </a:r>
            <a:endParaRPr lang="en-US" sz="1800" dirty="0"/>
          </a:p>
        </p:txBody>
      </p:sp>
      <p:sp>
        <p:nvSpPr>
          <p:cNvPr id="12" name="Text 10"/>
          <p:cNvSpPr/>
          <p:nvPr/>
        </p:nvSpPr>
        <p:spPr>
          <a:xfrm>
            <a:off x="3566312" y="3739896"/>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Fremde</a:t>
            </a:r>
            <a:r>
              <a:rPr lang="en-US" sz="1450" dirty="0">
                <a:solidFill>
                  <a:srgbClr val="55606E"/>
                </a:solidFill>
                <a:latin typeface="Calibri" pitchFamily="34" charset="0"/>
                <a:ea typeface="Calibri" pitchFamily="34" charset="-122"/>
                <a:cs typeface="Calibri" pitchFamily="34" charset="-120"/>
              </a:rPr>
              <a:t> Seite liest die Antwort dank offenem CORS.</a:t>
            </a:r>
            <a:endParaRPr lang="en-US" sz="1450" dirty="0"/>
          </a:p>
        </p:txBody>
      </p:sp>
      <p:sp>
        <p:nvSpPr>
          <p:cNvPr id="13" name="Shape 11"/>
          <p:cNvSpPr/>
          <p:nvPr/>
        </p:nvSpPr>
        <p:spPr>
          <a:xfrm>
            <a:off x="1245489" y="4261104"/>
            <a:ext cx="0" cy="256032"/>
          </a:xfrm>
          <a:prstGeom prst="line">
            <a:avLst/>
          </a:prstGeom>
          <a:noFill/>
          <a:ln w="15875">
            <a:solidFill>
              <a:srgbClr val="D2D8DF"/>
            </a:solidFill>
            <a:prstDash val="solid"/>
          </a:ln>
        </p:spPr>
      </p:sp>
      <p:sp>
        <p:nvSpPr>
          <p:cNvPr id="14" name="Text 12"/>
          <p:cNvSpPr/>
          <p:nvPr/>
        </p:nvSpPr>
        <p:spPr>
          <a:xfrm>
            <a:off x="1080897" y="4581144"/>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03</a:t>
            </a:r>
            <a:endParaRPr lang="en-US" sz="2000" dirty="0"/>
          </a:p>
        </p:txBody>
      </p:sp>
      <p:sp>
        <p:nvSpPr>
          <p:cNvPr id="15" name="Text 13"/>
          <p:cNvSpPr/>
          <p:nvPr/>
        </p:nvSpPr>
        <p:spPr>
          <a:xfrm>
            <a:off x="1883665" y="4581144"/>
            <a:ext cx="1087755" cy="457200"/>
          </a:xfrm>
          <a:prstGeom prst="rect">
            <a:avLst/>
          </a:prstGeom>
          <a:noFill/>
          <a:ln/>
        </p:spPr>
        <p:txBody>
          <a:bodyPr wrap="square" lIns="0" tIns="0" rIns="0" bIns="0" rtlCol="0" anchor="ctr"/>
          <a:lstStyle/>
          <a:p>
            <a:pPr marL="0" indent="0" algn="ctr">
              <a:buNone/>
            </a:pPr>
            <a:r>
              <a:rPr lang="en-US" b="1" dirty="0">
                <a:solidFill>
                  <a:srgbClr val="16181D"/>
                </a:solidFill>
                <a:latin typeface="Trebuchet MS" pitchFamily="34" charset="0"/>
                <a:ea typeface="Trebuchet MS" pitchFamily="34" charset="-122"/>
                <a:cs typeface="Trebuchet MS" pitchFamily="34" charset="-120"/>
              </a:rPr>
              <a:t>Leaking</a:t>
            </a:r>
            <a:endParaRPr lang="en-US" sz="1800" dirty="0"/>
          </a:p>
        </p:txBody>
      </p:sp>
      <p:sp>
        <p:nvSpPr>
          <p:cNvPr id="16" name="Text 14"/>
          <p:cNvSpPr/>
          <p:nvPr/>
        </p:nvSpPr>
        <p:spPr>
          <a:xfrm>
            <a:off x="3566312" y="4581144"/>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Das </a:t>
            </a:r>
            <a:r>
              <a:rPr lang="en-US" sz="1450" dirty="0" err="1">
                <a:solidFill>
                  <a:srgbClr val="55606E"/>
                </a:solidFill>
                <a:latin typeface="Calibri" pitchFamily="34" charset="0"/>
                <a:ea typeface="Calibri" pitchFamily="34" charset="-122"/>
                <a:cs typeface="Calibri" pitchFamily="34" charset="-120"/>
              </a:rPr>
              <a:t>gültige</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wird</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Klartext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ausgelesen</a:t>
            </a:r>
            <a:r>
              <a:rPr lang="en-US" sz="1450" dirty="0">
                <a:solidFill>
                  <a:srgbClr val="55606E"/>
                </a:solidFill>
                <a:latin typeface="Calibri" pitchFamily="34" charset="0"/>
                <a:ea typeface="Calibri" pitchFamily="34" charset="-122"/>
                <a:cs typeface="Calibri" pitchFamily="34" charset="-120"/>
              </a:rPr>
              <a:t>.</a:t>
            </a:r>
            <a:endParaRPr lang="en-US" sz="1450" dirty="0"/>
          </a:p>
        </p:txBody>
      </p:sp>
      <p:sp>
        <p:nvSpPr>
          <p:cNvPr id="17" name="Shape 15"/>
          <p:cNvSpPr/>
          <p:nvPr/>
        </p:nvSpPr>
        <p:spPr>
          <a:xfrm>
            <a:off x="1245489" y="5102352"/>
            <a:ext cx="0" cy="256032"/>
          </a:xfrm>
          <a:prstGeom prst="line">
            <a:avLst/>
          </a:prstGeom>
          <a:noFill/>
          <a:ln w="15875">
            <a:solidFill>
              <a:srgbClr val="D2D8DF"/>
            </a:solidFill>
            <a:prstDash val="solid"/>
          </a:ln>
        </p:spPr>
      </p:sp>
      <p:sp>
        <p:nvSpPr>
          <p:cNvPr id="18" name="Text 16"/>
          <p:cNvSpPr/>
          <p:nvPr/>
        </p:nvSpPr>
        <p:spPr>
          <a:xfrm>
            <a:off x="1080897" y="5422392"/>
            <a:ext cx="640080" cy="457200"/>
          </a:xfrm>
          <a:prstGeom prst="rect">
            <a:avLst/>
          </a:prstGeom>
          <a:noFill/>
          <a:ln/>
        </p:spPr>
        <p:txBody>
          <a:bodyPr wrap="square" lIns="0" tIns="0" rIns="0" bIns="0" rtlCol="0" anchor="ctr"/>
          <a:lstStyle/>
          <a:p>
            <a:pPr marL="0" indent="0">
              <a:buNone/>
            </a:pPr>
            <a:r>
              <a:rPr lang="en-US" sz="2000" b="1" dirty="0">
                <a:solidFill>
                  <a:srgbClr val="D23B4E"/>
                </a:solidFill>
                <a:latin typeface="Trebuchet MS" pitchFamily="34" charset="0"/>
                <a:ea typeface="Trebuchet MS" pitchFamily="34" charset="-122"/>
                <a:cs typeface="Trebuchet MS" pitchFamily="34" charset="-120"/>
              </a:rPr>
              <a:t>04</a:t>
            </a:r>
            <a:endParaRPr lang="en-US" sz="2000" dirty="0"/>
          </a:p>
        </p:txBody>
      </p:sp>
      <p:sp>
        <p:nvSpPr>
          <p:cNvPr id="19" name="Text 17"/>
          <p:cNvSpPr/>
          <p:nvPr/>
        </p:nvSpPr>
        <p:spPr>
          <a:xfrm>
            <a:off x="1883665" y="5422392"/>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Takeover</a:t>
            </a:r>
            <a:endParaRPr lang="en-US" sz="1800" dirty="0"/>
          </a:p>
        </p:txBody>
      </p:sp>
      <p:sp>
        <p:nvSpPr>
          <p:cNvPr id="20" name="Text 18"/>
          <p:cNvSpPr/>
          <p:nvPr/>
        </p:nvSpPr>
        <p:spPr>
          <a:xfrm>
            <a:off x="3566312" y="5422392"/>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Angreifer </a:t>
            </a:r>
            <a:r>
              <a:rPr lang="en-US" sz="1450" dirty="0" err="1">
                <a:solidFill>
                  <a:srgbClr val="55606E"/>
                </a:solidFill>
                <a:latin typeface="Calibri" pitchFamily="34" charset="0"/>
                <a:ea typeface="Calibri" pitchFamily="34" charset="-122"/>
                <a:cs typeface="Calibri" pitchFamily="34" charset="-120"/>
              </a:rPr>
              <a:t>agiert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vollständig</a:t>
            </a:r>
            <a:r>
              <a:rPr lang="en-US" sz="1450" dirty="0">
                <a:solidFill>
                  <a:srgbClr val="55606E"/>
                </a:solidFill>
                <a:latin typeface="Calibri" pitchFamily="34" charset="0"/>
                <a:ea typeface="Calibri" pitchFamily="34" charset="-122"/>
                <a:cs typeface="Calibri" pitchFamily="34" charset="-120"/>
              </a:rPr>
              <a:t> als der Nutzer.</a:t>
            </a:r>
            <a:endParaRPr lang="en-US" sz="1450" dirty="0"/>
          </a:p>
        </p:txBody>
      </p:sp>
      <p:sp>
        <p:nvSpPr>
          <p:cNvPr id="21" name="Text 1">
            <a:extLst>
              <a:ext uri="{FF2B5EF4-FFF2-40B4-BE49-F238E27FC236}">
                <a16:creationId xmlns:a16="http://schemas.microsoft.com/office/drawing/2014/main" id="{56F96ED9-BE3A-4178-B271-B9ED9DFDF13F}"/>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25</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 · ARCHITEKTUR</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Das </a:t>
            </a:r>
            <a:r>
              <a:rPr lang="en-US" sz="3400" b="1" dirty="0" err="1">
                <a:solidFill>
                  <a:srgbClr val="16181D"/>
                </a:solidFill>
                <a:latin typeface="Trebuchet MS" pitchFamily="34" charset="0"/>
                <a:ea typeface="Trebuchet MS" pitchFamily="34" charset="-122"/>
                <a:cs typeface="Trebuchet MS" pitchFamily="34" charset="-120"/>
              </a:rPr>
              <a:t>Zusammenspiel</a:t>
            </a:r>
            <a:r>
              <a:rPr lang="en-US" sz="3400" b="1" dirty="0">
                <a:solidFill>
                  <a:srgbClr val="16181D"/>
                </a:solidFill>
                <a:latin typeface="Trebuchet MS" pitchFamily="34" charset="0"/>
                <a:ea typeface="Trebuchet MS" pitchFamily="34" charset="-122"/>
                <a:cs typeface="Trebuchet MS" pitchFamily="34" charset="-120"/>
              </a:rPr>
              <a:t> der </a:t>
            </a:r>
            <a:r>
              <a:rPr lang="en-US" sz="3400" b="1" dirty="0" err="1">
                <a:solidFill>
                  <a:srgbClr val="16181D"/>
                </a:solidFill>
                <a:latin typeface="Trebuchet MS" pitchFamily="34" charset="0"/>
                <a:ea typeface="Trebuchet MS" pitchFamily="34" charset="-122"/>
                <a:cs typeface="Trebuchet MS" pitchFamily="34" charset="-120"/>
              </a:rPr>
              <a:t>Schwachstellen</a:t>
            </a:r>
            <a:endParaRPr lang="en-US" sz="3400" dirty="0"/>
          </a:p>
        </p:txBody>
      </p:sp>
      <p:sp>
        <p:nvSpPr>
          <p:cNvPr id="5" name="Text 3"/>
          <p:cNvSpPr/>
          <p:nvPr/>
        </p:nvSpPr>
        <p:spPr>
          <a:xfrm>
            <a:off x="868680" y="1874520"/>
            <a:ext cx="1024128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Keine </a:t>
            </a:r>
            <a:r>
              <a:rPr lang="en-US" sz="1700" dirty="0" err="1">
                <a:solidFill>
                  <a:srgbClr val="55606E"/>
                </a:solidFill>
                <a:latin typeface="Calibri" pitchFamily="34" charset="0"/>
                <a:ea typeface="Calibri" pitchFamily="34" charset="-122"/>
                <a:cs typeface="Calibri" pitchFamily="34" charset="-120"/>
              </a:rPr>
              <a:t>Einzel-Lücke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sondern</a:t>
            </a:r>
            <a:r>
              <a:rPr lang="en-US" sz="1700" dirty="0">
                <a:solidFill>
                  <a:srgbClr val="55606E"/>
                </a:solidFill>
                <a:latin typeface="Calibri" pitchFamily="34" charset="0"/>
                <a:ea typeface="Calibri" pitchFamily="34" charset="-122"/>
                <a:cs typeface="Calibri" pitchFamily="34" charset="-120"/>
              </a:rPr>
              <a:t> </a:t>
            </a:r>
            <a:r>
              <a:rPr lang="de-DE" sz="1700" dirty="0">
                <a:solidFill>
                  <a:srgbClr val="55606E"/>
                </a:solidFill>
                <a:latin typeface="Calibri" pitchFamily="34" charset="0"/>
                <a:ea typeface="Calibri" pitchFamily="34" charset="-122"/>
                <a:cs typeface="Calibri" pitchFamily="34" charset="-120"/>
              </a:rPr>
              <a:t>die Schichten machen es kritisch</a:t>
            </a:r>
          </a:p>
        </p:txBody>
      </p:sp>
      <p:sp>
        <p:nvSpPr>
          <p:cNvPr id="6" name="Shape 4"/>
          <p:cNvSpPr/>
          <p:nvPr/>
        </p:nvSpPr>
        <p:spPr>
          <a:xfrm>
            <a:off x="868680" y="2743200"/>
            <a:ext cx="10454335" cy="0"/>
          </a:xfrm>
          <a:prstGeom prst="line">
            <a:avLst/>
          </a:prstGeom>
          <a:noFill/>
          <a:ln w="12700">
            <a:solidFill>
              <a:srgbClr val="E4E7EC"/>
            </a:solidFill>
            <a:prstDash val="solid"/>
          </a:ln>
        </p:spPr>
      </p:sp>
      <p:sp>
        <p:nvSpPr>
          <p:cNvPr id="7" name="Text 5"/>
          <p:cNvSpPr/>
          <p:nvPr/>
        </p:nvSpPr>
        <p:spPr>
          <a:xfrm>
            <a:off x="868680" y="2889504"/>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Offenes CORS</a:t>
            </a:r>
            <a:endParaRPr lang="en-US" sz="1900" dirty="0"/>
          </a:p>
        </p:txBody>
      </p:sp>
      <p:sp>
        <p:nvSpPr>
          <p:cNvPr id="8" name="Text 6"/>
          <p:cNvSpPr/>
          <p:nvPr/>
        </p:nvSpPr>
        <p:spPr>
          <a:xfrm>
            <a:off x="868680" y="3310128"/>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weicht die Browser-Sperre für fremde Origins auf.</a:t>
            </a:r>
            <a:endParaRPr lang="en-US" sz="1400" dirty="0"/>
          </a:p>
        </p:txBody>
      </p:sp>
      <p:sp>
        <p:nvSpPr>
          <p:cNvPr id="9" name="Shape 7"/>
          <p:cNvSpPr/>
          <p:nvPr/>
        </p:nvSpPr>
        <p:spPr>
          <a:xfrm>
            <a:off x="868680" y="3822192"/>
            <a:ext cx="10454335" cy="0"/>
          </a:xfrm>
          <a:prstGeom prst="line">
            <a:avLst/>
          </a:prstGeom>
          <a:noFill/>
          <a:ln w="12700">
            <a:solidFill>
              <a:srgbClr val="E4E7EC"/>
            </a:solidFill>
            <a:prstDash val="solid"/>
          </a:ln>
        </p:spPr>
      </p:sp>
      <p:sp>
        <p:nvSpPr>
          <p:cNvPr id="10" name="Text 8"/>
          <p:cNvSpPr/>
          <p:nvPr/>
        </p:nvSpPr>
        <p:spPr>
          <a:xfrm>
            <a:off x="868680" y="3968496"/>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Unauthentifizierter /files-Endpunkt</a:t>
            </a:r>
            <a:endParaRPr lang="en-US" sz="1900" dirty="0"/>
          </a:p>
        </p:txBody>
      </p:sp>
      <p:sp>
        <p:nvSpPr>
          <p:cNvPr id="11" name="Text 9"/>
          <p:cNvSpPr/>
          <p:nvPr/>
        </p:nvSpPr>
        <p:spPr>
          <a:xfrm>
            <a:off x="868680" y="4389120"/>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liefert Datei-Exporte ohne Anmeldung.</a:t>
            </a:r>
            <a:endParaRPr lang="en-US" sz="1400" dirty="0"/>
          </a:p>
        </p:txBody>
      </p:sp>
      <p:sp>
        <p:nvSpPr>
          <p:cNvPr id="12" name="Shape 10"/>
          <p:cNvSpPr/>
          <p:nvPr/>
        </p:nvSpPr>
        <p:spPr>
          <a:xfrm>
            <a:off x="868680" y="4901184"/>
            <a:ext cx="10454335" cy="0"/>
          </a:xfrm>
          <a:prstGeom prst="line">
            <a:avLst/>
          </a:prstGeom>
          <a:noFill/>
          <a:ln w="12700">
            <a:solidFill>
              <a:srgbClr val="E4E7EC"/>
            </a:solidFill>
            <a:prstDash val="solid"/>
          </a:ln>
        </p:spPr>
      </p:sp>
      <p:sp>
        <p:nvSpPr>
          <p:cNvPr id="13" name="Text 11"/>
          <p:cNvSpPr/>
          <p:nvPr/>
        </p:nvSpPr>
        <p:spPr>
          <a:xfrm>
            <a:off x="868680" y="5047488"/>
            <a:ext cx="10454335" cy="384048"/>
          </a:xfrm>
          <a:prstGeom prst="rect">
            <a:avLst/>
          </a:prstGeom>
          <a:noFill/>
          <a:ln/>
        </p:spPr>
        <p:txBody>
          <a:bodyPr wrap="square" lIns="0" tIns="0" rIns="0" bIns="0" rtlCol="0" anchor="ctr"/>
          <a:lstStyle/>
          <a:p>
            <a:pPr marL="0" indent="0">
              <a:buNone/>
            </a:pPr>
            <a:r>
              <a:rPr lang="en-US" sz="1900" b="1" dirty="0" err="1">
                <a:solidFill>
                  <a:srgbClr val="16181D"/>
                </a:solidFill>
                <a:latin typeface="Trebuchet MS" pitchFamily="34" charset="0"/>
                <a:ea typeface="Trebuchet MS" pitchFamily="34" charset="-122"/>
                <a:cs typeface="Trebuchet MS" pitchFamily="34" charset="-120"/>
              </a:rPr>
              <a:t>Unsichere</a:t>
            </a:r>
            <a:r>
              <a:rPr lang="en-US" sz="1900" b="1" dirty="0">
                <a:solidFill>
                  <a:srgbClr val="16181D"/>
                </a:solidFill>
                <a:latin typeface="Trebuchet MS" pitchFamily="34" charset="0"/>
                <a:ea typeface="Trebuchet MS" pitchFamily="34" charset="-122"/>
                <a:cs typeface="Trebuchet MS" pitchFamily="34" charset="-120"/>
              </a:rPr>
              <a:t> Keycloak-Regeln</a:t>
            </a:r>
            <a:endParaRPr lang="en-US" sz="1900" dirty="0"/>
          </a:p>
        </p:txBody>
      </p:sp>
      <p:sp>
        <p:nvSpPr>
          <p:cNvPr id="14" name="Text 12"/>
          <p:cNvSpPr/>
          <p:nvPr/>
        </p:nvSpPr>
        <p:spPr>
          <a:xfrm>
            <a:off x="868680" y="5468112"/>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Wildcard-Origins und veraltete Token-Flows.</a:t>
            </a:r>
            <a:endParaRPr lang="en-US" sz="1400" dirty="0"/>
          </a:p>
        </p:txBody>
      </p:sp>
      <p:sp>
        <p:nvSpPr>
          <p:cNvPr id="15" name="Text 1">
            <a:extLst>
              <a:ext uri="{FF2B5EF4-FFF2-40B4-BE49-F238E27FC236}">
                <a16:creationId xmlns:a16="http://schemas.microsoft.com/office/drawing/2014/main" id="{E30CECDF-2AC1-01E7-3CE7-CA5D74B92E3C}"/>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400" b="1" dirty="0">
                <a:solidFill>
                  <a:srgbClr val="16181D"/>
                </a:solidFill>
                <a:latin typeface="Trebuchet MS" pitchFamily="34" charset="0"/>
                <a:ea typeface="Trebuchet MS" pitchFamily="34" charset="-122"/>
                <a:cs typeface="Trebuchet MS" pitchFamily="34" charset="-120"/>
              </a:rPr>
              <a:t>Fazit</a:t>
            </a:r>
            <a:endParaRPr lang="en-US" sz="4400" dirty="0"/>
          </a:p>
        </p:txBody>
      </p:sp>
      <p:sp>
        <p:nvSpPr>
          <p:cNvPr id="5" name="Text 3"/>
          <p:cNvSpPr/>
          <p:nvPr/>
        </p:nvSpPr>
        <p:spPr>
          <a:xfrm>
            <a:off x="868680" y="2103120"/>
            <a:ext cx="10058400" cy="822960"/>
          </a:xfrm>
          <a:prstGeom prst="rect">
            <a:avLst/>
          </a:prstGeom>
          <a:noFill/>
          <a:ln/>
        </p:spPr>
        <p:txBody>
          <a:bodyPr wrap="square" lIns="0" tIns="0" rIns="0" bIns="0" rtlCol="0" anchor="ctr"/>
          <a:lstStyle/>
          <a:p>
            <a:pPr marL="0" indent="0">
              <a:buNone/>
            </a:pPr>
            <a:r>
              <a:rPr lang="en-US" sz="2100" b="1" dirty="0">
                <a:solidFill>
                  <a:srgbClr val="16181D"/>
                </a:solidFill>
                <a:latin typeface="Trebuchet MS" pitchFamily="34" charset="0"/>
                <a:ea typeface="Trebuchet MS" pitchFamily="34" charset="-122"/>
                <a:cs typeface="Trebuchet MS" pitchFamily="34" charset="-120"/>
              </a:rPr>
              <a:t>CORS ist kein Schutz - es weicht die Browser-Sperre kontrolliert auf.</a:t>
            </a:r>
          </a:p>
          <a:p>
            <a:pPr marL="0" indent="0">
              <a:buNone/>
            </a:pPr>
            <a:r>
              <a:rPr lang="en-US" sz="2100" b="1" dirty="0">
                <a:solidFill>
                  <a:srgbClr val="16181D"/>
                </a:solidFill>
                <a:latin typeface="Trebuchet MS" pitchFamily="34" charset="0"/>
                <a:ea typeface="Trebuchet MS" pitchFamily="34" charset="-122"/>
                <a:cs typeface="Trebuchet MS" pitchFamily="34" charset="-120"/>
              </a:rPr>
              <a:t>Auth </a:t>
            </a:r>
            <a:r>
              <a:rPr lang="en-US" sz="2100" b="1" dirty="0" err="1">
                <a:solidFill>
                  <a:srgbClr val="16181D"/>
                </a:solidFill>
                <a:latin typeface="Trebuchet MS" pitchFamily="34" charset="0"/>
                <a:ea typeface="Trebuchet MS" pitchFamily="34" charset="-122"/>
                <a:cs typeface="Trebuchet MS" pitchFamily="34" charset="-120"/>
              </a:rPr>
              <a:t>prüft</a:t>
            </a:r>
            <a:r>
              <a:rPr lang="en-US" sz="2100" b="1" dirty="0">
                <a:solidFill>
                  <a:srgbClr val="16181D"/>
                </a:solidFill>
                <a:latin typeface="Trebuchet MS" pitchFamily="34" charset="0"/>
                <a:ea typeface="Trebuchet MS" pitchFamily="34" charset="-122"/>
                <a:cs typeface="Trebuchet MS" pitchFamily="34" charset="-120"/>
              </a:rPr>
              <a:t> die Rechte.</a:t>
            </a:r>
            <a:endParaRPr lang="en-US" sz="2100" dirty="0"/>
          </a:p>
        </p:txBody>
      </p:sp>
      <p:sp>
        <p:nvSpPr>
          <p:cNvPr id="6" name="Shape 4"/>
          <p:cNvSpPr/>
          <p:nvPr/>
        </p:nvSpPr>
        <p:spPr>
          <a:xfrm>
            <a:off x="868680" y="3200400"/>
            <a:ext cx="10454335" cy="0"/>
          </a:xfrm>
          <a:prstGeom prst="line">
            <a:avLst/>
          </a:prstGeom>
          <a:noFill/>
          <a:ln w="12700">
            <a:solidFill>
              <a:srgbClr val="E4E7EC"/>
            </a:solidFill>
            <a:prstDash val="solid"/>
          </a:ln>
        </p:spPr>
      </p:sp>
      <p:sp>
        <p:nvSpPr>
          <p:cNvPr id="7" name="Text 5"/>
          <p:cNvSpPr/>
          <p:nvPr/>
        </p:nvSpPr>
        <p:spPr>
          <a:xfrm>
            <a:off x="868680" y="3429000"/>
            <a:ext cx="7315200" cy="274320"/>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DIE FINALE LÖSUNG</a:t>
            </a:r>
            <a:endParaRPr lang="en-US" sz="1150" dirty="0"/>
          </a:p>
        </p:txBody>
      </p:sp>
      <p:sp>
        <p:nvSpPr>
          <p:cNvPr id="8" name="Text 6"/>
          <p:cNvSpPr/>
          <p:nvPr/>
        </p:nvSpPr>
        <p:spPr>
          <a:xfrm>
            <a:off x="868680" y="37947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9" name="Text 7"/>
          <p:cNvSpPr/>
          <p:nvPr/>
        </p:nvSpPr>
        <p:spPr>
          <a:xfrm>
            <a:off x="1508760" y="37947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Saubere Trennung von Dev- und Prod-Properties.</a:t>
            </a:r>
            <a:endParaRPr lang="en-US" sz="1600" dirty="0"/>
          </a:p>
        </p:txBody>
      </p:sp>
      <p:sp>
        <p:nvSpPr>
          <p:cNvPr id="10" name="Text 8"/>
          <p:cNvSpPr/>
          <p:nvPr/>
        </p:nvSpPr>
        <p:spPr>
          <a:xfrm>
            <a:off x="868680" y="43434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11" name="Text 9"/>
          <p:cNvSpPr/>
          <p:nvPr/>
        </p:nvSpPr>
        <p:spPr>
          <a:xfrm>
            <a:off x="1508760" y="4343400"/>
            <a:ext cx="9814255" cy="457200"/>
          </a:xfrm>
          <a:prstGeom prst="rect">
            <a:avLst/>
          </a:prstGeom>
          <a:noFill/>
          <a:ln/>
        </p:spPr>
        <p:txBody>
          <a:bodyPr wrap="square" lIns="0" tIns="0" rIns="0" bIns="0" rtlCol="0" anchor="ctr"/>
          <a:lstStyle/>
          <a:p>
            <a:pPr marL="0" indent="0">
              <a:buNone/>
            </a:pPr>
            <a:r>
              <a:rPr lang="en-US" sz="1600" dirty="0" err="1">
                <a:solidFill>
                  <a:srgbClr val="16181D"/>
                </a:solidFill>
                <a:latin typeface="Calibri" pitchFamily="34" charset="0"/>
                <a:ea typeface="Calibri" pitchFamily="34" charset="-122"/>
                <a:cs typeface="Calibri" pitchFamily="34" charset="-120"/>
              </a:rPr>
              <a:t>Authentifizierung</a:t>
            </a:r>
            <a:r>
              <a:rPr lang="en-US" sz="1600" dirty="0">
                <a:solidFill>
                  <a:srgbClr val="16181D"/>
                </a:solidFill>
                <a:latin typeface="Calibri" pitchFamily="34" charset="0"/>
                <a:ea typeface="Calibri" pitchFamily="34" charset="-122"/>
                <a:cs typeface="Calibri" pitchFamily="34" charset="-120"/>
              </a:rPr>
              <a:t> für Datei-Exporte erzwingen.</a:t>
            </a:r>
            <a:endParaRPr lang="en-US" sz="1600" dirty="0"/>
          </a:p>
        </p:txBody>
      </p:sp>
      <p:sp>
        <p:nvSpPr>
          <p:cNvPr id="12" name="Text 10"/>
          <p:cNvSpPr/>
          <p:nvPr/>
        </p:nvSpPr>
        <p:spPr>
          <a:xfrm>
            <a:off x="868680" y="48920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3" name="Text 11"/>
          <p:cNvSpPr/>
          <p:nvPr/>
        </p:nvSpPr>
        <p:spPr>
          <a:xfrm>
            <a:off x="1508760" y="48920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Keycloak-Wildcards schliessen, veraltete Flows deaktivieren.</a:t>
            </a:r>
            <a:endParaRPr lang="en-US" sz="1600" dirty="0"/>
          </a:p>
        </p:txBody>
      </p:sp>
      <p:sp>
        <p:nvSpPr>
          <p:cNvPr id="14" name="Text 12"/>
          <p:cNvSpPr/>
          <p:nvPr/>
        </p:nvSpPr>
        <p:spPr>
          <a:xfrm>
            <a:off x="868680" y="54406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5" name="Text 13"/>
          <p:cNvSpPr/>
          <p:nvPr/>
        </p:nvSpPr>
        <p:spPr>
          <a:xfrm>
            <a:off x="1508760" y="54406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Feste CORS-Allowlist statt Origin-Spiegelung.</a:t>
            </a:r>
            <a:endParaRPr lang="en-US" sz="1600" dirty="0"/>
          </a:p>
        </p:txBody>
      </p:sp>
      <p:sp>
        <p:nvSpPr>
          <p:cNvPr id="16" name="Text 1">
            <a:extLst>
              <a:ext uri="{FF2B5EF4-FFF2-40B4-BE49-F238E27FC236}">
                <a16:creationId xmlns:a16="http://schemas.microsoft.com/office/drawing/2014/main" id="{50AC08BC-9F32-DDAA-6B5E-9BC06F58D6F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PROBLEM IM PROJEKT · SCHEDULER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Zwei Punkte zum Prüfen</a:t>
            </a:r>
            <a:endParaRPr lang="en-US" sz="4000" dirty="0"/>
          </a:p>
        </p:txBody>
      </p:sp>
      <p:sp>
        <p:nvSpPr>
          <p:cNvPr id="5" name="Text 3"/>
          <p:cNvSpPr/>
          <p:nvPr/>
        </p:nvSpPr>
        <p:spPr>
          <a:xfrm>
            <a:off x="868680" y="1920240"/>
            <a:ext cx="1033272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CORS schützt nicht vor direktem Zugriff – nur vor dem Lesen durch fremdes JavaScript. Diese zwei Stellen sind unabhängig davon sicherheitsrelevant.</a:t>
            </a:r>
            <a:endParaRPr lang="en-US" sz="1700" dirty="0"/>
          </a:p>
        </p:txBody>
      </p:sp>
      <p:sp>
        <p:nvSpPr>
          <p:cNvPr id="6" name="Shape 4"/>
          <p:cNvSpPr/>
          <p:nvPr/>
        </p:nvSpPr>
        <p:spPr>
          <a:xfrm>
            <a:off x="6172200" y="2971800"/>
            <a:ext cx="0" cy="2834640"/>
          </a:xfrm>
          <a:prstGeom prst="line">
            <a:avLst/>
          </a:prstGeom>
          <a:noFill/>
          <a:ln w="12700">
            <a:solidFill>
              <a:srgbClr val="E4E7EC"/>
            </a:solidFill>
            <a:prstDash val="solid"/>
          </a:ln>
        </p:spPr>
      </p:sp>
      <p:sp>
        <p:nvSpPr>
          <p:cNvPr id="7" name="Text 5"/>
          <p:cNvSpPr/>
          <p:nvPr/>
        </p:nvSpPr>
        <p:spPr>
          <a:xfrm>
            <a:off x="86868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01</a:t>
            </a:r>
            <a:endParaRPr lang="en-US" sz="2200" dirty="0"/>
          </a:p>
        </p:txBody>
      </p:sp>
      <p:sp>
        <p:nvSpPr>
          <p:cNvPr id="8" name="Text 6"/>
          <p:cNvSpPr/>
          <p:nvPr/>
        </p:nvSpPr>
        <p:spPr>
          <a:xfrm>
            <a:off x="150876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/files/** ist öffentlich</a:t>
            </a:r>
            <a:endParaRPr lang="en-US" sz="2200" dirty="0"/>
          </a:p>
        </p:txBody>
      </p:sp>
      <p:sp>
        <p:nvSpPr>
          <p:cNvPr id="9" name="Text 7"/>
          <p:cNvSpPr/>
          <p:nvPr/>
        </p:nvSpPr>
        <p:spPr>
          <a:xfrm>
            <a:off x="868680" y="3611880"/>
            <a:ext cx="4937760" cy="8229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Spring Security erlaubt alle Requests unter /files/** </a:t>
            </a:r>
            <a:r>
              <a:rPr lang="en-US" sz="1400" b="1" dirty="0">
                <a:solidFill>
                  <a:srgbClr val="D23B4E"/>
                </a:solidFill>
                <a:latin typeface="Calibri" pitchFamily="34" charset="0"/>
                <a:ea typeface="Calibri" pitchFamily="34" charset="-122"/>
                <a:cs typeface="Calibri" pitchFamily="34" charset="-120"/>
              </a:rPr>
              <a:t>ohne Authentifizierung</a:t>
            </a:r>
            <a:r>
              <a:rPr lang="en-US" sz="1400" dirty="0">
                <a:solidFill>
                  <a:srgbClr val="55606E"/>
                </a:solidFill>
                <a:latin typeface="Calibri" pitchFamily="34" charset="0"/>
                <a:ea typeface="Calibri" pitchFamily="34" charset="-122"/>
                <a:cs typeface="Calibri" pitchFamily="34" charset="-120"/>
              </a:rPr>
              <a:t> – u. a. Planungs- und ICS-Dateien.</a:t>
            </a:r>
            <a:endParaRPr lang="en-US" sz="1400" dirty="0"/>
          </a:p>
        </p:txBody>
      </p:sp>
      <p:sp>
        <p:nvSpPr>
          <p:cNvPr id="10" name="Text 8"/>
          <p:cNvSpPr/>
          <p:nvPr/>
        </p:nvSpPr>
        <p:spPr>
          <a:xfrm>
            <a:off x="868680" y="4480560"/>
            <a:ext cx="4937760" cy="365760"/>
          </a:xfrm>
          <a:prstGeom prst="rect">
            <a:avLst/>
          </a:prstGeom>
          <a:noFill/>
          <a:ln/>
        </p:spPr>
        <p:txBody>
          <a:bodyPr wrap="square" lIns="0" tIns="0" rIns="0" bIns="0" rtlCol="0" anchor="ctr"/>
          <a:lstStyle/>
          <a:p>
            <a:pPr marL="0" indent="0">
              <a:buNone/>
            </a:pPr>
            <a:r>
              <a:rPr lang="en-US" sz="1300" dirty="0">
                <a:solidFill>
                  <a:srgbClr val="16181D"/>
                </a:solidFill>
                <a:latin typeface="Consolas" pitchFamily="34" charset="0"/>
                <a:ea typeface="Consolas" pitchFamily="34" charset="-122"/>
                <a:cs typeface="Consolas" pitchFamily="34" charset="-120"/>
              </a:rPr>
              <a:t>GET /files/planningperiod/{id}/download</a:t>
            </a:r>
            <a:endParaRPr lang="en-US" sz="1300" dirty="0"/>
          </a:p>
        </p:txBody>
      </p:sp>
      <p:sp>
        <p:nvSpPr>
          <p:cNvPr id="11" name="Text 9"/>
          <p:cNvSpPr/>
          <p:nvPr/>
        </p:nvSpPr>
        <p:spPr>
          <a:xfrm>
            <a:off x="868680" y="4983480"/>
            <a:ext cx="4937760" cy="640080"/>
          </a:xfrm>
          <a:prstGeom prst="rect">
            <a:avLst/>
          </a:prstGeom>
          <a:noFill/>
          <a:ln/>
        </p:spPr>
        <p:txBody>
          <a:bodyPr wrap="square" lIns="0" tIns="0" rIns="0" bIns="0" rtlCol="0" anchor="ctr"/>
          <a:lstStyle/>
          <a:p>
            <a:pPr marL="0" indent="0">
              <a:buNone/>
            </a:pPr>
            <a:r>
              <a:rPr lang="en-US" sz="1250" i="1" dirty="0">
                <a:solidFill>
                  <a:srgbClr val="55606E"/>
                </a:solidFill>
                <a:latin typeface="Calibri" pitchFamily="34" charset="0"/>
                <a:ea typeface="Calibri" pitchFamily="34" charset="-122"/>
                <a:cs typeface="Calibri" pitchFamily="34" charset="-120"/>
              </a:rPr>
              <a:t>Guter Demo-Endpunkt – aber prüfen, ob wirklich alles öffentlich sein soll.</a:t>
            </a:r>
            <a:endParaRPr lang="en-US" sz="1250" dirty="0"/>
          </a:p>
        </p:txBody>
      </p:sp>
      <p:sp>
        <p:nvSpPr>
          <p:cNvPr id="12" name="Text 10"/>
          <p:cNvSpPr/>
          <p:nvPr/>
        </p:nvSpPr>
        <p:spPr>
          <a:xfrm>
            <a:off x="86868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SecurityConfiguration.java:48</a:t>
            </a:r>
            <a:endParaRPr lang="en-US" sz="1050" dirty="0"/>
          </a:p>
        </p:txBody>
      </p:sp>
      <p:sp>
        <p:nvSpPr>
          <p:cNvPr id="13" name="Text 11"/>
          <p:cNvSpPr/>
          <p:nvPr/>
        </p:nvSpPr>
        <p:spPr>
          <a:xfrm>
            <a:off x="644652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02</a:t>
            </a:r>
            <a:endParaRPr lang="en-US" sz="2200" dirty="0"/>
          </a:p>
        </p:txBody>
      </p:sp>
      <p:sp>
        <p:nvSpPr>
          <p:cNvPr id="14" name="Text 12"/>
          <p:cNvSpPr/>
          <p:nvPr/>
        </p:nvSpPr>
        <p:spPr>
          <a:xfrm>
            <a:off x="708660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Keycloak: webOrigins</a:t>
            </a:r>
            <a:endParaRPr lang="en-US" sz="2200" dirty="0"/>
          </a:p>
        </p:txBody>
      </p:sp>
      <p:sp>
        <p:nvSpPr>
          <p:cNvPr id="15" name="Text 13"/>
          <p:cNvSpPr/>
          <p:nvPr/>
        </p:nvSpPr>
        <p:spPr>
          <a:xfrm>
            <a:off x="6446520" y="3611880"/>
            <a:ext cx="4937760" cy="64008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Web-Client im Realm-Export nutzt eine Wildcard und unnötige OAuth-Flows – zu breit für einen SPA-Client.</a:t>
            </a:r>
            <a:endParaRPr lang="en-US" sz="1400" dirty="0"/>
          </a:p>
        </p:txBody>
      </p:sp>
      <p:sp>
        <p:nvSpPr>
          <p:cNvPr id="16" name="Text 14"/>
          <p:cNvSpPr/>
          <p:nvPr/>
        </p:nvSpPr>
        <p:spPr>
          <a:xfrm>
            <a:off x="6446520" y="437083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webOrigins: ["*"]</a:t>
            </a:r>
            <a:endParaRPr lang="en-US" sz="1300" dirty="0"/>
          </a:p>
        </p:txBody>
      </p:sp>
      <p:sp>
        <p:nvSpPr>
          <p:cNvPr id="17" name="Text 15"/>
          <p:cNvSpPr/>
          <p:nvPr/>
        </p:nvSpPr>
        <p:spPr>
          <a:xfrm>
            <a:off x="9464040" y="437083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jede Origin</a:t>
            </a:r>
            <a:endParaRPr lang="en-US" sz="1200" dirty="0"/>
          </a:p>
        </p:txBody>
      </p:sp>
      <p:sp>
        <p:nvSpPr>
          <p:cNvPr id="18" name="Text 16"/>
          <p:cNvSpPr/>
          <p:nvPr/>
        </p:nvSpPr>
        <p:spPr>
          <a:xfrm>
            <a:off x="6446520" y="478231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implicitFlowEnabled</a:t>
            </a:r>
            <a:endParaRPr lang="en-US" sz="1300" dirty="0"/>
          </a:p>
        </p:txBody>
      </p:sp>
      <p:sp>
        <p:nvSpPr>
          <p:cNvPr id="19" name="Text 17"/>
          <p:cNvSpPr/>
          <p:nvPr/>
        </p:nvSpPr>
        <p:spPr>
          <a:xfrm>
            <a:off x="9464040" y="478231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Token im Fragment</a:t>
            </a:r>
            <a:endParaRPr lang="en-US" sz="1200" dirty="0"/>
          </a:p>
        </p:txBody>
      </p:sp>
      <p:sp>
        <p:nvSpPr>
          <p:cNvPr id="20" name="Text 18"/>
          <p:cNvSpPr/>
          <p:nvPr/>
        </p:nvSpPr>
        <p:spPr>
          <a:xfrm>
            <a:off x="6446520" y="519379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directAccessGrants</a:t>
            </a:r>
            <a:endParaRPr lang="en-US" sz="1300" dirty="0"/>
          </a:p>
        </p:txBody>
      </p:sp>
      <p:sp>
        <p:nvSpPr>
          <p:cNvPr id="21" name="Text 19"/>
          <p:cNvSpPr/>
          <p:nvPr/>
        </p:nvSpPr>
        <p:spPr>
          <a:xfrm>
            <a:off x="9464040" y="519379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Passwort-Grant</a:t>
            </a:r>
            <a:endParaRPr lang="en-US" sz="1200" dirty="0"/>
          </a:p>
        </p:txBody>
      </p:sp>
      <p:sp>
        <p:nvSpPr>
          <p:cNvPr id="22" name="Text 20"/>
          <p:cNvSpPr/>
          <p:nvPr/>
        </p:nvSpPr>
        <p:spPr>
          <a:xfrm>
            <a:off x="644652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scheduler.json:859-867</a:t>
            </a:r>
            <a:endParaRPr lang="en-US" sz="1050" dirty="0"/>
          </a:p>
        </p:txBody>
      </p:sp>
      <p:sp>
        <p:nvSpPr>
          <p:cNvPr id="23" name="Text 1">
            <a:extLst>
              <a:ext uri="{FF2B5EF4-FFF2-40B4-BE49-F238E27FC236}">
                <a16:creationId xmlns:a16="http://schemas.microsoft.com/office/drawing/2014/main" id="{159D14D2-A691-AC5D-DD1D-60255DAD0117}"/>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2102</Words>
  <Application>Microsoft Office PowerPoint</Application>
  <DocSecurity>0</DocSecurity>
  <PresentationFormat>Breitbild</PresentationFormat>
  <Paragraphs>396</Paragraphs>
  <Slides>28</Slides>
  <Notes>28</Notes>
  <HiddenSlides>1</HiddenSlides>
  <MMClips>0</MMClips>
  <ScaleCrop>false</ScaleCrop>
  <HeadingPairs>
    <vt:vector size="4" baseType="variant">
      <vt:variant>
        <vt:lpstr>Design</vt:lpstr>
      </vt:variant>
      <vt:variant>
        <vt:i4>1</vt:i4>
      </vt:variant>
      <vt:variant>
        <vt:lpstr>Folientitel</vt:lpstr>
      </vt:variant>
      <vt:variant>
        <vt:i4>28</vt:i4>
      </vt:variant>
    </vt:vector>
  </HeadingPairs>
  <TitlesOfParts>
    <vt:vector size="29" baseType="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Raik Ole Kannenberg</cp:lastModifiedBy>
  <cp:revision>48</cp:revision>
  <dcterms:created xsi:type="dcterms:W3CDTF">2026-06-09T16:20:32Z</dcterms:created>
  <dcterms:modified xsi:type="dcterms:W3CDTF">2026-06-10T13:26:58Z</dcterms:modified>
</cp:coreProperties>
</file>