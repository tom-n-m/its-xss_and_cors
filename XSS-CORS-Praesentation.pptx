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81" r:id="rId2"/>
    <p:sldId id="256" r:id="rId3"/>
    <p:sldId id="290" r:id="rId4"/>
    <p:sldId id="257" r:id="rId5"/>
    <p:sldId id="258" r:id="rId6"/>
    <p:sldId id="291" r:id="rId7"/>
    <p:sldId id="292" r:id="rId8"/>
    <p:sldId id="260" r:id="rId9"/>
    <p:sldId id="261" r:id="rId10"/>
    <p:sldId id="262" r:id="rId11"/>
    <p:sldId id="263" r:id="rId12"/>
    <p:sldId id="264" r:id="rId13"/>
    <p:sldId id="265" r:id="rId14"/>
    <p:sldId id="266" r:id="rId15"/>
    <p:sldId id="282" r:id="rId16"/>
    <p:sldId id="283" r:id="rId17"/>
    <p:sldId id="284" r:id="rId18"/>
    <p:sldId id="285" r:id="rId19"/>
    <p:sldId id="286" r:id="rId20"/>
    <p:sldId id="287" r:id="rId21"/>
    <p:sldId id="288" r:id="rId22"/>
    <p:sldId id="289" r:id="rId23"/>
    <p:sldId id="274" r:id="rId24"/>
    <p:sldId id="275" r:id="rId25"/>
    <p:sldId id="276" r:id="rId26"/>
    <p:sldId id="277" r:id="rId27"/>
    <p:sldId id="278" r:id="rId28"/>
    <p:sldId id="279" r:id="rId29"/>
    <p:sldId id="280" r:id="rId30"/>
    <p:sldId id="272"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90"/>
            <p14:sldId id="257"/>
            <p14:sldId id="258"/>
            <p14:sldId id="291"/>
            <p14:sldId id="292"/>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6D8B2-EE5C-4402-A73C-56A4568A741A}" v="48" dt="2026-06-10T13:26:20.2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09" autoAdjust="0"/>
    <p:restoredTop sz="95680" autoAdjust="0"/>
  </p:normalViewPr>
  <p:slideViewPr>
    <p:cSldViewPr snapToGrid="0">
      <p:cViewPr varScale="1">
        <p:scale>
          <a:sx n="103" d="100"/>
          <a:sy n="103" d="100"/>
        </p:scale>
        <p:origin x="592" y="17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Der Kern von XSS ist, dass der Browser nicht zwischen Daten und Code unterscheiden kann. Sobald eine Nutzereingabe ungefiltert in den DOM gelangt, läuft sie im Origin der echten Anwendung. Wichtig ist hier: Die Same-Origin-Policy schützt nicht, weil der Code ja aus der eigenen Seite stammt - er bekommt damit Zugriff auf Session-Tokens, LocalStorage und Cookies.</a:t>
            </a: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Hier zeigen wir, wie aus Text Code wird. Der Parser liest HTML sequenziell, und Sonderzeichen wie spitze Klammern schalten ihn in den Tag-Modus. Steht eine Eingabe ohne Escaping im Dokument, legt das DOM daraus ein echtes Skript-Tag an. Das Beispiel alert(1) ist harmlos, aber im Browserkontext hätte die Payload sofort Zugriff auf LocalStorage und Cookies.</a:t>
            </a:r>
          </a:p>
        </p:txBody>
      </p:sp>
      <p:sp>
        <p:nvSpPr>
          <p:cNvPr id="104" name="Google Shape;1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Die beiden klassischen Varianten unterscheiden sich vor allem im Speicherort. Stored liegt dauerhaft auf dem Server - bei uns wäre das ein Veranstaltungstitel im Scheduler - und trifft jeden, der die Ansicht öffnet. Reflected steckt nur im Request, meist im URL-Parameter, und braucht einen Klick auf einen manipulierten Link. Stored ist deshalb deutlich kritischer, weil es ohne Zutun des Opfers wirkt. Unsere Schwachstelle ist eine Stored-Variante.</a:t>
            </a:r>
          </a:p>
        </p:txBody>
      </p:sp>
      <p:sp>
        <p:nvSpPr>
          <p:cNvPr id="132" name="Google Shape;13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DOM-basiertes XSS ist ein Sonderfall - hier verarbeitet nur der clientseitige JavaScript-Code die Daten unsicher, die Payload muss den Server gar nicht erreichen. Im Scheduler verschmelzen beide Welten: Der Wert wird stored in der Datenbank abgelegt, und beim Rendern liest vue-cal ihn aus und schreibt ihn per innerHTML ins DOM. Genau diese Kombination - Stored plus DOM - ist unser realer Fall.</a:t>
            </a:r>
          </a:p>
        </p:txBody>
      </p:sp>
      <p:sp>
        <p:nvSpPr>
          <p:cNvPr id="158" name="Google Shape;15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Dieses Modell aus Quellen und Senken hilft, Schwachstellen systematisch zu finden. Eine Quelle ist jede Stelle, an der ein Angreifer Daten kontrollieren kann - bei uns die Datenbank-Payload. Eine Senke ist eine Funktion, die Text als Code interpretiert. Der kritische Punkt für uns ist element.innerHTML, denn genau das nutzt der vue-cal Standardrenderer. Ein Angriff entsteht immer dort, wo eine Quelle ungeprüft in eine Senke fließt.</a:t>
            </a:r>
          </a:p>
        </p:txBody>
      </p:sp>
      <p:sp>
        <p:nvSpPr>
          <p:cNvPr id="182" name="Google Shape;18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7160403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GRUNDLAGE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Wenn aus </a:t>
            </a:r>
            <a:r>
              <a:rPr lang="de-DE" sz="4000" b="1" dirty="0">
                <a:solidFill>
                  <a:srgbClr val="1463FF"/>
                </a:solidFill>
                <a:latin typeface="Trebuchet MS"/>
                <a:ea typeface="Trebuchet MS"/>
                <a:cs typeface="Trebuchet MS"/>
              </a:rPr>
              <a:t>Daten</a:t>
            </a:r>
            <a:r>
              <a:rPr lang="de-DE" sz="4000" b="1" dirty="0">
                <a:solidFill>
                  <a:srgbClr val="16181D"/>
                </a:solidFill>
                <a:latin typeface="Trebuchet MS"/>
                <a:ea typeface="Trebuchet MS"/>
                <a:cs typeface="Trebuchet MS"/>
              </a:rPr>
              <a:t> plötzlich </a:t>
            </a:r>
            <a:r>
              <a:rPr lang="de-DE" sz="4000" b="1" dirty="0">
                <a:solidFill>
                  <a:srgbClr val="D23B4E"/>
                </a:solidFill>
                <a:latin typeface="Trebuchet MS"/>
                <a:ea typeface="Trebuchet MS"/>
                <a:cs typeface="Trebuchet MS"/>
              </a:rPr>
              <a:t>Code</a:t>
            </a:r>
            <a:r>
              <a:rPr lang="de-DE" sz="4000" b="1" dirty="0">
                <a:solidFill>
                  <a:srgbClr val="16181D"/>
                </a:solidFill>
                <a:latin typeface="Trebuchet MS"/>
                <a:ea typeface="Trebuchet MS"/>
                <a:cs typeface="Trebuchet MS"/>
              </a:rPr>
              <a:t> wird</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XSS bricht die Trennung zwischen Daten (Nutzereingaben) und Instruktionen (ausführbarem Code) im Browser.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3</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DAS KERNPROBLEM</a:t>
            </a:r>
          </a:p>
        </p:txBody>
      </p:sp>
      <p:sp>
        <p:nvSpPr>
          <p:cNvPr id="7" name="Text"/>
          <p:cNvSpPr>
            <a:spLocks noGrp="1"/>
          </p:cNvSpPr>
          <p:nvPr/>
        </p:nvSpPr>
        <p:spPr>
          <a:xfrm>
            <a:off x="868680" y="3474720"/>
            <a:ext cx="4937760" cy="82296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Unkontrollierte, benutzergenerierte Strings werden ungefiltert in den Dokumentenbaum (DOM) der Anwendung injiziert.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WARUM DAS GEFÄHRLICH IST</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Voller Anwendungskontext</a:t>
            </a:r>
          </a:p>
        </p:txBody>
      </p:sp>
      <p:sp>
        <p:nvSpPr>
          <p:cNvPr id="11" name="Text"/>
          <p:cNvSpPr>
            <a:spLocks noGrp="1"/>
          </p:cNvSpPr>
          <p:nvPr/>
        </p:nvSpPr>
        <p:spPr>
          <a:xfrm>
            <a:off x="6446520" y="397764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injizierte Code läuft mit vollen Rechten im Origin der legitimen Anwendung.</a:t>
            </a:r>
          </a:p>
        </p:txBody>
      </p:sp>
      <p:sp>
        <p:nvSpPr>
          <p:cNvPr id="12" name="Text"/>
          <p:cNvSpPr>
            <a:spLocks noGrp="1"/>
          </p:cNvSpPr>
          <p:nvPr/>
        </p:nvSpPr>
        <p:spPr>
          <a:xfrm>
            <a:off x="6446520" y="480060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Same-Origin-Policy greift nicht</a:t>
            </a:r>
          </a:p>
        </p:txBody>
      </p:sp>
      <p:sp>
        <p:nvSpPr>
          <p:cNvPr id="13" name="Text"/>
          <p:cNvSpPr>
            <a:spLocks noGrp="1"/>
          </p:cNvSpPr>
          <p:nvPr/>
        </p:nvSpPr>
        <p:spPr>
          <a:xfrm>
            <a:off x="6446520" y="525780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Zugriff auf Session-Tokens, LocalStorage und Cookies des Opfers ist sofort möglich.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MECHANISMUS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Kontrollverlust über den </a:t>
            </a:r>
            <a:r>
              <a:rPr lang="de-DE" sz="4000" b="1" dirty="0">
                <a:solidFill>
                  <a:srgbClr val="1463FF"/>
                </a:solidFill>
                <a:latin typeface="Trebuchet MS"/>
                <a:ea typeface="Trebuchet MS"/>
                <a:cs typeface="Trebuchet MS"/>
              </a:rPr>
              <a:t>Parser</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Wie ein Missverständnis bei der Zeichenkodierung dazu führt, dass Text als ausführbarer Code interpretiert wird.</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4</a:t>
            </a:fld>
            <a:endParaRPr lang="en-US" sz="1050" dirty="0"/>
          </a:p>
        </p:txBody>
      </p:sp>
      <p:sp>
        <p:nvSpPr>
          <p:cNvPr id="6" name="VLine"/>
          <p:cNvSpPr>
            <a:spLocks noGrp="1"/>
          </p:cNvSpPr>
          <p:nvPr/>
        </p:nvSpPr>
        <p:spPr>
          <a:xfrm>
            <a:off x="4114800" y="2971800"/>
            <a:ext cx="0" cy="2834640"/>
          </a:xfrm>
          <a:prstGeom prst="line">
            <a:avLst/>
          </a:prstGeom>
          <a:noFill/>
          <a:ln w="12700">
            <a:solidFill>
              <a:srgbClr val="E4E7EC"/>
            </a:solidFill>
            <a:prstDash val="solid"/>
          </a:ln>
        </p:spPr>
        <p:txBody>
          <a:bodyPr/>
          <a:lstStyle/>
          <a:p>
            <a:endParaRPr lang="de-DE"/>
          </a:p>
        </p:txBody>
      </p:sp>
      <p:sp>
        <p:nvSpPr>
          <p:cNvPr id="7" name="VLine"/>
          <p:cNvSpPr>
            <a:spLocks noGrp="1"/>
          </p:cNvSpPr>
          <p:nvPr/>
        </p:nvSpPr>
        <p:spPr>
          <a:xfrm>
            <a:off x="7646400" y="2971800"/>
            <a:ext cx="0" cy="2834640"/>
          </a:xfrm>
          <a:prstGeom prst="line">
            <a:avLst/>
          </a:prstGeom>
          <a:noFill/>
          <a:ln w="12700">
            <a:solidFill>
              <a:srgbClr val="E4E7EC"/>
            </a:solidFill>
            <a:prstDash val="solid"/>
          </a:ln>
        </p:spPr>
        <p:txBody>
          <a:bodyPr/>
          <a:lstStyle/>
          <a:p>
            <a:endParaRPr lang="de-DE"/>
          </a:p>
        </p:txBody>
      </p:sp>
      <p:sp>
        <p:nvSpPr>
          <p:cNvPr id="8" name="Text"/>
          <p:cNvSpPr>
            <a:spLocks noGrp="1"/>
          </p:cNvSpPr>
          <p:nvPr/>
        </p:nvSpPr>
        <p:spPr>
          <a:xfrm>
            <a:off x="86868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01</a:t>
            </a:r>
          </a:p>
        </p:txBody>
      </p:sp>
      <p:sp>
        <p:nvSpPr>
          <p:cNvPr id="9" name="Text"/>
          <p:cNvSpPr>
            <a:spLocks noGrp="1"/>
          </p:cNvSpPr>
          <p:nvPr/>
        </p:nvSpPr>
        <p:spPr>
          <a:xfrm>
            <a:off x="150876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HTML-Interpretation</a:t>
            </a:r>
          </a:p>
        </p:txBody>
      </p:sp>
      <p:sp>
        <p:nvSpPr>
          <p:cNvPr id="10" name="Text"/>
          <p:cNvSpPr>
            <a:spLocks noGrp="1"/>
          </p:cNvSpPr>
          <p:nvPr/>
        </p:nvSpPr>
        <p:spPr>
          <a:xfrm>
            <a:off x="86868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Parser liest HTML sequenziell. Sonderzeichen wie &lt; oder &amp; schalten ihn in den Tag-Erkennungs-Modus.</a:t>
            </a:r>
          </a:p>
        </p:txBody>
      </p:sp>
      <p:sp>
        <p:nvSpPr>
          <p:cNvPr id="11" name="Text"/>
          <p:cNvSpPr>
            <a:spLocks noGrp="1"/>
          </p:cNvSpPr>
          <p:nvPr/>
        </p:nvSpPr>
        <p:spPr>
          <a:xfrm>
            <a:off x="86868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  &amp;  →  Tag-Modus</a:t>
            </a:r>
          </a:p>
        </p:txBody>
      </p:sp>
      <p:sp>
        <p:nvSpPr>
          <p:cNvPr id="12" name="Text"/>
          <p:cNvSpPr>
            <a:spLocks noGrp="1"/>
          </p:cNvSpPr>
          <p:nvPr/>
        </p:nvSpPr>
        <p:spPr>
          <a:xfrm>
            <a:off x="86868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Zustandswechsel</a:t>
            </a:r>
          </a:p>
        </p:txBody>
      </p:sp>
      <p:sp>
        <p:nvSpPr>
          <p:cNvPr id="13" name="Text"/>
          <p:cNvSpPr>
            <a:spLocks noGrp="1"/>
          </p:cNvSpPr>
          <p:nvPr/>
        </p:nvSpPr>
        <p:spPr>
          <a:xfrm>
            <a:off x="440052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02</a:t>
            </a:r>
          </a:p>
        </p:txBody>
      </p:sp>
      <p:sp>
        <p:nvSpPr>
          <p:cNvPr id="14" name="Text"/>
          <p:cNvSpPr>
            <a:spLocks noGrp="1"/>
          </p:cNvSpPr>
          <p:nvPr/>
        </p:nvSpPr>
        <p:spPr>
          <a:xfrm>
            <a:off x="504060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Datenfluss-Kollaps</a:t>
            </a:r>
          </a:p>
        </p:txBody>
      </p:sp>
      <p:sp>
        <p:nvSpPr>
          <p:cNvPr id="15" name="Text"/>
          <p:cNvSpPr>
            <a:spLocks noGrp="1"/>
          </p:cNvSpPr>
          <p:nvPr/>
        </p:nvSpPr>
        <p:spPr>
          <a:xfrm>
            <a:off x="440052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ungefiltert platzierte Eingabe wechselt ungewollt den Parser-Zustand und wird als Anweisung gelesen.</a:t>
            </a:r>
          </a:p>
        </p:txBody>
      </p:sp>
      <p:sp>
        <p:nvSpPr>
          <p:cNvPr id="16" name="Text"/>
          <p:cNvSpPr>
            <a:spLocks noGrp="1"/>
          </p:cNvSpPr>
          <p:nvPr/>
        </p:nvSpPr>
        <p:spPr>
          <a:xfrm>
            <a:off x="440052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&lt;script&gt;alert(1)&lt;/script&gt;</a:t>
            </a:r>
          </a:p>
        </p:txBody>
      </p:sp>
      <p:sp>
        <p:nvSpPr>
          <p:cNvPr id="17" name="Text"/>
          <p:cNvSpPr>
            <a:spLocks noGrp="1"/>
          </p:cNvSpPr>
          <p:nvPr/>
        </p:nvSpPr>
        <p:spPr>
          <a:xfrm>
            <a:off x="440052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wird zur Anweisung</a:t>
            </a:r>
          </a:p>
        </p:txBody>
      </p:sp>
      <p:sp>
        <p:nvSpPr>
          <p:cNvPr id="18" name="Text"/>
          <p:cNvSpPr>
            <a:spLocks noGrp="1"/>
          </p:cNvSpPr>
          <p:nvPr/>
        </p:nvSpPr>
        <p:spPr>
          <a:xfrm>
            <a:off x="793236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03</a:t>
            </a:r>
          </a:p>
        </p:txBody>
      </p:sp>
      <p:sp>
        <p:nvSpPr>
          <p:cNvPr id="19" name="Text"/>
          <p:cNvSpPr>
            <a:spLocks noGrp="1"/>
          </p:cNvSpPr>
          <p:nvPr/>
        </p:nvSpPr>
        <p:spPr>
          <a:xfrm>
            <a:off x="857244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Browser-Kontext</a:t>
            </a:r>
          </a:p>
        </p:txBody>
      </p:sp>
      <p:sp>
        <p:nvSpPr>
          <p:cNvPr id="20" name="Text"/>
          <p:cNvSpPr>
            <a:spLocks noGrp="1"/>
          </p:cNvSpPr>
          <p:nvPr/>
        </p:nvSpPr>
        <p:spPr>
          <a:xfrm>
            <a:off x="793236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Die Payload wird im Browser des Opfers gerendert und erhält Zugriff auf vertrauliche Speicherstrukturen.</a:t>
            </a:r>
          </a:p>
        </p:txBody>
      </p:sp>
      <p:sp>
        <p:nvSpPr>
          <p:cNvPr id="21" name="Text"/>
          <p:cNvSpPr>
            <a:spLocks noGrp="1"/>
          </p:cNvSpPr>
          <p:nvPr/>
        </p:nvSpPr>
        <p:spPr>
          <a:xfrm>
            <a:off x="793236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localStorage / Cookies</a:t>
            </a:r>
          </a:p>
        </p:txBody>
      </p:sp>
      <p:sp>
        <p:nvSpPr>
          <p:cNvPr id="22" name="Text"/>
          <p:cNvSpPr>
            <a:spLocks noGrp="1"/>
          </p:cNvSpPr>
          <p:nvPr/>
        </p:nvSpPr>
        <p:spPr>
          <a:xfrm>
            <a:off x="793236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sofort lesbar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ANGRIFFSARTEN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Stored vs. Reflected XSS</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Die zwei klassischen Angriffswege unterscheiden sich darin, wo die Payload liegt und wie sie das Opfer erreicht.</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5</a:t>
            </a:fld>
            <a:endParaRPr lang="en-US" sz="1050" dirty="0"/>
          </a:p>
        </p:txBody>
      </p:sp>
      <p:sp>
        <p:nvSpPr>
          <p:cNvPr id="6" name="Text"/>
          <p:cNvSpPr>
            <a:spLocks noGrp="1"/>
          </p:cNvSpPr>
          <p:nvPr/>
        </p:nvSpPr>
        <p:spPr>
          <a:xfrm>
            <a:off x="868680" y="2834640"/>
            <a:ext cx="4937760" cy="320040"/>
          </a:xfrm>
          <a:prstGeom prst="rect">
            <a:avLst/>
          </a:prstGeom>
          <a:noFill/>
        </p:spPr>
        <p:txBody>
          <a:bodyPr wrap="square" lIns="0" tIns="0" rIns="0" bIns="0" anchor="ctr">
            <a:spAutoFit/>
          </a:bodyPr>
          <a:lstStyle/>
          <a:p>
            <a:pPr marL="0" indent="0">
              <a:buNone/>
            </a:pPr>
            <a:r>
              <a:rPr lang="de-DE" sz="1400" b="1" spc="80" dirty="0">
                <a:solidFill>
                  <a:srgbClr val="D23B4E"/>
                </a:solidFill>
                <a:latin typeface="Calibri"/>
                <a:ea typeface="Calibri"/>
                <a:cs typeface="Calibri"/>
              </a:rPr>
              <a:t>STORED</a:t>
            </a:r>
          </a:p>
        </p:txBody>
      </p:sp>
      <p:sp>
        <p:nvSpPr>
          <p:cNvPr id="7" name="Text"/>
          <p:cNvSpPr>
            <a:spLocks noGrp="1"/>
          </p:cNvSpPr>
          <p:nvPr/>
        </p:nvSpPr>
        <p:spPr>
          <a:xfrm>
            <a:off x="86868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persistent auf dem Server gespeichert</a:t>
            </a:r>
          </a:p>
        </p:txBody>
      </p:sp>
      <p:sp>
        <p:nvSpPr>
          <p:cNvPr id="8" name="Text"/>
          <p:cNvSpPr>
            <a:spLocks noGrp="1"/>
          </p:cNvSpPr>
          <p:nvPr/>
        </p:nvSpPr>
        <p:spPr>
          <a:xfrm>
            <a:off x="6446520" y="2834640"/>
            <a:ext cx="4937760" cy="320040"/>
          </a:xfrm>
          <a:prstGeom prst="rect">
            <a:avLst/>
          </a:prstGeom>
          <a:noFill/>
        </p:spPr>
        <p:txBody>
          <a:bodyPr wrap="square" lIns="0" tIns="0" rIns="0" bIns="0" anchor="ctr">
            <a:spAutoFit/>
          </a:bodyPr>
          <a:lstStyle/>
          <a:p>
            <a:pPr marL="0" indent="0">
              <a:buNone/>
            </a:pPr>
            <a:r>
              <a:rPr lang="de-DE" sz="1400" b="1" spc="80" dirty="0">
                <a:solidFill>
                  <a:srgbClr val="1463FF"/>
                </a:solidFill>
                <a:latin typeface="Calibri"/>
                <a:ea typeface="Calibri"/>
                <a:cs typeface="Calibri"/>
              </a:rPr>
              <a:t>REFLECTED</a:t>
            </a:r>
          </a:p>
        </p:txBody>
      </p:sp>
      <p:sp>
        <p:nvSpPr>
          <p:cNvPr id="9" name="Text"/>
          <p:cNvSpPr>
            <a:spLocks noGrp="1"/>
          </p:cNvSpPr>
          <p:nvPr/>
        </p:nvSpPr>
        <p:spPr>
          <a:xfrm>
            <a:off x="644652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reflektiert aus dem aktuellen Request</a:t>
            </a:r>
          </a:p>
        </p:txBody>
      </p:sp>
      <p:sp>
        <p:nvSpPr>
          <p:cNvPr id="10" name="Text"/>
          <p:cNvSpPr>
            <a:spLocks noGrp="1"/>
          </p:cNvSpPr>
          <p:nvPr/>
        </p:nvSpPr>
        <p:spPr>
          <a:xfrm>
            <a:off x="868680" y="365760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SPEICHERORT</a:t>
            </a:r>
          </a:p>
        </p:txBody>
      </p:sp>
      <p:sp>
        <p:nvSpPr>
          <p:cNvPr id="11" name="Text"/>
          <p:cNvSpPr>
            <a:spLocks noGrp="1"/>
          </p:cNvSpPr>
          <p:nvPr/>
        </p:nvSpPr>
        <p:spPr>
          <a:xfrm>
            <a:off x="86868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Dauerhaft in DB / Dateisystem (z. B. als Veranstaltungstitel im Scheduler).</a:t>
            </a:r>
          </a:p>
        </p:txBody>
      </p:sp>
      <p:sp>
        <p:nvSpPr>
          <p:cNvPr id="12" name="Text"/>
          <p:cNvSpPr>
            <a:spLocks noGrp="1"/>
          </p:cNvSpPr>
          <p:nvPr/>
        </p:nvSpPr>
        <p:spPr>
          <a:xfrm>
            <a:off x="644652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Gar nicht – die Payload steckt im URL-Parameter des Requests.</a:t>
            </a:r>
          </a:p>
        </p:txBody>
      </p:sp>
      <p:sp>
        <p:nvSpPr>
          <p:cNvPr id="13" name="Line"/>
          <p:cNvSpPr>
            <a:spLocks noGrp="1"/>
          </p:cNvSpPr>
          <p:nvPr/>
        </p:nvSpPr>
        <p:spPr>
          <a:xfrm>
            <a:off x="868680" y="4457700"/>
            <a:ext cx="10454335" cy="0"/>
          </a:xfrm>
          <a:prstGeom prst="line">
            <a:avLst/>
          </a:prstGeom>
          <a:noFill/>
          <a:ln w="12700">
            <a:solidFill>
              <a:srgbClr val="E4E7EC"/>
            </a:solidFill>
            <a:prstDash val="solid"/>
          </a:ln>
        </p:spPr>
        <p:txBody>
          <a:bodyPr/>
          <a:lstStyle/>
          <a:p>
            <a:endParaRPr lang="de-DE"/>
          </a:p>
        </p:txBody>
      </p:sp>
      <p:sp>
        <p:nvSpPr>
          <p:cNvPr id="14" name="Text"/>
          <p:cNvSpPr>
            <a:spLocks noGrp="1"/>
          </p:cNvSpPr>
          <p:nvPr/>
        </p:nvSpPr>
        <p:spPr>
          <a:xfrm>
            <a:off x="868680" y="452628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VERBREITUNG</a:t>
            </a:r>
          </a:p>
        </p:txBody>
      </p:sp>
      <p:sp>
        <p:nvSpPr>
          <p:cNvPr id="15" name="Text"/>
          <p:cNvSpPr>
            <a:spLocks noGrp="1"/>
          </p:cNvSpPr>
          <p:nvPr/>
        </p:nvSpPr>
        <p:spPr>
          <a:xfrm>
            <a:off x="86868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Sehr hoch: jeder, der die Ansicht öffnet, wird automatisch infiziert.</a:t>
            </a:r>
          </a:p>
        </p:txBody>
      </p:sp>
      <p:sp>
        <p:nvSpPr>
          <p:cNvPr id="16" name="Text"/>
          <p:cNvSpPr>
            <a:spLocks noGrp="1"/>
          </p:cNvSpPr>
          <p:nvPr/>
        </p:nvSpPr>
        <p:spPr>
          <a:xfrm>
            <a:off x="644652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Zielgerichtet: das Opfer muss aktiv einen manipulierten Link öffnen.</a:t>
            </a:r>
          </a:p>
        </p:txBody>
      </p:sp>
      <p:sp>
        <p:nvSpPr>
          <p:cNvPr id="17" name="Line"/>
          <p:cNvSpPr>
            <a:spLocks noGrp="1"/>
          </p:cNvSpPr>
          <p:nvPr/>
        </p:nvSpPr>
        <p:spPr>
          <a:xfrm>
            <a:off x="868680" y="5326380"/>
            <a:ext cx="10454335" cy="0"/>
          </a:xfrm>
          <a:prstGeom prst="line">
            <a:avLst/>
          </a:prstGeom>
          <a:noFill/>
          <a:ln w="12700">
            <a:solidFill>
              <a:srgbClr val="E4E7EC"/>
            </a:solidFill>
            <a:prstDash val="solid"/>
          </a:ln>
        </p:spPr>
        <p:txBody>
          <a:bodyPr/>
          <a:lstStyle/>
          <a:p>
            <a:endParaRPr lang="de-DE"/>
          </a:p>
        </p:txBody>
      </p:sp>
      <p:sp>
        <p:nvSpPr>
          <p:cNvPr id="18" name="Text"/>
          <p:cNvSpPr>
            <a:spLocks noGrp="1"/>
          </p:cNvSpPr>
          <p:nvPr/>
        </p:nvSpPr>
        <p:spPr>
          <a:xfrm>
            <a:off x="868680" y="539496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BEISPIEL</a:t>
            </a:r>
          </a:p>
        </p:txBody>
      </p:sp>
      <p:sp>
        <p:nvSpPr>
          <p:cNvPr id="19" name="Text"/>
          <p:cNvSpPr>
            <a:spLocks noGrp="1"/>
          </p:cNvSpPr>
          <p:nvPr/>
        </p:nvSpPr>
        <p:spPr>
          <a:xfrm>
            <a:off x="86868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 Scheduler-Event speichert Schadcode im Feld „Veranstaltungstitel“.</a:t>
            </a:r>
          </a:p>
        </p:txBody>
      </p:sp>
      <p:sp>
        <p:nvSpPr>
          <p:cNvPr id="20" name="Text"/>
          <p:cNvSpPr>
            <a:spLocks noGrp="1"/>
          </p:cNvSpPr>
          <p:nvPr/>
        </p:nvSpPr>
        <p:spPr>
          <a:xfrm>
            <a:off x="644652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Suchfunktion gibt /search?q=… ungefiltert wieder aus.</a:t>
            </a:r>
          </a:p>
        </p:txBody>
      </p:sp>
      <p:sp>
        <p:nvSpPr>
          <p:cNvPr id="21" name="VLine"/>
          <p:cNvSpPr>
            <a:spLocks noGrp="1"/>
          </p:cNvSpPr>
          <p:nvPr/>
        </p:nvSpPr>
        <p:spPr>
          <a:xfrm>
            <a:off x="6172200" y="2834640"/>
            <a:ext cx="0" cy="3337560"/>
          </a:xfrm>
          <a:prstGeom prst="line">
            <a:avLst/>
          </a:prstGeom>
          <a:noFill/>
          <a:ln w="12700">
            <a:solidFill>
              <a:srgbClr val="E4E7EC"/>
            </a:solidFill>
            <a:prstDash val="solid"/>
          </a:ln>
        </p:spPr>
        <p:txBody>
          <a:bodyPr/>
          <a:lstStyle/>
          <a:p>
            <a:endParaRPr lang="de-DE"/>
          </a:p>
        </p:txBody>
      </p:sp>
      <p:sp>
        <p:nvSpPr>
          <p:cNvPr id="22" name="Line"/>
          <p:cNvSpPr>
            <a:spLocks noGrp="1"/>
          </p:cNvSpPr>
          <p:nvPr/>
        </p:nvSpPr>
        <p:spPr>
          <a:xfrm>
            <a:off x="868680" y="6217920"/>
            <a:ext cx="10454335" cy="0"/>
          </a:xfrm>
          <a:prstGeom prst="line">
            <a:avLst/>
          </a:prstGeom>
          <a:noFill/>
          <a:ln w="12700">
            <a:solidFill>
              <a:srgbClr val="E4E7EC"/>
            </a:solidFill>
            <a:prstDash val="solid"/>
          </a:ln>
        </p:spPr>
        <p:txBody>
          <a:bodyPr/>
          <a:lstStyle/>
          <a:p>
            <a:endParaRPr lang="de-DE"/>
          </a:p>
        </p:txBody>
      </p:sp>
      <p:sp>
        <p:nvSpPr>
          <p:cNvPr id="23" name="Text"/>
          <p:cNvSpPr>
            <a:spLocks noGrp="1"/>
          </p:cNvSpPr>
          <p:nvPr/>
        </p:nvSpPr>
        <p:spPr>
          <a:xfrm>
            <a:off x="868680" y="6286500"/>
            <a:ext cx="4937760" cy="365760"/>
          </a:xfrm>
          <a:prstGeom prst="rect">
            <a:avLst/>
          </a:prstGeom>
          <a:noFill/>
        </p:spPr>
        <p:txBody>
          <a:bodyPr wrap="square" lIns="0" tIns="0" rIns="0" bIns="0" anchor="ctr">
            <a:spAutoFit/>
          </a:bodyPr>
          <a:lstStyle/>
          <a:p>
            <a:pPr marL="0" indent="0">
              <a:buNone/>
            </a:pPr>
            <a:r>
              <a:rPr lang="de-DE" sz="1500" b="1" dirty="0">
                <a:solidFill>
                  <a:srgbClr val="D23B4E"/>
                </a:solidFill>
                <a:latin typeface="Trebuchet MS"/>
                <a:ea typeface="Trebuchet MS"/>
                <a:cs typeface="Trebuchet MS"/>
              </a:rPr>
              <a:t>Extrem kritisch</a:t>
            </a:r>
            <a:r>
              <a:rPr lang="de-DE" sz="1300" dirty="0">
                <a:solidFill>
                  <a:srgbClr val="55606E"/>
                </a:solidFill>
                <a:latin typeface="Calibri"/>
                <a:ea typeface="Calibri"/>
                <a:cs typeface="Calibri"/>
              </a:rPr>
              <a:t>  ·  autonomer Angriff</a:t>
            </a:r>
          </a:p>
        </p:txBody>
      </p:sp>
      <p:sp>
        <p:nvSpPr>
          <p:cNvPr id="24" name="Text"/>
          <p:cNvSpPr>
            <a:spLocks noGrp="1"/>
          </p:cNvSpPr>
          <p:nvPr/>
        </p:nvSpPr>
        <p:spPr>
          <a:xfrm>
            <a:off x="6446520" y="6286500"/>
            <a:ext cx="4937760" cy="365760"/>
          </a:xfrm>
          <a:prstGeom prst="rect">
            <a:avLst/>
          </a:prstGeom>
          <a:noFill/>
        </p:spPr>
        <p:txBody>
          <a:bodyPr wrap="square" lIns="0" tIns="0" rIns="0" bIns="0" anchor="ctr">
            <a:spAutoFit/>
          </a:bodyPr>
          <a:lstStyle/>
          <a:p>
            <a:pPr marL="0" indent="0">
              <a:buNone/>
            </a:pPr>
            <a:r>
              <a:rPr lang="de-DE" sz="1500" b="1" dirty="0">
                <a:solidFill>
                  <a:srgbClr val="1463FF"/>
                </a:solidFill>
                <a:latin typeface="Trebuchet MS"/>
                <a:ea typeface="Trebuchet MS"/>
                <a:cs typeface="Trebuchet MS"/>
              </a:rPr>
              <a:t>Hoch</a:t>
            </a:r>
            <a:r>
              <a:rPr lang="de-DE" sz="1300" dirty="0">
                <a:solidFill>
                  <a:srgbClr val="55606E"/>
                </a:solidFill>
                <a:latin typeface="Calibri"/>
                <a:ea typeface="Calibri"/>
                <a:cs typeface="Calibri"/>
              </a:rPr>
              <a:t>  ·  erfordert Interaktion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SONDERFALL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DOM-XSS und der </a:t>
            </a:r>
            <a:r>
              <a:rPr lang="de-DE" sz="4000" b="1" dirty="0">
                <a:solidFill>
                  <a:srgbClr val="1463FF"/>
                </a:solidFill>
                <a:latin typeface="Trebuchet MS"/>
                <a:ea typeface="Trebuchet MS"/>
                <a:cs typeface="Trebuchet MS"/>
              </a:rPr>
              <a:t>hybride Sonderfall</a:t>
            </a:r>
          </a:p>
        </p:txBody>
      </p:sp>
      <p:sp>
        <p:nvSpPr>
          <p:cNvPr id="4" name="Text"/>
          <p:cNvSpPr>
            <a:spLocks noGrp="1"/>
          </p:cNvSpPr>
          <p:nvPr/>
        </p:nvSpPr>
        <p:spPr>
          <a:xfrm>
            <a:off x="868680" y="21488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Beim DOM-basierten XSS verarbeitet ausschließlich der clientseitige JavaScript-Code die Daten unsicher.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6</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WAS IST DOM-BASIERTES XSS?</a:t>
            </a:r>
          </a:p>
        </p:txBody>
      </p:sp>
      <p:sp>
        <p:nvSpPr>
          <p:cNvPr id="7" name="Text"/>
          <p:cNvSpPr>
            <a:spLocks noGrp="1"/>
          </p:cNvSpPr>
          <p:nvPr/>
        </p:nvSpPr>
        <p:spPr>
          <a:xfrm>
            <a:off x="868680" y="3474720"/>
            <a:ext cx="4937760" cy="96012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Die Payload erreicht nicht zwingend den Server, sondern wird direkt im Browser verarbeitet. Eine einzige unsichere Senke im JavaScript genügt.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DER SCHEDULER-FALL · STORED DOM XSS</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Stored</a:t>
            </a:r>
          </a:p>
        </p:txBody>
      </p:sp>
      <p:sp>
        <p:nvSpPr>
          <p:cNvPr id="11" name="Text"/>
          <p:cNvSpPr>
            <a:spLocks noGrp="1"/>
          </p:cNvSpPr>
          <p:nvPr/>
        </p:nvSpPr>
        <p:spPr>
          <a:xfrm>
            <a:off x="6446520" y="388620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Payload wird persistent in der Scheduler-Datenbank abgelegt.</a:t>
            </a:r>
          </a:p>
        </p:txBody>
      </p:sp>
      <p:sp>
        <p:nvSpPr>
          <p:cNvPr id="12" name="Text"/>
          <p:cNvSpPr>
            <a:spLocks noGrp="1"/>
          </p:cNvSpPr>
          <p:nvPr/>
        </p:nvSpPr>
        <p:spPr>
          <a:xfrm>
            <a:off x="6446520" y="425196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DOM-basiert</a:t>
            </a:r>
          </a:p>
        </p:txBody>
      </p:sp>
      <p:sp>
        <p:nvSpPr>
          <p:cNvPr id="13" name="Text"/>
          <p:cNvSpPr>
            <a:spLocks noGrp="1"/>
          </p:cNvSpPr>
          <p:nvPr/>
        </p:nvSpPr>
        <p:spPr>
          <a:xfrm>
            <a:off x="6446520" y="461772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vue-cal liest die Daten beim Rendern und fügt sie ungesichert ins DOM ein.</a:t>
            </a:r>
          </a:p>
        </p:txBody>
      </p:sp>
      <p:sp>
        <p:nvSpPr>
          <p:cNvPr id="14" name="Text"/>
          <p:cNvSpPr>
            <a:spLocks noGrp="1"/>
          </p:cNvSpPr>
          <p:nvPr/>
        </p:nvSpPr>
        <p:spPr>
          <a:xfrm>
            <a:off x="6446520" y="4983480"/>
            <a:ext cx="4937760" cy="320040"/>
          </a:xfrm>
          <a:prstGeom prst="rect">
            <a:avLst/>
          </a:prstGeom>
          <a:noFill/>
        </p:spPr>
        <p:txBody>
          <a:bodyPr wrap="square" lIns="0" tIns="0" rIns="0" bIns="0" anchor="ctr">
            <a:spAutoFit/>
          </a:bodyPr>
          <a:lstStyle/>
          <a:p>
            <a:pPr marL="0" indent="0">
              <a:buNone/>
            </a:pPr>
            <a:r>
              <a:rPr lang="de-DE" sz="1300" dirty="0">
                <a:solidFill>
                  <a:srgbClr val="16181D"/>
                </a:solidFill>
                <a:latin typeface="Consolas"/>
                <a:ea typeface="Consolas"/>
                <a:cs typeface="Consolas"/>
              </a:rPr>
              <a:t>innerHTML</a:t>
            </a:r>
            <a:r>
              <a:rPr lang="de-DE" sz="1200" i="1" dirty="0">
                <a:solidFill>
                  <a:srgbClr val="D23B4E"/>
                </a:solidFill>
                <a:latin typeface="Calibri"/>
                <a:ea typeface="Calibri"/>
                <a:cs typeface="Calibri"/>
              </a:rPr>
              <a:t>   →  Stored + DOM verschmelzen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QUELLEN &amp; SENKEN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Quellen und Senken</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Ein Angriff entsteht, wenn Daten aus einer kontrollierbaren Quelle ungeprüft in eine ausführende Senke fließen.</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7</a:t>
            </a:fld>
            <a:endParaRPr lang="en-US" sz="1050" dirty="0"/>
          </a:p>
        </p:txBody>
      </p:sp>
      <p:sp>
        <p:nvSpPr>
          <p:cNvPr id="6" name="VLine"/>
          <p:cNvSpPr>
            <a:spLocks noGrp="1"/>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p:cNvSpPr>
            <a:spLocks noGrp="1"/>
          </p:cNvSpPr>
          <p:nvPr/>
        </p:nvSpPr>
        <p:spPr>
          <a:xfrm>
            <a:off x="868680" y="2971800"/>
            <a:ext cx="4937760" cy="320040"/>
          </a:xfrm>
          <a:prstGeom prst="rect">
            <a:avLst/>
          </a:prstGeom>
          <a:noFill/>
        </p:spPr>
        <p:txBody>
          <a:bodyPr wrap="square" lIns="0" tIns="0" rIns="0" bIns="0" anchor="ctr">
            <a:spAutoFit/>
          </a:bodyPr>
          <a:lstStyle/>
          <a:p>
            <a:pPr marL="0" indent="0">
              <a:buNone/>
            </a:pPr>
            <a:r>
              <a:rPr lang="de-DE" sz="1300" b="1" spc="80" dirty="0">
                <a:solidFill>
                  <a:srgbClr val="1463FF"/>
                </a:solidFill>
                <a:latin typeface="Calibri"/>
                <a:ea typeface="Calibri"/>
                <a:cs typeface="Calibri"/>
              </a:rPr>
              <a:t>QUELLEN</a:t>
            </a:r>
            <a:r>
              <a:rPr lang="de-DE" sz="1300" dirty="0">
                <a:solidFill>
                  <a:srgbClr val="9AA3AF"/>
                </a:solidFill>
                <a:latin typeface="Calibri"/>
                <a:ea typeface="Calibri"/>
                <a:cs typeface="Calibri"/>
              </a:rPr>
              <a:t>   Sources</a:t>
            </a:r>
          </a:p>
        </p:txBody>
      </p:sp>
      <p:sp>
        <p:nvSpPr>
          <p:cNvPr id="8" name="Text"/>
          <p:cNvSpPr>
            <a:spLocks noGrp="1"/>
          </p:cNvSpPr>
          <p:nvPr/>
        </p:nvSpPr>
        <p:spPr>
          <a:xfrm>
            <a:off x="86868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ein Angreifer die Kontrolle über Datenwerte erlangt:</a:t>
            </a:r>
          </a:p>
        </p:txBody>
      </p:sp>
      <p:sp>
        <p:nvSpPr>
          <p:cNvPr id="9" name="Text"/>
          <p:cNvSpPr>
            <a:spLocks noGrp="1"/>
          </p:cNvSpPr>
          <p:nvPr/>
        </p:nvSpPr>
        <p:spPr>
          <a:xfrm>
            <a:off x="86868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Datenbank-Payloads</a:t>
            </a:r>
          </a:p>
        </p:txBody>
      </p:sp>
      <p:sp>
        <p:nvSpPr>
          <p:cNvPr id="10" name="Text"/>
          <p:cNvSpPr>
            <a:spLocks noGrp="1"/>
          </p:cNvSpPr>
          <p:nvPr/>
        </p:nvSpPr>
        <p:spPr>
          <a:xfrm>
            <a:off x="868680" y="406908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im Scheduler persistent hinterlegt</a:t>
            </a:r>
          </a:p>
        </p:txBody>
      </p:sp>
      <p:sp>
        <p:nvSpPr>
          <p:cNvPr id="11" name="Text"/>
          <p:cNvSpPr>
            <a:spLocks noGrp="1"/>
          </p:cNvSpPr>
          <p:nvPr/>
        </p:nvSpPr>
        <p:spPr>
          <a:xfrm>
            <a:off x="86868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location.search / .hash</a:t>
            </a:r>
          </a:p>
        </p:txBody>
      </p:sp>
      <p:sp>
        <p:nvSpPr>
          <p:cNvPr id="12" name="Text"/>
          <p:cNvSpPr>
            <a:spLocks noGrp="1"/>
          </p:cNvSpPr>
          <p:nvPr/>
        </p:nvSpPr>
        <p:spPr>
          <a:xfrm>
            <a:off x="86868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URL- und Location-Parameter</a:t>
            </a:r>
          </a:p>
        </p:txBody>
      </p:sp>
      <p:sp>
        <p:nvSpPr>
          <p:cNvPr id="13" name="Text"/>
          <p:cNvSpPr>
            <a:spLocks noGrp="1"/>
          </p:cNvSpPr>
          <p:nvPr/>
        </p:nvSpPr>
        <p:spPr>
          <a:xfrm>
            <a:off x="86868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window.name / PostMessage</a:t>
            </a:r>
          </a:p>
        </p:txBody>
      </p:sp>
      <p:sp>
        <p:nvSpPr>
          <p:cNvPr id="14" name="Text"/>
          <p:cNvSpPr>
            <a:spLocks noGrp="1"/>
          </p:cNvSpPr>
          <p:nvPr/>
        </p:nvSpPr>
        <p:spPr>
          <a:xfrm>
            <a:off x="86868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Cross-Window-Kommunikation</a:t>
            </a:r>
          </a:p>
        </p:txBody>
      </p:sp>
      <p:sp>
        <p:nvSpPr>
          <p:cNvPr id="15" name="Text"/>
          <p:cNvSpPr>
            <a:spLocks noGrp="1"/>
          </p:cNvSpPr>
          <p:nvPr/>
        </p:nvSpPr>
        <p:spPr>
          <a:xfrm>
            <a:off x="6446520" y="2971800"/>
            <a:ext cx="4937760" cy="320040"/>
          </a:xfrm>
          <a:prstGeom prst="rect">
            <a:avLst/>
          </a:prstGeom>
          <a:noFill/>
        </p:spPr>
        <p:txBody>
          <a:bodyPr wrap="square" lIns="0" tIns="0" rIns="0" bIns="0" anchor="ctr">
            <a:spAutoFit/>
          </a:bodyPr>
          <a:lstStyle/>
          <a:p>
            <a:pPr marL="0" indent="0">
              <a:buNone/>
            </a:pPr>
            <a:r>
              <a:rPr lang="de-DE" sz="1300" b="1" spc="80" dirty="0">
                <a:solidFill>
                  <a:srgbClr val="D23B4E"/>
                </a:solidFill>
                <a:latin typeface="Calibri"/>
                <a:ea typeface="Calibri"/>
                <a:cs typeface="Calibri"/>
              </a:rPr>
              <a:t>SENKEN</a:t>
            </a:r>
            <a:r>
              <a:rPr lang="de-DE" sz="1300" dirty="0">
                <a:solidFill>
                  <a:srgbClr val="9AA3AF"/>
                </a:solidFill>
                <a:latin typeface="Calibri"/>
                <a:ea typeface="Calibri"/>
                <a:cs typeface="Calibri"/>
              </a:rPr>
              <a:t>   Sinks</a:t>
            </a:r>
          </a:p>
        </p:txBody>
      </p:sp>
      <p:sp>
        <p:nvSpPr>
          <p:cNvPr id="16" name="Text"/>
          <p:cNvSpPr>
            <a:spLocks noGrp="1"/>
          </p:cNvSpPr>
          <p:nvPr/>
        </p:nvSpPr>
        <p:spPr>
          <a:xfrm>
            <a:off x="644652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übergebener Text als Code interpretiert wird:</a:t>
            </a:r>
          </a:p>
        </p:txBody>
      </p:sp>
      <p:sp>
        <p:nvSpPr>
          <p:cNvPr id="17" name="Text"/>
          <p:cNvSpPr>
            <a:spLocks noGrp="1"/>
          </p:cNvSpPr>
          <p:nvPr/>
        </p:nvSpPr>
        <p:spPr>
          <a:xfrm>
            <a:off x="644652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element.innerHTML</a:t>
            </a:r>
          </a:p>
        </p:txBody>
      </p:sp>
      <p:sp>
        <p:nvSpPr>
          <p:cNvPr id="18" name="Text"/>
          <p:cNvSpPr>
            <a:spLocks noGrp="1"/>
          </p:cNvSpPr>
          <p:nvPr/>
        </p:nvSpPr>
        <p:spPr>
          <a:xfrm>
            <a:off x="6446520" y="4069080"/>
            <a:ext cx="4937760" cy="228600"/>
          </a:xfrm>
          <a:prstGeom prst="rect">
            <a:avLst/>
          </a:prstGeom>
          <a:noFill/>
        </p:spPr>
        <p:txBody>
          <a:bodyPr wrap="square" lIns="0" tIns="0" rIns="0" bIns="0" anchor="ctr">
            <a:spAutoFit/>
          </a:bodyPr>
          <a:lstStyle/>
          <a:p>
            <a:pPr marL="0" indent="0">
              <a:buNone/>
            </a:pPr>
            <a:r>
              <a:rPr lang="de-DE" sz="1100" i="1" dirty="0">
                <a:solidFill>
                  <a:srgbClr val="D23B4E"/>
                </a:solidFill>
                <a:latin typeface="Calibri"/>
                <a:ea typeface="Calibri"/>
                <a:cs typeface="Calibri"/>
              </a:rPr>
              <a:t>der vue-cal Standard!</a:t>
            </a:r>
          </a:p>
        </p:txBody>
      </p:sp>
      <p:sp>
        <p:nvSpPr>
          <p:cNvPr id="19" name="Text"/>
          <p:cNvSpPr>
            <a:spLocks noGrp="1"/>
          </p:cNvSpPr>
          <p:nvPr/>
        </p:nvSpPr>
        <p:spPr>
          <a:xfrm>
            <a:off x="644652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eval() / Function()</a:t>
            </a:r>
          </a:p>
        </p:txBody>
      </p:sp>
      <p:sp>
        <p:nvSpPr>
          <p:cNvPr id="20" name="Text"/>
          <p:cNvSpPr>
            <a:spLocks noGrp="1"/>
          </p:cNvSpPr>
          <p:nvPr/>
        </p:nvSpPr>
        <p:spPr>
          <a:xfrm>
            <a:off x="644652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direkte Code-Ausführung</a:t>
            </a:r>
          </a:p>
        </p:txBody>
      </p:sp>
      <p:sp>
        <p:nvSpPr>
          <p:cNvPr id="21" name="Text"/>
          <p:cNvSpPr>
            <a:spLocks noGrp="1"/>
          </p:cNvSpPr>
          <p:nvPr/>
        </p:nvSpPr>
        <p:spPr>
          <a:xfrm>
            <a:off x="644652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script.src / iframe.src</a:t>
            </a:r>
          </a:p>
        </p:txBody>
      </p:sp>
      <p:sp>
        <p:nvSpPr>
          <p:cNvPr id="22" name="Text"/>
          <p:cNvSpPr>
            <a:spLocks noGrp="1"/>
          </p:cNvSpPr>
          <p:nvPr/>
        </p:nvSpPr>
        <p:spPr>
          <a:xfrm>
            <a:off x="644652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Ressourcen-Senken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dirty="0">
                <a:solidFill>
                  <a:srgbClr val="16181D"/>
                </a:solidFill>
                <a:latin typeface="Trebuchet MS"/>
                <a:ea typeface="Trebuchet MS"/>
                <a:cs typeface="Trebuchet MS"/>
              </a:rPr>
              <a:t>Die </a:t>
            </a:r>
            <a:r>
              <a:rPr sz="4000" b="1" dirty="0" err="1">
                <a:solidFill>
                  <a:srgbClr val="16181D"/>
                </a:solidFill>
                <a:latin typeface="Trebuchet MS"/>
                <a:ea typeface="Trebuchet MS"/>
                <a:cs typeface="Trebuchet MS"/>
              </a:rPr>
              <a:t>reale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Schwachstelle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liegt</a:t>
            </a:r>
            <a:r>
              <a:rPr sz="4000" b="1" dirty="0">
                <a:solidFill>
                  <a:srgbClr val="16181D"/>
                </a:solidFill>
                <a:latin typeface="Trebuchet MS"/>
                <a:ea typeface="Trebuchet MS"/>
                <a:cs typeface="Trebuchet MS"/>
              </a:rPr>
              <a:t> in </a:t>
            </a:r>
            <a:r>
              <a:rPr sz="4000" b="1" dirty="0" err="1">
                <a:solidFill>
                  <a:srgbClr val="16181D"/>
                </a:solidFill>
                <a:latin typeface="Trebuchet MS"/>
                <a:ea typeface="Trebuchet MS"/>
                <a:cs typeface="Trebuchet MS"/>
              </a:rPr>
              <a:t>vue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cal</a:t>
            </a:r>
            <a:endParaRPr sz="4000" b="1" dirty="0">
              <a:solidFill>
                <a:srgbClr val="16181D"/>
              </a:solidFill>
              <a:latin typeface="Trebuchet MS"/>
              <a:ea typeface="Trebuchet MS"/>
              <a:cs typeface="Trebuchet MS"/>
            </a:endParaRP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8</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53615" y="2990385"/>
            <a:ext cx="9293" cy="3094835"/>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5438822"/>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55813" y="3379563"/>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688130" y="4203564"/>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54747" y="4203564"/>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7004081" y="4484946"/>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494239"/>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688130" y="4803500"/>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rPr>
              <a:t>&lt;</a:t>
            </a:r>
            <a:r>
              <a:rPr lang="de-DE" sz="1300" b="1" dirty="0" err="1">
                <a:solidFill>
                  <a:srgbClr val="16181D"/>
                </a:solidFill>
                <a:latin typeface="Consolas"/>
              </a:rPr>
              <a:t>template</a:t>
            </a:r>
            <a:r>
              <a:rPr lang="de-DE" sz="1300" b="1" dirty="0">
                <a:solidFill>
                  <a:srgbClr val="16181D"/>
                </a:solidFill>
                <a:latin typeface="Consolas"/>
              </a:rPr>
              <a:t>&gt;</a:t>
            </a:r>
            <a:endParaRPr lang="de-DE" dirty="0"/>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12</a:t>
            </a:fld>
            <a:endParaRPr lang="en-US" sz="1050" dirty="0"/>
          </a:p>
        </p:txBody>
      </p:sp>
      <p:sp>
        <p:nvSpPr>
          <p:cNvPr id="23" name="Text 14">
            <a:extLst>
              <a:ext uri="{FF2B5EF4-FFF2-40B4-BE49-F238E27FC236}">
                <a16:creationId xmlns:a16="http://schemas.microsoft.com/office/drawing/2014/main" id="{790E6680-DEAF-79FE-997D-B579AC52F0A7}"/>
              </a:ext>
            </a:extLst>
          </p:cNvPr>
          <p:cNvSpPr>
            <a:spLocks noGrp="1"/>
          </p:cNvSpPr>
          <p:nvPr/>
        </p:nvSpPr>
        <p:spPr>
          <a:xfrm>
            <a:off x="6446519" y="3999124"/>
            <a:ext cx="3017520" cy="365760"/>
          </a:xfrm>
          <a:prstGeom prst="rect">
            <a:avLst/>
          </a:prstGeom>
          <a:noFill/>
        </p:spPr>
        <p:txBody>
          <a:bodyPr wrap="square" lIns="0" tIns="0" rIns="0" bIns="0" anchor="ctr"/>
          <a:lstStyle/>
          <a:p>
            <a:r>
              <a:rPr lang="en-US" sz="1300" b="1" dirty="0">
                <a:solidFill>
                  <a:srgbClr val="16181D"/>
                </a:solidFill>
                <a:latin typeface="Consolas"/>
                <a:ea typeface="Consolas"/>
                <a:cs typeface="Consolas"/>
              </a:rPr>
              <a:t>&lt;</a:t>
            </a:r>
            <a:r>
              <a:rPr lang="en-US" sz="1300" b="1" dirty="0" err="1">
                <a:solidFill>
                  <a:srgbClr val="16181D"/>
                </a:solidFill>
                <a:latin typeface="Consolas"/>
                <a:ea typeface="Consolas"/>
                <a:cs typeface="Consolas"/>
              </a:rPr>
              <a:t>VueCal</a:t>
            </a:r>
            <a:r>
              <a:rPr lang="en-US" sz="1300" b="1" dirty="0">
                <a:solidFill>
                  <a:srgbClr val="16181D"/>
                </a:solidFill>
                <a:latin typeface="Consolas"/>
                <a:ea typeface="Consolas"/>
                <a:cs typeface="Consolas"/>
              </a:rPr>
              <a:t> :events="events" /&gt;</a:t>
            </a:r>
          </a:p>
          <a:p>
            <a:pPr marL="0" indent="0">
              <a:buNone/>
            </a:pPr>
            <a:endParaRPr sz="1300" b="1" dirty="0">
              <a:solidFill>
                <a:srgbClr val="16181D"/>
              </a:solidFill>
              <a:latin typeface="Consolas"/>
              <a:ea typeface="Consolas"/>
              <a:cs typeface="Consolas"/>
            </a:endParaRPr>
          </a:p>
        </p:txBody>
      </p:sp>
      <p:sp>
        <p:nvSpPr>
          <p:cNvPr id="25" name="Text 9">
            <a:extLst>
              <a:ext uri="{FF2B5EF4-FFF2-40B4-BE49-F238E27FC236}">
                <a16:creationId xmlns:a16="http://schemas.microsoft.com/office/drawing/2014/main" id="{D1397139-91AE-B426-7B3D-BDAD328AE4ED}"/>
              </a:ext>
            </a:extLst>
          </p:cNvPr>
          <p:cNvSpPr>
            <a:spLocks noGrp="1"/>
          </p:cNvSpPr>
          <p:nvPr/>
        </p:nvSpPr>
        <p:spPr>
          <a:xfrm>
            <a:off x="6434996" y="5438821"/>
            <a:ext cx="3971322" cy="723714"/>
          </a:xfrm>
          <a:prstGeom prst="rect">
            <a:avLst/>
          </a:prstGeom>
          <a:noFill/>
        </p:spPr>
        <p:txBody>
          <a:bodyPr wrap="square" lIns="0" tIns="0" rIns="0" bIns="0" anchor="ctr"/>
          <a:lstStyle/>
          <a:p>
            <a:r>
              <a:rPr lang="de-DE" sz="1250" i="1">
                <a:solidFill>
                  <a:srgbClr val="55606E"/>
                </a:solidFill>
                <a:latin typeface="Calibri"/>
                <a:ea typeface="Calibri"/>
                <a:cs typeface="Calibri"/>
              </a:rPr>
              <a:t>Text statt Code</a:t>
            </a:r>
            <a:r>
              <a:rPr sz="1250" i="1">
                <a:solidFill>
                  <a:srgbClr val="55606E"/>
                </a:solidFill>
                <a:latin typeface="Calibri"/>
                <a:ea typeface="Calibri"/>
                <a:cs typeface="Calibri"/>
              </a:rPr>
              <a:t>.</a:t>
            </a:r>
          </a:p>
        </p:txBody>
      </p:sp>
      <p:sp>
        <p:nvSpPr>
          <p:cNvPr id="26" name="Text 18">
            <a:extLst>
              <a:ext uri="{FF2B5EF4-FFF2-40B4-BE49-F238E27FC236}">
                <a16:creationId xmlns:a16="http://schemas.microsoft.com/office/drawing/2014/main" id="{EA9AEB05-21AE-C13A-F79E-3E89CF72013B}"/>
              </a:ext>
            </a:extLst>
          </p:cNvPr>
          <p:cNvSpPr>
            <a:spLocks noGrp="1"/>
          </p:cNvSpPr>
          <p:nvPr/>
        </p:nvSpPr>
        <p:spPr>
          <a:xfrm>
            <a:off x="6437227" y="5128744"/>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ea typeface="+mn-lt"/>
                <a:cs typeface="+mn-lt"/>
              </a:rPr>
              <a:t>&lt;/</a:t>
            </a:r>
            <a:r>
              <a:rPr lang="de-DE" sz="1300" b="1" dirty="0" err="1">
                <a:solidFill>
                  <a:srgbClr val="16181D"/>
                </a:solidFill>
                <a:latin typeface="Consolas"/>
                <a:ea typeface="+mn-lt"/>
                <a:cs typeface="+mn-lt"/>
              </a:rPr>
              <a:t>VueCal</a:t>
            </a:r>
            <a:r>
              <a:rPr lang="de-DE" sz="1300" b="1" dirty="0">
                <a:solidFill>
                  <a:srgbClr val="16181D"/>
                </a:solidFill>
                <a:latin typeface="Consolas"/>
                <a:ea typeface="+mn-lt"/>
                <a:cs typeface="+mn-lt"/>
              </a:rPr>
              <a:t>&gt;</a:t>
            </a:r>
            <a:endParaRPr lang="de-DE"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der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txBody>
          <a:bodyPr/>
          <a:lstStyle/>
          <a:p>
            <a:endParaRPr lang="de-DE"/>
          </a:p>
        </p:txBody>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txBody>
          <a:bodyPr/>
          <a:lstStyle/>
          <a:p>
            <a:endParaRPr lang="de-DE"/>
          </a:p>
        </p:txBody>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txBody>
          <a:bodyPr/>
          <a:lstStyle/>
          <a:p>
            <a:endParaRPr lang="de-DE"/>
          </a:p>
        </p:txBody>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txBody>
          <a:bodyPr/>
          <a:lstStyle/>
          <a:p>
            <a:endParaRPr lang="de-DE"/>
          </a:p>
        </p:txBody>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txBody>
          <a:bodyPr/>
          <a:lstStyle/>
          <a:p>
            <a:endParaRPr lang="de-DE"/>
          </a:p>
        </p:txBody>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txBody>
          <a:bodyPr/>
          <a:lstStyle/>
          <a:p>
            <a:endParaRPr lang="de-DE"/>
          </a:p>
        </p:txBody>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txBody>
          <a:bodyPr/>
          <a:lstStyle/>
          <a:p>
            <a:endParaRPr lang="de-DE"/>
          </a:p>
        </p:txBody>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txBody>
          <a:bodyPr/>
          <a:lstStyle/>
          <a:p>
            <a:endParaRPr lang="de-DE"/>
          </a:p>
        </p:txBody>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txBody>
          <a:bodyPr/>
          <a:lstStyle/>
          <a:p>
            <a:endParaRPr lang="de-DE"/>
          </a:p>
        </p:txBody>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txBody>
          <a:bodyPr/>
          <a:lstStyle/>
          <a:p>
            <a:endParaRPr lang="de-DE"/>
          </a:p>
        </p:txBody>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23</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txBody>
          <a:bodyPr/>
          <a:lstStyle/>
          <a:p>
            <a:endParaRPr lang="de-DE"/>
          </a:p>
        </p:txBody>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txBody>
          <a:bodyPr/>
          <a:lstStyle/>
          <a:p>
            <a:endParaRPr lang="de-DE"/>
          </a:p>
        </p:txBody>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txBody>
          <a:bodyPr/>
          <a:lstStyle/>
          <a:p>
            <a:endParaRPr lang="de-DE"/>
          </a:p>
        </p:txBody>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txBody>
          <a:bodyPr/>
          <a:lstStyle/>
          <a:p>
            <a:endParaRPr lang="de-DE"/>
          </a:p>
        </p:txBody>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txBody>
          <a:bodyPr/>
          <a:lstStyle/>
          <a:p>
            <a:endParaRPr lang="de-DE"/>
          </a:p>
        </p:txBody>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txBody>
          <a:bodyPr/>
          <a:lstStyle/>
          <a:p>
            <a:endParaRPr lang="de-DE"/>
          </a:p>
        </p:txBody>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2648</Words>
  <Application>Microsoft Macintosh PowerPoint</Application>
  <DocSecurity>0</DocSecurity>
  <PresentationFormat>Widescreen</PresentationFormat>
  <Paragraphs>438</Paragraphs>
  <Slides>30</Slides>
  <Notes>30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Raik Ole Kannenberg</cp:lastModifiedBy>
  <cp:revision>57</cp:revision>
  <dcterms:created xsi:type="dcterms:W3CDTF">2026-06-09T16:20:32Z</dcterms:created>
  <dcterms:modified xsi:type="dcterms:W3CDTF">2026-06-10T23:05:30Z</dcterms:modified>
</cp:coreProperties>
</file>