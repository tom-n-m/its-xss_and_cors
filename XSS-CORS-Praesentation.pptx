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1"/>
  </p:notesMasterIdLst>
  <p:sldIdLst>
    <p:sldId id="281" r:id="rId2"/>
    <p:sldId id="256" r:id="rId3"/>
    <p:sldId id="290" r:id="rId4"/>
    <p:sldId id="257" r:id="rId5"/>
    <p:sldId id="258" r:id="rId6"/>
    <p:sldId id="291" r:id="rId7"/>
    <p:sldId id="292" r:id="rId8"/>
    <p:sldId id="260" r:id="rId9"/>
    <p:sldId id="261" r:id="rId10"/>
    <p:sldId id="262" r:id="rId11"/>
    <p:sldId id="263" r:id="rId12"/>
    <p:sldId id="264" r:id="rId13"/>
    <p:sldId id="265" r:id="rId14"/>
    <p:sldId id="266" r:id="rId15"/>
    <p:sldId id="282" r:id="rId16"/>
    <p:sldId id="283" r:id="rId17"/>
    <p:sldId id="284" r:id="rId18"/>
    <p:sldId id="285" r:id="rId19"/>
    <p:sldId id="286" r:id="rId20"/>
    <p:sldId id="287" r:id="rId21"/>
    <p:sldId id="288" r:id="rId22"/>
    <p:sldId id="289" r:id="rId23"/>
    <p:sldId id="274" r:id="rId24"/>
    <p:sldId id="275" r:id="rId25"/>
    <p:sldId id="276" r:id="rId26"/>
    <p:sldId id="277" r:id="rId27"/>
    <p:sldId id="278" r:id="rId28"/>
    <p:sldId id="279" r:id="rId29"/>
    <p:sldId id="280" r:id="rId30"/>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leitung" id="{83E6BEB8-E7DD-4FA4-ADAD-A9F3F3A9B470}">
          <p14:sldIdLst>
            <p14:sldId id="281"/>
          </p14:sldIdLst>
        </p14:section>
        <p14:section name="XSS" id="{8D85D553-47C9-4C47-8041-E6C53F6B860B}">
          <p14:sldIdLst>
            <p14:sldId id="256"/>
            <p14:sldId id="290"/>
            <p14:sldId id="257"/>
            <p14:sldId id="258"/>
            <p14:sldId id="291"/>
            <p14:sldId id="292"/>
            <p14:sldId id="260"/>
            <p14:sldId id="261"/>
            <p14:sldId id="262"/>
            <p14:sldId id="263"/>
            <p14:sldId id="264"/>
            <p14:sldId id="265"/>
          </p14:sldIdLst>
        </p14:section>
        <p14:section name="CORS" id="{11B11767-8EC2-4D59-ACBC-E6EC4288162A}">
          <p14:sldIdLst>
            <p14:sldId id="266"/>
            <p14:sldId id="282"/>
            <p14:sldId id="283"/>
            <p14:sldId id="284"/>
            <p14:sldId id="285"/>
            <p14:sldId id="286"/>
            <p14:sldId id="287"/>
            <p14:sldId id="288"/>
            <p14:sldId id="289"/>
            <p14:sldId id="274"/>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936D8B2-EE5C-4402-A73C-56A4568A741A}" v="48" dt="2026-06-10T13:26:20.27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809" autoAdjust="0"/>
    <p:restoredTop sz="67178" autoAdjust="0"/>
  </p:normalViewPr>
  <p:slideViewPr>
    <p:cSldViewPr snapToGrid="0">
      <p:cViewPr varScale="1">
        <p:scale>
          <a:sx n="76" d="100"/>
          <a:sy n="76" d="100"/>
        </p:scale>
        <p:origin x="1734" y="90"/>
      </p:cViewPr>
      <p:guideLst/>
    </p:cSldViewPr>
  </p:slideViewPr>
  <p:notesTextViewPr>
    <p:cViewPr>
      <p:scale>
        <a:sx n="150" d="100"/>
        <a:sy n="15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6E5EA-881B-94FB-E3D0-D5D75D5F7E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4DC4CB-C3D3-E208-6501-D8FACA961F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06C05F-C8C1-3AF9-ECE3-22E303153D8C}"/>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F51B86BF-2386-82AE-FEFB-230FA31AEE6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6624565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Linus: Wir erklären zunächst die Grundlagen von Cross Site Scripting und zeigen danach die konkrete Stored DOM XSS Schwachstelle im Scheduler.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t>Linus: Der Kern von XSS ist, dass der Browser nicht zwischen Daten und Code unterscheiden kann. Sobald eine Nutzereingabe ungefiltert in den DOM gelangt, läuft sie im Origin der echten Anwendung. Wichtig ist hier: Die Same-Origin-Policy schützt nicht, weil der Code ja aus der eigenen Seite stammt - er bekommt damit Zugriff auf Session-Tokens, LocalStorage und Cookies.</a:t>
            </a: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t>Linus: Hier zeigen wir, wie aus Text Code wird. Der Parser liest HTML sequenziell, und Sonderzeichen wie spitze Klammern schalten ihn in den Tag-Modus. Steht eine Eingabe ohne Escaping im Dokument, legt das DOM daraus ein echtes Skript-Tag an. Das Beispiel alert(1) ist harmlos, aber im Browserkontext hätte die Payload sofort Zugriff auf LocalStorage und Cookies.</a:t>
            </a:r>
          </a:p>
        </p:txBody>
      </p:sp>
      <p:sp>
        <p:nvSpPr>
          <p:cNvPr id="104" name="Google Shape;10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t>Arvid: Die beiden klassischen Varianten unterscheiden sich vor allem im Speicherort. Stored liegt dauerhaft auf dem Server - bei uns wäre das ein Veranstaltungstitel im Scheduler - und trifft jeden, der die Ansicht öffnet. Reflected steckt nur im Request, meist im URL-Parameter, und braucht einen Klick auf einen manipulierten Link. Stored ist deshalb deutlich kritischer, weil es ohne Zutun des Opfers wirkt. Unsere Schwachstelle ist eine Stored-Variante.</a:t>
            </a:r>
          </a:p>
        </p:txBody>
      </p:sp>
      <p:sp>
        <p:nvSpPr>
          <p:cNvPr id="132" name="Google Shape;132;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t>Arvid: DOM-basiertes XSS ist ein Sonderfall - hier verarbeitet nur der clientseitige JavaScript-Code die Daten unsicher, die Payload muss den Server gar nicht erreichen. Im Scheduler verschmelzen beide Welten: Der Wert wird stored in der Datenbank abgelegt, und beim Rendern liest vue-cal ihn aus und schreibt ihn per innerHTML ins DOM. Genau diese Kombination - Stored plus DOM - ist unser realer Fall.</a:t>
            </a:r>
          </a:p>
        </p:txBody>
      </p:sp>
      <p:sp>
        <p:nvSpPr>
          <p:cNvPr id="158" name="Google Shape;158;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t>Linus: Dieses Modell aus Quellen und Senken hilft, Schwachstellen systematisch zu finden. Eine Quelle ist jede Stelle, an der ein Angreifer Daten kontrollieren kann - bei uns die Datenbank-Payload. Eine Senke ist eine Funktion, die Text als Code interpretiert. Der kritische Punkt für uns ist element.innerHTML, denn genau das nutzt der vue-cal Standardrenderer. Ein Angriff entsteht immer dort, wo eine Quelle ungeprüft in eine Senke fließt.</a:t>
            </a:r>
          </a:p>
        </p:txBody>
      </p:sp>
      <p:sp>
        <p:nvSpPr>
          <p:cNvPr id="182" name="Google Shape;18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Die Schwachstelle liegt nicht in einer direkten Nutzung von v html im eigenen Code. Gespeicherte Werte werden an VueCal übergeben und dort im Standardrenderer mit innerHTML ausgegeben.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Der Setup Test bereitet reproduzierbare lokale Daten vor. Danach zeigen wir dieselbe Route einmal mit der unsicheren und einmal mit der sicheren Kalenderkomponente.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Zuerst die unsichere Variante öffnen und die Codeausführung zeigen. Danach die sichere Variante starten. Der gespeicherte Payload bleibt unverändert, wird aber nur noch als Text angezeigt.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Linus: Die Demo nutzt nur einen harmlosen sichtbaren Effekt. Reale XSS könnte sichtbare Daten lesen, API Requests im Kontext des Nutzers senden oder auf den im JavaScript Kontext verfügbaren Keycloak Token zugreifen.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Der Fix ist ein eigener Event Slot. Vue Interpolation escaped den Event Titel und erzeugt Text. Dieser Fix muss auf alle VueCal Ansichten mit Datenbankwerten übertragen werden.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Der wichtigste Schutz ist sichere Ausgabe. Content Security Policy, Validierung und Tests sind zusätzliche Schichten, ersetzen den eigentlichen Fix aber nicht.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Übergabe Tom — Demo-Part CORS</a:t>
            </a:r>
          </a:p>
          <a:p>
            <a:r>
              <a:rPr lang="de-DE" dirty="0"/>
              <a:t>4 Komponenten: </a:t>
            </a:r>
            <a:r>
              <a:rPr lang="de-DE" dirty="0" err="1"/>
              <a:t>Keycloak</a:t>
            </a:r>
            <a:r>
              <a:rPr lang="de-DE" dirty="0"/>
              <a:t> :8080 · Spring API :8079 · Vue :8078 · exploit.html :5173</a:t>
            </a:r>
          </a:p>
          <a:p>
            <a:r>
              <a:rPr lang="de-DE" dirty="0"/>
              <a:t>Schlüssel: Port 5173 = andere Origin → Browser sieht zwei getrennte Origins</a:t>
            </a:r>
          </a:p>
          <a:p>
            <a:r>
              <a:rPr lang="de-DE" dirty="0"/>
              <a:t>Gleiche Daten, gleiche API — legitimer Nutzer vs. Angreifer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Zustand 1 (unsicher): </a:t>
            </a:r>
            <a:r>
              <a:rPr lang="de-DE" dirty="0" err="1"/>
              <a:t>allowedOriginPatterns</a:t>
            </a:r>
            <a:r>
              <a:rPr lang="de-DE" dirty="0"/>
              <a:t>("*") + </a:t>
            </a:r>
            <a:r>
              <a:rPr lang="de-DE" dirty="0" err="1"/>
              <a:t>allowCredentials</a:t>
            </a:r>
            <a:r>
              <a:rPr lang="de-DE" dirty="0"/>
              <a:t>(</a:t>
            </a:r>
            <a:r>
              <a:rPr lang="de-DE" dirty="0" err="1"/>
              <a:t>true</a:t>
            </a:r>
            <a:r>
              <a:rPr lang="de-DE" dirty="0"/>
              <a:t>)</a:t>
            </a:r>
          </a:p>
          <a:p>
            <a:r>
              <a:rPr lang="de-DE" dirty="0"/>
              <a:t>  → 1 Klick = stiller Download Stundenplan_Export.xlsx</a:t>
            </a:r>
          </a:p>
          <a:p>
            <a:r>
              <a:rPr lang="de-DE" dirty="0"/>
              <a:t>Zustand 2 (sicher): </a:t>
            </a:r>
            <a:r>
              <a:rPr lang="de-DE" dirty="0" err="1"/>
              <a:t>allowedOrigins</a:t>
            </a:r>
            <a:r>
              <a:rPr lang="de-DE" dirty="0"/>
              <a:t>(["localhost:8078"]) + </a:t>
            </a:r>
            <a:r>
              <a:rPr lang="de-DE" dirty="0" err="1"/>
              <a:t>allowCredentials</a:t>
            </a:r>
            <a:r>
              <a:rPr lang="de-DE" dirty="0"/>
              <a:t>(</a:t>
            </a:r>
            <a:r>
              <a:rPr lang="de-DE" dirty="0" err="1"/>
              <a:t>false</a:t>
            </a:r>
            <a:r>
              <a:rPr lang="de-DE" dirty="0"/>
              <a:t>)</a:t>
            </a:r>
          </a:p>
          <a:p>
            <a:r>
              <a:rPr lang="de-DE" dirty="0"/>
              <a:t>  → :8078 erlaubt · :5173 blockiert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[Zur Demo wechseln]</a:t>
            </a:r>
          </a:p>
          <a:p>
            <a:r>
              <a:rPr lang="de-DE" dirty="0"/>
              <a:t>1. Unsichere Variante zeigen → Download tritt auf</a:t>
            </a:r>
          </a:p>
          <a:p>
            <a:r>
              <a:rPr lang="de-DE" dirty="0"/>
              <a:t>2. Fix aktivieren → Browser blockiert Angreifer-Origin</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Excel war nur der sichtbare Teil — </a:t>
            </a:r>
            <a:r>
              <a:rPr lang="de-DE" dirty="0" err="1"/>
              <a:t>Keycloak</a:t>
            </a:r>
            <a:r>
              <a:rPr lang="de-DE" dirty="0"/>
              <a:t> macht es kritischer</a:t>
            </a:r>
          </a:p>
          <a:p>
            <a:r>
              <a:rPr lang="de-DE" dirty="0" err="1"/>
              <a:t>scheduler.json</a:t>
            </a:r>
            <a:r>
              <a:rPr lang="de-DE" dirty="0"/>
              <a:t>: </a:t>
            </a:r>
            <a:r>
              <a:rPr lang="de-DE" dirty="0" err="1"/>
              <a:t>webOrigins</a:t>
            </a:r>
            <a:r>
              <a:rPr lang="de-DE" dirty="0"/>
              <a:t>: ["*"] → jede Origin erlaubt</a:t>
            </a:r>
          </a:p>
          <a:p>
            <a:r>
              <a:rPr lang="de-DE" dirty="0" err="1"/>
              <a:t>implicitFlowEnabled</a:t>
            </a:r>
            <a:r>
              <a:rPr lang="de-DE" dirty="0"/>
              <a:t> → Token im URL-Fragment (veraltet, unsicher)</a:t>
            </a:r>
          </a:p>
          <a:p>
            <a:r>
              <a:rPr lang="de-DE" dirty="0" err="1"/>
              <a:t>directAccessGrants</a:t>
            </a:r>
            <a:r>
              <a:rPr lang="de-DE" dirty="0"/>
              <a:t> → Passwort-Grant aktiv (unnötig für SPA)</a:t>
            </a:r>
          </a:p>
          <a:p>
            <a:r>
              <a:rPr lang="de-DE" dirty="0"/>
              <a:t>Einzeln grenzwertig — zusammen zu breit für Produktion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1. Login: gültiges </a:t>
            </a:r>
            <a:r>
              <a:rPr lang="de-DE" dirty="0" err="1"/>
              <a:t>Bearer</a:t>
            </a:r>
            <a:r>
              <a:rPr lang="de-DE" dirty="0"/>
              <a:t>-Token liegt im Browser</a:t>
            </a:r>
          </a:p>
          <a:p>
            <a:r>
              <a:rPr lang="de-DE" dirty="0"/>
              <a:t>2. /</a:t>
            </a:r>
            <a:r>
              <a:rPr lang="de-DE" dirty="0" err="1"/>
              <a:t>session</a:t>
            </a:r>
            <a:r>
              <a:rPr lang="de-DE" dirty="0"/>
              <a:t>: Fremde Seite liest Antwort dank offenem CORS + </a:t>
            </a:r>
            <a:r>
              <a:rPr lang="de-DE" dirty="0" err="1"/>
              <a:t>Credentials</a:t>
            </a:r>
            <a:endParaRPr lang="de-DE" dirty="0"/>
          </a:p>
          <a:p>
            <a:r>
              <a:rPr lang="de-DE" dirty="0"/>
              <a:t>3. </a:t>
            </a:r>
            <a:r>
              <a:rPr lang="de-DE" dirty="0" err="1"/>
              <a:t>Leaking</a:t>
            </a:r>
            <a:r>
              <a:rPr lang="de-DE" dirty="0"/>
              <a:t>: </a:t>
            </a:r>
            <a:r>
              <a:rPr lang="de-DE" dirty="0" err="1"/>
              <a:t>Bearer</a:t>
            </a:r>
            <a:r>
              <a:rPr lang="de-DE" dirty="0"/>
              <a:t>-Token im Klartext auslesbar</a:t>
            </a:r>
          </a:p>
          <a:p>
            <a:r>
              <a:rPr lang="de-DE" dirty="0"/>
              <a:t>4. Takeover: Angreifer agiert vollständig als Nutzer</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Keine Einzel-Lücke — drei Schichten zusammen = kritisch</a:t>
            </a:r>
          </a:p>
          <a:p>
            <a:r>
              <a:rPr lang="de-DE" dirty="0"/>
              <a:t>Offenes CORS → Browser-Sperre für fremde Origins aufgehoben</a:t>
            </a:r>
          </a:p>
          <a:p>
            <a:r>
              <a:rPr lang="de-DE" dirty="0"/>
              <a:t>/</a:t>
            </a:r>
            <a:r>
              <a:rPr lang="de-DE" dirty="0" err="1"/>
              <a:t>files</a:t>
            </a:r>
            <a:r>
              <a:rPr lang="de-DE" dirty="0"/>
              <a:t>/** ohne Auth → direkter Zugriff unabhängig von CORS</a:t>
            </a:r>
          </a:p>
          <a:p>
            <a:r>
              <a:rPr lang="de-DE" dirty="0" err="1"/>
              <a:t>Keycloak</a:t>
            </a:r>
            <a:r>
              <a:rPr lang="de-DE" dirty="0"/>
              <a:t>: Wildcard-Origins + veraltete Flows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CORS ≠ Schutz — hebt nur Lesesperre auf · Auth prüft die Rechte</a:t>
            </a:r>
          </a:p>
          <a:p>
            <a:r>
              <a:rPr lang="de-DE" dirty="0"/>
              <a:t>Fix 1: Dev/</a:t>
            </a:r>
            <a:r>
              <a:rPr lang="de-DE" dirty="0" err="1"/>
              <a:t>Prod</a:t>
            </a:r>
            <a:r>
              <a:rPr lang="de-DE" dirty="0"/>
              <a:t>-Properties sauber trennen</a:t>
            </a:r>
          </a:p>
          <a:p>
            <a:r>
              <a:rPr lang="de-DE" dirty="0"/>
              <a:t>Fix 2: /</a:t>
            </a:r>
            <a:r>
              <a:rPr lang="de-DE" dirty="0" err="1"/>
              <a:t>files</a:t>
            </a:r>
            <a:r>
              <a:rPr lang="de-DE" dirty="0"/>
              <a:t>/** nur mit Authentifizierung</a:t>
            </a:r>
          </a:p>
          <a:p>
            <a:r>
              <a:rPr lang="de-DE" dirty="0"/>
              <a:t>Fix 3: </a:t>
            </a:r>
            <a:r>
              <a:rPr lang="de-DE" dirty="0" err="1"/>
              <a:t>Keycloak</a:t>
            </a:r>
            <a:r>
              <a:rPr lang="de-DE" dirty="0"/>
              <a:t> bereinigen — Wildcards schließen, Flows deaktivieren</a:t>
            </a:r>
          </a:p>
          <a:p>
            <a:r>
              <a:rPr lang="de-DE" dirty="0"/>
              <a:t>Fix 4: Feste CORS-</a:t>
            </a:r>
            <a:r>
              <a:rPr lang="de-DE" dirty="0" err="1"/>
              <a:t>Allowlist</a:t>
            </a:r>
            <a:r>
              <a:rPr lang="de-DE" dirty="0"/>
              <a:t> statt Wildcard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‹Nr.›</a:t>
            </a:fld>
            <a:endParaRPr/>
          </a:p>
        </p:txBody>
      </p:sp>
    </p:spTree>
    <p:extLst>
      <p:ext uri="{BB962C8B-B14F-4D97-AF65-F5344CB8AC3E}">
        <p14:creationId xmlns:p14="http://schemas.microsoft.com/office/powerpoint/2010/main" val="171604038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a:spcBef>
          <a:spcPts val="0"/>
        </a:spcBef>
        <a:buNone/>
        <a:defRPr sz="4400">
          <a:solidFill>
            <a:schemeClr val="tx1"/>
          </a:solidFill>
          <a:latin typeface="+mj-lt"/>
          <a:ea typeface="+mj-lt"/>
          <a:cs typeface="+mj-lt"/>
        </a:defRPr>
      </a:lvl1pPr>
    </p:titleStyle>
    <p:bodyStyle>
      <a:lvl1pPr marL="342900" indent="-342900" algn="l">
        <a:spcBef>
          <a:spcPts val="0"/>
        </a:spcBef>
        <a:buChar char="•"/>
        <a:defRPr sz="3200">
          <a:solidFill>
            <a:schemeClr val="tx1"/>
          </a:solidFill>
          <a:latin typeface="+mn-lt"/>
          <a:ea typeface="+mn-lt"/>
          <a:cs typeface="+mn-lt"/>
        </a:defRPr>
      </a:lvl1pPr>
      <a:lvl2pPr marL="742950" indent="-285750" algn="l">
        <a:spcBef>
          <a:spcPts val="0"/>
        </a:spcBef>
        <a:buChar char="–"/>
        <a:defRPr sz="2800">
          <a:solidFill>
            <a:schemeClr val="tx1"/>
          </a:solidFill>
          <a:latin typeface="+mn-lt"/>
          <a:ea typeface="+mn-lt"/>
          <a:cs typeface="+mn-lt"/>
        </a:defRPr>
      </a:lvl2pPr>
      <a:lvl3pPr marL="1143000" indent="-228600" algn="l">
        <a:spcBef>
          <a:spcPts val="0"/>
        </a:spcBef>
        <a:buChar char="•"/>
        <a:defRPr sz="2400">
          <a:solidFill>
            <a:schemeClr val="tx1"/>
          </a:solidFill>
          <a:latin typeface="+mn-lt"/>
          <a:ea typeface="+mn-lt"/>
          <a:cs typeface="+mn-lt"/>
        </a:defRPr>
      </a:lvl3pPr>
      <a:lvl4pPr marL="1600200" indent="-228600" algn="l">
        <a:spcBef>
          <a:spcPts val="0"/>
        </a:spcBef>
        <a:buChar char="–"/>
        <a:defRPr sz="2000">
          <a:solidFill>
            <a:schemeClr val="tx1"/>
          </a:solidFill>
          <a:latin typeface="+mn-lt"/>
          <a:ea typeface="+mn-lt"/>
          <a:cs typeface="+mn-lt"/>
        </a:defRPr>
      </a:lvl4pPr>
      <a:lvl5pPr marL="2057400" indent="-228600" algn="l">
        <a:spcBef>
          <a:spcPts val="0"/>
        </a:spcBef>
        <a:buChar char="»"/>
        <a:defRPr sz="2000">
          <a:solidFill>
            <a:schemeClr val="tx1"/>
          </a:solidFill>
          <a:latin typeface="+mn-lt"/>
          <a:ea typeface="+mn-lt"/>
          <a:cs typeface="+mn-lt"/>
        </a:defRPr>
      </a:lvl5pPr>
      <a:lvl6pPr marL="2514600" indent="-228600" algn="l">
        <a:spcBef>
          <a:spcPts val="0"/>
        </a:spcBef>
        <a:buChar char="•"/>
        <a:defRPr sz="2000">
          <a:solidFill>
            <a:schemeClr val="tx1"/>
          </a:solidFill>
          <a:latin typeface="+mn-lt"/>
          <a:ea typeface="+mn-lt"/>
          <a:cs typeface="+mn-lt"/>
        </a:defRPr>
      </a:lvl6pPr>
      <a:lvl7pPr marL="2971800" indent="-228600" algn="l">
        <a:spcBef>
          <a:spcPts val="0"/>
        </a:spcBef>
        <a:buChar char="•"/>
        <a:defRPr sz="2000">
          <a:solidFill>
            <a:schemeClr val="tx1"/>
          </a:solidFill>
          <a:latin typeface="+mn-lt"/>
          <a:ea typeface="+mn-lt"/>
          <a:cs typeface="+mn-lt"/>
        </a:defRPr>
      </a:lvl7pPr>
      <a:lvl8pPr marL="3429000" indent="-228600" algn="l">
        <a:spcBef>
          <a:spcPts val="0"/>
        </a:spcBef>
        <a:buChar char="•"/>
        <a:defRPr sz="2000">
          <a:solidFill>
            <a:schemeClr val="tx1"/>
          </a:solidFill>
          <a:latin typeface="+mn-lt"/>
          <a:ea typeface="+mn-lt"/>
          <a:cs typeface="+mn-lt"/>
        </a:defRPr>
      </a:lvl8pPr>
      <a:lvl9pPr marL="3886200" indent="-228600" algn="l">
        <a:spcBef>
          <a:spcPts val="0"/>
        </a:spcBef>
        <a:buChar char="•"/>
        <a:defRPr sz="20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D07AD9-8F3E-A65E-7CDC-9B129834F13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5D73D6ED-D1EE-C903-EB00-753D85251E91}"/>
              </a:ext>
            </a:extLst>
          </p:cNvPr>
          <p:cNvSpPr>
            <a:spLocks noGrp="1"/>
          </p:cNvSpPr>
          <p:nvPr/>
        </p:nvSpPr>
        <p:spPr>
          <a:xfrm>
            <a:off x="2426893" y="440616"/>
            <a:ext cx="7315200" cy="320040"/>
          </a:xfrm>
          <a:prstGeom prst="rect">
            <a:avLst/>
          </a:prstGeom>
          <a:noFill/>
        </p:spPr>
        <p:txBody>
          <a:bodyPr wrap="square" lIns="0" tIns="0" rIns="0" bIns="0" anchor="ctr"/>
          <a:lstStyle/>
          <a:p>
            <a:pPr marL="0" indent="0" algn="ctr">
              <a:buNone/>
            </a:pPr>
            <a:r>
              <a:rPr lang="de-DE" sz="1200" b="1" dirty="0">
                <a:solidFill>
                  <a:srgbClr val="1463FF"/>
                </a:solidFill>
                <a:latin typeface="Calibri"/>
                <a:ea typeface="Calibri"/>
                <a:cs typeface="Calibri"/>
              </a:rPr>
              <a:t>Berufliche Hochschule Hamburg | Informatik</a:t>
            </a:r>
            <a:endParaRPr sz="1200" b="1" dirty="0">
              <a:solidFill>
                <a:srgbClr val="1463FF"/>
              </a:solidFill>
              <a:latin typeface="Calibri"/>
              <a:ea typeface="Calibri"/>
              <a:cs typeface="Calibri"/>
            </a:endParaRPr>
          </a:p>
        </p:txBody>
      </p:sp>
      <p:sp>
        <p:nvSpPr>
          <p:cNvPr id="3" name="Text 1">
            <a:extLst>
              <a:ext uri="{FF2B5EF4-FFF2-40B4-BE49-F238E27FC236}">
                <a16:creationId xmlns:a16="http://schemas.microsoft.com/office/drawing/2014/main" id="{5D6158CB-DC6A-771B-FD87-31A3C529F457}"/>
              </a:ext>
            </a:extLst>
          </p:cNvPr>
          <p:cNvSpPr>
            <a:spLocks noGrp="1"/>
          </p:cNvSpPr>
          <p:nvPr/>
        </p:nvSpPr>
        <p:spPr>
          <a:xfrm>
            <a:off x="1055293" y="1416319"/>
            <a:ext cx="10058400" cy="1463040"/>
          </a:xfrm>
          <a:prstGeom prst="rect">
            <a:avLst/>
          </a:prstGeom>
          <a:noFill/>
        </p:spPr>
        <p:txBody>
          <a:bodyPr wrap="square" lIns="0" tIns="0" rIns="0" bIns="0" anchor="ctr"/>
          <a:lstStyle/>
          <a:p>
            <a:pPr marL="0" indent="0" algn="ctr">
              <a:buNone/>
            </a:pPr>
            <a:r>
              <a:rPr sz="11000" b="1" dirty="0">
                <a:solidFill>
                  <a:srgbClr val="16181D"/>
                </a:solidFill>
                <a:latin typeface="Trebuchet MS"/>
                <a:ea typeface="Trebuchet MS"/>
                <a:cs typeface="Trebuchet MS"/>
              </a:rPr>
              <a:t>XSS</a:t>
            </a:r>
            <a:r>
              <a:rPr lang="de-DE" sz="11000" b="1" dirty="0">
                <a:solidFill>
                  <a:srgbClr val="16181D"/>
                </a:solidFill>
                <a:latin typeface="Trebuchet MS"/>
                <a:ea typeface="Trebuchet MS"/>
                <a:cs typeface="Trebuchet MS"/>
              </a:rPr>
              <a:t> und CORS</a:t>
            </a:r>
            <a:endParaRPr sz="11000" b="1" dirty="0">
              <a:solidFill>
                <a:srgbClr val="16181D"/>
              </a:solidFill>
              <a:latin typeface="Trebuchet MS"/>
              <a:ea typeface="Trebuchet MS"/>
              <a:cs typeface="Trebuchet MS"/>
            </a:endParaRPr>
          </a:p>
        </p:txBody>
      </p:sp>
      <p:sp>
        <p:nvSpPr>
          <p:cNvPr id="4" name="Text 2">
            <a:extLst>
              <a:ext uri="{FF2B5EF4-FFF2-40B4-BE49-F238E27FC236}">
                <a16:creationId xmlns:a16="http://schemas.microsoft.com/office/drawing/2014/main" id="{2C2921CB-32AF-8397-509C-782B9F192604}"/>
              </a:ext>
            </a:extLst>
          </p:cNvPr>
          <p:cNvSpPr>
            <a:spLocks noGrp="1"/>
          </p:cNvSpPr>
          <p:nvPr/>
        </p:nvSpPr>
        <p:spPr>
          <a:xfrm>
            <a:off x="1055293" y="3177540"/>
            <a:ext cx="10058400" cy="502920"/>
          </a:xfrm>
          <a:prstGeom prst="rect">
            <a:avLst/>
          </a:prstGeom>
          <a:noFill/>
        </p:spPr>
        <p:txBody>
          <a:bodyPr wrap="square" lIns="0" tIns="0" rIns="0" bIns="0" anchor="ctr"/>
          <a:lstStyle/>
          <a:p>
            <a:pPr marL="0" indent="0" algn="ctr">
              <a:buNone/>
            </a:pPr>
            <a:r>
              <a:rPr lang="de-DE" sz="2600" dirty="0">
                <a:solidFill>
                  <a:srgbClr val="55606E"/>
                </a:solidFill>
                <a:latin typeface="Trebuchet MS"/>
                <a:ea typeface="Trebuchet MS"/>
                <a:cs typeface="Trebuchet MS"/>
              </a:rPr>
              <a:t>Theorie und Analyse des Scheduler-Projektes</a:t>
            </a:r>
          </a:p>
        </p:txBody>
      </p:sp>
      <p:sp>
        <p:nvSpPr>
          <p:cNvPr id="5" name="Shape 3">
            <a:extLst>
              <a:ext uri="{FF2B5EF4-FFF2-40B4-BE49-F238E27FC236}">
                <a16:creationId xmlns:a16="http://schemas.microsoft.com/office/drawing/2014/main" id="{EC14102A-537C-1A72-473F-796B7825FEF6}"/>
              </a:ext>
            </a:extLst>
          </p:cNvPr>
          <p:cNvSpPr>
            <a:spLocks noGrp="1"/>
          </p:cNvSpPr>
          <p:nvPr/>
        </p:nvSpPr>
        <p:spPr>
          <a:xfrm rot="5400000">
            <a:off x="5388343" y="5138985"/>
            <a:ext cx="1415316" cy="0"/>
          </a:xfrm>
          <a:prstGeom prst="line">
            <a:avLst/>
          </a:prstGeom>
          <a:noFill/>
          <a:ln w="28575">
            <a:solidFill>
              <a:srgbClr val="16181D"/>
            </a:solidFill>
            <a:prstDash val="solid"/>
          </a:ln>
        </p:spPr>
        <p:txBody>
          <a:bodyPr/>
          <a:lstStyle/>
          <a:p>
            <a:endParaRPr lang="de-DE"/>
          </a:p>
        </p:txBody>
      </p:sp>
      <p:sp>
        <p:nvSpPr>
          <p:cNvPr id="6" name="Text 4">
            <a:extLst>
              <a:ext uri="{FF2B5EF4-FFF2-40B4-BE49-F238E27FC236}">
                <a16:creationId xmlns:a16="http://schemas.microsoft.com/office/drawing/2014/main" id="{8D13DD9F-B7F8-9528-6DDF-82DAACED2A0F}"/>
              </a:ext>
            </a:extLst>
          </p:cNvPr>
          <p:cNvSpPr>
            <a:spLocks noGrp="1"/>
          </p:cNvSpPr>
          <p:nvPr/>
        </p:nvSpPr>
        <p:spPr>
          <a:xfrm>
            <a:off x="6418170" y="4754260"/>
            <a:ext cx="2154330" cy="769448"/>
          </a:xfrm>
          <a:prstGeom prst="rect">
            <a:avLst/>
          </a:prstGeom>
          <a:noFill/>
        </p:spPr>
        <p:txBody>
          <a:bodyPr wrap="square" lIns="0" tIns="0" rIns="0" bIns="0" anchor="t"/>
          <a:lstStyle/>
          <a:p>
            <a:r>
              <a:rPr lang="de-DE" sz="1600" dirty="0">
                <a:solidFill>
                  <a:srgbClr val="55606E"/>
                </a:solidFill>
                <a:ea typeface="Calibri"/>
                <a:cs typeface="Calibri"/>
              </a:rPr>
              <a:t>IT Security</a:t>
            </a:r>
          </a:p>
          <a:p>
            <a:endParaRPr lang="de-DE" sz="1600" dirty="0">
              <a:solidFill>
                <a:srgbClr val="55606E"/>
              </a:solidFill>
              <a:ea typeface="Calibri"/>
              <a:cs typeface="Calibri"/>
            </a:endParaRPr>
          </a:p>
          <a:p>
            <a:r>
              <a:rPr lang="de-DE" sz="1600" dirty="0">
                <a:solidFill>
                  <a:srgbClr val="55606E"/>
                </a:solidFill>
                <a:ea typeface="Calibri"/>
                <a:cs typeface="Calibri"/>
              </a:rPr>
              <a:t>10. Juni 2026</a:t>
            </a:r>
          </a:p>
        </p:txBody>
      </p:sp>
      <p:sp>
        <p:nvSpPr>
          <p:cNvPr id="7" name="Text 5">
            <a:extLst>
              <a:ext uri="{FF2B5EF4-FFF2-40B4-BE49-F238E27FC236}">
                <a16:creationId xmlns:a16="http://schemas.microsoft.com/office/drawing/2014/main" id="{90A7BE38-A326-1550-979C-31AD0B5D3EE6}"/>
              </a:ext>
            </a:extLst>
          </p:cNvPr>
          <p:cNvSpPr>
            <a:spLocks noGrp="1"/>
          </p:cNvSpPr>
          <p:nvPr/>
        </p:nvSpPr>
        <p:spPr>
          <a:xfrm>
            <a:off x="3625363" y="4627867"/>
            <a:ext cx="2148469" cy="1022235"/>
          </a:xfrm>
          <a:prstGeom prst="rect">
            <a:avLst/>
          </a:prstGeom>
          <a:noFill/>
        </p:spPr>
        <p:txBody>
          <a:bodyPr wrap="square" lIns="0" tIns="0" rIns="0" bIns="0" anchor="t"/>
          <a:lstStyle/>
          <a:p>
            <a:pPr algn="r"/>
            <a:r>
              <a:rPr lang="de-DE" sz="1600" dirty="0">
                <a:solidFill>
                  <a:srgbClr val="55606E"/>
                </a:solidFill>
                <a:ea typeface="Calibri"/>
                <a:cs typeface="Calibri"/>
              </a:rPr>
              <a:t>Linus </a:t>
            </a:r>
            <a:r>
              <a:rPr lang="de-DE" sz="1600" dirty="0" err="1">
                <a:solidFill>
                  <a:srgbClr val="55606E"/>
                </a:solidFill>
                <a:ea typeface="Calibri"/>
                <a:cs typeface="Calibri"/>
              </a:rPr>
              <a:t>Paliga</a:t>
            </a:r>
            <a:endParaRPr lang="de-DE" sz="1600" dirty="0">
              <a:solidFill>
                <a:srgbClr val="55606E"/>
              </a:solidFill>
              <a:ea typeface="Calibri"/>
              <a:cs typeface="Calibri"/>
            </a:endParaRPr>
          </a:p>
          <a:p>
            <a:pPr algn="r"/>
            <a:r>
              <a:rPr sz="1600" dirty="0">
                <a:solidFill>
                  <a:srgbClr val="55606E"/>
                </a:solidFill>
                <a:ea typeface="Calibri"/>
                <a:cs typeface="Calibri"/>
              </a:rPr>
              <a:t>Arvid</a:t>
            </a:r>
            <a:r>
              <a:rPr lang="de-DE" sz="1600" dirty="0">
                <a:solidFill>
                  <a:srgbClr val="55606E"/>
                </a:solidFill>
                <a:ea typeface="Calibri"/>
                <a:cs typeface="Calibri"/>
              </a:rPr>
              <a:t> Freese</a:t>
            </a:r>
          </a:p>
          <a:p>
            <a:pPr algn="r"/>
            <a:r>
              <a:rPr lang="de-DE" sz="1600" dirty="0">
                <a:solidFill>
                  <a:srgbClr val="55606E"/>
                </a:solidFill>
                <a:ea typeface="Calibri"/>
                <a:cs typeface="Calibri"/>
              </a:rPr>
              <a:t>Raik Ole Kannenberg</a:t>
            </a:r>
          </a:p>
          <a:p>
            <a:pPr algn="r"/>
            <a:r>
              <a:rPr lang="de-DE" sz="1600" dirty="0">
                <a:solidFill>
                  <a:srgbClr val="55606E"/>
                </a:solidFill>
                <a:ea typeface="Calibri"/>
                <a:cs typeface="Calibri"/>
              </a:rPr>
              <a:t>Tom Markmann</a:t>
            </a:r>
            <a:endParaRPr sz="1600" dirty="0">
              <a:solidFill>
                <a:srgbClr val="55606E"/>
              </a:solidFill>
              <a:ea typeface="Calibri"/>
              <a:cs typeface="Calibri"/>
            </a:endParaRPr>
          </a:p>
        </p:txBody>
      </p:sp>
    </p:spTree>
    <p:extLst>
      <p:ext uri="{BB962C8B-B14F-4D97-AF65-F5344CB8AC3E}">
        <p14:creationId xmlns:p14="http://schemas.microsoft.com/office/powerpoint/2010/main" val="4273176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B95CA36-7AD5-4CED-959F-F065EF9A96F2}"/>
              </a:ext>
            </a:extLst>
          </p:cNvPr>
          <p:cNvSpPr>
            <a:spLocks noGrp="1"/>
          </p:cNvSpPr>
          <p:nvPr/>
        </p:nvSpPr>
        <p:spPr>
          <a:xfrm>
            <a:off x="868680" y="1874520"/>
            <a:ext cx="7315200" cy="320040"/>
          </a:xfrm>
          <a:prstGeom prst="rect">
            <a:avLst/>
          </a:prstGeom>
          <a:noFill/>
        </p:spPr>
        <p:txBody>
          <a:bodyPr wrap="square" lIns="0" tIns="0" rIns="0" bIns="0" anchor="ctr"/>
          <a:lstStyle/>
          <a:p>
            <a:pPr marL="0" indent="0">
              <a:buNone/>
            </a:pPr>
            <a:r>
              <a:rPr sz="1200" b="1" dirty="0">
                <a:solidFill>
                  <a:srgbClr val="1463FF"/>
                </a:solidFill>
                <a:latin typeface="Calibri"/>
                <a:ea typeface="Calibri"/>
                <a:cs typeface="Calibri"/>
              </a:rPr>
              <a:t>IT SECURITY · SCHEDULER</a:t>
            </a:r>
          </a:p>
        </p:txBody>
      </p:sp>
      <p:sp>
        <p:nvSpPr>
          <p:cNvPr id="3" name="Text 1">
            <a:extLst>
              <a:ext uri="{FF2B5EF4-FFF2-40B4-BE49-F238E27FC236}">
                <a16:creationId xmlns:a16="http://schemas.microsoft.com/office/drawing/2014/main" id="{FD8DA67A-FD81-4D52-AB3E-0B0E93F9DAB5}"/>
              </a:ext>
            </a:extLst>
          </p:cNvPr>
          <p:cNvSpPr>
            <a:spLocks noGrp="1"/>
          </p:cNvSpPr>
          <p:nvPr/>
        </p:nvSpPr>
        <p:spPr>
          <a:xfrm>
            <a:off x="822960" y="2194560"/>
            <a:ext cx="10058400" cy="1463040"/>
          </a:xfrm>
          <a:prstGeom prst="rect">
            <a:avLst/>
          </a:prstGeom>
          <a:noFill/>
        </p:spPr>
        <p:txBody>
          <a:bodyPr wrap="square" lIns="0" tIns="0" rIns="0" bIns="0" anchor="ctr"/>
          <a:lstStyle/>
          <a:p>
            <a:pPr marL="0" indent="0">
              <a:buNone/>
            </a:pPr>
            <a:r>
              <a:rPr sz="11000" b="1" dirty="0">
                <a:solidFill>
                  <a:srgbClr val="16181D"/>
                </a:solidFill>
                <a:latin typeface="Trebuchet MS"/>
                <a:ea typeface="Trebuchet MS"/>
                <a:cs typeface="Trebuchet MS"/>
              </a:rPr>
              <a:t>XSS</a:t>
            </a:r>
          </a:p>
        </p:txBody>
      </p:sp>
      <p:sp>
        <p:nvSpPr>
          <p:cNvPr id="4" name="Text 2">
            <a:extLst>
              <a:ext uri="{FF2B5EF4-FFF2-40B4-BE49-F238E27FC236}">
                <a16:creationId xmlns:a16="http://schemas.microsoft.com/office/drawing/2014/main" id="{17D4FDB8-F8F0-4D96-95F0-9B90E32AF337}"/>
              </a:ext>
            </a:extLst>
          </p:cNvPr>
          <p:cNvSpPr>
            <a:spLocks noGrp="1"/>
          </p:cNvSpPr>
          <p:nvPr/>
        </p:nvSpPr>
        <p:spPr>
          <a:xfrm>
            <a:off x="868680" y="3703320"/>
            <a:ext cx="10058400" cy="502920"/>
          </a:xfrm>
          <a:prstGeom prst="rect">
            <a:avLst/>
          </a:prstGeom>
          <a:noFill/>
        </p:spPr>
        <p:txBody>
          <a:bodyPr wrap="square" lIns="0" tIns="0" rIns="0" bIns="0" anchor="ctr"/>
          <a:lstStyle/>
          <a:p>
            <a:pPr marL="0" indent="0">
              <a:buNone/>
            </a:pPr>
            <a:r>
              <a:rPr sz="2600">
                <a:solidFill>
                  <a:srgbClr val="55606E"/>
                </a:solidFill>
                <a:latin typeface="Trebuchet MS"/>
                <a:ea typeface="Trebuchet MS"/>
                <a:cs typeface="Trebuchet MS"/>
              </a:rPr>
              <a:t>Cross Site Scripting</a:t>
            </a:r>
          </a:p>
        </p:txBody>
      </p:sp>
      <p:sp>
        <p:nvSpPr>
          <p:cNvPr id="5" name="Shape 3">
            <a:extLst>
              <a:ext uri="{FF2B5EF4-FFF2-40B4-BE49-F238E27FC236}">
                <a16:creationId xmlns:a16="http://schemas.microsoft.com/office/drawing/2014/main" id="{42345276-9CC1-4302-B204-8758E42AE5A8}"/>
              </a:ext>
            </a:extLst>
          </p:cNvPr>
          <p:cNvSpPr>
            <a:spLocks noGrp="1"/>
          </p:cNvSpPr>
          <p:nvPr/>
        </p:nvSpPr>
        <p:spPr>
          <a:xfrm>
            <a:off x="868680" y="4526280"/>
            <a:ext cx="1828800" cy="0"/>
          </a:xfrm>
          <a:prstGeom prst="line">
            <a:avLst/>
          </a:prstGeom>
          <a:noFill/>
          <a:ln w="28575">
            <a:solidFill>
              <a:srgbClr val="16181D"/>
            </a:solidFill>
            <a:prstDash val="solid"/>
          </a:ln>
        </p:spPr>
        <p:txBody>
          <a:bodyPr/>
          <a:lstStyle/>
          <a:p>
            <a:endParaRPr lang="de-DE"/>
          </a:p>
        </p:txBody>
      </p:sp>
      <p:sp>
        <p:nvSpPr>
          <p:cNvPr id="6" name="Text 4">
            <a:extLst>
              <a:ext uri="{FF2B5EF4-FFF2-40B4-BE49-F238E27FC236}">
                <a16:creationId xmlns:a16="http://schemas.microsoft.com/office/drawing/2014/main" id="{468481FB-4609-481A-89AB-8748CC339F06}"/>
              </a:ext>
            </a:extLst>
          </p:cNvPr>
          <p:cNvSpPr>
            <a:spLocks noGrp="1"/>
          </p:cNvSpPr>
          <p:nvPr/>
        </p:nvSpPr>
        <p:spPr>
          <a:xfrm>
            <a:off x="868680" y="4754880"/>
            <a:ext cx="8686800" cy="457200"/>
          </a:xfrm>
          <a:prstGeom prst="rect">
            <a:avLst/>
          </a:prstGeom>
          <a:noFill/>
        </p:spPr>
        <p:txBody>
          <a:bodyPr wrap="square" lIns="0" tIns="0" rIns="0" bIns="0" anchor="ctr"/>
          <a:lstStyle/>
          <a:p>
            <a:pPr marL="0" indent="0">
              <a:buNone/>
            </a:pPr>
            <a:r>
              <a:rPr sz="1600" dirty="0" err="1">
                <a:solidFill>
                  <a:srgbClr val="55606E"/>
                </a:solidFill>
                <a:latin typeface="Calibri"/>
                <a:ea typeface="Calibri"/>
                <a:cs typeface="Calibri"/>
              </a:rPr>
              <a:t>Theorie</a:t>
            </a:r>
            <a:r>
              <a:rPr sz="1600" dirty="0">
                <a:solidFill>
                  <a:srgbClr val="55606E"/>
                </a:solidFill>
                <a:latin typeface="Calibri"/>
                <a:ea typeface="Calibri"/>
                <a:cs typeface="Calibri"/>
              </a:rPr>
              <a:t>, </a:t>
            </a:r>
            <a:r>
              <a:rPr sz="1600" dirty="0" err="1">
                <a:solidFill>
                  <a:srgbClr val="55606E"/>
                </a:solidFill>
                <a:latin typeface="Calibri"/>
                <a:ea typeface="Calibri"/>
                <a:cs typeface="Calibri"/>
              </a:rPr>
              <a:t>reale</a:t>
            </a:r>
            <a:r>
              <a:rPr sz="1600" dirty="0">
                <a:solidFill>
                  <a:srgbClr val="55606E"/>
                </a:solidFill>
                <a:latin typeface="Calibri"/>
                <a:ea typeface="Calibri"/>
                <a:cs typeface="Calibri"/>
              </a:rPr>
              <a:t> </a:t>
            </a:r>
            <a:r>
              <a:rPr sz="1600" dirty="0" err="1">
                <a:solidFill>
                  <a:srgbClr val="55606E"/>
                </a:solidFill>
                <a:latin typeface="Calibri"/>
                <a:ea typeface="Calibri"/>
                <a:cs typeface="Calibri"/>
              </a:rPr>
              <a:t>Schwachstelle</a:t>
            </a:r>
            <a:r>
              <a:rPr sz="1600" dirty="0">
                <a:solidFill>
                  <a:srgbClr val="55606E"/>
                </a:solidFill>
                <a:latin typeface="Calibri"/>
                <a:ea typeface="Calibri"/>
                <a:cs typeface="Calibri"/>
              </a:rPr>
              <a:t> und Live Demo </a:t>
            </a:r>
            <a:r>
              <a:rPr sz="1600" dirty="0" err="1">
                <a:solidFill>
                  <a:srgbClr val="55606E"/>
                </a:solidFill>
                <a:latin typeface="Calibri"/>
                <a:ea typeface="Calibri"/>
                <a:cs typeface="Calibri"/>
              </a:rPr>
              <a:t>im</a:t>
            </a:r>
            <a:r>
              <a:rPr sz="1600" dirty="0">
                <a:solidFill>
                  <a:srgbClr val="55606E"/>
                </a:solidFill>
                <a:latin typeface="Calibri"/>
                <a:ea typeface="Calibri"/>
                <a:cs typeface="Calibri"/>
              </a:rPr>
              <a:t> Scheduler.</a:t>
            </a:r>
          </a:p>
        </p:txBody>
      </p:sp>
      <p:sp>
        <p:nvSpPr>
          <p:cNvPr id="7" name="Text 5">
            <a:extLst>
              <a:ext uri="{FF2B5EF4-FFF2-40B4-BE49-F238E27FC236}">
                <a16:creationId xmlns:a16="http://schemas.microsoft.com/office/drawing/2014/main" id="{94A987EA-ED23-44AA-ABC1-DB16DB020FDD}"/>
              </a:ext>
            </a:extLst>
          </p:cNvPr>
          <p:cNvSpPr>
            <a:spLocks noGrp="1"/>
          </p:cNvSpPr>
          <p:nvPr/>
        </p:nvSpPr>
        <p:spPr>
          <a:xfrm>
            <a:off x="9448495" y="6080760"/>
            <a:ext cx="1874520" cy="320040"/>
          </a:xfrm>
          <a:prstGeom prst="rect">
            <a:avLst/>
          </a:prstGeom>
          <a:noFill/>
        </p:spPr>
        <p:txBody>
          <a:bodyPr wrap="square" lIns="0" tIns="0" rIns="0" bIns="0" anchor="ctr"/>
          <a:lstStyle/>
          <a:p>
            <a:pPr marL="0" indent="0" algn="r">
              <a:buNone/>
            </a:pPr>
            <a:r>
              <a:rPr sz="1200" i="1" dirty="0" err="1">
                <a:solidFill>
                  <a:srgbClr val="9AA3AF"/>
                </a:solidFill>
                <a:latin typeface="Calibri"/>
                <a:ea typeface="Calibri"/>
                <a:cs typeface="Calibri"/>
              </a:rPr>
              <a:t>Vortrag</a:t>
            </a:r>
            <a:r>
              <a:rPr sz="1200" i="1" dirty="0">
                <a:solidFill>
                  <a:srgbClr val="9AA3AF"/>
                </a:solidFill>
                <a:latin typeface="Calibri"/>
                <a:ea typeface="Calibri"/>
                <a:cs typeface="Calibri"/>
              </a:rPr>
              <a:t>: Linus &amp; Arvid</a:t>
            </a:r>
          </a:p>
        </p:txBody>
      </p:sp>
    </p:spTree>
    <p:extLst>
      <p:ext uri="{BB962C8B-B14F-4D97-AF65-F5344CB8AC3E}">
        <p14:creationId xmlns:p14="http://schemas.microsoft.com/office/powerpoint/2010/main" val="1448838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p:cNvSpPr>
            <a:spLocks noGrp="1"/>
          </p:cNvSpPr>
          <p:nvPr/>
        </p:nvSpPr>
        <p:spPr>
          <a:xfrm>
            <a:off x="868680" y="502920"/>
            <a:ext cx="8229600" cy="274320"/>
          </a:xfrm>
          <a:prstGeom prst="rect">
            <a:avLst/>
          </a:prstGeom>
          <a:noFill/>
        </p:spPr>
        <p:txBody>
          <a:bodyPr wrap="square" lIns="0" tIns="0" rIns="0" bIns="0" anchor="ctr">
            <a:spAutoFit/>
          </a:bodyPr>
          <a:lstStyle/>
          <a:p>
            <a:pPr marL="0" indent="0">
              <a:buNone/>
            </a:pPr>
            <a:r>
              <a:rPr lang="de-DE" sz="1050" b="1" spc="100" dirty="0">
                <a:solidFill>
                  <a:srgbClr val="9AA3AF"/>
                </a:solidFill>
                <a:latin typeface="Calibri"/>
                <a:ea typeface="Calibri"/>
                <a:cs typeface="Calibri"/>
              </a:rPr>
              <a:t>GRUNDLAGE · CROSS-SITE SCRIPTING</a:t>
            </a:r>
          </a:p>
        </p:txBody>
      </p:sp>
      <p:sp>
        <p:nvSpPr>
          <p:cNvPr id="3" name="Text"/>
          <p:cNvSpPr>
            <a:spLocks noGrp="1"/>
          </p:cNvSpPr>
          <p:nvPr/>
        </p:nvSpPr>
        <p:spPr>
          <a:xfrm>
            <a:off x="868680" y="1051560"/>
            <a:ext cx="10424160" cy="777240"/>
          </a:xfrm>
          <a:prstGeom prst="rect">
            <a:avLst/>
          </a:prstGeom>
          <a:noFill/>
        </p:spPr>
        <p:txBody>
          <a:bodyPr wrap="square" lIns="0" tIns="0" rIns="0" bIns="0" anchor="ctr">
            <a:spAutoFit/>
          </a:bodyPr>
          <a:lstStyle/>
          <a:p>
            <a:pPr marL="0" indent="0">
              <a:buNone/>
            </a:pPr>
            <a:r>
              <a:rPr lang="de-DE" sz="4000" b="1" dirty="0">
                <a:solidFill>
                  <a:srgbClr val="16181D"/>
                </a:solidFill>
                <a:latin typeface="Trebuchet MS"/>
                <a:ea typeface="Trebuchet MS"/>
                <a:cs typeface="Trebuchet MS"/>
              </a:rPr>
              <a:t>Wenn aus </a:t>
            </a:r>
            <a:r>
              <a:rPr lang="de-DE" sz="4000" b="1" dirty="0">
                <a:solidFill>
                  <a:srgbClr val="1463FF"/>
                </a:solidFill>
                <a:latin typeface="Trebuchet MS"/>
                <a:ea typeface="Trebuchet MS"/>
                <a:cs typeface="Trebuchet MS"/>
              </a:rPr>
              <a:t>Daten</a:t>
            </a:r>
            <a:r>
              <a:rPr lang="de-DE" sz="4000" b="1" dirty="0">
                <a:solidFill>
                  <a:srgbClr val="16181D"/>
                </a:solidFill>
                <a:latin typeface="Trebuchet MS"/>
                <a:ea typeface="Trebuchet MS"/>
                <a:cs typeface="Trebuchet MS"/>
              </a:rPr>
              <a:t> plötzlich </a:t>
            </a:r>
            <a:r>
              <a:rPr lang="de-DE" sz="4000" b="1" dirty="0">
                <a:solidFill>
                  <a:srgbClr val="D23B4E"/>
                </a:solidFill>
                <a:latin typeface="Trebuchet MS"/>
                <a:ea typeface="Trebuchet MS"/>
                <a:cs typeface="Trebuchet MS"/>
              </a:rPr>
              <a:t>Code</a:t>
            </a:r>
            <a:r>
              <a:rPr lang="de-DE" sz="4000" b="1" dirty="0">
                <a:solidFill>
                  <a:srgbClr val="16181D"/>
                </a:solidFill>
                <a:latin typeface="Trebuchet MS"/>
                <a:ea typeface="Trebuchet MS"/>
                <a:cs typeface="Trebuchet MS"/>
              </a:rPr>
              <a:t> wird</a:t>
            </a:r>
          </a:p>
        </p:txBody>
      </p:sp>
      <p:sp>
        <p:nvSpPr>
          <p:cNvPr id="4" name="Text"/>
          <p:cNvSpPr>
            <a:spLocks noGrp="1"/>
          </p:cNvSpPr>
          <p:nvPr/>
        </p:nvSpPr>
        <p:spPr>
          <a:xfrm>
            <a:off x="868680" y="1920240"/>
            <a:ext cx="10241280" cy="640080"/>
          </a:xfrm>
          <a:prstGeom prst="rect">
            <a:avLst/>
          </a:prstGeom>
          <a:noFill/>
        </p:spPr>
        <p:txBody>
          <a:bodyPr wrap="square" lIns="0" tIns="0" rIns="0" bIns="0" anchor="ctr">
            <a:spAutoFit/>
          </a:bodyPr>
          <a:lstStyle/>
          <a:p>
            <a:pPr marL="0" indent="0">
              <a:buNone/>
            </a:pPr>
            <a:r>
              <a:rPr lang="de-DE" sz="1700" dirty="0">
                <a:solidFill>
                  <a:srgbClr val="55606E"/>
                </a:solidFill>
                <a:latin typeface="Calibri"/>
                <a:ea typeface="Calibri"/>
                <a:cs typeface="Calibri"/>
              </a:rPr>
              <a:t>XSS bricht die Trennung zwischen Daten (Nutzereingaben) und Instruktionen (ausführbarem Code) im Browser.</a:t>
            </a:r>
          </a:p>
        </p:txBody>
      </p:sp>
      <p:sp>
        <p:nvSpPr>
          <p:cNvPr id="5" name="PageNum"/>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a:ea typeface="Calibri"/>
                <a:cs typeface="Calibri"/>
              </a:rPr>
              <a:t>0</a:t>
            </a:r>
            <a:fld id="{B45D24B6-C78C-43F1-9D4F-88F7B48373A8}" type="slidenum">
              <a:rPr lang="en-US" sz="1050" b="1" kern="0" spc="100" smtClean="0">
                <a:solidFill>
                  <a:srgbClr val="9AA3AF"/>
                </a:solidFill>
                <a:latin typeface="Calibri"/>
                <a:ea typeface="Calibri"/>
                <a:cs typeface="Calibri"/>
              </a:rPr>
              <a:t>3</a:t>
            </a:fld>
            <a:endParaRPr lang="en-US" sz="1050" dirty="0"/>
          </a:p>
        </p:txBody>
      </p:sp>
      <p:sp>
        <p:nvSpPr>
          <p:cNvPr id="6" name="Text"/>
          <p:cNvSpPr>
            <a:spLocks noGrp="1"/>
          </p:cNvSpPr>
          <p:nvPr/>
        </p:nvSpPr>
        <p:spPr>
          <a:xfrm>
            <a:off x="868680" y="3017520"/>
            <a:ext cx="4937760" cy="274320"/>
          </a:xfrm>
          <a:prstGeom prst="rect">
            <a:avLst/>
          </a:prstGeom>
          <a:noFill/>
        </p:spPr>
        <p:txBody>
          <a:bodyPr wrap="square" lIns="0" tIns="0" rIns="0" bIns="0" anchor="ctr">
            <a:spAutoFit/>
          </a:bodyPr>
          <a:lstStyle/>
          <a:p>
            <a:pPr marL="0" indent="0">
              <a:buNone/>
            </a:pPr>
            <a:r>
              <a:rPr lang="de-DE" sz="1150" b="1" dirty="0">
                <a:solidFill>
                  <a:srgbClr val="D23B4E"/>
                </a:solidFill>
                <a:latin typeface="Calibri"/>
                <a:ea typeface="Calibri"/>
                <a:cs typeface="Calibri"/>
              </a:rPr>
              <a:t>DAS KERNPROBLEM</a:t>
            </a:r>
          </a:p>
        </p:txBody>
      </p:sp>
      <p:sp>
        <p:nvSpPr>
          <p:cNvPr id="7" name="Text"/>
          <p:cNvSpPr>
            <a:spLocks noGrp="1"/>
          </p:cNvSpPr>
          <p:nvPr/>
        </p:nvSpPr>
        <p:spPr>
          <a:xfrm>
            <a:off x="868680" y="3474720"/>
            <a:ext cx="4937760" cy="822960"/>
          </a:xfrm>
          <a:prstGeom prst="rect">
            <a:avLst/>
          </a:prstGeom>
          <a:noFill/>
        </p:spPr>
        <p:txBody>
          <a:bodyPr wrap="square" lIns="0" tIns="0" rIns="0" bIns="0" anchor="t">
            <a:spAutoFit/>
          </a:bodyPr>
          <a:lstStyle/>
          <a:p>
            <a:pPr marL="0" indent="0">
              <a:buNone/>
            </a:pPr>
            <a:r>
              <a:rPr lang="de-DE" sz="1500" dirty="0">
                <a:solidFill>
                  <a:srgbClr val="55606E"/>
                </a:solidFill>
                <a:latin typeface="Calibri"/>
                <a:ea typeface="Calibri"/>
                <a:cs typeface="Calibri"/>
              </a:rPr>
              <a:t>Unkontrollierte, benutzergenerierte Strings werden ungefiltert in den Dokumentenbaum (DOM) der Anwendung injiziert.</a:t>
            </a:r>
          </a:p>
        </p:txBody>
      </p:sp>
      <p:sp>
        <p:nvSpPr>
          <p:cNvPr id="8" name="VLine"/>
          <p:cNvSpPr>
            <a:spLocks noGrp="1"/>
          </p:cNvSpPr>
          <p:nvPr/>
        </p:nvSpPr>
        <p:spPr>
          <a:xfrm>
            <a:off x="6172200" y="2926080"/>
            <a:ext cx="0" cy="2925480"/>
          </a:xfrm>
          <a:prstGeom prst="line">
            <a:avLst/>
          </a:prstGeom>
          <a:noFill/>
          <a:ln w="12700">
            <a:solidFill>
              <a:srgbClr val="E4E7EC"/>
            </a:solidFill>
            <a:prstDash val="solid"/>
          </a:ln>
        </p:spPr>
        <p:txBody>
          <a:bodyPr/>
          <a:lstStyle/>
          <a:p>
            <a:endParaRPr lang="de-DE"/>
          </a:p>
        </p:txBody>
      </p:sp>
      <p:sp>
        <p:nvSpPr>
          <p:cNvPr id="9" name="Text"/>
          <p:cNvSpPr>
            <a:spLocks noGrp="1"/>
          </p:cNvSpPr>
          <p:nvPr/>
        </p:nvSpPr>
        <p:spPr>
          <a:xfrm>
            <a:off x="6446520" y="3017520"/>
            <a:ext cx="4937760" cy="274320"/>
          </a:xfrm>
          <a:prstGeom prst="rect">
            <a:avLst/>
          </a:prstGeom>
          <a:noFill/>
        </p:spPr>
        <p:txBody>
          <a:bodyPr wrap="square" lIns="0" tIns="0" rIns="0" bIns="0" anchor="ctr">
            <a:spAutoFit/>
          </a:bodyPr>
          <a:lstStyle/>
          <a:p>
            <a:pPr marL="0" indent="0">
              <a:buNone/>
            </a:pPr>
            <a:r>
              <a:rPr lang="de-DE" sz="1150" b="1" dirty="0">
                <a:solidFill>
                  <a:srgbClr val="1463FF"/>
                </a:solidFill>
                <a:latin typeface="Calibri"/>
                <a:ea typeface="Calibri"/>
                <a:cs typeface="Calibri"/>
              </a:rPr>
              <a:t>WARUM DAS GEFÄHRLICH IST</a:t>
            </a:r>
          </a:p>
        </p:txBody>
      </p:sp>
      <p:sp>
        <p:nvSpPr>
          <p:cNvPr id="10" name="Text"/>
          <p:cNvSpPr>
            <a:spLocks noGrp="1"/>
          </p:cNvSpPr>
          <p:nvPr/>
        </p:nvSpPr>
        <p:spPr>
          <a:xfrm>
            <a:off x="6446520" y="3520440"/>
            <a:ext cx="4937760" cy="365760"/>
          </a:xfrm>
          <a:prstGeom prst="rect">
            <a:avLst/>
          </a:prstGeom>
          <a:noFill/>
        </p:spPr>
        <p:txBody>
          <a:bodyPr wrap="square" lIns="0" tIns="0" rIns="0" bIns="0" anchor="ctr">
            <a:spAutoFit/>
          </a:bodyPr>
          <a:lstStyle/>
          <a:p>
            <a:pPr marL="0" indent="0">
              <a:buNone/>
            </a:pPr>
            <a:r>
              <a:rPr lang="de-DE" sz="1600" b="1" dirty="0">
                <a:solidFill>
                  <a:srgbClr val="16181D"/>
                </a:solidFill>
                <a:latin typeface="Trebuchet MS"/>
                <a:ea typeface="Trebuchet MS"/>
                <a:cs typeface="Trebuchet MS"/>
              </a:rPr>
              <a:t>Voller Anwendungskontext</a:t>
            </a:r>
          </a:p>
        </p:txBody>
      </p:sp>
      <p:sp>
        <p:nvSpPr>
          <p:cNvPr id="11" name="Text"/>
          <p:cNvSpPr>
            <a:spLocks noGrp="1"/>
          </p:cNvSpPr>
          <p:nvPr/>
        </p:nvSpPr>
        <p:spPr>
          <a:xfrm>
            <a:off x="6446520" y="3977640"/>
            <a:ext cx="4937760" cy="54864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Der injizierte Code läuft mit vollen Rechten im Origin der legitimen Anwendung.</a:t>
            </a:r>
          </a:p>
        </p:txBody>
      </p:sp>
      <p:sp>
        <p:nvSpPr>
          <p:cNvPr id="12" name="Text"/>
          <p:cNvSpPr>
            <a:spLocks noGrp="1"/>
          </p:cNvSpPr>
          <p:nvPr/>
        </p:nvSpPr>
        <p:spPr>
          <a:xfrm>
            <a:off x="6446520" y="4800600"/>
            <a:ext cx="4937760" cy="365760"/>
          </a:xfrm>
          <a:prstGeom prst="rect">
            <a:avLst/>
          </a:prstGeom>
          <a:noFill/>
        </p:spPr>
        <p:txBody>
          <a:bodyPr wrap="square" lIns="0" tIns="0" rIns="0" bIns="0" anchor="ctr">
            <a:spAutoFit/>
          </a:bodyPr>
          <a:lstStyle/>
          <a:p>
            <a:pPr marL="0" indent="0">
              <a:buNone/>
            </a:pPr>
            <a:r>
              <a:rPr lang="de-DE" sz="1600" b="1" dirty="0">
                <a:solidFill>
                  <a:srgbClr val="16181D"/>
                </a:solidFill>
                <a:latin typeface="Trebuchet MS"/>
                <a:ea typeface="Trebuchet MS"/>
                <a:cs typeface="Trebuchet MS"/>
              </a:rPr>
              <a:t>Same-Origin-Policy greift nicht</a:t>
            </a:r>
          </a:p>
        </p:txBody>
      </p:sp>
      <p:sp>
        <p:nvSpPr>
          <p:cNvPr id="13" name="Text"/>
          <p:cNvSpPr>
            <a:spLocks noGrp="1"/>
          </p:cNvSpPr>
          <p:nvPr/>
        </p:nvSpPr>
        <p:spPr>
          <a:xfrm>
            <a:off x="6446520" y="5257800"/>
            <a:ext cx="4937760" cy="54864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Zugriff auf Session-Tokens, LocalStorage und Cookies des Opfers ist sofort möglich.</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p:cNvSpPr>
            <a:spLocks noGrp="1"/>
          </p:cNvSpPr>
          <p:nvPr/>
        </p:nvSpPr>
        <p:spPr>
          <a:xfrm>
            <a:off x="868680" y="502920"/>
            <a:ext cx="8229600" cy="274320"/>
          </a:xfrm>
          <a:prstGeom prst="rect">
            <a:avLst/>
          </a:prstGeom>
          <a:noFill/>
        </p:spPr>
        <p:txBody>
          <a:bodyPr wrap="square" lIns="0" tIns="0" rIns="0" bIns="0" anchor="ctr">
            <a:spAutoFit/>
          </a:bodyPr>
          <a:lstStyle/>
          <a:p>
            <a:pPr marL="0" indent="0">
              <a:buNone/>
            </a:pPr>
            <a:r>
              <a:rPr lang="de-DE" sz="1050" b="1" spc="100" dirty="0">
                <a:solidFill>
                  <a:srgbClr val="9AA3AF"/>
                </a:solidFill>
                <a:latin typeface="Calibri"/>
                <a:ea typeface="Calibri"/>
                <a:cs typeface="Calibri"/>
              </a:rPr>
              <a:t>MECHANISMUS · CROSS-SITE SCRIPTING</a:t>
            </a:r>
          </a:p>
        </p:txBody>
      </p:sp>
      <p:sp>
        <p:nvSpPr>
          <p:cNvPr id="3" name="Text"/>
          <p:cNvSpPr>
            <a:spLocks noGrp="1"/>
          </p:cNvSpPr>
          <p:nvPr/>
        </p:nvSpPr>
        <p:spPr>
          <a:xfrm>
            <a:off x="868680" y="1051560"/>
            <a:ext cx="10424160" cy="777240"/>
          </a:xfrm>
          <a:prstGeom prst="rect">
            <a:avLst/>
          </a:prstGeom>
          <a:noFill/>
        </p:spPr>
        <p:txBody>
          <a:bodyPr wrap="square" lIns="0" tIns="0" rIns="0" bIns="0" anchor="ctr">
            <a:spAutoFit/>
          </a:bodyPr>
          <a:lstStyle/>
          <a:p>
            <a:pPr marL="0" indent="0">
              <a:buNone/>
            </a:pPr>
            <a:r>
              <a:rPr lang="de-DE" sz="4000" b="1" dirty="0">
                <a:solidFill>
                  <a:srgbClr val="16181D"/>
                </a:solidFill>
                <a:latin typeface="Trebuchet MS"/>
                <a:ea typeface="Trebuchet MS"/>
                <a:cs typeface="Trebuchet MS"/>
              </a:rPr>
              <a:t>Kontrollverlust über den </a:t>
            </a:r>
            <a:r>
              <a:rPr lang="de-DE" sz="4000" b="1" dirty="0">
                <a:solidFill>
                  <a:srgbClr val="1463FF"/>
                </a:solidFill>
                <a:latin typeface="Trebuchet MS"/>
                <a:ea typeface="Trebuchet MS"/>
                <a:cs typeface="Trebuchet MS"/>
              </a:rPr>
              <a:t>Parser</a:t>
            </a:r>
          </a:p>
        </p:txBody>
      </p:sp>
      <p:sp>
        <p:nvSpPr>
          <p:cNvPr id="4" name="Text"/>
          <p:cNvSpPr>
            <a:spLocks noGrp="1"/>
          </p:cNvSpPr>
          <p:nvPr/>
        </p:nvSpPr>
        <p:spPr>
          <a:xfrm>
            <a:off x="868680" y="1920240"/>
            <a:ext cx="10241280" cy="640080"/>
          </a:xfrm>
          <a:prstGeom prst="rect">
            <a:avLst/>
          </a:prstGeom>
          <a:noFill/>
        </p:spPr>
        <p:txBody>
          <a:bodyPr wrap="square" lIns="0" tIns="0" rIns="0" bIns="0" anchor="ctr">
            <a:spAutoFit/>
          </a:bodyPr>
          <a:lstStyle/>
          <a:p>
            <a:pPr marL="0" indent="0">
              <a:buNone/>
            </a:pPr>
            <a:r>
              <a:rPr lang="de-DE" sz="1700" dirty="0">
                <a:solidFill>
                  <a:srgbClr val="55606E"/>
                </a:solidFill>
                <a:latin typeface="Calibri"/>
                <a:ea typeface="Calibri"/>
                <a:cs typeface="Calibri"/>
              </a:rPr>
              <a:t>Wie ein Missverständnis bei der Zeichenkodierung dazu führt, dass Text als ausführbarer Code interpretiert wird.</a:t>
            </a:r>
          </a:p>
        </p:txBody>
      </p:sp>
      <p:sp>
        <p:nvSpPr>
          <p:cNvPr id="5" name="PageNum"/>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a:ea typeface="Calibri"/>
                <a:cs typeface="Calibri"/>
              </a:rPr>
              <a:t>0</a:t>
            </a:r>
            <a:fld id="{B45D24B6-C78C-43F1-9D4F-88F7B48373A8}" type="slidenum">
              <a:rPr lang="en-US" sz="1050" b="1" kern="0" spc="100" smtClean="0">
                <a:solidFill>
                  <a:srgbClr val="9AA3AF"/>
                </a:solidFill>
                <a:latin typeface="Calibri"/>
                <a:ea typeface="Calibri"/>
                <a:cs typeface="Calibri"/>
              </a:rPr>
              <a:t>4</a:t>
            </a:fld>
            <a:endParaRPr lang="en-US" sz="1050" dirty="0"/>
          </a:p>
        </p:txBody>
      </p:sp>
      <p:sp>
        <p:nvSpPr>
          <p:cNvPr id="6" name="VLine"/>
          <p:cNvSpPr>
            <a:spLocks noGrp="1"/>
          </p:cNvSpPr>
          <p:nvPr/>
        </p:nvSpPr>
        <p:spPr>
          <a:xfrm>
            <a:off x="4114800" y="2971800"/>
            <a:ext cx="0" cy="2834640"/>
          </a:xfrm>
          <a:prstGeom prst="line">
            <a:avLst/>
          </a:prstGeom>
          <a:noFill/>
          <a:ln w="12700">
            <a:solidFill>
              <a:srgbClr val="E4E7EC"/>
            </a:solidFill>
            <a:prstDash val="solid"/>
          </a:ln>
        </p:spPr>
        <p:txBody>
          <a:bodyPr/>
          <a:lstStyle/>
          <a:p>
            <a:endParaRPr lang="de-DE"/>
          </a:p>
        </p:txBody>
      </p:sp>
      <p:sp>
        <p:nvSpPr>
          <p:cNvPr id="7" name="VLine"/>
          <p:cNvSpPr>
            <a:spLocks noGrp="1"/>
          </p:cNvSpPr>
          <p:nvPr/>
        </p:nvSpPr>
        <p:spPr>
          <a:xfrm>
            <a:off x="7646400" y="2971800"/>
            <a:ext cx="0" cy="2834640"/>
          </a:xfrm>
          <a:prstGeom prst="line">
            <a:avLst/>
          </a:prstGeom>
          <a:noFill/>
          <a:ln w="12700">
            <a:solidFill>
              <a:srgbClr val="E4E7EC"/>
            </a:solidFill>
            <a:prstDash val="solid"/>
          </a:ln>
        </p:spPr>
        <p:txBody>
          <a:bodyPr/>
          <a:lstStyle/>
          <a:p>
            <a:endParaRPr lang="de-DE"/>
          </a:p>
        </p:txBody>
      </p:sp>
      <p:sp>
        <p:nvSpPr>
          <p:cNvPr id="8" name="Text"/>
          <p:cNvSpPr>
            <a:spLocks noGrp="1"/>
          </p:cNvSpPr>
          <p:nvPr/>
        </p:nvSpPr>
        <p:spPr>
          <a:xfrm>
            <a:off x="868680" y="2971800"/>
            <a:ext cx="640080" cy="457200"/>
          </a:xfrm>
          <a:prstGeom prst="rect">
            <a:avLst/>
          </a:prstGeom>
          <a:noFill/>
        </p:spPr>
        <p:txBody>
          <a:bodyPr wrap="square" lIns="0" tIns="0" rIns="0" bIns="0" anchor="ctr">
            <a:spAutoFit/>
          </a:bodyPr>
          <a:lstStyle/>
          <a:p>
            <a:pPr marL="0" indent="0">
              <a:buNone/>
            </a:pPr>
            <a:r>
              <a:rPr lang="de-DE" sz="2200" b="1" dirty="0">
                <a:solidFill>
                  <a:srgbClr val="9AA3AF"/>
                </a:solidFill>
                <a:latin typeface="Trebuchet MS"/>
                <a:ea typeface="Trebuchet MS"/>
                <a:cs typeface="Trebuchet MS"/>
              </a:rPr>
              <a:t>01</a:t>
            </a:r>
          </a:p>
        </p:txBody>
      </p:sp>
      <p:sp>
        <p:nvSpPr>
          <p:cNvPr id="9" name="Text"/>
          <p:cNvSpPr>
            <a:spLocks noGrp="1"/>
          </p:cNvSpPr>
          <p:nvPr/>
        </p:nvSpPr>
        <p:spPr>
          <a:xfrm>
            <a:off x="1508760" y="2971800"/>
            <a:ext cx="2377440" cy="457200"/>
          </a:xfrm>
          <a:prstGeom prst="rect">
            <a:avLst/>
          </a:prstGeom>
          <a:noFill/>
        </p:spPr>
        <p:txBody>
          <a:bodyPr wrap="square" lIns="0" tIns="0" rIns="0" bIns="0" anchor="ctr">
            <a:spAutoFit/>
          </a:bodyPr>
          <a:lstStyle/>
          <a:p>
            <a:pPr marL="0" indent="0">
              <a:buNone/>
            </a:pPr>
            <a:r>
              <a:rPr lang="de-DE" sz="1500" b="1" dirty="0">
                <a:solidFill>
                  <a:srgbClr val="16181D"/>
                </a:solidFill>
                <a:latin typeface="Trebuchet MS"/>
                <a:ea typeface="Trebuchet MS"/>
                <a:cs typeface="Trebuchet MS"/>
              </a:rPr>
              <a:t>HTML-Interpretation</a:t>
            </a:r>
          </a:p>
        </p:txBody>
      </p:sp>
      <p:sp>
        <p:nvSpPr>
          <p:cNvPr id="10" name="Text"/>
          <p:cNvSpPr>
            <a:spLocks noGrp="1"/>
          </p:cNvSpPr>
          <p:nvPr/>
        </p:nvSpPr>
        <p:spPr>
          <a:xfrm>
            <a:off x="868680" y="3611880"/>
            <a:ext cx="3017520" cy="86868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Der Parser liest HTML sequenziell. Sonderzeichen wie &lt; oder &amp; schalten ihn in den Tag-Erkennungs-Modus.</a:t>
            </a:r>
          </a:p>
        </p:txBody>
      </p:sp>
      <p:sp>
        <p:nvSpPr>
          <p:cNvPr id="11" name="Text"/>
          <p:cNvSpPr>
            <a:spLocks noGrp="1"/>
          </p:cNvSpPr>
          <p:nvPr/>
        </p:nvSpPr>
        <p:spPr>
          <a:xfrm>
            <a:off x="868680" y="4800600"/>
            <a:ext cx="3017520" cy="320040"/>
          </a:xfrm>
          <a:prstGeom prst="rect">
            <a:avLst/>
          </a:prstGeom>
          <a:noFill/>
        </p:spPr>
        <p:txBody>
          <a:bodyPr wrap="square" lIns="0" tIns="0" rIns="0" bIns="0" anchor="ctr">
            <a:spAutoFit/>
          </a:bodyPr>
          <a:lstStyle/>
          <a:p>
            <a:pPr marL="0" indent="0">
              <a:buNone/>
            </a:pPr>
            <a:r>
              <a:rPr lang="de-DE" sz="1200" dirty="0">
                <a:solidFill>
                  <a:srgbClr val="16181D"/>
                </a:solidFill>
                <a:latin typeface="Consolas"/>
                <a:ea typeface="Consolas"/>
                <a:cs typeface="Consolas"/>
              </a:rPr>
              <a:t>&lt;  &amp;  →  Tag-Modus</a:t>
            </a:r>
          </a:p>
        </p:txBody>
      </p:sp>
      <p:sp>
        <p:nvSpPr>
          <p:cNvPr id="12" name="Text"/>
          <p:cNvSpPr>
            <a:spLocks noGrp="1"/>
          </p:cNvSpPr>
          <p:nvPr/>
        </p:nvSpPr>
        <p:spPr>
          <a:xfrm>
            <a:off x="868680" y="5166360"/>
            <a:ext cx="3017520" cy="274320"/>
          </a:xfrm>
          <a:prstGeom prst="rect">
            <a:avLst/>
          </a:prstGeom>
          <a:noFill/>
        </p:spPr>
        <p:txBody>
          <a:bodyPr wrap="square" lIns="0" tIns="0" rIns="0" bIns="0" anchor="ctr">
            <a:spAutoFit/>
          </a:bodyPr>
          <a:lstStyle/>
          <a:p>
            <a:pPr marL="0" indent="0">
              <a:buNone/>
            </a:pPr>
            <a:r>
              <a:rPr lang="de-DE" sz="1150" i="1" dirty="0">
                <a:solidFill>
                  <a:srgbClr val="D23B4E"/>
                </a:solidFill>
                <a:latin typeface="Calibri"/>
                <a:ea typeface="Calibri"/>
                <a:cs typeface="Calibri"/>
              </a:rPr>
              <a:t>Zustandswechsel</a:t>
            </a:r>
          </a:p>
        </p:txBody>
      </p:sp>
      <p:sp>
        <p:nvSpPr>
          <p:cNvPr id="13" name="Text"/>
          <p:cNvSpPr>
            <a:spLocks noGrp="1"/>
          </p:cNvSpPr>
          <p:nvPr/>
        </p:nvSpPr>
        <p:spPr>
          <a:xfrm>
            <a:off x="4400520" y="2971800"/>
            <a:ext cx="640080" cy="457200"/>
          </a:xfrm>
          <a:prstGeom prst="rect">
            <a:avLst/>
          </a:prstGeom>
          <a:noFill/>
        </p:spPr>
        <p:txBody>
          <a:bodyPr wrap="square" lIns="0" tIns="0" rIns="0" bIns="0" anchor="ctr">
            <a:spAutoFit/>
          </a:bodyPr>
          <a:lstStyle/>
          <a:p>
            <a:pPr marL="0" indent="0">
              <a:buNone/>
            </a:pPr>
            <a:r>
              <a:rPr lang="de-DE" sz="2200" b="1" dirty="0">
                <a:solidFill>
                  <a:srgbClr val="9AA3AF"/>
                </a:solidFill>
                <a:latin typeface="Trebuchet MS"/>
                <a:ea typeface="Trebuchet MS"/>
                <a:cs typeface="Trebuchet MS"/>
              </a:rPr>
              <a:t>02</a:t>
            </a:r>
          </a:p>
        </p:txBody>
      </p:sp>
      <p:sp>
        <p:nvSpPr>
          <p:cNvPr id="14" name="Text"/>
          <p:cNvSpPr>
            <a:spLocks noGrp="1"/>
          </p:cNvSpPr>
          <p:nvPr/>
        </p:nvSpPr>
        <p:spPr>
          <a:xfrm>
            <a:off x="5040600" y="2971800"/>
            <a:ext cx="2377440" cy="457200"/>
          </a:xfrm>
          <a:prstGeom prst="rect">
            <a:avLst/>
          </a:prstGeom>
          <a:noFill/>
        </p:spPr>
        <p:txBody>
          <a:bodyPr wrap="square" lIns="0" tIns="0" rIns="0" bIns="0" anchor="ctr">
            <a:spAutoFit/>
          </a:bodyPr>
          <a:lstStyle/>
          <a:p>
            <a:pPr marL="0" indent="0">
              <a:buNone/>
            </a:pPr>
            <a:r>
              <a:rPr lang="de-DE" sz="1500" b="1" dirty="0">
                <a:solidFill>
                  <a:srgbClr val="16181D"/>
                </a:solidFill>
                <a:latin typeface="Trebuchet MS"/>
                <a:ea typeface="Trebuchet MS"/>
                <a:cs typeface="Trebuchet MS"/>
              </a:rPr>
              <a:t>Datenfluss-Kollaps</a:t>
            </a:r>
          </a:p>
        </p:txBody>
      </p:sp>
      <p:sp>
        <p:nvSpPr>
          <p:cNvPr id="15" name="Text"/>
          <p:cNvSpPr>
            <a:spLocks noGrp="1"/>
          </p:cNvSpPr>
          <p:nvPr/>
        </p:nvSpPr>
        <p:spPr>
          <a:xfrm>
            <a:off x="4400520" y="3611880"/>
            <a:ext cx="3017520" cy="86868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Eine ungefiltert platzierte Eingabe wechselt ungewollt den Parser-Zustand und wird als Anweisung gelesen.</a:t>
            </a:r>
          </a:p>
        </p:txBody>
      </p:sp>
      <p:sp>
        <p:nvSpPr>
          <p:cNvPr id="16" name="Text"/>
          <p:cNvSpPr>
            <a:spLocks noGrp="1"/>
          </p:cNvSpPr>
          <p:nvPr/>
        </p:nvSpPr>
        <p:spPr>
          <a:xfrm>
            <a:off x="4400520" y="4800600"/>
            <a:ext cx="3017520" cy="320040"/>
          </a:xfrm>
          <a:prstGeom prst="rect">
            <a:avLst/>
          </a:prstGeom>
          <a:noFill/>
        </p:spPr>
        <p:txBody>
          <a:bodyPr wrap="square" lIns="0" tIns="0" rIns="0" bIns="0" anchor="ctr">
            <a:spAutoFit/>
          </a:bodyPr>
          <a:lstStyle/>
          <a:p>
            <a:pPr marL="0" indent="0">
              <a:buNone/>
            </a:pPr>
            <a:r>
              <a:rPr lang="de-DE" sz="1200" dirty="0">
                <a:solidFill>
                  <a:srgbClr val="16181D"/>
                </a:solidFill>
                <a:latin typeface="Consolas"/>
                <a:ea typeface="Consolas"/>
                <a:cs typeface="Consolas"/>
              </a:rPr>
              <a:t>&lt;script&gt;alert(1)&lt;/script&gt;</a:t>
            </a:r>
          </a:p>
        </p:txBody>
      </p:sp>
      <p:sp>
        <p:nvSpPr>
          <p:cNvPr id="17" name="Text"/>
          <p:cNvSpPr>
            <a:spLocks noGrp="1"/>
          </p:cNvSpPr>
          <p:nvPr/>
        </p:nvSpPr>
        <p:spPr>
          <a:xfrm>
            <a:off x="4400520" y="5166360"/>
            <a:ext cx="3017520" cy="274320"/>
          </a:xfrm>
          <a:prstGeom prst="rect">
            <a:avLst/>
          </a:prstGeom>
          <a:noFill/>
        </p:spPr>
        <p:txBody>
          <a:bodyPr wrap="square" lIns="0" tIns="0" rIns="0" bIns="0" anchor="ctr">
            <a:spAutoFit/>
          </a:bodyPr>
          <a:lstStyle/>
          <a:p>
            <a:pPr marL="0" indent="0">
              <a:buNone/>
            </a:pPr>
            <a:r>
              <a:rPr lang="de-DE" sz="1150" i="1" dirty="0">
                <a:solidFill>
                  <a:srgbClr val="D23B4E"/>
                </a:solidFill>
                <a:latin typeface="Calibri"/>
                <a:ea typeface="Calibri"/>
                <a:cs typeface="Calibri"/>
              </a:rPr>
              <a:t>wird zur Anweisung</a:t>
            </a:r>
          </a:p>
        </p:txBody>
      </p:sp>
      <p:sp>
        <p:nvSpPr>
          <p:cNvPr id="18" name="Text"/>
          <p:cNvSpPr>
            <a:spLocks noGrp="1"/>
          </p:cNvSpPr>
          <p:nvPr/>
        </p:nvSpPr>
        <p:spPr>
          <a:xfrm>
            <a:off x="7932360" y="2971800"/>
            <a:ext cx="640080" cy="457200"/>
          </a:xfrm>
          <a:prstGeom prst="rect">
            <a:avLst/>
          </a:prstGeom>
          <a:noFill/>
        </p:spPr>
        <p:txBody>
          <a:bodyPr wrap="square" lIns="0" tIns="0" rIns="0" bIns="0" anchor="ctr">
            <a:spAutoFit/>
          </a:bodyPr>
          <a:lstStyle/>
          <a:p>
            <a:pPr marL="0" indent="0">
              <a:buNone/>
            </a:pPr>
            <a:r>
              <a:rPr lang="de-DE" sz="2200" b="1" dirty="0">
                <a:solidFill>
                  <a:srgbClr val="9AA3AF"/>
                </a:solidFill>
                <a:latin typeface="Trebuchet MS"/>
                <a:ea typeface="Trebuchet MS"/>
                <a:cs typeface="Trebuchet MS"/>
              </a:rPr>
              <a:t>03</a:t>
            </a:r>
          </a:p>
        </p:txBody>
      </p:sp>
      <p:sp>
        <p:nvSpPr>
          <p:cNvPr id="19" name="Text"/>
          <p:cNvSpPr>
            <a:spLocks noGrp="1"/>
          </p:cNvSpPr>
          <p:nvPr/>
        </p:nvSpPr>
        <p:spPr>
          <a:xfrm>
            <a:off x="8572440" y="2971800"/>
            <a:ext cx="2377440" cy="457200"/>
          </a:xfrm>
          <a:prstGeom prst="rect">
            <a:avLst/>
          </a:prstGeom>
          <a:noFill/>
        </p:spPr>
        <p:txBody>
          <a:bodyPr wrap="square" lIns="0" tIns="0" rIns="0" bIns="0" anchor="ctr">
            <a:spAutoFit/>
          </a:bodyPr>
          <a:lstStyle/>
          <a:p>
            <a:pPr marL="0" indent="0">
              <a:buNone/>
            </a:pPr>
            <a:r>
              <a:rPr lang="de-DE" sz="1500" b="1" dirty="0">
                <a:solidFill>
                  <a:srgbClr val="16181D"/>
                </a:solidFill>
                <a:latin typeface="Trebuchet MS"/>
                <a:ea typeface="Trebuchet MS"/>
                <a:cs typeface="Trebuchet MS"/>
              </a:rPr>
              <a:t>Browser-Kontext</a:t>
            </a:r>
          </a:p>
        </p:txBody>
      </p:sp>
      <p:sp>
        <p:nvSpPr>
          <p:cNvPr id="20" name="Text"/>
          <p:cNvSpPr>
            <a:spLocks noGrp="1"/>
          </p:cNvSpPr>
          <p:nvPr/>
        </p:nvSpPr>
        <p:spPr>
          <a:xfrm>
            <a:off x="7932360" y="3611880"/>
            <a:ext cx="3017520" cy="86868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Die Payload wird im Browser des Opfers gerendert und erhält Zugriff auf vertrauliche Speicherstrukturen.</a:t>
            </a:r>
          </a:p>
        </p:txBody>
      </p:sp>
      <p:sp>
        <p:nvSpPr>
          <p:cNvPr id="21" name="Text"/>
          <p:cNvSpPr>
            <a:spLocks noGrp="1"/>
          </p:cNvSpPr>
          <p:nvPr/>
        </p:nvSpPr>
        <p:spPr>
          <a:xfrm>
            <a:off x="7932360" y="4800600"/>
            <a:ext cx="3017520" cy="320040"/>
          </a:xfrm>
          <a:prstGeom prst="rect">
            <a:avLst/>
          </a:prstGeom>
          <a:noFill/>
        </p:spPr>
        <p:txBody>
          <a:bodyPr wrap="square" lIns="0" tIns="0" rIns="0" bIns="0" anchor="ctr">
            <a:spAutoFit/>
          </a:bodyPr>
          <a:lstStyle/>
          <a:p>
            <a:pPr marL="0" indent="0">
              <a:buNone/>
            </a:pPr>
            <a:r>
              <a:rPr lang="de-DE" sz="1200" dirty="0">
                <a:solidFill>
                  <a:srgbClr val="16181D"/>
                </a:solidFill>
                <a:latin typeface="Consolas"/>
                <a:ea typeface="Consolas"/>
                <a:cs typeface="Consolas"/>
              </a:rPr>
              <a:t>localStorage / Cookies</a:t>
            </a:r>
          </a:p>
        </p:txBody>
      </p:sp>
      <p:sp>
        <p:nvSpPr>
          <p:cNvPr id="22" name="Text"/>
          <p:cNvSpPr>
            <a:spLocks noGrp="1"/>
          </p:cNvSpPr>
          <p:nvPr/>
        </p:nvSpPr>
        <p:spPr>
          <a:xfrm>
            <a:off x="7932360" y="5166360"/>
            <a:ext cx="3017520" cy="274320"/>
          </a:xfrm>
          <a:prstGeom prst="rect">
            <a:avLst/>
          </a:prstGeom>
          <a:noFill/>
        </p:spPr>
        <p:txBody>
          <a:bodyPr wrap="square" lIns="0" tIns="0" rIns="0" bIns="0" anchor="ctr">
            <a:spAutoFit/>
          </a:bodyPr>
          <a:lstStyle/>
          <a:p>
            <a:pPr marL="0" indent="0">
              <a:buNone/>
            </a:pPr>
            <a:r>
              <a:rPr lang="de-DE" sz="1150" i="1" dirty="0">
                <a:solidFill>
                  <a:srgbClr val="D23B4E"/>
                </a:solidFill>
                <a:latin typeface="Calibri"/>
                <a:ea typeface="Calibri"/>
                <a:cs typeface="Calibri"/>
              </a:rPr>
              <a:t>sofort lesbar</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p:cNvSpPr>
            <a:spLocks noGrp="1"/>
          </p:cNvSpPr>
          <p:nvPr/>
        </p:nvSpPr>
        <p:spPr>
          <a:xfrm>
            <a:off x="868680" y="502920"/>
            <a:ext cx="8229600" cy="274320"/>
          </a:xfrm>
          <a:prstGeom prst="rect">
            <a:avLst/>
          </a:prstGeom>
          <a:noFill/>
        </p:spPr>
        <p:txBody>
          <a:bodyPr wrap="square" lIns="0" tIns="0" rIns="0" bIns="0" anchor="ctr">
            <a:spAutoFit/>
          </a:bodyPr>
          <a:lstStyle/>
          <a:p>
            <a:pPr marL="0" indent="0">
              <a:buNone/>
            </a:pPr>
            <a:r>
              <a:rPr lang="de-DE" sz="1050" b="1" spc="100" dirty="0">
                <a:solidFill>
                  <a:srgbClr val="9AA3AF"/>
                </a:solidFill>
                <a:latin typeface="Calibri"/>
                <a:ea typeface="Calibri"/>
                <a:cs typeface="Calibri"/>
              </a:rPr>
              <a:t>ANGRIFFSARTEN · CROSS-SITE SCRIPTING</a:t>
            </a:r>
          </a:p>
        </p:txBody>
      </p:sp>
      <p:sp>
        <p:nvSpPr>
          <p:cNvPr id="3" name="Text"/>
          <p:cNvSpPr>
            <a:spLocks noGrp="1"/>
          </p:cNvSpPr>
          <p:nvPr/>
        </p:nvSpPr>
        <p:spPr>
          <a:xfrm>
            <a:off x="868680" y="1051560"/>
            <a:ext cx="10424160" cy="777240"/>
          </a:xfrm>
          <a:prstGeom prst="rect">
            <a:avLst/>
          </a:prstGeom>
          <a:noFill/>
        </p:spPr>
        <p:txBody>
          <a:bodyPr wrap="square" lIns="0" tIns="0" rIns="0" bIns="0" anchor="ctr">
            <a:spAutoFit/>
          </a:bodyPr>
          <a:lstStyle/>
          <a:p>
            <a:pPr marL="0" indent="0">
              <a:buNone/>
            </a:pPr>
            <a:r>
              <a:rPr lang="de-DE" sz="4000" b="1" dirty="0">
                <a:solidFill>
                  <a:srgbClr val="16181D"/>
                </a:solidFill>
                <a:latin typeface="Trebuchet MS"/>
                <a:ea typeface="Trebuchet MS"/>
                <a:cs typeface="Trebuchet MS"/>
              </a:rPr>
              <a:t>Stored vs. Reflected XSS</a:t>
            </a:r>
          </a:p>
        </p:txBody>
      </p:sp>
      <p:sp>
        <p:nvSpPr>
          <p:cNvPr id="4" name="Text"/>
          <p:cNvSpPr>
            <a:spLocks noGrp="1"/>
          </p:cNvSpPr>
          <p:nvPr/>
        </p:nvSpPr>
        <p:spPr>
          <a:xfrm>
            <a:off x="868680" y="1920240"/>
            <a:ext cx="10241280" cy="640080"/>
          </a:xfrm>
          <a:prstGeom prst="rect">
            <a:avLst/>
          </a:prstGeom>
          <a:noFill/>
        </p:spPr>
        <p:txBody>
          <a:bodyPr wrap="square" lIns="0" tIns="0" rIns="0" bIns="0" anchor="ctr">
            <a:spAutoFit/>
          </a:bodyPr>
          <a:lstStyle/>
          <a:p>
            <a:pPr marL="0" indent="0">
              <a:buNone/>
            </a:pPr>
            <a:r>
              <a:rPr lang="de-DE" sz="1700" dirty="0">
                <a:solidFill>
                  <a:srgbClr val="55606E"/>
                </a:solidFill>
                <a:latin typeface="Calibri"/>
                <a:ea typeface="Calibri"/>
                <a:cs typeface="Calibri"/>
              </a:rPr>
              <a:t>Die zwei klassischen Angriffswege unterscheiden sich darin, wo die Payload liegt und wie sie das Opfer erreicht.</a:t>
            </a:r>
          </a:p>
        </p:txBody>
      </p:sp>
      <p:sp>
        <p:nvSpPr>
          <p:cNvPr id="5" name="PageNum"/>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a:ea typeface="Calibri"/>
                <a:cs typeface="Calibri"/>
              </a:rPr>
              <a:t>0</a:t>
            </a:r>
            <a:fld id="{B45D24B6-C78C-43F1-9D4F-88F7B48373A8}" type="slidenum">
              <a:rPr lang="en-US" sz="1050" b="1" kern="0" spc="100" smtClean="0">
                <a:solidFill>
                  <a:srgbClr val="9AA3AF"/>
                </a:solidFill>
                <a:latin typeface="Calibri"/>
                <a:ea typeface="Calibri"/>
                <a:cs typeface="Calibri"/>
              </a:rPr>
              <a:t>5</a:t>
            </a:fld>
            <a:endParaRPr lang="en-US" sz="1050" dirty="0"/>
          </a:p>
        </p:txBody>
      </p:sp>
      <p:sp>
        <p:nvSpPr>
          <p:cNvPr id="6" name="Text"/>
          <p:cNvSpPr>
            <a:spLocks noGrp="1"/>
          </p:cNvSpPr>
          <p:nvPr/>
        </p:nvSpPr>
        <p:spPr>
          <a:xfrm>
            <a:off x="868680" y="2834640"/>
            <a:ext cx="4937760" cy="320040"/>
          </a:xfrm>
          <a:prstGeom prst="rect">
            <a:avLst/>
          </a:prstGeom>
          <a:noFill/>
        </p:spPr>
        <p:txBody>
          <a:bodyPr wrap="square" lIns="0" tIns="0" rIns="0" bIns="0" anchor="ctr">
            <a:spAutoFit/>
          </a:bodyPr>
          <a:lstStyle/>
          <a:p>
            <a:pPr marL="0" indent="0">
              <a:buNone/>
            </a:pPr>
            <a:r>
              <a:rPr lang="de-DE" sz="1400" b="1" spc="80" dirty="0">
                <a:solidFill>
                  <a:srgbClr val="D23B4E"/>
                </a:solidFill>
                <a:latin typeface="Calibri"/>
                <a:ea typeface="Calibri"/>
                <a:cs typeface="Calibri"/>
              </a:rPr>
              <a:t>STORED</a:t>
            </a:r>
          </a:p>
        </p:txBody>
      </p:sp>
      <p:sp>
        <p:nvSpPr>
          <p:cNvPr id="7" name="Text"/>
          <p:cNvSpPr>
            <a:spLocks noGrp="1"/>
          </p:cNvSpPr>
          <p:nvPr/>
        </p:nvSpPr>
        <p:spPr>
          <a:xfrm>
            <a:off x="868680" y="3200400"/>
            <a:ext cx="4937760" cy="274320"/>
          </a:xfrm>
          <a:prstGeom prst="rect">
            <a:avLst/>
          </a:prstGeom>
          <a:noFill/>
        </p:spPr>
        <p:txBody>
          <a:bodyPr wrap="square" lIns="0" tIns="0" rIns="0" bIns="0" anchor="ctr">
            <a:spAutoFit/>
          </a:bodyPr>
          <a:lstStyle/>
          <a:p>
            <a:pPr marL="0" indent="0">
              <a:buNone/>
            </a:pPr>
            <a:r>
              <a:rPr lang="de-DE" sz="1200" dirty="0">
                <a:solidFill>
                  <a:srgbClr val="9AA3AF"/>
                </a:solidFill>
                <a:latin typeface="Calibri"/>
                <a:ea typeface="Calibri"/>
                <a:cs typeface="Calibri"/>
              </a:rPr>
              <a:t>persistent auf dem Server gespeichert</a:t>
            </a:r>
          </a:p>
        </p:txBody>
      </p:sp>
      <p:sp>
        <p:nvSpPr>
          <p:cNvPr id="8" name="Text"/>
          <p:cNvSpPr>
            <a:spLocks noGrp="1"/>
          </p:cNvSpPr>
          <p:nvPr/>
        </p:nvSpPr>
        <p:spPr>
          <a:xfrm>
            <a:off x="6446520" y="2834640"/>
            <a:ext cx="4937760" cy="320040"/>
          </a:xfrm>
          <a:prstGeom prst="rect">
            <a:avLst/>
          </a:prstGeom>
          <a:noFill/>
        </p:spPr>
        <p:txBody>
          <a:bodyPr wrap="square" lIns="0" tIns="0" rIns="0" bIns="0" anchor="ctr">
            <a:spAutoFit/>
          </a:bodyPr>
          <a:lstStyle/>
          <a:p>
            <a:pPr marL="0" indent="0">
              <a:buNone/>
            </a:pPr>
            <a:r>
              <a:rPr lang="de-DE" sz="1400" b="1" spc="80" dirty="0">
                <a:solidFill>
                  <a:srgbClr val="1463FF"/>
                </a:solidFill>
                <a:latin typeface="Calibri"/>
                <a:ea typeface="Calibri"/>
                <a:cs typeface="Calibri"/>
              </a:rPr>
              <a:t>REFLECTED</a:t>
            </a:r>
          </a:p>
        </p:txBody>
      </p:sp>
      <p:sp>
        <p:nvSpPr>
          <p:cNvPr id="9" name="Text"/>
          <p:cNvSpPr>
            <a:spLocks noGrp="1"/>
          </p:cNvSpPr>
          <p:nvPr/>
        </p:nvSpPr>
        <p:spPr>
          <a:xfrm>
            <a:off x="6446520" y="3200400"/>
            <a:ext cx="4937760" cy="274320"/>
          </a:xfrm>
          <a:prstGeom prst="rect">
            <a:avLst/>
          </a:prstGeom>
          <a:noFill/>
        </p:spPr>
        <p:txBody>
          <a:bodyPr wrap="square" lIns="0" tIns="0" rIns="0" bIns="0" anchor="ctr">
            <a:spAutoFit/>
          </a:bodyPr>
          <a:lstStyle/>
          <a:p>
            <a:pPr marL="0" indent="0">
              <a:buNone/>
            </a:pPr>
            <a:r>
              <a:rPr lang="de-DE" sz="1200" dirty="0">
                <a:solidFill>
                  <a:srgbClr val="9AA3AF"/>
                </a:solidFill>
                <a:latin typeface="Calibri"/>
                <a:ea typeface="Calibri"/>
                <a:cs typeface="Calibri"/>
              </a:rPr>
              <a:t>reflektiert aus dem aktuellen Request</a:t>
            </a:r>
          </a:p>
        </p:txBody>
      </p:sp>
      <p:sp>
        <p:nvSpPr>
          <p:cNvPr id="10" name="Text"/>
          <p:cNvSpPr>
            <a:spLocks noGrp="1"/>
          </p:cNvSpPr>
          <p:nvPr/>
        </p:nvSpPr>
        <p:spPr>
          <a:xfrm>
            <a:off x="868680" y="3657600"/>
            <a:ext cx="10454335" cy="246888"/>
          </a:xfrm>
          <a:prstGeom prst="rect">
            <a:avLst/>
          </a:prstGeom>
          <a:noFill/>
        </p:spPr>
        <p:txBody>
          <a:bodyPr wrap="square" lIns="0" tIns="0" rIns="0" bIns="0" anchor="ctr">
            <a:spAutoFit/>
          </a:bodyPr>
          <a:lstStyle/>
          <a:p>
            <a:pPr marL="0" indent="0">
              <a:buNone/>
            </a:pPr>
            <a:r>
              <a:rPr lang="de-DE" sz="1050" b="1" spc="60" dirty="0">
                <a:solidFill>
                  <a:srgbClr val="9AA3AF"/>
                </a:solidFill>
                <a:latin typeface="Calibri"/>
                <a:ea typeface="Calibri"/>
                <a:cs typeface="Calibri"/>
              </a:rPr>
              <a:t>SPEICHERORT</a:t>
            </a:r>
          </a:p>
        </p:txBody>
      </p:sp>
      <p:sp>
        <p:nvSpPr>
          <p:cNvPr id="11" name="Text"/>
          <p:cNvSpPr>
            <a:spLocks noGrp="1"/>
          </p:cNvSpPr>
          <p:nvPr/>
        </p:nvSpPr>
        <p:spPr>
          <a:xfrm>
            <a:off x="868680" y="3977640"/>
            <a:ext cx="4937760" cy="50292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Dauerhaft in DB / Dateisystem (z. B. als Veranstaltungstitel im Scheduler).</a:t>
            </a:r>
          </a:p>
        </p:txBody>
      </p:sp>
      <p:sp>
        <p:nvSpPr>
          <p:cNvPr id="12" name="Text"/>
          <p:cNvSpPr>
            <a:spLocks noGrp="1"/>
          </p:cNvSpPr>
          <p:nvPr/>
        </p:nvSpPr>
        <p:spPr>
          <a:xfrm>
            <a:off x="6446520" y="3977640"/>
            <a:ext cx="4937760" cy="50292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Gar nicht – die Payload steckt im URL-Parameter des Requests.</a:t>
            </a:r>
          </a:p>
        </p:txBody>
      </p:sp>
      <p:sp>
        <p:nvSpPr>
          <p:cNvPr id="13" name="Line"/>
          <p:cNvSpPr>
            <a:spLocks noGrp="1"/>
          </p:cNvSpPr>
          <p:nvPr/>
        </p:nvSpPr>
        <p:spPr>
          <a:xfrm>
            <a:off x="868680" y="4457700"/>
            <a:ext cx="10454335" cy="0"/>
          </a:xfrm>
          <a:prstGeom prst="line">
            <a:avLst/>
          </a:prstGeom>
          <a:noFill/>
          <a:ln w="12700">
            <a:solidFill>
              <a:srgbClr val="E4E7EC"/>
            </a:solidFill>
            <a:prstDash val="solid"/>
          </a:ln>
        </p:spPr>
        <p:txBody>
          <a:bodyPr/>
          <a:lstStyle/>
          <a:p>
            <a:endParaRPr lang="de-DE"/>
          </a:p>
        </p:txBody>
      </p:sp>
      <p:sp>
        <p:nvSpPr>
          <p:cNvPr id="14" name="Text"/>
          <p:cNvSpPr>
            <a:spLocks noGrp="1"/>
          </p:cNvSpPr>
          <p:nvPr/>
        </p:nvSpPr>
        <p:spPr>
          <a:xfrm>
            <a:off x="868680" y="4526280"/>
            <a:ext cx="10454335" cy="246888"/>
          </a:xfrm>
          <a:prstGeom prst="rect">
            <a:avLst/>
          </a:prstGeom>
          <a:noFill/>
        </p:spPr>
        <p:txBody>
          <a:bodyPr wrap="square" lIns="0" tIns="0" rIns="0" bIns="0" anchor="ctr">
            <a:spAutoFit/>
          </a:bodyPr>
          <a:lstStyle/>
          <a:p>
            <a:pPr marL="0" indent="0">
              <a:buNone/>
            </a:pPr>
            <a:r>
              <a:rPr lang="de-DE" sz="1050" b="1" spc="60" dirty="0">
                <a:solidFill>
                  <a:srgbClr val="9AA3AF"/>
                </a:solidFill>
                <a:latin typeface="Calibri"/>
                <a:ea typeface="Calibri"/>
                <a:cs typeface="Calibri"/>
              </a:rPr>
              <a:t>VERBREITUNG</a:t>
            </a:r>
          </a:p>
        </p:txBody>
      </p:sp>
      <p:sp>
        <p:nvSpPr>
          <p:cNvPr id="15" name="Text"/>
          <p:cNvSpPr>
            <a:spLocks noGrp="1"/>
          </p:cNvSpPr>
          <p:nvPr/>
        </p:nvSpPr>
        <p:spPr>
          <a:xfrm>
            <a:off x="868680" y="4846320"/>
            <a:ext cx="4937760" cy="50292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Sehr hoch: jeder, der die Ansicht öffnet, wird automatisch infiziert.</a:t>
            </a:r>
          </a:p>
        </p:txBody>
      </p:sp>
      <p:sp>
        <p:nvSpPr>
          <p:cNvPr id="16" name="Text"/>
          <p:cNvSpPr>
            <a:spLocks noGrp="1"/>
          </p:cNvSpPr>
          <p:nvPr/>
        </p:nvSpPr>
        <p:spPr>
          <a:xfrm>
            <a:off x="6446520" y="4846320"/>
            <a:ext cx="4937760" cy="50292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Zielgerichtet: das Opfer muss aktiv einen manipulierten Link öffnen.</a:t>
            </a:r>
          </a:p>
        </p:txBody>
      </p:sp>
      <p:sp>
        <p:nvSpPr>
          <p:cNvPr id="17" name="Line"/>
          <p:cNvSpPr>
            <a:spLocks noGrp="1"/>
          </p:cNvSpPr>
          <p:nvPr/>
        </p:nvSpPr>
        <p:spPr>
          <a:xfrm>
            <a:off x="868680" y="5326380"/>
            <a:ext cx="10454335" cy="0"/>
          </a:xfrm>
          <a:prstGeom prst="line">
            <a:avLst/>
          </a:prstGeom>
          <a:noFill/>
          <a:ln w="12700">
            <a:solidFill>
              <a:srgbClr val="E4E7EC"/>
            </a:solidFill>
            <a:prstDash val="solid"/>
          </a:ln>
        </p:spPr>
        <p:txBody>
          <a:bodyPr/>
          <a:lstStyle/>
          <a:p>
            <a:endParaRPr lang="de-DE"/>
          </a:p>
        </p:txBody>
      </p:sp>
      <p:sp>
        <p:nvSpPr>
          <p:cNvPr id="18" name="Text"/>
          <p:cNvSpPr>
            <a:spLocks noGrp="1"/>
          </p:cNvSpPr>
          <p:nvPr/>
        </p:nvSpPr>
        <p:spPr>
          <a:xfrm>
            <a:off x="868680" y="5394960"/>
            <a:ext cx="10454335" cy="246888"/>
          </a:xfrm>
          <a:prstGeom prst="rect">
            <a:avLst/>
          </a:prstGeom>
          <a:noFill/>
        </p:spPr>
        <p:txBody>
          <a:bodyPr wrap="square" lIns="0" tIns="0" rIns="0" bIns="0" anchor="ctr">
            <a:spAutoFit/>
          </a:bodyPr>
          <a:lstStyle/>
          <a:p>
            <a:pPr marL="0" indent="0">
              <a:buNone/>
            </a:pPr>
            <a:r>
              <a:rPr lang="de-DE" sz="1050" b="1" spc="60" dirty="0">
                <a:solidFill>
                  <a:srgbClr val="9AA3AF"/>
                </a:solidFill>
                <a:latin typeface="Calibri"/>
                <a:ea typeface="Calibri"/>
                <a:cs typeface="Calibri"/>
              </a:rPr>
              <a:t>BEISPIEL</a:t>
            </a:r>
          </a:p>
        </p:txBody>
      </p:sp>
      <p:sp>
        <p:nvSpPr>
          <p:cNvPr id="19" name="Text"/>
          <p:cNvSpPr>
            <a:spLocks noGrp="1"/>
          </p:cNvSpPr>
          <p:nvPr/>
        </p:nvSpPr>
        <p:spPr>
          <a:xfrm>
            <a:off x="868680" y="5715000"/>
            <a:ext cx="4937760" cy="50292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Ein Scheduler-Event speichert Schadcode im Feld „Veranstaltungstitel“.</a:t>
            </a:r>
          </a:p>
        </p:txBody>
      </p:sp>
      <p:sp>
        <p:nvSpPr>
          <p:cNvPr id="20" name="Text"/>
          <p:cNvSpPr>
            <a:spLocks noGrp="1"/>
          </p:cNvSpPr>
          <p:nvPr/>
        </p:nvSpPr>
        <p:spPr>
          <a:xfrm>
            <a:off x="6446520" y="5715000"/>
            <a:ext cx="4937760" cy="50292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Eine Suchfunktion gibt /search?q=… ungefiltert wieder aus.</a:t>
            </a:r>
          </a:p>
        </p:txBody>
      </p:sp>
      <p:sp>
        <p:nvSpPr>
          <p:cNvPr id="21" name="VLine"/>
          <p:cNvSpPr>
            <a:spLocks noGrp="1"/>
          </p:cNvSpPr>
          <p:nvPr/>
        </p:nvSpPr>
        <p:spPr>
          <a:xfrm>
            <a:off x="6172200" y="2834640"/>
            <a:ext cx="0" cy="3337560"/>
          </a:xfrm>
          <a:prstGeom prst="line">
            <a:avLst/>
          </a:prstGeom>
          <a:noFill/>
          <a:ln w="12700">
            <a:solidFill>
              <a:srgbClr val="E4E7EC"/>
            </a:solidFill>
            <a:prstDash val="solid"/>
          </a:ln>
        </p:spPr>
        <p:txBody>
          <a:bodyPr/>
          <a:lstStyle/>
          <a:p>
            <a:endParaRPr lang="de-DE"/>
          </a:p>
        </p:txBody>
      </p:sp>
      <p:sp>
        <p:nvSpPr>
          <p:cNvPr id="22" name="Line"/>
          <p:cNvSpPr>
            <a:spLocks noGrp="1"/>
          </p:cNvSpPr>
          <p:nvPr/>
        </p:nvSpPr>
        <p:spPr>
          <a:xfrm>
            <a:off x="868680" y="6217920"/>
            <a:ext cx="10454335" cy="0"/>
          </a:xfrm>
          <a:prstGeom prst="line">
            <a:avLst/>
          </a:prstGeom>
          <a:noFill/>
          <a:ln w="12700">
            <a:solidFill>
              <a:srgbClr val="E4E7EC"/>
            </a:solidFill>
            <a:prstDash val="solid"/>
          </a:ln>
        </p:spPr>
        <p:txBody>
          <a:bodyPr/>
          <a:lstStyle/>
          <a:p>
            <a:endParaRPr lang="de-DE"/>
          </a:p>
        </p:txBody>
      </p:sp>
      <p:sp>
        <p:nvSpPr>
          <p:cNvPr id="23" name="Text"/>
          <p:cNvSpPr>
            <a:spLocks noGrp="1"/>
          </p:cNvSpPr>
          <p:nvPr/>
        </p:nvSpPr>
        <p:spPr>
          <a:xfrm>
            <a:off x="868680" y="6286500"/>
            <a:ext cx="4937760" cy="365760"/>
          </a:xfrm>
          <a:prstGeom prst="rect">
            <a:avLst/>
          </a:prstGeom>
          <a:noFill/>
        </p:spPr>
        <p:txBody>
          <a:bodyPr wrap="square" lIns="0" tIns="0" rIns="0" bIns="0" anchor="ctr">
            <a:spAutoFit/>
          </a:bodyPr>
          <a:lstStyle/>
          <a:p>
            <a:pPr marL="0" indent="0">
              <a:buNone/>
            </a:pPr>
            <a:r>
              <a:rPr lang="de-DE" sz="1500" b="1" dirty="0">
                <a:solidFill>
                  <a:srgbClr val="D23B4E"/>
                </a:solidFill>
                <a:latin typeface="Trebuchet MS"/>
                <a:ea typeface="Trebuchet MS"/>
                <a:cs typeface="Trebuchet MS"/>
              </a:rPr>
              <a:t>Extrem kritisch</a:t>
            </a:r>
            <a:r>
              <a:rPr lang="de-DE" sz="1300" dirty="0">
                <a:solidFill>
                  <a:srgbClr val="55606E"/>
                </a:solidFill>
                <a:latin typeface="Calibri"/>
                <a:ea typeface="Calibri"/>
                <a:cs typeface="Calibri"/>
              </a:rPr>
              <a:t>  ·  autonomer Angriff</a:t>
            </a:r>
          </a:p>
        </p:txBody>
      </p:sp>
      <p:sp>
        <p:nvSpPr>
          <p:cNvPr id="24" name="Text"/>
          <p:cNvSpPr>
            <a:spLocks noGrp="1"/>
          </p:cNvSpPr>
          <p:nvPr/>
        </p:nvSpPr>
        <p:spPr>
          <a:xfrm>
            <a:off x="6446520" y="6286500"/>
            <a:ext cx="4937760" cy="365760"/>
          </a:xfrm>
          <a:prstGeom prst="rect">
            <a:avLst/>
          </a:prstGeom>
          <a:noFill/>
        </p:spPr>
        <p:txBody>
          <a:bodyPr wrap="square" lIns="0" tIns="0" rIns="0" bIns="0" anchor="ctr">
            <a:spAutoFit/>
          </a:bodyPr>
          <a:lstStyle/>
          <a:p>
            <a:pPr marL="0" indent="0">
              <a:buNone/>
            </a:pPr>
            <a:r>
              <a:rPr lang="de-DE" sz="1500" b="1" dirty="0">
                <a:solidFill>
                  <a:srgbClr val="1463FF"/>
                </a:solidFill>
                <a:latin typeface="Trebuchet MS"/>
                <a:ea typeface="Trebuchet MS"/>
                <a:cs typeface="Trebuchet MS"/>
              </a:rPr>
              <a:t>Hoch</a:t>
            </a:r>
            <a:r>
              <a:rPr lang="de-DE" sz="1300" dirty="0">
                <a:solidFill>
                  <a:srgbClr val="55606E"/>
                </a:solidFill>
                <a:latin typeface="Calibri"/>
                <a:ea typeface="Calibri"/>
                <a:cs typeface="Calibri"/>
              </a:rPr>
              <a:t>  ·  erfordert Interaktion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p:cNvSpPr>
            <a:spLocks noGrp="1"/>
          </p:cNvSpPr>
          <p:nvPr/>
        </p:nvSpPr>
        <p:spPr>
          <a:xfrm>
            <a:off x="868680" y="502920"/>
            <a:ext cx="8229600" cy="274320"/>
          </a:xfrm>
          <a:prstGeom prst="rect">
            <a:avLst/>
          </a:prstGeom>
          <a:noFill/>
        </p:spPr>
        <p:txBody>
          <a:bodyPr wrap="square" lIns="0" tIns="0" rIns="0" bIns="0" anchor="ctr">
            <a:spAutoFit/>
          </a:bodyPr>
          <a:lstStyle/>
          <a:p>
            <a:pPr marL="0" indent="0">
              <a:buNone/>
            </a:pPr>
            <a:r>
              <a:rPr lang="de-DE" sz="1050" b="1" spc="100" dirty="0">
                <a:solidFill>
                  <a:srgbClr val="9AA3AF"/>
                </a:solidFill>
                <a:latin typeface="Calibri"/>
                <a:ea typeface="Calibri"/>
                <a:cs typeface="Calibri"/>
              </a:rPr>
              <a:t>SONDERFALL · CROSS-SITE SCRIPTING</a:t>
            </a:r>
          </a:p>
        </p:txBody>
      </p:sp>
      <p:sp>
        <p:nvSpPr>
          <p:cNvPr id="3" name="Text"/>
          <p:cNvSpPr>
            <a:spLocks noGrp="1"/>
          </p:cNvSpPr>
          <p:nvPr/>
        </p:nvSpPr>
        <p:spPr>
          <a:xfrm>
            <a:off x="868680" y="1051560"/>
            <a:ext cx="10424160" cy="777240"/>
          </a:xfrm>
          <a:prstGeom prst="rect">
            <a:avLst/>
          </a:prstGeom>
          <a:noFill/>
        </p:spPr>
        <p:txBody>
          <a:bodyPr wrap="square" lIns="0" tIns="0" rIns="0" bIns="0" anchor="ctr">
            <a:spAutoFit/>
          </a:bodyPr>
          <a:lstStyle/>
          <a:p>
            <a:pPr marL="0" indent="0">
              <a:buNone/>
            </a:pPr>
            <a:r>
              <a:rPr lang="de-DE" sz="4000" b="1" dirty="0">
                <a:solidFill>
                  <a:srgbClr val="16181D"/>
                </a:solidFill>
                <a:latin typeface="Trebuchet MS"/>
                <a:ea typeface="Trebuchet MS"/>
                <a:cs typeface="Trebuchet MS"/>
              </a:rPr>
              <a:t>DOM-XSS und der </a:t>
            </a:r>
            <a:r>
              <a:rPr lang="de-DE" sz="4000" b="1" dirty="0">
                <a:solidFill>
                  <a:srgbClr val="1463FF"/>
                </a:solidFill>
                <a:latin typeface="Trebuchet MS"/>
                <a:ea typeface="Trebuchet MS"/>
                <a:cs typeface="Trebuchet MS"/>
              </a:rPr>
              <a:t>hybride Sonderfall</a:t>
            </a:r>
          </a:p>
        </p:txBody>
      </p:sp>
      <p:sp>
        <p:nvSpPr>
          <p:cNvPr id="4" name="Text"/>
          <p:cNvSpPr>
            <a:spLocks noGrp="1"/>
          </p:cNvSpPr>
          <p:nvPr/>
        </p:nvSpPr>
        <p:spPr>
          <a:xfrm>
            <a:off x="868680" y="2148840"/>
            <a:ext cx="10241280" cy="640080"/>
          </a:xfrm>
          <a:prstGeom prst="rect">
            <a:avLst/>
          </a:prstGeom>
          <a:noFill/>
        </p:spPr>
        <p:txBody>
          <a:bodyPr wrap="square" lIns="0" tIns="0" rIns="0" bIns="0" anchor="ctr">
            <a:spAutoFit/>
          </a:bodyPr>
          <a:lstStyle/>
          <a:p>
            <a:pPr marL="0" indent="0">
              <a:buNone/>
            </a:pPr>
            <a:r>
              <a:rPr lang="de-DE" sz="1700" dirty="0">
                <a:solidFill>
                  <a:srgbClr val="55606E"/>
                </a:solidFill>
                <a:latin typeface="Calibri"/>
                <a:ea typeface="Calibri"/>
                <a:cs typeface="Calibri"/>
              </a:rPr>
              <a:t>Beim DOM-basierten XSS verarbeitet ausschließlich der clientseitige JavaScript-Code die Daten unsicher.</a:t>
            </a:r>
          </a:p>
        </p:txBody>
      </p:sp>
      <p:sp>
        <p:nvSpPr>
          <p:cNvPr id="5" name="PageNum"/>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a:ea typeface="Calibri"/>
                <a:cs typeface="Calibri"/>
              </a:rPr>
              <a:t>0</a:t>
            </a:r>
            <a:fld id="{B45D24B6-C78C-43F1-9D4F-88F7B48373A8}" type="slidenum">
              <a:rPr lang="en-US" sz="1050" b="1" kern="0" spc="100" smtClean="0">
                <a:solidFill>
                  <a:srgbClr val="9AA3AF"/>
                </a:solidFill>
                <a:latin typeface="Calibri"/>
                <a:ea typeface="Calibri"/>
                <a:cs typeface="Calibri"/>
              </a:rPr>
              <a:t>6</a:t>
            </a:fld>
            <a:endParaRPr lang="en-US" sz="1050" dirty="0"/>
          </a:p>
        </p:txBody>
      </p:sp>
      <p:sp>
        <p:nvSpPr>
          <p:cNvPr id="6" name="Text"/>
          <p:cNvSpPr>
            <a:spLocks noGrp="1"/>
          </p:cNvSpPr>
          <p:nvPr/>
        </p:nvSpPr>
        <p:spPr>
          <a:xfrm>
            <a:off x="868680" y="3017520"/>
            <a:ext cx="4937760" cy="274320"/>
          </a:xfrm>
          <a:prstGeom prst="rect">
            <a:avLst/>
          </a:prstGeom>
          <a:noFill/>
        </p:spPr>
        <p:txBody>
          <a:bodyPr wrap="square" lIns="0" tIns="0" rIns="0" bIns="0" anchor="ctr">
            <a:spAutoFit/>
          </a:bodyPr>
          <a:lstStyle/>
          <a:p>
            <a:pPr marL="0" indent="0">
              <a:buNone/>
            </a:pPr>
            <a:r>
              <a:rPr lang="de-DE" sz="1150" b="1" dirty="0">
                <a:solidFill>
                  <a:srgbClr val="1463FF"/>
                </a:solidFill>
                <a:latin typeface="Calibri"/>
                <a:ea typeface="Calibri"/>
                <a:cs typeface="Calibri"/>
              </a:rPr>
              <a:t>WAS IST DOM-BASIERTES XSS?</a:t>
            </a:r>
          </a:p>
        </p:txBody>
      </p:sp>
      <p:sp>
        <p:nvSpPr>
          <p:cNvPr id="7" name="Text"/>
          <p:cNvSpPr>
            <a:spLocks noGrp="1"/>
          </p:cNvSpPr>
          <p:nvPr/>
        </p:nvSpPr>
        <p:spPr>
          <a:xfrm>
            <a:off x="868680" y="3474720"/>
            <a:ext cx="4937760" cy="960120"/>
          </a:xfrm>
          <a:prstGeom prst="rect">
            <a:avLst/>
          </a:prstGeom>
          <a:noFill/>
        </p:spPr>
        <p:txBody>
          <a:bodyPr wrap="square" lIns="0" tIns="0" rIns="0" bIns="0" anchor="t">
            <a:spAutoFit/>
          </a:bodyPr>
          <a:lstStyle/>
          <a:p>
            <a:pPr marL="0" indent="0">
              <a:buNone/>
            </a:pPr>
            <a:r>
              <a:rPr lang="de-DE" sz="1500" dirty="0">
                <a:solidFill>
                  <a:srgbClr val="55606E"/>
                </a:solidFill>
                <a:latin typeface="Calibri"/>
                <a:ea typeface="Calibri"/>
                <a:cs typeface="Calibri"/>
              </a:rPr>
              <a:t>Die Payload erreicht nicht zwingend den Server, sondern wird direkt im Browser verarbeitet. Eine einzige unsichere Senke im JavaScript genügt.</a:t>
            </a:r>
          </a:p>
        </p:txBody>
      </p:sp>
      <p:sp>
        <p:nvSpPr>
          <p:cNvPr id="8" name="VLine"/>
          <p:cNvSpPr>
            <a:spLocks noGrp="1"/>
          </p:cNvSpPr>
          <p:nvPr/>
        </p:nvSpPr>
        <p:spPr>
          <a:xfrm>
            <a:off x="6172200" y="2926080"/>
            <a:ext cx="0" cy="2925480"/>
          </a:xfrm>
          <a:prstGeom prst="line">
            <a:avLst/>
          </a:prstGeom>
          <a:noFill/>
          <a:ln w="12700">
            <a:solidFill>
              <a:srgbClr val="E4E7EC"/>
            </a:solidFill>
            <a:prstDash val="solid"/>
          </a:ln>
        </p:spPr>
        <p:txBody>
          <a:bodyPr/>
          <a:lstStyle/>
          <a:p>
            <a:endParaRPr lang="de-DE"/>
          </a:p>
        </p:txBody>
      </p:sp>
      <p:sp>
        <p:nvSpPr>
          <p:cNvPr id="9" name="Text"/>
          <p:cNvSpPr>
            <a:spLocks noGrp="1"/>
          </p:cNvSpPr>
          <p:nvPr/>
        </p:nvSpPr>
        <p:spPr>
          <a:xfrm>
            <a:off x="6446520" y="3017520"/>
            <a:ext cx="4937760" cy="274320"/>
          </a:xfrm>
          <a:prstGeom prst="rect">
            <a:avLst/>
          </a:prstGeom>
          <a:noFill/>
        </p:spPr>
        <p:txBody>
          <a:bodyPr wrap="square" lIns="0" tIns="0" rIns="0" bIns="0" anchor="ctr">
            <a:spAutoFit/>
          </a:bodyPr>
          <a:lstStyle/>
          <a:p>
            <a:pPr marL="0" indent="0">
              <a:buNone/>
            </a:pPr>
            <a:r>
              <a:rPr lang="de-DE" sz="1150" b="1" dirty="0">
                <a:solidFill>
                  <a:srgbClr val="D23B4E"/>
                </a:solidFill>
                <a:latin typeface="Calibri"/>
                <a:ea typeface="Calibri"/>
                <a:cs typeface="Calibri"/>
              </a:rPr>
              <a:t>DER SCHEDULER-FALL · STORED DOM XSS</a:t>
            </a:r>
          </a:p>
        </p:txBody>
      </p:sp>
      <p:sp>
        <p:nvSpPr>
          <p:cNvPr id="10" name="Text"/>
          <p:cNvSpPr>
            <a:spLocks noGrp="1"/>
          </p:cNvSpPr>
          <p:nvPr/>
        </p:nvSpPr>
        <p:spPr>
          <a:xfrm>
            <a:off x="6446520" y="3520440"/>
            <a:ext cx="4937760" cy="365760"/>
          </a:xfrm>
          <a:prstGeom prst="rect">
            <a:avLst/>
          </a:prstGeom>
          <a:noFill/>
        </p:spPr>
        <p:txBody>
          <a:bodyPr wrap="square" lIns="0" tIns="0" rIns="0" bIns="0" anchor="ctr">
            <a:spAutoFit/>
          </a:bodyPr>
          <a:lstStyle/>
          <a:p>
            <a:pPr marL="0" indent="0">
              <a:buNone/>
            </a:pPr>
            <a:r>
              <a:rPr lang="de-DE" sz="1500" b="1" dirty="0">
                <a:solidFill>
                  <a:srgbClr val="16181D"/>
                </a:solidFill>
                <a:latin typeface="Trebuchet MS"/>
                <a:ea typeface="Trebuchet MS"/>
                <a:cs typeface="Trebuchet MS"/>
              </a:rPr>
              <a:t>Stored</a:t>
            </a:r>
          </a:p>
        </p:txBody>
      </p:sp>
      <p:sp>
        <p:nvSpPr>
          <p:cNvPr id="11" name="Text"/>
          <p:cNvSpPr>
            <a:spLocks noGrp="1"/>
          </p:cNvSpPr>
          <p:nvPr/>
        </p:nvSpPr>
        <p:spPr>
          <a:xfrm>
            <a:off x="6446520" y="3886200"/>
            <a:ext cx="4937760" cy="365760"/>
          </a:xfrm>
          <a:prstGeom prst="rect">
            <a:avLst/>
          </a:prstGeom>
          <a:noFill/>
        </p:spPr>
        <p:txBody>
          <a:bodyPr wrap="square" lIns="0" tIns="0" rIns="0" bIns="0" anchor="t">
            <a:spAutoFit/>
          </a:bodyPr>
          <a:lstStyle/>
          <a:p>
            <a:pPr marL="0" indent="0">
              <a:buNone/>
            </a:pPr>
            <a:r>
              <a:rPr lang="de-DE" sz="1250" dirty="0">
                <a:solidFill>
                  <a:srgbClr val="55606E"/>
                </a:solidFill>
                <a:latin typeface="Calibri"/>
                <a:ea typeface="Calibri"/>
                <a:cs typeface="Calibri"/>
              </a:rPr>
              <a:t>Payload wird persistent in der Scheduler-Datenbank abgelegt.</a:t>
            </a:r>
          </a:p>
        </p:txBody>
      </p:sp>
      <p:sp>
        <p:nvSpPr>
          <p:cNvPr id="12" name="Text"/>
          <p:cNvSpPr>
            <a:spLocks noGrp="1"/>
          </p:cNvSpPr>
          <p:nvPr/>
        </p:nvSpPr>
        <p:spPr>
          <a:xfrm>
            <a:off x="6446520" y="4251960"/>
            <a:ext cx="4937760" cy="365760"/>
          </a:xfrm>
          <a:prstGeom prst="rect">
            <a:avLst/>
          </a:prstGeom>
          <a:noFill/>
        </p:spPr>
        <p:txBody>
          <a:bodyPr wrap="square" lIns="0" tIns="0" rIns="0" bIns="0" anchor="ctr">
            <a:spAutoFit/>
          </a:bodyPr>
          <a:lstStyle/>
          <a:p>
            <a:pPr marL="0" indent="0">
              <a:buNone/>
            </a:pPr>
            <a:r>
              <a:rPr lang="de-DE" sz="1500" b="1" dirty="0">
                <a:solidFill>
                  <a:srgbClr val="16181D"/>
                </a:solidFill>
                <a:latin typeface="Trebuchet MS"/>
                <a:ea typeface="Trebuchet MS"/>
                <a:cs typeface="Trebuchet MS"/>
              </a:rPr>
              <a:t>DOM-basiert</a:t>
            </a:r>
          </a:p>
        </p:txBody>
      </p:sp>
      <p:sp>
        <p:nvSpPr>
          <p:cNvPr id="13" name="Text"/>
          <p:cNvSpPr>
            <a:spLocks noGrp="1"/>
          </p:cNvSpPr>
          <p:nvPr/>
        </p:nvSpPr>
        <p:spPr>
          <a:xfrm>
            <a:off x="6446520" y="4617720"/>
            <a:ext cx="4937760" cy="365760"/>
          </a:xfrm>
          <a:prstGeom prst="rect">
            <a:avLst/>
          </a:prstGeom>
          <a:noFill/>
        </p:spPr>
        <p:txBody>
          <a:bodyPr wrap="square" lIns="0" tIns="0" rIns="0" bIns="0" anchor="t">
            <a:spAutoFit/>
          </a:bodyPr>
          <a:lstStyle/>
          <a:p>
            <a:pPr marL="0" indent="0">
              <a:buNone/>
            </a:pPr>
            <a:r>
              <a:rPr lang="de-DE" sz="1250" dirty="0">
                <a:solidFill>
                  <a:srgbClr val="55606E"/>
                </a:solidFill>
                <a:latin typeface="Calibri"/>
                <a:ea typeface="Calibri"/>
                <a:cs typeface="Calibri"/>
              </a:rPr>
              <a:t>vue-cal liest die Daten beim Rendern und fügt sie ungesichert ins DOM ein.</a:t>
            </a:r>
          </a:p>
        </p:txBody>
      </p:sp>
      <p:sp>
        <p:nvSpPr>
          <p:cNvPr id="14" name="Text"/>
          <p:cNvSpPr>
            <a:spLocks noGrp="1"/>
          </p:cNvSpPr>
          <p:nvPr/>
        </p:nvSpPr>
        <p:spPr>
          <a:xfrm>
            <a:off x="6446520" y="4983480"/>
            <a:ext cx="4937760" cy="320040"/>
          </a:xfrm>
          <a:prstGeom prst="rect">
            <a:avLst/>
          </a:prstGeom>
          <a:noFill/>
        </p:spPr>
        <p:txBody>
          <a:bodyPr wrap="square" lIns="0" tIns="0" rIns="0" bIns="0" anchor="ctr">
            <a:spAutoFit/>
          </a:bodyPr>
          <a:lstStyle/>
          <a:p>
            <a:pPr marL="0" indent="0">
              <a:buNone/>
            </a:pPr>
            <a:r>
              <a:rPr lang="de-DE" sz="1300" dirty="0">
                <a:solidFill>
                  <a:srgbClr val="16181D"/>
                </a:solidFill>
                <a:latin typeface="Consolas"/>
                <a:ea typeface="Consolas"/>
                <a:cs typeface="Consolas"/>
              </a:rPr>
              <a:t>innerHTML</a:t>
            </a:r>
            <a:r>
              <a:rPr lang="de-DE" sz="1200" i="1" dirty="0">
                <a:solidFill>
                  <a:srgbClr val="D23B4E"/>
                </a:solidFill>
                <a:latin typeface="Calibri"/>
                <a:ea typeface="Calibri"/>
                <a:cs typeface="Calibri"/>
              </a:rPr>
              <a:t>   →  Stored + DOM verschmelzen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p:cNvSpPr>
            <a:spLocks noGrp="1"/>
          </p:cNvSpPr>
          <p:nvPr/>
        </p:nvSpPr>
        <p:spPr>
          <a:xfrm>
            <a:off x="868680" y="502920"/>
            <a:ext cx="8229600" cy="274320"/>
          </a:xfrm>
          <a:prstGeom prst="rect">
            <a:avLst/>
          </a:prstGeom>
          <a:noFill/>
        </p:spPr>
        <p:txBody>
          <a:bodyPr wrap="square" lIns="0" tIns="0" rIns="0" bIns="0" anchor="ctr">
            <a:spAutoFit/>
          </a:bodyPr>
          <a:lstStyle/>
          <a:p>
            <a:pPr marL="0" indent="0">
              <a:buNone/>
            </a:pPr>
            <a:r>
              <a:rPr lang="de-DE" sz="1050" b="1" spc="100" dirty="0">
                <a:solidFill>
                  <a:srgbClr val="9AA3AF"/>
                </a:solidFill>
                <a:latin typeface="Calibri"/>
                <a:ea typeface="Calibri"/>
                <a:cs typeface="Calibri"/>
              </a:rPr>
              <a:t>QUELLEN &amp; SENKEN · CROSS-SITE SCRIPTING</a:t>
            </a:r>
          </a:p>
        </p:txBody>
      </p:sp>
      <p:sp>
        <p:nvSpPr>
          <p:cNvPr id="3" name="Text"/>
          <p:cNvSpPr>
            <a:spLocks noGrp="1"/>
          </p:cNvSpPr>
          <p:nvPr/>
        </p:nvSpPr>
        <p:spPr>
          <a:xfrm>
            <a:off x="868680" y="1051560"/>
            <a:ext cx="10424160" cy="777240"/>
          </a:xfrm>
          <a:prstGeom prst="rect">
            <a:avLst/>
          </a:prstGeom>
          <a:noFill/>
        </p:spPr>
        <p:txBody>
          <a:bodyPr wrap="square" lIns="0" tIns="0" rIns="0" bIns="0" anchor="ctr">
            <a:spAutoFit/>
          </a:bodyPr>
          <a:lstStyle/>
          <a:p>
            <a:pPr marL="0" indent="0">
              <a:buNone/>
            </a:pPr>
            <a:r>
              <a:rPr lang="de-DE" sz="4000" b="1" dirty="0">
                <a:solidFill>
                  <a:srgbClr val="16181D"/>
                </a:solidFill>
                <a:latin typeface="Trebuchet MS"/>
                <a:ea typeface="Trebuchet MS"/>
                <a:cs typeface="Trebuchet MS"/>
              </a:rPr>
              <a:t>Quellen und Senken</a:t>
            </a:r>
          </a:p>
        </p:txBody>
      </p:sp>
      <p:sp>
        <p:nvSpPr>
          <p:cNvPr id="4" name="Text"/>
          <p:cNvSpPr>
            <a:spLocks noGrp="1"/>
          </p:cNvSpPr>
          <p:nvPr/>
        </p:nvSpPr>
        <p:spPr>
          <a:xfrm>
            <a:off x="868680" y="1920240"/>
            <a:ext cx="10241280" cy="640080"/>
          </a:xfrm>
          <a:prstGeom prst="rect">
            <a:avLst/>
          </a:prstGeom>
          <a:noFill/>
        </p:spPr>
        <p:txBody>
          <a:bodyPr wrap="square" lIns="0" tIns="0" rIns="0" bIns="0" anchor="ctr">
            <a:spAutoFit/>
          </a:bodyPr>
          <a:lstStyle/>
          <a:p>
            <a:pPr marL="0" indent="0">
              <a:buNone/>
            </a:pPr>
            <a:r>
              <a:rPr lang="de-DE" sz="1700" dirty="0">
                <a:solidFill>
                  <a:srgbClr val="55606E"/>
                </a:solidFill>
                <a:latin typeface="Calibri"/>
                <a:ea typeface="Calibri"/>
                <a:cs typeface="Calibri"/>
              </a:rPr>
              <a:t>Ein Angriff entsteht, wenn Daten aus einer kontrollierbaren Quelle ungeprüft in eine ausführende Senke fließen.</a:t>
            </a:r>
          </a:p>
        </p:txBody>
      </p:sp>
      <p:sp>
        <p:nvSpPr>
          <p:cNvPr id="5" name="PageNum"/>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a:ea typeface="Calibri"/>
                <a:cs typeface="Calibri"/>
              </a:rPr>
              <a:t>0</a:t>
            </a:r>
            <a:fld id="{B45D24B6-C78C-43F1-9D4F-88F7B48373A8}" type="slidenum">
              <a:rPr lang="en-US" sz="1050" b="1" kern="0" spc="100" smtClean="0">
                <a:solidFill>
                  <a:srgbClr val="9AA3AF"/>
                </a:solidFill>
                <a:latin typeface="Calibri"/>
                <a:ea typeface="Calibri"/>
                <a:cs typeface="Calibri"/>
              </a:rPr>
              <a:t>7</a:t>
            </a:fld>
            <a:endParaRPr lang="en-US" sz="1050" dirty="0"/>
          </a:p>
        </p:txBody>
      </p:sp>
      <p:sp>
        <p:nvSpPr>
          <p:cNvPr id="6" name="VLine"/>
          <p:cNvSpPr>
            <a:spLocks noGrp="1"/>
          </p:cNvSpPr>
          <p:nvPr/>
        </p:nvSpPr>
        <p:spPr>
          <a:xfrm>
            <a:off x="6172200" y="2926080"/>
            <a:ext cx="0" cy="2880360"/>
          </a:xfrm>
          <a:prstGeom prst="line">
            <a:avLst/>
          </a:prstGeom>
          <a:noFill/>
          <a:ln w="12700">
            <a:solidFill>
              <a:srgbClr val="E4E7EC"/>
            </a:solidFill>
            <a:prstDash val="solid"/>
          </a:ln>
        </p:spPr>
        <p:txBody>
          <a:bodyPr/>
          <a:lstStyle/>
          <a:p>
            <a:endParaRPr lang="de-DE"/>
          </a:p>
        </p:txBody>
      </p:sp>
      <p:sp>
        <p:nvSpPr>
          <p:cNvPr id="7" name="Text"/>
          <p:cNvSpPr>
            <a:spLocks noGrp="1"/>
          </p:cNvSpPr>
          <p:nvPr/>
        </p:nvSpPr>
        <p:spPr>
          <a:xfrm>
            <a:off x="868680" y="2971800"/>
            <a:ext cx="4937760" cy="320040"/>
          </a:xfrm>
          <a:prstGeom prst="rect">
            <a:avLst/>
          </a:prstGeom>
          <a:noFill/>
        </p:spPr>
        <p:txBody>
          <a:bodyPr wrap="square" lIns="0" tIns="0" rIns="0" bIns="0" anchor="ctr">
            <a:spAutoFit/>
          </a:bodyPr>
          <a:lstStyle/>
          <a:p>
            <a:pPr marL="0" indent="0">
              <a:buNone/>
            </a:pPr>
            <a:r>
              <a:rPr lang="de-DE" sz="1300" b="1" spc="80" dirty="0">
                <a:solidFill>
                  <a:srgbClr val="1463FF"/>
                </a:solidFill>
                <a:latin typeface="Calibri"/>
                <a:ea typeface="Calibri"/>
                <a:cs typeface="Calibri"/>
              </a:rPr>
              <a:t>QUELLEN</a:t>
            </a:r>
            <a:r>
              <a:rPr lang="de-DE" sz="1300" dirty="0">
                <a:solidFill>
                  <a:srgbClr val="9AA3AF"/>
                </a:solidFill>
                <a:latin typeface="Calibri"/>
                <a:ea typeface="Calibri"/>
                <a:cs typeface="Calibri"/>
              </a:rPr>
              <a:t>   Sources</a:t>
            </a:r>
          </a:p>
        </p:txBody>
      </p:sp>
      <p:sp>
        <p:nvSpPr>
          <p:cNvPr id="8" name="Text"/>
          <p:cNvSpPr>
            <a:spLocks noGrp="1"/>
          </p:cNvSpPr>
          <p:nvPr/>
        </p:nvSpPr>
        <p:spPr>
          <a:xfrm>
            <a:off x="868680" y="3337560"/>
            <a:ext cx="4937760" cy="274320"/>
          </a:xfrm>
          <a:prstGeom prst="rect">
            <a:avLst/>
          </a:prstGeom>
          <a:noFill/>
        </p:spPr>
        <p:txBody>
          <a:bodyPr wrap="square" lIns="0" tIns="0" rIns="0" bIns="0" anchor="ctr">
            <a:spAutoFit/>
          </a:bodyPr>
          <a:lstStyle/>
          <a:p>
            <a:pPr marL="0" indent="0">
              <a:buNone/>
            </a:pPr>
            <a:r>
              <a:rPr lang="de-DE" sz="1250" dirty="0">
                <a:solidFill>
                  <a:srgbClr val="55606E"/>
                </a:solidFill>
                <a:latin typeface="Calibri"/>
                <a:ea typeface="Calibri"/>
                <a:cs typeface="Calibri"/>
              </a:rPr>
              <a:t>Wo ein Angreifer die Kontrolle über Datenwerte erlangt:</a:t>
            </a:r>
          </a:p>
        </p:txBody>
      </p:sp>
      <p:sp>
        <p:nvSpPr>
          <p:cNvPr id="9" name="Text"/>
          <p:cNvSpPr>
            <a:spLocks noGrp="1"/>
          </p:cNvSpPr>
          <p:nvPr/>
        </p:nvSpPr>
        <p:spPr>
          <a:xfrm>
            <a:off x="868680" y="3794760"/>
            <a:ext cx="4937760" cy="292608"/>
          </a:xfrm>
          <a:prstGeom prst="rect">
            <a:avLst/>
          </a:prstGeom>
          <a:noFill/>
        </p:spPr>
        <p:txBody>
          <a:bodyPr wrap="square" lIns="0" tIns="0" rIns="0" bIns="0" anchor="ctr">
            <a:spAutoFit/>
          </a:bodyPr>
          <a:lstStyle/>
          <a:p>
            <a:pPr marL="0" indent="0">
              <a:buNone/>
            </a:pPr>
            <a:r>
              <a:rPr lang="de-DE" sz="1250" dirty="0">
                <a:solidFill>
                  <a:srgbClr val="16181D"/>
                </a:solidFill>
                <a:latin typeface="Consolas"/>
                <a:ea typeface="Consolas"/>
                <a:cs typeface="Consolas"/>
              </a:rPr>
              <a:t>Datenbank-Payloads</a:t>
            </a:r>
          </a:p>
        </p:txBody>
      </p:sp>
      <p:sp>
        <p:nvSpPr>
          <p:cNvPr id="10" name="Text"/>
          <p:cNvSpPr>
            <a:spLocks noGrp="1"/>
          </p:cNvSpPr>
          <p:nvPr/>
        </p:nvSpPr>
        <p:spPr>
          <a:xfrm>
            <a:off x="868680" y="4069080"/>
            <a:ext cx="4937760" cy="228600"/>
          </a:xfrm>
          <a:prstGeom prst="rect">
            <a:avLst/>
          </a:prstGeom>
          <a:noFill/>
        </p:spPr>
        <p:txBody>
          <a:bodyPr wrap="square" lIns="0" tIns="0" rIns="0" bIns="0" anchor="ctr">
            <a:spAutoFit/>
          </a:bodyPr>
          <a:lstStyle/>
          <a:p>
            <a:pPr marL="0" indent="0">
              <a:buNone/>
            </a:pPr>
            <a:r>
              <a:rPr lang="de-DE" sz="1100" i="1" dirty="0">
                <a:solidFill>
                  <a:srgbClr val="9AA3AF"/>
                </a:solidFill>
                <a:latin typeface="Calibri"/>
                <a:ea typeface="Calibri"/>
                <a:cs typeface="Calibri"/>
              </a:rPr>
              <a:t>im Scheduler persistent hinterlegt</a:t>
            </a:r>
          </a:p>
        </p:txBody>
      </p:sp>
      <p:sp>
        <p:nvSpPr>
          <p:cNvPr id="11" name="Text"/>
          <p:cNvSpPr>
            <a:spLocks noGrp="1"/>
          </p:cNvSpPr>
          <p:nvPr/>
        </p:nvSpPr>
        <p:spPr>
          <a:xfrm>
            <a:off x="868680" y="4389120"/>
            <a:ext cx="4937760" cy="292608"/>
          </a:xfrm>
          <a:prstGeom prst="rect">
            <a:avLst/>
          </a:prstGeom>
          <a:noFill/>
        </p:spPr>
        <p:txBody>
          <a:bodyPr wrap="square" lIns="0" tIns="0" rIns="0" bIns="0" anchor="ctr">
            <a:spAutoFit/>
          </a:bodyPr>
          <a:lstStyle/>
          <a:p>
            <a:pPr marL="0" indent="0">
              <a:buNone/>
            </a:pPr>
            <a:r>
              <a:rPr lang="de-DE" sz="1250" dirty="0">
                <a:solidFill>
                  <a:srgbClr val="16181D"/>
                </a:solidFill>
                <a:latin typeface="Consolas"/>
                <a:ea typeface="Consolas"/>
                <a:cs typeface="Consolas"/>
              </a:rPr>
              <a:t>location.search / .hash</a:t>
            </a:r>
          </a:p>
        </p:txBody>
      </p:sp>
      <p:sp>
        <p:nvSpPr>
          <p:cNvPr id="12" name="Text"/>
          <p:cNvSpPr>
            <a:spLocks noGrp="1"/>
          </p:cNvSpPr>
          <p:nvPr/>
        </p:nvSpPr>
        <p:spPr>
          <a:xfrm>
            <a:off x="868680" y="4663440"/>
            <a:ext cx="4937760" cy="228600"/>
          </a:xfrm>
          <a:prstGeom prst="rect">
            <a:avLst/>
          </a:prstGeom>
          <a:noFill/>
        </p:spPr>
        <p:txBody>
          <a:bodyPr wrap="square" lIns="0" tIns="0" rIns="0" bIns="0" anchor="ctr">
            <a:spAutoFit/>
          </a:bodyPr>
          <a:lstStyle/>
          <a:p>
            <a:pPr marL="0" indent="0">
              <a:buNone/>
            </a:pPr>
            <a:r>
              <a:rPr lang="de-DE" sz="1100" i="1" dirty="0">
                <a:solidFill>
                  <a:srgbClr val="9AA3AF"/>
                </a:solidFill>
                <a:latin typeface="Calibri"/>
                <a:ea typeface="Calibri"/>
                <a:cs typeface="Calibri"/>
              </a:rPr>
              <a:t>URL- und Location-Parameter</a:t>
            </a:r>
          </a:p>
        </p:txBody>
      </p:sp>
      <p:sp>
        <p:nvSpPr>
          <p:cNvPr id="13" name="Text"/>
          <p:cNvSpPr>
            <a:spLocks noGrp="1"/>
          </p:cNvSpPr>
          <p:nvPr/>
        </p:nvSpPr>
        <p:spPr>
          <a:xfrm>
            <a:off x="868680" y="4983480"/>
            <a:ext cx="4937760" cy="292608"/>
          </a:xfrm>
          <a:prstGeom prst="rect">
            <a:avLst/>
          </a:prstGeom>
          <a:noFill/>
        </p:spPr>
        <p:txBody>
          <a:bodyPr wrap="square" lIns="0" tIns="0" rIns="0" bIns="0" anchor="ctr">
            <a:spAutoFit/>
          </a:bodyPr>
          <a:lstStyle/>
          <a:p>
            <a:pPr marL="0" indent="0">
              <a:buNone/>
            </a:pPr>
            <a:r>
              <a:rPr lang="de-DE" sz="1250" dirty="0">
                <a:solidFill>
                  <a:srgbClr val="16181D"/>
                </a:solidFill>
                <a:latin typeface="Consolas"/>
                <a:ea typeface="Consolas"/>
                <a:cs typeface="Consolas"/>
              </a:rPr>
              <a:t>window.name / PostMessage</a:t>
            </a:r>
          </a:p>
        </p:txBody>
      </p:sp>
      <p:sp>
        <p:nvSpPr>
          <p:cNvPr id="14" name="Text"/>
          <p:cNvSpPr>
            <a:spLocks noGrp="1"/>
          </p:cNvSpPr>
          <p:nvPr/>
        </p:nvSpPr>
        <p:spPr>
          <a:xfrm>
            <a:off x="868680" y="5257800"/>
            <a:ext cx="4937760" cy="228600"/>
          </a:xfrm>
          <a:prstGeom prst="rect">
            <a:avLst/>
          </a:prstGeom>
          <a:noFill/>
        </p:spPr>
        <p:txBody>
          <a:bodyPr wrap="square" lIns="0" tIns="0" rIns="0" bIns="0" anchor="ctr">
            <a:spAutoFit/>
          </a:bodyPr>
          <a:lstStyle/>
          <a:p>
            <a:pPr marL="0" indent="0">
              <a:buNone/>
            </a:pPr>
            <a:r>
              <a:rPr lang="de-DE" sz="1100" i="1" dirty="0">
                <a:solidFill>
                  <a:srgbClr val="9AA3AF"/>
                </a:solidFill>
                <a:latin typeface="Calibri"/>
                <a:ea typeface="Calibri"/>
                <a:cs typeface="Calibri"/>
              </a:rPr>
              <a:t>Cross-Window-Kommunikation</a:t>
            </a:r>
          </a:p>
        </p:txBody>
      </p:sp>
      <p:sp>
        <p:nvSpPr>
          <p:cNvPr id="15" name="Text"/>
          <p:cNvSpPr>
            <a:spLocks noGrp="1"/>
          </p:cNvSpPr>
          <p:nvPr/>
        </p:nvSpPr>
        <p:spPr>
          <a:xfrm>
            <a:off x="6446520" y="2971800"/>
            <a:ext cx="4937760" cy="320040"/>
          </a:xfrm>
          <a:prstGeom prst="rect">
            <a:avLst/>
          </a:prstGeom>
          <a:noFill/>
        </p:spPr>
        <p:txBody>
          <a:bodyPr wrap="square" lIns="0" tIns="0" rIns="0" bIns="0" anchor="ctr">
            <a:spAutoFit/>
          </a:bodyPr>
          <a:lstStyle/>
          <a:p>
            <a:pPr marL="0" indent="0">
              <a:buNone/>
            </a:pPr>
            <a:r>
              <a:rPr lang="de-DE" sz="1300" b="1" spc="80" dirty="0">
                <a:solidFill>
                  <a:srgbClr val="D23B4E"/>
                </a:solidFill>
                <a:latin typeface="Calibri"/>
                <a:ea typeface="Calibri"/>
                <a:cs typeface="Calibri"/>
              </a:rPr>
              <a:t>SENKEN</a:t>
            </a:r>
            <a:r>
              <a:rPr lang="de-DE" sz="1300" dirty="0">
                <a:solidFill>
                  <a:srgbClr val="9AA3AF"/>
                </a:solidFill>
                <a:latin typeface="Calibri"/>
                <a:ea typeface="Calibri"/>
                <a:cs typeface="Calibri"/>
              </a:rPr>
              <a:t>   Sinks</a:t>
            </a:r>
          </a:p>
        </p:txBody>
      </p:sp>
      <p:sp>
        <p:nvSpPr>
          <p:cNvPr id="16" name="Text"/>
          <p:cNvSpPr>
            <a:spLocks noGrp="1"/>
          </p:cNvSpPr>
          <p:nvPr/>
        </p:nvSpPr>
        <p:spPr>
          <a:xfrm>
            <a:off x="6446520" y="3337560"/>
            <a:ext cx="4937760" cy="274320"/>
          </a:xfrm>
          <a:prstGeom prst="rect">
            <a:avLst/>
          </a:prstGeom>
          <a:noFill/>
        </p:spPr>
        <p:txBody>
          <a:bodyPr wrap="square" lIns="0" tIns="0" rIns="0" bIns="0" anchor="ctr">
            <a:spAutoFit/>
          </a:bodyPr>
          <a:lstStyle/>
          <a:p>
            <a:pPr marL="0" indent="0">
              <a:buNone/>
            </a:pPr>
            <a:r>
              <a:rPr lang="de-DE" sz="1250" dirty="0">
                <a:solidFill>
                  <a:srgbClr val="55606E"/>
                </a:solidFill>
                <a:latin typeface="Calibri"/>
                <a:ea typeface="Calibri"/>
                <a:cs typeface="Calibri"/>
              </a:rPr>
              <a:t>Wo übergebener Text als Code interpretiert wird:</a:t>
            </a:r>
          </a:p>
        </p:txBody>
      </p:sp>
      <p:sp>
        <p:nvSpPr>
          <p:cNvPr id="17" name="Text"/>
          <p:cNvSpPr>
            <a:spLocks noGrp="1"/>
          </p:cNvSpPr>
          <p:nvPr/>
        </p:nvSpPr>
        <p:spPr>
          <a:xfrm>
            <a:off x="6446520" y="3794760"/>
            <a:ext cx="4937760" cy="292608"/>
          </a:xfrm>
          <a:prstGeom prst="rect">
            <a:avLst/>
          </a:prstGeom>
          <a:noFill/>
        </p:spPr>
        <p:txBody>
          <a:bodyPr wrap="square" lIns="0" tIns="0" rIns="0" bIns="0" anchor="ctr">
            <a:spAutoFit/>
          </a:bodyPr>
          <a:lstStyle/>
          <a:p>
            <a:pPr marL="0" indent="0">
              <a:buNone/>
            </a:pPr>
            <a:r>
              <a:rPr lang="de-DE" sz="1250" dirty="0">
                <a:solidFill>
                  <a:srgbClr val="16181D"/>
                </a:solidFill>
                <a:latin typeface="Consolas"/>
                <a:ea typeface="Consolas"/>
                <a:cs typeface="Consolas"/>
              </a:rPr>
              <a:t>element.innerHTML</a:t>
            </a:r>
          </a:p>
        </p:txBody>
      </p:sp>
      <p:sp>
        <p:nvSpPr>
          <p:cNvPr id="18" name="Text"/>
          <p:cNvSpPr>
            <a:spLocks noGrp="1"/>
          </p:cNvSpPr>
          <p:nvPr/>
        </p:nvSpPr>
        <p:spPr>
          <a:xfrm>
            <a:off x="6446520" y="4069080"/>
            <a:ext cx="4937760" cy="228600"/>
          </a:xfrm>
          <a:prstGeom prst="rect">
            <a:avLst/>
          </a:prstGeom>
          <a:noFill/>
        </p:spPr>
        <p:txBody>
          <a:bodyPr wrap="square" lIns="0" tIns="0" rIns="0" bIns="0" anchor="ctr">
            <a:spAutoFit/>
          </a:bodyPr>
          <a:lstStyle/>
          <a:p>
            <a:pPr marL="0" indent="0">
              <a:buNone/>
            </a:pPr>
            <a:r>
              <a:rPr lang="de-DE" sz="1100" i="1" dirty="0">
                <a:solidFill>
                  <a:srgbClr val="D23B4E"/>
                </a:solidFill>
                <a:latin typeface="Calibri"/>
                <a:ea typeface="Calibri"/>
                <a:cs typeface="Calibri"/>
              </a:rPr>
              <a:t>der vue-cal Standard!</a:t>
            </a:r>
          </a:p>
        </p:txBody>
      </p:sp>
      <p:sp>
        <p:nvSpPr>
          <p:cNvPr id="19" name="Text"/>
          <p:cNvSpPr>
            <a:spLocks noGrp="1"/>
          </p:cNvSpPr>
          <p:nvPr/>
        </p:nvSpPr>
        <p:spPr>
          <a:xfrm>
            <a:off x="6446520" y="4389120"/>
            <a:ext cx="4937760" cy="292608"/>
          </a:xfrm>
          <a:prstGeom prst="rect">
            <a:avLst/>
          </a:prstGeom>
          <a:noFill/>
        </p:spPr>
        <p:txBody>
          <a:bodyPr wrap="square" lIns="0" tIns="0" rIns="0" bIns="0" anchor="ctr">
            <a:spAutoFit/>
          </a:bodyPr>
          <a:lstStyle/>
          <a:p>
            <a:pPr marL="0" indent="0">
              <a:buNone/>
            </a:pPr>
            <a:r>
              <a:rPr lang="de-DE" sz="1250" dirty="0">
                <a:solidFill>
                  <a:srgbClr val="16181D"/>
                </a:solidFill>
                <a:latin typeface="Consolas"/>
                <a:ea typeface="Consolas"/>
                <a:cs typeface="Consolas"/>
              </a:rPr>
              <a:t>eval() / Function()</a:t>
            </a:r>
          </a:p>
        </p:txBody>
      </p:sp>
      <p:sp>
        <p:nvSpPr>
          <p:cNvPr id="20" name="Text"/>
          <p:cNvSpPr>
            <a:spLocks noGrp="1"/>
          </p:cNvSpPr>
          <p:nvPr/>
        </p:nvSpPr>
        <p:spPr>
          <a:xfrm>
            <a:off x="6446520" y="4663440"/>
            <a:ext cx="4937760" cy="228600"/>
          </a:xfrm>
          <a:prstGeom prst="rect">
            <a:avLst/>
          </a:prstGeom>
          <a:noFill/>
        </p:spPr>
        <p:txBody>
          <a:bodyPr wrap="square" lIns="0" tIns="0" rIns="0" bIns="0" anchor="ctr">
            <a:spAutoFit/>
          </a:bodyPr>
          <a:lstStyle/>
          <a:p>
            <a:pPr marL="0" indent="0">
              <a:buNone/>
            </a:pPr>
            <a:r>
              <a:rPr lang="de-DE" sz="1100" i="1" dirty="0">
                <a:solidFill>
                  <a:srgbClr val="9AA3AF"/>
                </a:solidFill>
                <a:latin typeface="Calibri"/>
                <a:ea typeface="Calibri"/>
                <a:cs typeface="Calibri"/>
              </a:rPr>
              <a:t>direkte Code-Ausführung</a:t>
            </a:r>
          </a:p>
        </p:txBody>
      </p:sp>
      <p:sp>
        <p:nvSpPr>
          <p:cNvPr id="21" name="Text"/>
          <p:cNvSpPr>
            <a:spLocks noGrp="1"/>
          </p:cNvSpPr>
          <p:nvPr/>
        </p:nvSpPr>
        <p:spPr>
          <a:xfrm>
            <a:off x="6446520" y="4983480"/>
            <a:ext cx="4937760" cy="292608"/>
          </a:xfrm>
          <a:prstGeom prst="rect">
            <a:avLst/>
          </a:prstGeom>
          <a:noFill/>
        </p:spPr>
        <p:txBody>
          <a:bodyPr wrap="square" lIns="0" tIns="0" rIns="0" bIns="0" anchor="ctr">
            <a:spAutoFit/>
          </a:bodyPr>
          <a:lstStyle/>
          <a:p>
            <a:pPr marL="0" indent="0">
              <a:buNone/>
            </a:pPr>
            <a:r>
              <a:rPr lang="de-DE" sz="1250" dirty="0">
                <a:solidFill>
                  <a:srgbClr val="16181D"/>
                </a:solidFill>
                <a:latin typeface="Consolas"/>
                <a:ea typeface="Consolas"/>
                <a:cs typeface="Consolas"/>
              </a:rPr>
              <a:t>script.src / iframe.src</a:t>
            </a:r>
          </a:p>
        </p:txBody>
      </p:sp>
      <p:sp>
        <p:nvSpPr>
          <p:cNvPr id="22" name="Text"/>
          <p:cNvSpPr>
            <a:spLocks noGrp="1"/>
          </p:cNvSpPr>
          <p:nvPr/>
        </p:nvSpPr>
        <p:spPr>
          <a:xfrm>
            <a:off x="6446520" y="5257800"/>
            <a:ext cx="4937760" cy="228600"/>
          </a:xfrm>
          <a:prstGeom prst="rect">
            <a:avLst/>
          </a:prstGeom>
          <a:noFill/>
        </p:spPr>
        <p:txBody>
          <a:bodyPr wrap="square" lIns="0" tIns="0" rIns="0" bIns="0" anchor="ctr">
            <a:spAutoFit/>
          </a:bodyPr>
          <a:lstStyle/>
          <a:p>
            <a:pPr marL="0" indent="0">
              <a:buNone/>
            </a:pPr>
            <a:r>
              <a:rPr lang="de-DE" sz="1100" i="1" dirty="0">
                <a:solidFill>
                  <a:srgbClr val="9AA3AF"/>
                </a:solidFill>
                <a:latin typeface="Calibri"/>
                <a:ea typeface="Calibri"/>
                <a:cs typeface="Calibri"/>
              </a:rPr>
              <a:t>Ressourcen-Senken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CF0022C8-D9AA-4F49-BC42-2B1F2337DAD7}"/>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PROBLEM IM PROJEKT · SCHEDULER</a:t>
            </a:r>
          </a:p>
        </p:txBody>
      </p:sp>
      <p:sp>
        <p:nvSpPr>
          <p:cNvPr id="4" name="Text 2">
            <a:extLst>
              <a:ext uri="{FF2B5EF4-FFF2-40B4-BE49-F238E27FC236}">
                <a16:creationId xmlns:a16="http://schemas.microsoft.com/office/drawing/2014/main" id="{5A721529-E6AD-4D51-8A7D-4F2EBE4C9E7C}"/>
              </a:ext>
            </a:extLst>
          </p:cNvPr>
          <p:cNvSpPr>
            <a:spLocks noGrp="1"/>
          </p:cNvSpPr>
          <p:nvPr/>
        </p:nvSpPr>
        <p:spPr>
          <a:xfrm>
            <a:off x="868680" y="1051560"/>
            <a:ext cx="10424160" cy="777240"/>
          </a:xfrm>
          <a:prstGeom prst="rect">
            <a:avLst/>
          </a:prstGeom>
          <a:noFill/>
        </p:spPr>
        <p:txBody>
          <a:bodyPr wrap="square" lIns="0" tIns="0" rIns="0" bIns="0" anchor="ctr"/>
          <a:lstStyle/>
          <a:p>
            <a:pPr marL="0" indent="0">
              <a:buNone/>
            </a:pPr>
            <a:r>
              <a:rPr sz="4000" b="1" dirty="0">
                <a:solidFill>
                  <a:srgbClr val="16181D"/>
                </a:solidFill>
                <a:latin typeface="Trebuchet MS"/>
                <a:ea typeface="Trebuchet MS"/>
                <a:cs typeface="Trebuchet MS"/>
              </a:rPr>
              <a:t>Die </a:t>
            </a:r>
            <a:r>
              <a:rPr sz="4000" b="1" dirty="0" err="1">
                <a:solidFill>
                  <a:srgbClr val="16181D"/>
                </a:solidFill>
                <a:latin typeface="Trebuchet MS"/>
                <a:ea typeface="Trebuchet MS"/>
                <a:cs typeface="Trebuchet MS"/>
              </a:rPr>
              <a:t>reale</a:t>
            </a:r>
            <a:r>
              <a:rPr sz="4000" b="1" dirty="0">
                <a:solidFill>
                  <a:srgbClr val="16181D"/>
                </a:solidFill>
                <a:latin typeface="Trebuchet MS"/>
                <a:ea typeface="Trebuchet MS"/>
                <a:cs typeface="Trebuchet MS"/>
              </a:rPr>
              <a:t> </a:t>
            </a:r>
            <a:r>
              <a:rPr sz="4000" b="1" dirty="0" err="1">
                <a:solidFill>
                  <a:srgbClr val="16181D"/>
                </a:solidFill>
                <a:latin typeface="Trebuchet MS"/>
                <a:ea typeface="Trebuchet MS"/>
                <a:cs typeface="Trebuchet MS"/>
              </a:rPr>
              <a:t>Schwachstelle</a:t>
            </a:r>
            <a:r>
              <a:rPr sz="4000" b="1" dirty="0">
                <a:solidFill>
                  <a:srgbClr val="16181D"/>
                </a:solidFill>
                <a:latin typeface="Trebuchet MS"/>
                <a:ea typeface="Trebuchet MS"/>
                <a:cs typeface="Trebuchet MS"/>
              </a:rPr>
              <a:t> </a:t>
            </a:r>
            <a:r>
              <a:rPr sz="4000" b="1" dirty="0" err="1">
                <a:solidFill>
                  <a:srgbClr val="16181D"/>
                </a:solidFill>
                <a:latin typeface="Trebuchet MS"/>
                <a:ea typeface="Trebuchet MS"/>
                <a:cs typeface="Trebuchet MS"/>
              </a:rPr>
              <a:t>liegt</a:t>
            </a:r>
            <a:r>
              <a:rPr sz="4000" b="1" dirty="0">
                <a:solidFill>
                  <a:srgbClr val="16181D"/>
                </a:solidFill>
                <a:latin typeface="Trebuchet MS"/>
                <a:ea typeface="Trebuchet MS"/>
                <a:cs typeface="Trebuchet MS"/>
              </a:rPr>
              <a:t> in </a:t>
            </a:r>
            <a:r>
              <a:rPr sz="4000" b="1" dirty="0" err="1">
                <a:solidFill>
                  <a:srgbClr val="16181D"/>
                </a:solidFill>
                <a:latin typeface="Trebuchet MS"/>
                <a:ea typeface="Trebuchet MS"/>
                <a:cs typeface="Trebuchet MS"/>
              </a:rPr>
              <a:t>vue</a:t>
            </a:r>
            <a:r>
              <a:rPr sz="4000" b="1" dirty="0">
                <a:solidFill>
                  <a:srgbClr val="16181D"/>
                </a:solidFill>
                <a:latin typeface="Trebuchet MS"/>
                <a:ea typeface="Trebuchet MS"/>
                <a:cs typeface="Trebuchet MS"/>
              </a:rPr>
              <a:t> </a:t>
            </a:r>
            <a:r>
              <a:rPr sz="4000" b="1" dirty="0" err="1">
                <a:solidFill>
                  <a:srgbClr val="16181D"/>
                </a:solidFill>
                <a:latin typeface="Trebuchet MS"/>
                <a:ea typeface="Trebuchet MS"/>
                <a:cs typeface="Trebuchet MS"/>
              </a:rPr>
              <a:t>cal</a:t>
            </a:r>
            <a:endParaRPr sz="4000" b="1" dirty="0">
              <a:solidFill>
                <a:srgbClr val="16181D"/>
              </a:solidFill>
              <a:latin typeface="Trebuchet MS"/>
              <a:ea typeface="Trebuchet MS"/>
              <a:cs typeface="Trebuchet MS"/>
            </a:endParaRPr>
          </a:p>
        </p:txBody>
      </p:sp>
      <p:sp>
        <p:nvSpPr>
          <p:cNvPr id="5" name="Text 3">
            <a:extLst>
              <a:ext uri="{FF2B5EF4-FFF2-40B4-BE49-F238E27FC236}">
                <a16:creationId xmlns:a16="http://schemas.microsoft.com/office/drawing/2014/main" id="{DA3294EB-5FC9-4DBE-9954-022CB814A373}"/>
              </a:ext>
            </a:extLst>
          </p:cNvPr>
          <p:cNvSpPr>
            <a:spLocks noGrp="1"/>
          </p:cNvSpPr>
          <p:nvPr/>
        </p:nvSpPr>
        <p:spPr>
          <a:xfrm>
            <a:off x="868680" y="1920240"/>
            <a:ext cx="1033272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Im eigenen Vue Code wurde keine direkte unsichere HTML Ausgabe gefunden. Der Standardrenderer der Kalenderbibliothek verwendet jedoch innerHTML.</a:t>
            </a:r>
          </a:p>
        </p:txBody>
      </p:sp>
      <p:sp>
        <p:nvSpPr>
          <p:cNvPr id="6" name="Shape 4">
            <a:extLst>
              <a:ext uri="{FF2B5EF4-FFF2-40B4-BE49-F238E27FC236}">
                <a16:creationId xmlns:a16="http://schemas.microsoft.com/office/drawing/2014/main" id="{35CC8568-A092-44D8-BF1C-AC3202FC2A48}"/>
              </a:ext>
            </a:extLst>
          </p:cNvPr>
          <p:cNvSpPr>
            <a:spLocks noGrp="1"/>
          </p:cNvSpPr>
          <p:nvPr/>
        </p:nvSpPr>
        <p:spPr>
          <a:xfrm>
            <a:off x="6172200" y="2971800"/>
            <a:ext cx="0" cy="2834640"/>
          </a:xfrm>
          <a:prstGeom prst="line">
            <a:avLst/>
          </a:prstGeom>
          <a:noFill/>
          <a:ln w="12700">
            <a:solidFill>
              <a:srgbClr val="E4E7EC"/>
            </a:solidFill>
            <a:prstDash val="solid"/>
          </a:ln>
        </p:spPr>
        <p:txBody>
          <a:bodyPr/>
          <a:lstStyle/>
          <a:p>
            <a:endParaRPr lang="de-DE"/>
          </a:p>
        </p:txBody>
      </p:sp>
      <p:sp>
        <p:nvSpPr>
          <p:cNvPr id="7" name="Text 5">
            <a:extLst>
              <a:ext uri="{FF2B5EF4-FFF2-40B4-BE49-F238E27FC236}">
                <a16:creationId xmlns:a16="http://schemas.microsoft.com/office/drawing/2014/main" id="{2E954620-EAB1-47E4-83F4-35AD6B11F02F}"/>
              </a:ext>
            </a:extLst>
          </p:cNvPr>
          <p:cNvSpPr>
            <a:spLocks noGrp="1"/>
          </p:cNvSpPr>
          <p:nvPr/>
        </p:nvSpPr>
        <p:spPr>
          <a:xfrm>
            <a:off x="86868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01</a:t>
            </a:r>
          </a:p>
        </p:txBody>
      </p:sp>
      <p:sp>
        <p:nvSpPr>
          <p:cNvPr id="8" name="Text 6">
            <a:extLst>
              <a:ext uri="{FF2B5EF4-FFF2-40B4-BE49-F238E27FC236}">
                <a16:creationId xmlns:a16="http://schemas.microsoft.com/office/drawing/2014/main" id="{EDE8088B-FE9F-4D2B-9299-FE4FB2CCAA1A}"/>
              </a:ext>
            </a:extLst>
          </p:cNvPr>
          <p:cNvSpPr>
            <a:spLocks noGrp="1"/>
          </p:cNvSpPr>
          <p:nvPr/>
        </p:nvSpPr>
        <p:spPr>
          <a:xfrm>
            <a:off x="150876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DATENFLUSS</a:t>
            </a:r>
          </a:p>
        </p:txBody>
      </p:sp>
      <p:sp>
        <p:nvSpPr>
          <p:cNvPr id="9" name="Text 7">
            <a:extLst>
              <a:ext uri="{FF2B5EF4-FFF2-40B4-BE49-F238E27FC236}">
                <a16:creationId xmlns:a16="http://schemas.microsoft.com/office/drawing/2014/main" id="{FD9FD98D-F4AA-41B0-9050-F0A4D15667A3}"/>
              </a:ext>
            </a:extLst>
          </p:cNvPr>
          <p:cNvSpPr>
            <a:spLocks noGrp="1"/>
          </p:cNvSpPr>
          <p:nvPr/>
        </p:nvSpPr>
        <p:spPr>
          <a:xfrm>
            <a:off x="868680" y="3611880"/>
            <a:ext cx="4937760" cy="82296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Reservierungslabel und Veranstaltungsnamen werden als Event Titel übergeben.</a:t>
            </a:r>
          </a:p>
        </p:txBody>
      </p:sp>
      <p:sp>
        <p:nvSpPr>
          <p:cNvPr id="10" name="Text 8">
            <a:extLst>
              <a:ext uri="{FF2B5EF4-FFF2-40B4-BE49-F238E27FC236}">
                <a16:creationId xmlns:a16="http://schemas.microsoft.com/office/drawing/2014/main" id="{6A21CCA7-D51F-4EA3-B69E-45E922B4987A}"/>
              </a:ext>
            </a:extLst>
          </p:cNvPr>
          <p:cNvSpPr>
            <a:spLocks noGrp="1"/>
          </p:cNvSpPr>
          <p:nvPr/>
        </p:nvSpPr>
        <p:spPr>
          <a:xfrm>
            <a:off x="868680" y="4480560"/>
            <a:ext cx="4937760" cy="365760"/>
          </a:xfrm>
          <a:prstGeom prst="rect">
            <a:avLst/>
          </a:prstGeom>
          <a:noFill/>
        </p:spPr>
        <p:txBody>
          <a:bodyPr wrap="square" lIns="0" tIns="0" rIns="0" bIns="0" anchor="ctr"/>
          <a:lstStyle/>
          <a:p>
            <a:pPr marL="0" indent="0">
              <a:buNone/>
            </a:pPr>
            <a:r>
              <a:rPr sz="1300">
                <a:solidFill>
                  <a:srgbClr val="16181D"/>
                </a:solidFill>
                <a:latin typeface="Consolas"/>
                <a:ea typeface="Consolas"/>
                <a:cs typeface="Consolas"/>
              </a:rPr>
              <a:t>DB → API → event.title → VueCal</a:t>
            </a:r>
          </a:p>
        </p:txBody>
      </p:sp>
      <p:sp>
        <p:nvSpPr>
          <p:cNvPr id="11" name="Text 9">
            <a:extLst>
              <a:ext uri="{FF2B5EF4-FFF2-40B4-BE49-F238E27FC236}">
                <a16:creationId xmlns:a16="http://schemas.microsoft.com/office/drawing/2014/main" id="{E13CAE18-3B54-4F9F-9885-96165EA4B92C}"/>
              </a:ext>
            </a:extLst>
          </p:cNvPr>
          <p:cNvSpPr>
            <a:spLocks noGrp="1"/>
          </p:cNvSpPr>
          <p:nvPr/>
        </p:nvSpPr>
        <p:spPr>
          <a:xfrm>
            <a:off x="868680" y="4983480"/>
            <a:ext cx="4937760" cy="640080"/>
          </a:xfrm>
          <a:prstGeom prst="rect">
            <a:avLst/>
          </a:prstGeom>
          <a:noFill/>
        </p:spPr>
        <p:txBody>
          <a:bodyPr wrap="square" lIns="0" tIns="0" rIns="0" bIns="0" anchor="ctr"/>
          <a:lstStyle/>
          <a:p>
            <a:pPr marL="0" indent="0">
              <a:buNone/>
            </a:pPr>
            <a:r>
              <a:rPr sz="1250" i="1">
                <a:solidFill>
                  <a:srgbClr val="55606E"/>
                </a:solidFill>
                <a:latin typeface="Calibri"/>
                <a:ea typeface="Calibri"/>
                <a:cs typeface="Calibri"/>
              </a:rPr>
              <a:t>Der gespeicherte Payload erreicht die Kalenderansicht.</a:t>
            </a:r>
          </a:p>
        </p:txBody>
      </p:sp>
      <p:sp>
        <p:nvSpPr>
          <p:cNvPr id="12" name="Text 10">
            <a:extLst>
              <a:ext uri="{FF2B5EF4-FFF2-40B4-BE49-F238E27FC236}">
                <a16:creationId xmlns:a16="http://schemas.microsoft.com/office/drawing/2014/main" id="{1CF1865D-5627-4085-9715-548E2F408F90}"/>
              </a:ext>
            </a:extLst>
          </p:cNvPr>
          <p:cNvSpPr>
            <a:spLocks noGrp="1"/>
          </p:cNvSpPr>
          <p:nvPr/>
        </p:nvSpPr>
        <p:spPr>
          <a:xfrm>
            <a:off x="868680" y="5623560"/>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ReserveTimeslot.vue</a:t>
            </a:r>
          </a:p>
        </p:txBody>
      </p:sp>
      <p:sp>
        <p:nvSpPr>
          <p:cNvPr id="13" name="Text 11">
            <a:extLst>
              <a:ext uri="{FF2B5EF4-FFF2-40B4-BE49-F238E27FC236}">
                <a16:creationId xmlns:a16="http://schemas.microsoft.com/office/drawing/2014/main" id="{E807B7E2-C0CF-45F7-AE39-271D03D0F91C}"/>
              </a:ext>
            </a:extLst>
          </p:cNvPr>
          <p:cNvSpPr>
            <a:spLocks noGrp="1"/>
          </p:cNvSpPr>
          <p:nvPr/>
        </p:nvSpPr>
        <p:spPr>
          <a:xfrm>
            <a:off x="644652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02</a:t>
            </a:r>
          </a:p>
        </p:txBody>
      </p:sp>
      <p:sp>
        <p:nvSpPr>
          <p:cNvPr id="14" name="Text 12">
            <a:extLst>
              <a:ext uri="{FF2B5EF4-FFF2-40B4-BE49-F238E27FC236}">
                <a16:creationId xmlns:a16="http://schemas.microsoft.com/office/drawing/2014/main" id="{0F0510F5-569A-4889-9BB4-C3FC1A0DB3EC}"/>
              </a:ext>
            </a:extLst>
          </p:cNvPr>
          <p:cNvSpPr>
            <a:spLocks noGrp="1"/>
          </p:cNvSpPr>
          <p:nvPr/>
        </p:nvSpPr>
        <p:spPr>
          <a:xfrm>
            <a:off x="708660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UNSICHERE AUSGABE</a:t>
            </a:r>
          </a:p>
        </p:txBody>
      </p:sp>
      <p:sp>
        <p:nvSpPr>
          <p:cNvPr id="15" name="Text 13">
            <a:extLst>
              <a:ext uri="{FF2B5EF4-FFF2-40B4-BE49-F238E27FC236}">
                <a16:creationId xmlns:a16="http://schemas.microsoft.com/office/drawing/2014/main" id="{1A943C59-EF01-4459-B15E-3A946AE37520}"/>
              </a:ext>
            </a:extLst>
          </p:cNvPr>
          <p:cNvSpPr>
            <a:spLocks noGrp="1"/>
          </p:cNvSpPr>
          <p:nvPr/>
        </p:nvSpPr>
        <p:spPr>
          <a:xfrm>
            <a:off x="6446520" y="3611880"/>
            <a:ext cx="4937760" cy="64008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VueCal interpretiert Event Titel und Inhalte im Standardrenderer als HTML.</a:t>
            </a:r>
          </a:p>
        </p:txBody>
      </p:sp>
      <p:sp>
        <p:nvSpPr>
          <p:cNvPr id="16" name="Text 14">
            <a:extLst>
              <a:ext uri="{FF2B5EF4-FFF2-40B4-BE49-F238E27FC236}">
                <a16:creationId xmlns:a16="http://schemas.microsoft.com/office/drawing/2014/main" id="{D8AE147B-555C-4CE1-BBF3-26A60718F958}"/>
              </a:ext>
            </a:extLst>
          </p:cNvPr>
          <p:cNvSpPr>
            <a:spLocks noGrp="1"/>
          </p:cNvSpPr>
          <p:nvPr/>
        </p:nvSpPr>
        <p:spPr>
          <a:xfrm>
            <a:off x="6446520" y="437083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innerHTML</a:t>
            </a:r>
          </a:p>
        </p:txBody>
      </p:sp>
      <p:sp>
        <p:nvSpPr>
          <p:cNvPr id="17" name="Text 15">
            <a:extLst>
              <a:ext uri="{FF2B5EF4-FFF2-40B4-BE49-F238E27FC236}">
                <a16:creationId xmlns:a16="http://schemas.microsoft.com/office/drawing/2014/main" id="{441CAD51-1904-41F0-B93C-F9E91B00D6A5}"/>
              </a:ext>
            </a:extLst>
          </p:cNvPr>
          <p:cNvSpPr>
            <a:spLocks noGrp="1"/>
          </p:cNvSpPr>
          <p:nvPr/>
        </p:nvSpPr>
        <p:spPr>
          <a:xfrm>
            <a:off x="9464040" y="437083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HTML Interpretation</a:t>
            </a:r>
          </a:p>
        </p:txBody>
      </p:sp>
      <p:sp>
        <p:nvSpPr>
          <p:cNvPr id="18" name="Text 16">
            <a:extLst>
              <a:ext uri="{FF2B5EF4-FFF2-40B4-BE49-F238E27FC236}">
                <a16:creationId xmlns:a16="http://schemas.microsoft.com/office/drawing/2014/main" id="{030DC8A2-C23C-480A-82E6-111FBF03444F}"/>
              </a:ext>
            </a:extLst>
          </p:cNvPr>
          <p:cNvSpPr>
            <a:spLocks noGrp="1"/>
          </p:cNvSpPr>
          <p:nvPr/>
        </p:nvSpPr>
        <p:spPr>
          <a:xfrm>
            <a:off x="6446520" y="478231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Stored DOM XSS</a:t>
            </a:r>
          </a:p>
        </p:txBody>
      </p:sp>
      <p:sp>
        <p:nvSpPr>
          <p:cNvPr id="19" name="Text 17">
            <a:extLst>
              <a:ext uri="{FF2B5EF4-FFF2-40B4-BE49-F238E27FC236}">
                <a16:creationId xmlns:a16="http://schemas.microsoft.com/office/drawing/2014/main" id="{68B27804-D89B-47C9-A881-B07F98D02BF7}"/>
              </a:ext>
            </a:extLst>
          </p:cNvPr>
          <p:cNvSpPr>
            <a:spLocks noGrp="1"/>
          </p:cNvSpPr>
          <p:nvPr/>
        </p:nvSpPr>
        <p:spPr>
          <a:xfrm>
            <a:off x="9464040" y="478231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wiederholte Ausführung</a:t>
            </a:r>
          </a:p>
        </p:txBody>
      </p:sp>
      <p:sp>
        <p:nvSpPr>
          <p:cNvPr id="20" name="Text 18">
            <a:extLst>
              <a:ext uri="{FF2B5EF4-FFF2-40B4-BE49-F238E27FC236}">
                <a16:creationId xmlns:a16="http://schemas.microsoft.com/office/drawing/2014/main" id="{9F5BCFF2-50DB-433A-B52F-9BECB837A4E0}"/>
              </a:ext>
            </a:extLst>
          </p:cNvPr>
          <p:cNvSpPr>
            <a:spLocks noGrp="1"/>
          </p:cNvSpPr>
          <p:nvPr/>
        </p:nvSpPr>
        <p:spPr>
          <a:xfrm>
            <a:off x="6446520" y="519379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Sicheres Gegenbeispiel</a:t>
            </a:r>
          </a:p>
        </p:txBody>
      </p:sp>
      <p:sp>
        <p:nvSpPr>
          <p:cNvPr id="21" name="Text 19">
            <a:extLst>
              <a:ext uri="{FF2B5EF4-FFF2-40B4-BE49-F238E27FC236}">
                <a16:creationId xmlns:a16="http://schemas.microsoft.com/office/drawing/2014/main" id="{97DC8436-6B9E-4ACA-8DCB-610FD3084EE3}"/>
              </a:ext>
            </a:extLst>
          </p:cNvPr>
          <p:cNvSpPr>
            <a:spLocks noGrp="1"/>
          </p:cNvSpPr>
          <p:nvPr/>
        </p:nvSpPr>
        <p:spPr>
          <a:xfrm>
            <a:off x="9464040" y="519379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eigener Event Slot</a:t>
            </a:r>
          </a:p>
        </p:txBody>
      </p:sp>
      <p:sp>
        <p:nvSpPr>
          <p:cNvPr id="22" name="Text 20">
            <a:extLst>
              <a:ext uri="{FF2B5EF4-FFF2-40B4-BE49-F238E27FC236}">
                <a16:creationId xmlns:a16="http://schemas.microsoft.com/office/drawing/2014/main" id="{731FC50C-567F-4B1F-BDC7-CD198D0E5691}"/>
              </a:ext>
            </a:extLst>
          </p:cNvPr>
          <p:cNvSpPr>
            <a:spLocks noGrp="1"/>
          </p:cNvSpPr>
          <p:nvPr/>
        </p:nvSpPr>
        <p:spPr>
          <a:xfrm>
            <a:off x="6446520" y="5623560"/>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vue cal Standardrenderer</a:t>
            </a:r>
          </a:p>
        </p:txBody>
      </p:sp>
      <p:sp>
        <p:nvSpPr>
          <p:cNvPr id="23" name="Text 1">
            <a:extLst>
              <a:ext uri="{FF2B5EF4-FFF2-40B4-BE49-F238E27FC236}">
                <a16:creationId xmlns:a16="http://schemas.microsoft.com/office/drawing/2014/main" id="{85309647-F8CA-35EF-2118-4FBC3ECEBCE8}"/>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pitchFamily="34" charset="0"/>
                <a:ea typeface="Calibri" pitchFamily="34" charset="-122"/>
                <a:cs typeface="Calibri" pitchFamily="34" charset="-120"/>
              </a:rPr>
              <a:t>0</a:t>
            </a: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8</a:t>
            </a:fld>
            <a:endParaRPr lang="en-US" sz="1050" dirty="0"/>
          </a:p>
        </p:txBody>
      </p:sp>
    </p:spTree>
    <p:extLst>
      <p:ext uri="{BB962C8B-B14F-4D97-AF65-F5344CB8AC3E}">
        <p14:creationId xmlns:p14="http://schemas.microsoft.com/office/powerpoint/2010/main" val="19782303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605B925-20F2-478D-ABE4-CF63D19317D7}"/>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DEMO · AUFBAU</a:t>
            </a:r>
          </a:p>
        </p:txBody>
      </p:sp>
      <p:sp>
        <p:nvSpPr>
          <p:cNvPr id="4" name="Text 2">
            <a:extLst>
              <a:ext uri="{FF2B5EF4-FFF2-40B4-BE49-F238E27FC236}">
                <a16:creationId xmlns:a16="http://schemas.microsoft.com/office/drawing/2014/main" id="{0CA56D71-8EDE-4C16-B422-C390CBED320E}"/>
              </a:ext>
            </a:extLst>
          </p:cNvPr>
          <p:cNvSpPr>
            <a:spLocks noGrp="1"/>
          </p:cNvSpPr>
          <p:nvPr/>
        </p:nvSpPr>
        <p:spPr>
          <a:xfrm>
            <a:off x="868680" y="1051560"/>
            <a:ext cx="10058400" cy="777240"/>
          </a:xfrm>
          <a:prstGeom prst="rect">
            <a:avLst/>
          </a:prstGeom>
          <a:noFill/>
        </p:spPr>
        <p:txBody>
          <a:bodyPr wrap="square" lIns="0" tIns="0" rIns="0" bIns="0" anchor="ctr"/>
          <a:lstStyle/>
          <a:p>
            <a:pPr marL="0" indent="0">
              <a:buNone/>
            </a:pPr>
            <a:r>
              <a:rPr sz="4000" b="1">
                <a:solidFill>
                  <a:srgbClr val="16181D"/>
                </a:solidFill>
                <a:latin typeface="Trebuchet MS"/>
                <a:ea typeface="Trebuchet MS"/>
                <a:cs typeface="Trebuchet MS"/>
              </a:rPr>
              <a:t>Setup</a:t>
            </a:r>
          </a:p>
        </p:txBody>
      </p:sp>
      <p:sp>
        <p:nvSpPr>
          <p:cNvPr id="5" name="Text 3">
            <a:extLst>
              <a:ext uri="{FF2B5EF4-FFF2-40B4-BE49-F238E27FC236}">
                <a16:creationId xmlns:a16="http://schemas.microsoft.com/office/drawing/2014/main" id="{1D91B4D8-43A2-49F5-AE0D-56AA8530603C}"/>
              </a:ext>
            </a:extLst>
          </p:cNvPr>
          <p:cNvSpPr>
            <a:spLocks noGrp="1"/>
          </p:cNvSpPr>
          <p:nvPr/>
        </p:nvSpPr>
        <p:spPr>
          <a:xfrm>
            <a:off x="868680" y="1920240"/>
            <a:ext cx="877824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Der direkte Vergleich verwendet dieselben gespeicherten Daten.</a:t>
            </a:r>
          </a:p>
        </p:txBody>
      </p:sp>
      <p:sp>
        <p:nvSpPr>
          <p:cNvPr id="6" name="Text 4">
            <a:extLst>
              <a:ext uri="{FF2B5EF4-FFF2-40B4-BE49-F238E27FC236}">
                <a16:creationId xmlns:a16="http://schemas.microsoft.com/office/drawing/2014/main" id="{3BD51F4C-3C9E-470A-8612-D1DD25BD43BE}"/>
              </a:ext>
            </a:extLst>
          </p:cNvPr>
          <p:cNvSpPr>
            <a:spLocks noGrp="1"/>
          </p:cNvSpPr>
          <p:nvPr/>
        </p:nvSpPr>
        <p:spPr>
          <a:xfrm>
            <a:off x="868680" y="3063240"/>
            <a:ext cx="7315200" cy="274320"/>
          </a:xfrm>
          <a:prstGeom prst="rect">
            <a:avLst/>
          </a:prstGeom>
          <a:noFill/>
        </p:spPr>
        <p:txBody>
          <a:bodyPr wrap="square" lIns="0" tIns="0" rIns="0" bIns="0" anchor="ctr"/>
          <a:lstStyle/>
          <a:p>
            <a:pPr marL="0" indent="0">
              <a:buNone/>
            </a:pPr>
            <a:r>
              <a:rPr sz="1100" b="1">
                <a:solidFill>
                  <a:srgbClr val="9AA3AF"/>
                </a:solidFill>
                <a:latin typeface="Calibri"/>
                <a:ea typeface="Calibri"/>
                <a:cs typeface="Calibri"/>
              </a:rPr>
              <a:t>DEMO BESTEHT AUS</a:t>
            </a:r>
          </a:p>
        </p:txBody>
      </p:sp>
      <p:sp>
        <p:nvSpPr>
          <p:cNvPr id="7" name="Text 5">
            <a:extLst>
              <a:ext uri="{FF2B5EF4-FFF2-40B4-BE49-F238E27FC236}">
                <a16:creationId xmlns:a16="http://schemas.microsoft.com/office/drawing/2014/main" id="{1E658AE0-E6C3-4D3C-9055-289C7B506ACA}"/>
              </a:ext>
            </a:extLst>
          </p:cNvPr>
          <p:cNvSpPr>
            <a:spLocks noGrp="1"/>
          </p:cNvSpPr>
          <p:nvPr/>
        </p:nvSpPr>
        <p:spPr>
          <a:xfrm>
            <a:off x="868680" y="3474720"/>
            <a:ext cx="2926080" cy="320040"/>
          </a:xfrm>
          <a:prstGeom prst="rect">
            <a:avLst/>
          </a:prstGeom>
          <a:noFill/>
        </p:spPr>
        <p:txBody>
          <a:bodyPr wrap="square" lIns="0" tIns="0" rIns="0" bIns="0" anchor="ctr"/>
          <a:lstStyle/>
          <a:p>
            <a:pPr marL="0" indent="0">
              <a:buNone/>
            </a:pPr>
            <a:r>
              <a:rPr sz="1300">
                <a:solidFill>
                  <a:srgbClr val="9AA3AF"/>
                </a:solidFill>
                <a:latin typeface="Calibri"/>
                <a:ea typeface="Calibri"/>
                <a:cs typeface="Calibri"/>
              </a:rPr>
              <a:t>TESTDATEN</a:t>
            </a:r>
          </a:p>
        </p:txBody>
      </p:sp>
      <p:sp>
        <p:nvSpPr>
          <p:cNvPr id="8" name="Text 6">
            <a:extLst>
              <a:ext uri="{FF2B5EF4-FFF2-40B4-BE49-F238E27FC236}">
                <a16:creationId xmlns:a16="http://schemas.microsoft.com/office/drawing/2014/main" id="{8BE5973D-4652-483C-9A38-77E49817E2B9}"/>
              </a:ext>
            </a:extLst>
          </p:cNvPr>
          <p:cNvSpPr>
            <a:spLocks noGrp="1"/>
          </p:cNvSpPr>
          <p:nvPr/>
        </p:nvSpPr>
        <p:spPr>
          <a:xfrm>
            <a:off x="868680" y="3767328"/>
            <a:ext cx="2926080" cy="548640"/>
          </a:xfrm>
          <a:prstGeom prst="rect">
            <a:avLst/>
          </a:prstGeom>
          <a:noFill/>
        </p:spPr>
        <p:txBody>
          <a:bodyPr wrap="square" lIns="0" tIns="0" rIns="0" bIns="0" anchor="ctr"/>
          <a:lstStyle/>
          <a:p>
            <a:pPr marL="0" indent="0">
              <a:buNone/>
            </a:pPr>
            <a:r>
              <a:rPr sz="3000" b="1">
                <a:solidFill>
                  <a:srgbClr val="16181D"/>
                </a:solidFill>
                <a:latin typeface="Consolas"/>
                <a:ea typeface="Consolas"/>
                <a:cs typeface="Consolas"/>
              </a:rPr>
              <a:t>Setup</a:t>
            </a:r>
          </a:p>
        </p:txBody>
      </p:sp>
      <p:sp>
        <p:nvSpPr>
          <p:cNvPr id="9" name="Shape 7">
            <a:extLst>
              <a:ext uri="{FF2B5EF4-FFF2-40B4-BE49-F238E27FC236}">
                <a16:creationId xmlns:a16="http://schemas.microsoft.com/office/drawing/2014/main" id="{5897FD2B-C080-4C86-8BD0-C9131E2B7687}"/>
              </a:ext>
            </a:extLst>
          </p:cNvPr>
          <p:cNvSpPr>
            <a:spLocks noGrp="1"/>
          </p:cNvSpPr>
          <p:nvPr/>
        </p:nvSpPr>
        <p:spPr>
          <a:xfrm>
            <a:off x="3749040" y="3520440"/>
            <a:ext cx="0" cy="685800"/>
          </a:xfrm>
          <a:prstGeom prst="line">
            <a:avLst/>
          </a:prstGeom>
          <a:noFill/>
          <a:ln w="12700">
            <a:solidFill>
              <a:srgbClr val="E4E7EC"/>
            </a:solidFill>
            <a:prstDash val="solid"/>
          </a:ln>
        </p:spPr>
        <p:txBody>
          <a:bodyPr/>
          <a:lstStyle/>
          <a:p>
            <a:endParaRPr lang="de-DE"/>
          </a:p>
        </p:txBody>
      </p:sp>
      <p:sp>
        <p:nvSpPr>
          <p:cNvPr id="10" name="Text 8">
            <a:extLst>
              <a:ext uri="{FF2B5EF4-FFF2-40B4-BE49-F238E27FC236}">
                <a16:creationId xmlns:a16="http://schemas.microsoft.com/office/drawing/2014/main" id="{1C6B439C-F782-4D6A-AF21-F5220AB8EE5F}"/>
              </a:ext>
            </a:extLst>
          </p:cNvPr>
          <p:cNvSpPr>
            <a:spLocks noGrp="1"/>
          </p:cNvSpPr>
          <p:nvPr/>
        </p:nvSpPr>
        <p:spPr>
          <a:xfrm>
            <a:off x="3794760" y="3474720"/>
            <a:ext cx="2926080" cy="320040"/>
          </a:xfrm>
          <a:prstGeom prst="rect">
            <a:avLst/>
          </a:prstGeom>
          <a:noFill/>
        </p:spPr>
        <p:txBody>
          <a:bodyPr wrap="square" lIns="0" tIns="0" rIns="0" bIns="0" anchor="ctr"/>
          <a:lstStyle/>
          <a:p>
            <a:pPr marL="0" indent="0">
              <a:buNone/>
            </a:pPr>
            <a:r>
              <a:rPr sz="1300">
                <a:solidFill>
                  <a:srgbClr val="9AA3AF"/>
                </a:solidFill>
                <a:latin typeface="Calibri"/>
                <a:ea typeface="Calibri"/>
                <a:cs typeface="Calibri"/>
              </a:rPr>
              <a:t>UNSICHER</a:t>
            </a:r>
          </a:p>
        </p:txBody>
      </p:sp>
      <p:sp>
        <p:nvSpPr>
          <p:cNvPr id="11" name="Text 9">
            <a:extLst>
              <a:ext uri="{FF2B5EF4-FFF2-40B4-BE49-F238E27FC236}">
                <a16:creationId xmlns:a16="http://schemas.microsoft.com/office/drawing/2014/main" id="{4E871371-98BF-442E-8AEB-FBEC23F7C643}"/>
              </a:ext>
            </a:extLst>
          </p:cNvPr>
          <p:cNvSpPr>
            <a:spLocks noGrp="1"/>
          </p:cNvSpPr>
          <p:nvPr/>
        </p:nvSpPr>
        <p:spPr>
          <a:xfrm>
            <a:off x="3794760" y="3767328"/>
            <a:ext cx="2926080" cy="548640"/>
          </a:xfrm>
          <a:prstGeom prst="rect">
            <a:avLst/>
          </a:prstGeom>
          <a:noFill/>
        </p:spPr>
        <p:txBody>
          <a:bodyPr wrap="square" lIns="0" tIns="0" rIns="0" bIns="0" anchor="ctr"/>
          <a:lstStyle/>
          <a:p>
            <a:pPr marL="0" indent="0">
              <a:buNone/>
            </a:pPr>
            <a:r>
              <a:rPr sz="3000" b="1">
                <a:solidFill>
                  <a:srgbClr val="16181D"/>
                </a:solidFill>
                <a:latin typeface="Consolas"/>
                <a:ea typeface="Consolas"/>
                <a:cs typeface="Consolas"/>
              </a:rPr>
              <a:t>VueCal</a:t>
            </a:r>
          </a:p>
        </p:txBody>
      </p:sp>
      <p:sp>
        <p:nvSpPr>
          <p:cNvPr id="12" name="Shape 10">
            <a:extLst>
              <a:ext uri="{FF2B5EF4-FFF2-40B4-BE49-F238E27FC236}">
                <a16:creationId xmlns:a16="http://schemas.microsoft.com/office/drawing/2014/main" id="{29DBA76E-8A52-42F1-99E2-7A9F945E74BC}"/>
              </a:ext>
            </a:extLst>
          </p:cNvPr>
          <p:cNvSpPr>
            <a:spLocks noGrp="1"/>
          </p:cNvSpPr>
          <p:nvPr/>
        </p:nvSpPr>
        <p:spPr>
          <a:xfrm>
            <a:off x="6675120" y="3520440"/>
            <a:ext cx="0" cy="685800"/>
          </a:xfrm>
          <a:prstGeom prst="line">
            <a:avLst/>
          </a:prstGeom>
          <a:noFill/>
          <a:ln w="12700">
            <a:solidFill>
              <a:srgbClr val="E4E7EC"/>
            </a:solidFill>
            <a:prstDash val="solid"/>
          </a:ln>
        </p:spPr>
        <p:txBody>
          <a:bodyPr/>
          <a:lstStyle/>
          <a:p>
            <a:endParaRPr lang="de-DE"/>
          </a:p>
        </p:txBody>
      </p:sp>
      <p:sp>
        <p:nvSpPr>
          <p:cNvPr id="13" name="Text 11">
            <a:extLst>
              <a:ext uri="{FF2B5EF4-FFF2-40B4-BE49-F238E27FC236}">
                <a16:creationId xmlns:a16="http://schemas.microsoft.com/office/drawing/2014/main" id="{93CBA382-695B-4C33-9819-3235851281A7}"/>
              </a:ext>
            </a:extLst>
          </p:cNvPr>
          <p:cNvSpPr>
            <a:spLocks noGrp="1"/>
          </p:cNvSpPr>
          <p:nvPr/>
        </p:nvSpPr>
        <p:spPr>
          <a:xfrm>
            <a:off x="6720840" y="3474720"/>
            <a:ext cx="2926080" cy="320040"/>
          </a:xfrm>
          <a:prstGeom prst="rect">
            <a:avLst/>
          </a:prstGeom>
          <a:noFill/>
        </p:spPr>
        <p:txBody>
          <a:bodyPr wrap="square" lIns="0" tIns="0" rIns="0" bIns="0" anchor="ctr"/>
          <a:lstStyle/>
          <a:p>
            <a:pPr marL="0" indent="0">
              <a:buNone/>
            </a:pPr>
            <a:r>
              <a:rPr sz="1300">
                <a:solidFill>
                  <a:srgbClr val="9AA3AF"/>
                </a:solidFill>
                <a:latin typeface="Calibri"/>
                <a:ea typeface="Calibri"/>
                <a:cs typeface="Calibri"/>
              </a:rPr>
              <a:t>SICHER</a:t>
            </a:r>
          </a:p>
        </p:txBody>
      </p:sp>
      <p:sp>
        <p:nvSpPr>
          <p:cNvPr id="14" name="Text 12">
            <a:extLst>
              <a:ext uri="{FF2B5EF4-FFF2-40B4-BE49-F238E27FC236}">
                <a16:creationId xmlns:a16="http://schemas.microsoft.com/office/drawing/2014/main" id="{D0A4CDE0-7F8C-421C-8867-6C2C3172BEAD}"/>
              </a:ext>
            </a:extLst>
          </p:cNvPr>
          <p:cNvSpPr>
            <a:spLocks noGrp="1"/>
          </p:cNvSpPr>
          <p:nvPr/>
        </p:nvSpPr>
        <p:spPr>
          <a:xfrm>
            <a:off x="6720840" y="3767328"/>
            <a:ext cx="2926080" cy="548640"/>
          </a:xfrm>
          <a:prstGeom prst="rect">
            <a:avLst/>
          </a:prstGeom>
          <a:noFill/>
        </p:spPr>
        <p:txBody>
          <a:bodyPr wrap="square" lIns="0" tIns="0" rIns="0" bIns="0" anchor="ctr"/>
          <a:lstStyle/>
          <a:p>
            <a:pPr marL="0" indent="0">
              <a:buNone/>
            </a:pPr>
            <a:r>
              <a:rPr sz="3000" b="1">
                <a:solidFill>
                  <a:srgbClr val="16181D"/>
                </a:solidFill>
                <a:latin typeface="Consolas"/>
                <a:ea typeface="Consolas"/>
                <a:cs typeface="Consolas"/>
              </a:rPr>
              <a:t>Event Slot</a:t>
            </a:r>
          </a:p>
        </p:txBody>
      </p:sp>
      <p:sp>
        <p:nvSpPr>
          <p:cNvPr id="15" name="Shape 13">
            <a:extLst>
              <a:ext uri="{FF2B5EF4-FFF2-40B4-BE49-F238E27FC236}">
                <a16:creationId xmlns:a16="http://schemas.microsoft.com/office/drawing/2014/main" id="{791309A0-BCB1-40B3-9663-F2F2BFB1CFA9}"/>
              </a:ext>
            </a:extLst>
          </p:cNvPr>
          <p:cNvSpPr>
            <a:spLocks noGrp="1"/>
          </p:cNvSpPr>
          <p:nvPr/>
        </p:nvSpPr>
        <p:spPr>
          <a:xfrm>
            <a:off x="868680" y="4892040"/>
            <a:ext cx="10454335" cy="0"/>
          </a:xfrm>
          <a:prstGeom prst="line">
            <a:avLst/>
          </a:prstGeom>
          <a:noFill/>
          <a:ln w="12700">
            <a:solidFill>
              <a:srgbClr val="E4E7EC"/>
            </a:solidFill>
            <a:prstDash val="solid"/>
          </a:ln>
        </p:spPr>
        <p:txBody>
          <a:bodyPr/>
          <a:lstStyle/>
          <a:p>
            <a:endParaRPr lang="de-DE"/>
          </a:p>
        </p:txBody>
      </p:sp>
      <p:sp>
        <p:nvSpPr>
          <p:cNvPr id="16" name="Text 14">
            <a:extLst>
              <a:ext uri="{FF2B5EF4-FFF2-40B4-BE49-F238E27FC236}">
                <a16:creationId xmlns:a16="http://schemas.microsoft.com/office/drawing/2014/main" id="{F30095E8-2148-4819-914E-700293DA5DF9}"/>
              </a:ext>
            </a:extLst>
          </p:cNvPr>
          <p:cNvSpPr>
            <a:spLocks noGrp="1"/>
          </p:cNvSpPr>
          <p:nvPr/>
        </p:nvSpPr>
        <p:spPr>
          <a:xfrm>
            <a:off x="868680" y="5166360"/>
            <a:ext cx="10058400" cy="365760"/>
          </a:xfrm>
          <a:prstGeom prst="rect">
            <a:avLst/>
          </a:prstGeom>
          <a:noFill/>
        </p:spPr>
        <p:txBody>
          <a:bodyPr wrap="square" lIns="0" tIns="0" rIns="0" bIns="0" anchor="ctr"/>
          <a:lstStyle/>
          <a:p>
            <a:pPr marL="0" indent="0">
              <a:buNone/>
            </a:pPr>
            <a:r>
              <a:rPr sz="1900" b="1">
                <a:solidFill>
                  <a:srgbClr val="16181D"/>
                </a:solidFill>
                <a:latin typeface="Trebuchet MS"/>
                <a:ea typeface="Trebuchet MS"/>
                <a:cs typeface="Trebuchet MS"/>
              </a:rPr>
              <a:t>UMSCHALTUNG</a:t>
            </a:r>
          </a:p>
        </p:txBody>
      </p:sp>
      <p:sp>
        <p:nvSpPr>
          <p:cNvPr id="17" name="Text 15">
            <a:extLst>
              <a:ext uri="{FF2B5EF4-FFF2-40B4-BE49-F238E27FC236}">
                <a16:creationId xmlns:a16="http://schemas.microsoft.com/office/drawing/2014/main" id="{48721FF5-1478-4637-84E6-D34829A54E91}"/>
              </a:ext>
            </a:extLst>
          </p:cNvPr>
          <p:cNvSpPr>
            <a:spLocks noGrp="1"/>
          </p:cNvSpPr>
          <p:nvPr/>
        </p:nvSpPr>
        <p:spPr>
          <a:xfrm>
            <a:off x="868680" y="5669280"/>
            <a:ext cx="10058400" cy="457200"/>
          </a:xfrm>
          <a:prstGeom prst="rect">
            <a:avLst/>
          </a:prstGeom>
          <a:noFill/>
        </p:spPr>
        <p:txBody>
          <a:bodyPr wrap="square" lIns="0" tIns="0" rIns="0" bIns="0" anchor="ctr"/>
          <a:lstStyle/>
          <a:p>
            <a:pPr marL="0" indent="0">
              <a:buNone/>
            </a:pPr>
            <a:r>
              <a:rPr sz="1800" b="1">
                <a:solidFill>
                  <a:srgbClr val="16181D"/>
                </a:solidFill>
                <a:latin typeface="Consolas"/>
                <a:ea typeface="Consolas"/>
                <a:cs typeface="Consolas"/>
              </a:rPr>
              <a:t>router.js und die sichere Env Konfiguration wählen die Variante.</a:t>
            </a:r>
          </a:p>
        </p:txBody>
      </p:sp>
      <p:sp>
        <p:nvSpPr>
          <p:cNvPr id="18" name="Text 1">
            <a:extLst>
              <a:ext uri="{FF2B5EF4-FFF2-40B4-BE49-F238E27FC236}">
                <a16:creationId xmlns:a16="http://schemas.microsoft.com/office/drawing/2014/main" id="{793D2100-7CF1-9397-D5CF-9C64A9EEB2DE}"/>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pitchFamily="34" charset="0"/>
                <a:ea typeface="Calibri" pitchFamily="34" charset="-122"/>
                <a:cs typeface="Calibri" pitchFamily="34" charset="-120"/>
              </a:rPr>
              <a:t>0</a:t>
            </a: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9</a:t>
            </a:fld>
            <a:endParaRPr lang="en-US" sz="1050" dirty="0"/>
          </a:p>
        </p:txBody>
      </p:sp>
    </p:spTree>
    <p:extLst>
      <p:ext uri="{BB962C8B-B14F-4D97-AF65-F5344CB8AC3E}">
        <p14:creationId xmlns:p14="http://schemas.microsoft.com/office/powerpoint/2010/main" val="6613637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B95CA36-7AD5-4CED-959F-F065EF9A96F2}"/>
              </a:ext>
            </a:extLst>
          </p:cNvPr>
          <p:cNvSpPr>
            <a:spLocks noGrp="1"/>
          </p:cNvSpPr>
          <p:nvPr/>
        </p:nvSpPr>
        <p:spPr>
          <a:xfrm>
            <a:off x="868680" y="1874520"/>
            <a:ext cx="7315200" cy="320040"/>
          </a:xfrm>
          <a:prstGeom prst="rect">
            <a:avLst/>
          </a:prstGeom>
          <a:noFill/>
        </p:spPr>
        <p:txBody>
          <a:bodyPr wrap="square" lIns="0" tIns="0" rIns="0" bIns="0" anchor="ctr"/>
          <a:lstStyle/>
          <a:p>
            <a:pPr marL="0" indent="0">
              <a:buNone/>
            </a:pPr>
            <a:r>
              <a:rPr sz="1200" b="1">
                <a:solidFill>
                  <a:srgbClr val="1463FF"/>
                </a:solidFill>
                <a:latin typeface="Calibri"/>
                <a:ea typeface="Calibri"/>
                <a:cs typeface="Calibri"/>
              </a:rPr>
              <a:t>LIVE DEMO · XSS</a:t>
            </a:r>
          </a:p>
        </p:txBody>
      </p:sp>
      <p:sp>
        <p:nvSpPr>
          <p:cNvPr id="3" name="Text 1">
            <a:extLst>
              <a:ext uri="{FF2B5EF4-FFF2-40B4-BE49-F238E27FC236}">
                <a16:creationId xmlns:a16="http://schemas.microsoft.com/office/drawing/2014/main" id="{FD8DA67A-FD81-4D52-AB3E-0B0E93F9DAB5}"/>
              </a:ext>
            </a:extLst>
          </p:cNvPr>
          <p:cNvSpPr>
            <a:spLocks noGrp="1"/>
          </p:cNvSpPr>
          <p:nvPr/>
        </p:nvSpPr>
        <p:spPr>
          <a:xfrm>
            <a:off x="822960" y="2194560"/>
            <a:ext cx="10058400" cy="1463040"/>
          </a:xfrm>
          <a:prstGeom prst="rect">
            <a:avLst/>
          </a:prstGeom>
          <a:noFill/>
        </p:spPr>
        <p:txBody>
          <a:bodyPr wrap="square" lIns="0" tIns="0" rIns="0" bIns="0" anchor="ctr"/>
          <a:lstStyle/>
          <a:p>
            <a:pPr marL="0" indent="0">
              <a:buNone/>
            </a:pPr>
            <a:r>
              <a:rPr sz="11000" b="1">
                <a:solidFill>
                  <a:srgbClr val="16181D"/>
                </a:solidFill>
                <a:latin typeface="Trebuchet MS"/>
                <a:ea typeface="Trebuchet MS"/>
                <a:cs typeface="Trebuchet MS"/>
              </a:rPr>
              <a:t>Zur Live Demo</a:t>
            </a:r>
          </a:p>
        </p:txBody>
      </p:sp>
      <p:sp>
        <p:nvSpPr>
          <p:cNvPr id="4" name="Text 2">
            <a:extLst>
              <a:ext uri="{FF2B5EF4-FFF2-40B4-BE49-F238E27FC236}">
                <a16:creationId xmlns:a16="http://schemas.microsoft.com/office/drawing/2014/main" id="{17D4FDB8-F8F0-4D96-95F0-9B90E32AF337}"/>
              </a:ext>
            </a:extLst>
          </p:cNvPr>
          <p:cNvSpPr>
            <a:spLocks noGrp="1"/>
          </p:cNvSpPr>
          <p:nvPr/>
        </p:nvSpPr>
        <p:spPr>
          <a:xfrm>
            <a:off x="868680" y="3703320"/>
            <a:ext cx="10058400" cy="502920"/>
          </a:xfrm>
          <a:prstGeom prst="rect">
            <a:avLst/>
          </a:prstGeom>
          <a:noFill/>
        </p:spPr>
        <p:txBody>
          <a:bodyPr wrap="square" lIns="0" tIns="0" rIns="0" bIns="0" anchor="ctr"/>
          <a:lstStyle/>
          <a:p>
            <a:pPr marL="0" indent="0">
              <a:buNone/>
            </a:pPr>
            <a:endParaRPr/>
          </a:p>
        </p:txBody>
      </p:sp>
      <p:sp>
        <p:nvSpPr>
          <p:cNvPr id="5" name="Shape 3">
            <a:extLst>
              <a:ext uri="{FF2B5EF4-FFF2-40B4-BE49-F238E27FC236}">
                <a16:creationId xmlns:a16="http://schemas.microsoft.com/office/drawing/2014/main" id="{42345276-9CC1-4302-B204-8758E42AE5A8}"/>
              </a:ext>
            </a:extLst>
          </p:cNvPr>
          <p:cNvSpPr>
            <a:spLocks noGrp="1"/>
          </p:cNvSpPr>
          <p:nvPr/>
        </p:nvSpPr>
        <p:spPr>
          <a:xfrm>
            <a:off x="868680" y="4526280"/>
            <a:ext cx="1828800" cy="0"/>
          </a:xfrm>
          <a:prstGeom prst="line">
            <a:avLst/>
          </a:prstGeom>
          <a:noFill/>
          <a:ln w="28575">
            <a:solidFill>
              <a:srgbClr val="16181D"/>
            </a:solidFill>
            <a:prstDash val="solid"/>
          </a:ln>
        </p:spPr>
        <p:txBody>
          <a:bodyPr/>
          <a:lstStyle/>
          <a:p>
            <a:endParaRPr lang="de-DE"/>
          </a:p>
        </p:txBody>
      </p:sp>
      <p:sp>
        <p:nvSpPr>
          <p:cNvPr id="6" name="Text 4">
            <a:extLst>
              <a:ext uri="{FF2B5EF4-FFF2-40B4-BE49-F238E27FC236}">
                <a16:creationId xmlns:a16="http://schemas.microsoft.com/office/drawing/2014/main" id="{468481FB-4609-481A-89AB-8748CC339F06}"/>
              </a:ext>
            </a:extLst>
          </p:cNvPr>
          <p:cNvSpPr>
            <a:spLocks noGrp="1"/>
          </p:cNvSpPr>
          <p:nvPr/>
        </p:nvSpPr>
        <p:spPr>
          <a:xfrm>
            <a:off x="868680" y="4754880"/>
            <a:ext cx="8686800" cy="457200"/>
          </a:xfrm>
          <a:prstGeom prst="rect">
            <a:avLst/>
          </a:prstGeom>
          <a:noFill/>
        </p:spPr>
        <p:txBody>
          <a:bodyPr wrap="square" lIns="0" tIns="0" rIns="0" bIns="0" anchor="ctr"/>
          <a:lstStyle/>
          <a:p>
            <a:pPr marL="0" indent="0">
              <a:buNone/>
            </a:pPr>
            <a:r>
              <a:rPr sz="1600">
                <a:solidFill>
                  <a:srgbClr val="55606E"/>
                </a:solidFill>
                <a:latin typeface="Calibri"/>
                <a:ea typeface="Calibri"/>
                <a:cs typeface="Calibri"/>
              </a:rPr>
              <a:t>Derselbe gespeicherte Wert wird zuerst als HTML ausgeführt und bleibt danach in der sicheren Ansicht sichtbarer Text.</a:t>
            </a:r>
          </a:p>
        </p:txBody>
      </p:sp>
      <p:sp>
        <p:nvSpPr>
          <p:cNvPr id="7" name="Text 5">
            <a:extLst>
              <a:ext uri="{FF2B5EF4-FFF2-40B4-BE49-F238E27FC236}">
                <a16:creationId xmlns:a16="http://schemas.microsoft.com/office/drawing/2014/main" id="{94A987EA-ED23-44AA-ABC1-DB16DB020FDD}"/>
              </a:ext>
            </a:extLst>
          </p:cNvPr>
          <p:cNvSpPr>
            <a:spLocks noGrp="1"/>
          </p:cNvSpPr>
          <p:nvPr/>
        </p:nvSpPr>
        <p:spPr>
          <a:xfrm>
            <a:off x="9448495" y="6080760"/>
            <a:ext cx="1874520" cy="320040"/>
          </a:xfrm>
          <a:prstGeom prst="rect">
            <a:avLst/>
          </a:prstGeom>
          <a:noFill/>
        </p:spPr>
        <p:txBody>
          <a:bodyPr wrap="square" lIns="0" tIns="0" rIns="0" bIns="0" anchor="ctr"/>
          <a:lstStyle/>
          <a:p>
            <a:pPr marL="0" indent="0" algn="r">
              <a:buNone/>
            </a:pPr>
            <a:r>
              <a:rPr sz="1200" i="1">
                <a:solidFill>
                  <a:srgbClr val="9AA3AF"/>
                </a:solidFill>
                <a:latin typeface="Calibri"/>
                <a:ea typeface="Calibri"/>
                <a:cs typeface="Calibri"/>
              </a:rPr>
              <a:t>Linus &amp; Arvid</a:t>
            </a:r>
          </a:p>
        </p:txBody>
      </p:sp>
    </p:spTree>
    <p:extLst>
      <p:ext uri="{BB962C8B-B14F-4D97-AF65-F5344CB8AC3E}">
        <p14:creationId xmlns:p14="http://schemas.microsoft.com/office/powerpoint/2010/main" val="1448838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3BB7AA5D-3470-4C6E-A95C-97BF34A9C9C8}"/>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KRITISCHES RISIKO · SCHEDULER</a:t>
            </a:r>
          </a:p>
        </p:txBody>
      </p:sp>
      <p:sp>
        <p:nvSpPr>
          <p:cNvPr id="4" name="Text 2">
            <a:extLst>
              <a:ext uri="{FF2B5EF4-FFF2-40B4-BE49-F238E27FC236}">
                <a16:creationId xmlns:a16="http://schemas.microsoft.com/office/drawing/2014/main" id="{A08E6FF8-3FF4-4AF4-87A4-1B1301369BC7}"/>
              </a:ext>
            </a:extLst>
          </p:cNvPr>
          <p:cNvSpPr>
            <a:spLocks noGrp="1"/>
          </p:cNvSpPr>
          <p:nvPr/>
        </p:nvSpPr>
        <p:spPr>
          <a:xfrm>
            <a:off x="868680" y="1051560"/>
            <a:ext cx="10424160" cy="777240"/>
          </a:xfrm>
          <a:prstGeom prst="rect">
            <a:avLst/>
          </a:prstGeom>
          <a:noFill/>
        </p:spPr>
        <p:txBody>
          <a:bodyPr wrap="square" lIns="0" tIns="0" rIns="0" bIns="0" anchor="ctr"/>
          <a:lstStyle/>
          <a:p>
            <a:pPr marL="0" indent="0">
              <a:buNone/>
            </a:pPr>
            <a:r>
              <a:rPr sz="4000" b="1">
                <a:solidFill>
                  <a:srgbClr val="16181D"/>
                </a:solidFill>
                <a:latin typeface="Trebuchet MS"/>
                <a:ea typeface="Trebuchet MS"/>
                <a:cs typeface="Trebuchet MS"/>
              </a:rPr>
              <a:t>Das eigentliche Risiko</a:t>
            </a:r>
          </a:p>
        </p:txBody>
      </p:sp>
      <p:sp>
        <p:nvSpPr>
          <p:cNvPr id="5" name="Text 3">
            <a:extLst>
              <a:ext uri="{FF2B5EF4-FFF2-40B4-BE49-F238E27FC236}">
                <a16:creationId xmlns:a16="http://schemas.microsoft.com/office/drawing/2014/main" id="{73388B0A-0119-4C41-85DF-2C9EC566263D}"/>
              </a:ext>
            </a:extLst>
          </p:cNvPr>
          <p:cNvSpPr>
            <a:spLocks noGrp="1"/>
          </p:cNvSpPr>
          <p:nvPr/>
        </p:nvSpPr>
        <p:spPr>
          <a:xfrm>
            <a:off x="868680" y="1920240"/>
            <a:ext cx="1024128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Ein Alert ist nur der sichtbare Beweis. Der eingeschleuste Code läuft im Browser eines eingeloggten Scheduler Nutzers.</a:t>
            </a:r>
          </a:p>
        </p:txBody>
      </p:sp>
      <p:sp>
        <p:nvSpPr>
          <p:cNvPr id="6" name="Text 4">
            <a:extLst>
              <a:ext uri="{FF2B5EF4-FFF2-40B4-BE49-F238E27FC236}">
                <a16:creationId xmlns:a16="http://schemas.microsoft.com/office/drawing/2014/main" id="{142EFDBB-E9F9-4742-B225-1229ACD1B3B9}"/>
              </a:ext>
            </a:extLst>
          </p:cNvPr>
          <p:cNvSpPr>
            <a:spLocks noGrp="1"/>
          </p:cNvSpPr>
          <p:nvPr/>
        </p:nvSpPr>
        <p:spPr>
          <a:xfrm>
            <a:off x="868680" y="3063240"/>
            <a:ext cx="9144000" cy="292608"/>
          </a:xfrm>
          <a:prstGeom prst="rect">
            <a:avLst/>
          </a:prstGeom>
          <a:noFill/>
        </p:spPr>
        <p:txBody>
          <a:bodyPr wrap="square" lIns="0" tIns="0" rIns="0" bIns="0" anchor="ctr"/>
          <a:lstStyle/>
          <a:p>
            <a:pPr marL="0" indent="0">
              <a:buNone/>
            </a:pPr>
            <a:r>
              <a:rPr sz="1150" b="1">
                <a:solidFill>
                  <a:srgbClr val="1463FF"/>
                </a:solidFill>
                <a:latin typeface="Calibri"/>
                <a:ea typeface="Calibri"/>
                <a:cs typeface="Calibri"/>
              </a:rPr>
              <a:t>AUSLÖSER</a:t>
            </a:r>
          </a:p>
        </p:txBody>
      </p:sp>
      <p:sp>
        <p:nvSpPr>
          <p:cNvPr id="7" name="Text 5">
            <a:extLst>
              <a:ext uri="{FF2B5EF4-FFF2-40B4-BE49-F238E27FC236}">
                <a16:creationId xmlns:a16="http://schemas.microsoft.com/office/drawing/2014/main" id="{0BF06041-94F2-410B-8AF8-5DBCCF29886E}"/>
              </a:ext>
            </a:extLst>
          </p:cNvPr>
          <p:cNvSpPr>
            <a:spLocks noGrp="1"/>
          </p:cNvSpPr>
          <p:nvPr/>
        </p:nvSpPr>
        <p:spPr>
          <a:xfrm>
            <a:off x="868680" y="342900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Gespeicherter Payload</a:t>
            </a:r>
          </a:p>
        </p:txBody>
      </p:sp>
      <p:sp>
        <p:nvSpPr>
          <p:cNvPr id="8" name="Text 6">
            <a:extLst>
              <a:ext uri="{FF2B5EF4-FFF2-40B4-BE49-F238E27FC236}">
                <a16:creationId xmlns:a16="http://schemas.microsoft.com/office/drawing/2014/main" id="{CD9997F8-D549-4239-9DD9-0385F5DBCEEB}"/>
              </a:ext>
            </a:extLst>
          </p:cNvPr>
          <p:cNvSpPr>
            <a:spLocks noGrp="1"/>
          </p:cNvSpPr>
          <p:nvPr/>
        </p:nvSpPr>
        <p:spPr>
          <a:xfrm>
            <a:off x="868680" y="381304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wird im Kalender geöffnet</a:t>
            </a:r>
          </a:p>
        </p:txBody>
      </p:sp>
      <p:sp>
        <p:nvSpPr>
          <p:cNvPr id="9" name="Text 7">
            <a:extLst>
              <a:ext uri="{FF2B5EF4-FFF2-40B4-BE49-F238E27FC236}">
                <a16:creationId xmlns:a16="http://schemas.microsoft.com/office/drawing/2014/main" id="{B8626B6E-A7FA-4FE6-BFA1-771B8586B8A7}"/>
              </a:ext>
            </a:extLst>
          </p:cNvPr>
          <p:cNvSpPr>
            <a:spLocks noGrp="1"/>
          </p:cNvSpPr>
          <p:nvPr/>
        </p:nvSpPr>
        <p:spPr>
          <a:xfrm>
            <a:off x="3611880" y="3429000"/>
            <a:ext cx="457200" cy="411480"/>
          </a:xfrm>
          <a:prstGeom prst="rect">
            <a:avLst/>
          </a:prstGeom>
          <a:noFill/>
        </p:spPr>
        <p:txBody>
          <a:bodyPr wrap="square" lIns="0" tIns="0" rIns="0" bIns="0" anchor="ctr"/>
          <a:lstStyle/>
          <a:p>
            <a:pPr marL="0" indent="0" algn="ctr">
              <a:buNone/>
            </a:pPr>
            <a:r>
              <a:rPr sz="2000">
                <a:solidFill>
                  <a:srgbClr val="9AA3AF"/>
                </a:solidFill>
                <a:latin typeface="Calibri"/>
                <a:ea typeface="Calibri"/>
                <a:cs typeface="Calibri"/>
              </a:rPr>
              <a:t>→</a:t>
            </a:r>
          </a:p>
        </p:txBody>
      </p:sp>
      <p:sp>
        <p:nvSpPr>
          <p:cNvPr id="10" name="Text 8">
            <a:extLst>
              <a:ext uri="{FF2B5EF4-FFF2-40B4-BE49-F238E27FC236}">
                <a16:creationId xmlns:a16="http://schemas.microsoft.com/office/drawing/2014/main" id="{C5CB29F0-5857-4E95-8E83-ADD5DEC41D7D}"/>
              </a:ext>
            </a:extLst>
          </p:cNvPr>
          <p:cNvSpPr>
            <a:spLocks noGrp="1"/>
          </p:cNvSpPr>
          <p:nvPr/>
        </p:nvSpPr>
        <p:spPr>
          <a:xfrm>
            <a:off x="4114800" y="342900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Browserkontext</a:t>
            </a:r>
          </a:p>
        </p:txBody>
      </p:sp>
      <p:sp>
        <p:nvSpPr>
          <p:cNvPr id="11" name="Text 9">
            <a:extLst>
              <a:ext uri="{FF2B5EF4-FFF2-40B4-BE49-F238E27FC236}">
                <a16:creationId xmlns:a16="http://schemas.microsoft.com/office/drawing/2014/main" id="{0DC55A0F-11AD-4E66-B497-3B0E59484AC6}"/>
              </a:ext>
            </a:extLst>
          </p:cNvPr>
          <p:cNvSpPr>
            <a:spLocks noGrp="1"/>
          </p:cNvSpPr>
          <p:nvPr/>
        </p:nvSpPr>
        <p:spPr>
          <a:xfrm>
            <a:off x="4114800" y="381304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Scheduler Oberfläche</a:t>
            </a:r>
          </a:p>
        </p:txBody>
      </p:sp>
      <p:sp>
        <p:nvSpPr>
          <p:cNvPr id="12" name="Shape 10">
            <a:extLst>
              <a:ext uri="{FF2B5EF4-FFF2-40B4-BE49-F238E27FC236}">
                <a16:creationId xmlns:a16="http://schemas.microsoft.com/office/drawing/2014/main" id="{F90C256D-5E14-4FA9-BDC4-06BD082E67F5}"/>
              </a:ext>
            </a:extLst>
          </p:cNvPr>
          <p:cNvSpPr>
            <a:spLocks noGrp="1"/>
          </p:cNvSpPr>
          <p:nvPr/>
        </p:nvSpPr>
        <p:spPr>
          <a:xfrm>
            <a:off x="868680" y="4526280"/>
            <a:ext cx="10454335" cy="0"/>
          </a:xfrm>
          <a:prstGeom prst="line">
            <a:avLst/>
          </a:prstGeom>
          <a:noFill/>
          <a:ln w="12700">
            <a:solidFill>
              <a:srgbClr val="E4E7EC"/>
            </a:solidFill>
            <a:prstDash val="solid"/>
          </a:ln>
        </p:spPr>
        <p:txBody>
          <a:bodyPr/>
          <a:lstStyle/>
          <a:p>
            <a:endParaRPr lang="de-DE"/>
          </a:p>
        </p:txBody>
      </p:sp>
      <p:sp>
        <p:nvSpPr>
          <p:cNvPr id="13" name="Text 11">
            <a:extLst>
              <a:ext uri="{FF2B5EF4-FFF2-40B4-BE49-F238E27FC236}">
                <a16:creationId xmlns:a16="http://schemas.microsoft.com/office/drawing/2014/main" id="{EAE1B4B8-ECCC-498F-B560-F417BFE7F52A}"/>
              </a:ext>
            </a:extLst>
          </p:cNvPr>
          <p:cNvSpPr>
            <a:spLocks noGrp="1"/>
          </p:cNvSpPr>
          <p:nvPr/>
        </p:nvSpPr>
        <p:spPr>
          <a:xfrm>
            <a:off x="868680" y="4846320"/>
            <a:ext cx="9144000" cy="292608"/>
          </a:xfrm>
          <a:prstGeom prst="rect">
            <a:avLst/>
          </a:prstGeom>
          <a:noFill/>
        </p:spPr>
        <p:txBody>
          <a:bodyPr wrap="square" lIns="0" tIns="0" rIns="0" bIns="0" anchor="ctr"/>
          <a:lstStyle/>
          <a:p>
            <a:pPr marL="0" indent="0">
              <a:buNone/>
            </a:pPr>
            <a:r>
              <a:rPr sz="1150" b="1">
                <a:solidFill>
                  <a:srgbClr val="D23B4E"/>
                </a:solidFill>
                <a:latin typeface="Calibri"/>
                <a:ea typeface="Calibri"/>
                <a:cs typeface="Calibri"/>
              </a:rPr>
              <a:t>MÖGLICHE FOLGEN</a:t>
            </a:r>
          </a:p>
        </p:txBody>
      </p:sp>
      <p:sp>
        <p:nvSpPr>
          <p:cNvPr id="14" name="Text 12">
            <a:extLst>
              <a:ext uri="{FF2B5EF4-FFF2-40B4-BE49-F238E27FC236}">
                <a16:creationId xmlns:a16="http://schemas.microsoft.com/office/drawing/2014/main" id="{70747B67-D473-4779-9378-C3F4E97A1ECE}"/>
              </a:ext>
            </a:extLst>
          </p:cNvPr>
          <p:cNvSpPr>
            <a:spLocks noGrp="1"/>
          </p:cNvSpPr>
          <p:nvPr/>
        </p:nvSpPr>
        <p:spPr>
          <a:xfrm>
            <a:off x="868680" y="521208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Sichtbare Daten lesen</a:t>
            </a:r>
          </a:p>
        </p:txBody>
      </p:sp>
      <p:sp>
        <p:nvSpPr>
          <p:cNvPr id="15" name="Text 13">
            <a:extLst>
              <a:ext uri="{FF2B5EF4-FFF2-40B4-BE49-F238E27FC236}">
                <a16:creationId xmlns:a16="http://schemas.microsoft.com/office/drawing/2014/main" id="{CA0483C5-6E45-4D0E-95CA-281566E37CB4}"/>
              </a:ext>
            </a:extLst>
          </p:cNvPr>
          <p:cNvSpPr>
            <a:spLocks noGrp="1"/>
          </p:cNvSpPr>
          <p:nvPr/>
        </p:nvSpPr>
        <p:spPr>
          <a:xfrm>
            <a:off x="868680" y="559612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Planungsdaten</a:t>
            </a:r>
          </a:p>
        </p:txBody>
      </p:sp>
      <p:sp>
        <p:nvSpPr>
          <p:cNvPr id="16" name="Text 14">
            <a:extLst>
              <a:ext uri="{FF2B5EF4-FFF2-40B4-BE49-F238E27FC236}">
                <a16:creationId xmlns:a16="http://schemas.microsoft.com/office/drawing/2014/main" id="{39561BDA-AAA0-4F4D-800A-5FAE47B1DBC0}"/>
              </a:ext>
            </a:extLst>
          </p:cNvPr>
          <p:cNvSpPr>
            <a:spLocks noGrp="1"/>
          </p:cNvSpPr>
          <p:nvPr/>
        </p:nvSpPr>
        <p:spPr>
          <a:xfrm>
            <a:off x="3611880" y="5212080"/>
            <a:ext cx="457200" cy="411480"/>
          </a:xfrm>
          <a:prstGeom prst="rect">
            <a:avLst/>
          </a:prstGeom>
          <a:noFill/>
        </p:spPr>
        <p:txBody>
          <a:bodyPr wrap="square" lIns="0" tIns="0" rIns="0" bIns="0" anchor="ctr"/>
          <a:lstStyle/>
          <a:p>
            <a:pPr marL="0" indent="0" algn="ctr">
              <a:buNone/>
            </a:pPr>
            <a:r>
              <a:rPr sz="2000">
                <a:solidFill>
                  <a:srgbClr val="9AA3AF"/>
                </a:solidFill>
                <a:latin typeface="Calibri"/>
                <a:ea typeface="Calibri"/>
                <a:cs typeface="Calibri"/>
              </a:rPr>
              <a:t>→</a:t>
            </a:r>
          </a:p>
        </p:txBody>
      </p:sp>
      <p:sp>
        <p:nvSpPr>
          <p:cNvPr id="17" name="Text 15">
            <a:extLst>
              <a:ext uri="{FF2B5EF4-FFF2-40B4-BE49-F238E27FC236}">
                <a16:creationId xmlns:a16="http://schemas.microsoft.com/office/drawing/2014/main" id="{BDBC130B-2B31-45D2-B879-36DF0C4278AB}"/>
              </a:ext>
            </a:extLst>
          </p:cNvPr>
          <p:cNvSpPr>
            <a:spLocks noGrp="1"/>
          </p:cNvSpPr>
          <p:nvPr/>
        </p:nvSpPr>
        <p:spPr>
          <a:xfrm>
            <a:off x="4114800" y="521208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API Aktionen auslösen</a:t>
            </a:r>
          </a:p>
        </p:txBody>
      </p:sp>
      <p:sp>
        <p:nvSpPr>
          <p:cNvPr id="18" name="Text 16">
            <a:extLst>
              <a:ext uri="{FF2B5EF4-FFF2-40B4-BE49-F238E27FC236}">
                <a16:creationId xmlns:a16="http://schemas.microsoft.com/office/drawing/2014/main" id="{6666696C-18E9-46F1-A6A0-CBAECB612E00}"/>
              </a:ext>
            </a:extLst>
          </p:cNvPr>
          <p:cNvSpPr>
            <a:spLocks noGrp="1"/>
          </p:cNvSpPr>
          <p:nvPr/>
        </p:nvSpPr>
        <p:spPr>
          <a:xfrm>
            <a:off x="4114800" y="559612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mit aktiver Sitzung</a:t>
            </a:r>
          </a:p>
        </p:txBody>
      </p:sp>
      <p:sp>
        <p:nvSpPr>
          <p:cNvPr id="19" name="Text 17">
            <a:extLst>
              <a:ext uri="{FF2B5EF4-FFF2-40B4-BE49-F238E27FC236}">
                <a16:creationId xmlns:a16="http://schemas.microsoft.com/office/drawing/2014/main" id="{E72764EA-ABB2-4A98-9FA7-058BF2394BA6}"/>
              </a:ext>
            </a:extLst>
          </p:cNvPr>
          <p:cNvSpPr>
            <a:spLocks noGrp="1"/>
          </p:cNvSpPr>
          <p:nvPr/>
        </p:nvSpPr>
        <p:spPr>
          <a:xfrm>
            <a:off x="6858000" y="5212080"/>
            <a:ext cx="457200" cy="411480"/>
          </a:xfrm>
          <a:prstGeom prst="rect">
            <a:avLst/>
          </a:prstGeom>
          <a:noFill/>
        </p:spPr>
        <p:txBody>
          <a:bodyPr wrap="square" lIns="0" tIns="0" rIns="0" bIns="0" anchor="ctr"/>
          <a:lstStyle/>
          <a:p>
            <a:pPr marL="0" indent="0" algn="ctr">
              <a:buNone/>
            </a:pPr>
            <a:r>
              <a:rPr sz="2000">
                <a:solidFill>
                  <a:srgbClr val="9AA3AF"/>
                </a:solidFill>
                <a:latin typeface="Calibri"/>
                <a:ea typeface="Calibri"/>
                <a:cs typeface="Calibri"/>
              </a:rPr>
              <a:t>→</a:t>
            </a:r>
          </a:p>
        </p:txBody>
      </p:sp>
      <p:sp>
        <p:nvSpPr>
          <p:cNvPr id="20" name="Text 18">
            <a:extLst>
              <a:ext uri="{FF2B5EF4-FFF2-40B4-BE49-F238E27FC236}">
                <a16:creationId xmlns:a16="http://schemas.microsoft.com/office/drawing/2014/main" id="{FABDE965-8434-4C18-A0E7-29974E86BB2F}"/>
              </a:ext>
            </a:extLst>
          </p:cNvPr>
          <p:cNvSpPr>
            <a:spLocks noGrp="1"/>
          </p:cNvSpPr>
          <p:nvPr/>
        </p:nvSpPr>
        <p:spPr>
          <a:xfrm>
            <a:off x="7360920" y="521208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Token angreifen</a:t>
            </a:r>
          </a:p>
        </p:txBody>
      </p:sp>
      <p:sp>
        <p:nvSpPr>
          <p:cNvPr id="21" name="Text 19">
            <a:extLst>
              <a:ext uri="{FF2B5EF4-FFF2-40B4-BE49-F238E27FC236}">
                <a16:creationId xmlns:a16="http://schemas.microsoft.com/office/drawing/2014/main" id="{999A6B09-108B-49D2-9330-9B118FAC4155}"/>
              </a:ext>
            </a:extLst>
          </p:cNvPr>
          <p:cNvSpPr>
            <a:spLocks noGrp="1"/>
          </p:cNvSpPr>
          <p:nvPr/>
        </p:nvSpPr>
        <p:spPr>
          <a:xfrm>
            <a:off x="7360920" y="559612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im JavaScript Kontext</a:t>
            </a:r>
          </a:p>
        </p:txBody>
      </p:sp>
      <p:sp>
        <p:nvSpPr>
          <p:cNvPr id="25" name="Text 1">
            <a:extLst>
              <a:ext uri="{FF2B5EF4-FFF2-40B4-BE49-F238E27FC236}">
                <a16:creationId xmlns:a16="http://schemas.microsoft.com/office/drawing/2014/main" id="{275F2E3C-1561-777B-3603-6DA2F01E7600}"/>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pitchFamily="34" charset="0"/>
                <a:ea typeface="Calibri" pitchFamily="34" charset="-122"/>
                <a:cs typeface="Calibri" pitchFamily="34" charset="-120"/>
              </a:rPr>
              <a:t>0</a:t>
            </a: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11</a:t>
            </a:fld>
            <a:endParaRPr lang="en-US" sz="1050" dirty="0"/>
          </a:p>
        </p:txBody>
      </p:sp>
    </p:spTree>
    <p:extLst>
      <p:ext uri="{BB962C8B-B14F-4D97-AF65-F5344CB8AC3E}">
        <p14:creationId xmlns:p14="http://schemas.microsoft.com/office/powerpoint/2010/main" val="4878305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CF0022C8-D9AA-4F49-BC42-2B1F2337DAD7}"/>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BEHEBUNG · SCHEDULER</a:t>
            </a:r>
          </a:p>
        </p:txBody>
      </p:sp>
      <p:sp>
        <p:nvSpPr>
          <p:cNvPr id="4" name="Text 2">
            <a:extLst>
              <a:ext uri="{FF2B5EF4-FFF2-40B4-BE49-F238E27FC236}">
                <a16:creationId xmlns:a16="http://schemas.microsoft.com/office/drawing/2014/main" id="{5A721529-E6AD-4D51-8A7D-4F2EBE4C9E7C}"/>
              </a:ext>
            </a:extLst>
          </p:cNvPr>
          <p:cNvSpPr>
            <a:spLocks noGrp="1"/>
          </p:cNvSpPr>
          <p:nvPr/>
        </p:nvSpPr>
        <p:spPr>
          <a:xfrm>
            <a:off x="868680" y="1051560"/>
            <a:ext cx="10424160" cy="777240"/>
          </a:xfrm>
          <a:prstGeom prst="rect">
            <a:avLst/>
          </a:prstGeom>
          <a:noFill/>
        </p:spPr>
        <p:txBody>
          <a:bodyPr wrap="square" lIns="0" tIns="0" rIns="0" bIns="0" anchor="ctr"/>
          <a:lstStyle/>
          <a:p>
            <a:pPr marL="0" indent="0">
              <a:buNone/>
            </a:pPr>
            <a:r>
              <a:rPr sz="4000" b="1">
                <a:solidFill>
                  <a:srgbClr val="16181D"/>
                </a:solidFill>
                <a:latin typeface="Trebuchet MS"/>
                <a:ea typeface="Trebuchet MS"/>
                <a:cs typeface="Trebuchet MS"/>
              </a:rPr>
              <a:t>Ein eigener Event Slot erzwingt Text</a:t>
            </a:r>
          </a:p>
        </p:txBody>
      </p:sp>
      <p:sp>
        <p:nvSpPr>
          <p:cNvPr id="5" name="Text 3">
            <a:extLst>
              <a:ext uri="{FF2B5EF4-FFF2-40B4-BE49-F238E27FC236}">
                <a16:creationId xmlns:a16="http://schemas.microsoft.com/office/drawing/2014/main" id="{DA3294EB-5FC9-4DBE-9954-022CB814A373}"/>
              </a:ext>
            </a:extLst>
          </p:cNvPr>
          <p:cNvSpPr>
            <a:spLocks noGrp="1"/>
          </p:cNvSpPr>
          <p:nvPr/>
        </p:nvSpPr>
        <p:spPr>
          <a:xfrm>
            <a:off x="868680" y="1920240"/>
            <a:ext cx="1033272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Die sichere Variante übernimmt die Ausgabe selbst und rendert den Event Titel mit Vue Interpolation.</a:t>
            </a:r>
          </a:p>
        </p:txBody>
      </p:sp>
      <p:sp>
        <p:nvSpPr>
          <p:cNvPr id="6" name="Shape 4">
            <a:extLst>
              <a:ext uri="{FF2B5EF4-FFF2-40B4-BE49-F238E27FC236}">
                <a16:creationId xmlns:a16="http://schemas.microsoft.com/office/drawing/2014/main" id="{35CC8568-A092-44D8-BF1C-AC3202FC2A48}"/>
              </a:ext>
            </a:extLst>
          </p:cNvPr>
          <p:cNvSpPr>
            <a:spLocks noGrp="1"/>
          </p:cNvSpPr>
          <p:nvPr/>
        </p:nvSpPr>
        <p:spPr>
          <a:xfrm>
            <a:off x="6153615" y="2990385"/>
            <a:ext cx="9293" cy="3094835"/>
          </a:xfrm>
          <a:prstGeom prst="line">
            <a:avLst/>
          </a:prstGeom>
          <a:noFill/>
          <a:ln w="12700">
            <a:solidFill>
              <a:srgbClr val="E4E7EC"/>
            </a:solidFill>
            <a:prstDash val="solid"/>
          </a:ln>
        </p:spPr>
        <p:txBody>
          <a:bodyPr/>
          <a:lstStyle/>
          <a:p>
            <a:endParaRPr lang="de-DE"/>
          </a:p>
        </p:txBody>
      </p:sp>
      <p:sp>
        <p:nvSpPr>
          <p:cNvPr id="7" name="Text 5">
            <a:extLst>
              <a:ext uri="{FF2B5EF4-FFF2-40B4-BE49-F238E27FC236}">
                <a16:creationId xmlns:a16="http://schemas.microsoft.com/office/drawing/2014/main" id="{2E954620-EAB1-47E4-83F4-35AD6B11F02F}"/>
              </a:ext>
            </a:extLst>
          </p:cNvPr>
          <p:cNvSpPr>
            <a:spLocks noGrp="1"/>
          </p:cNvSpPr>
          <p:nvPr/>
        </p:nvSpPr>
        <p:spPr>
          <a:xfrm>
            <a:off x="86868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01</a:t>
            </a:r>
          </a:p>
        </p:txBody>
      </p:sp>
      <p:sp>
        <p:nvSpPr>
          <p:cNvPr id="8" name="Text 6">
            <a:extLst>
              <a:ext uri="{FF2B5EF4-FFF2-40B4-BE49-F238E27FC236}">
                <a16:creationId xmlns:a16="http://schemas.microsoft.com/office/drawing/2014/main" id="{EDE8088B-FE9F-4D2B-9299-FE4FB2CCAA1A}"/>
              </a:ext>
            </a:extLst>
          </p:cNvPr>
          <p:cNvSpPr>
            <a:spLocks noGrp="1"/>
          </p:cNvSpPr>
          <p:nvPr/>
        </p:nvSpPr>
        <p:spPr>
          <a:xfrm>
            <a:off x="150876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UNSICHER</a:t>
            </a:r>
          </a:p>
        </p:txBody>
      </p:sp>
      <p:sp>
        <p:nvSpPr>
          <p:cNvPr id="9" name="Text 7">
            <a:extLst>
              <a:ext uri="{FF2B5EF4-FFF2-40B4-BE49-F238E27FC236}">
                <a16:creationId xmlns:a16="http://schemas.microsoft.com/office/drawing/2014/main" id="{FD9FD98D-F4AA-41B0-9050-F0A4D15667A3}"/>
              </a:ext>
            </a:extLst>
          </p:cNvPr>
          <p:cNvSpPr>
            <a:spLocks noGrp="1"/>
          </p:cNvSpPr>
          <p:nvPr/>
        </p:nvSpPr>
        <p:spPr>
          <a:xfrm>
            <a:off x="868680" y="3611880"/>
            <a:ext cx="4937760" cy="82296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Der Standardrenderer entscheidet über die Ausgabe.</a:t>
            </a:r>
          </a:p>
        </p:txBody>
      </p:sp>
      <p:sp>
        <p:nvSpPr>
          <p:cNvPr id="10" name="Text 8">
            <a:extLst>
              <a:ext uri="{FF2B5EF4-FFF2-40B4-BE49-F238E27FC236}">
                <a16:creationId xmlns:a16="http://schemas.microsoft.com/office/drawing/2014/main" id="{6A21CCA7-D51F-4EA3-B69E-45E922B4987A}"/>
              </a:ext>
            </a:extLst>
          </p:cNvPr>
          <p:cNvSpPr>
            <a:spLocks noGrp="1"/>
          </p:cNvSpPr>
          <p:nvPr/>
        </p:nvSpPr>
        <p:spPr>
          <a:xfrm>
            <a:off x="868680" y="4480560"/>
            <a:ext cx="4937760" cy="365760"/>
          </a:xfrm>
          <a:prstGeom prst="rect">
            <a:avLst/>
          </a:prstGeom>
          <a:noFill/>
        </p:spPr>
        <p:txBody>
          <a:bodyPr wrap="square" lIns="0" tIns="0" rIns="0" bIns="0" anchor="ctr"/>
          <a:lstStyle/>
          <a:p>
            <a:pPr marL="0" indent="0">
              <a:buNone/>
            </a:pPr>
            <a:r>
              <a:rPr sz="1300">
                <a:solidFill>
                  <a:srgbClr val="16181D"/>
                </a:solidFill>
                <a:latin typeface="Consolas"/>
                <a:ea typeface="Consolas"/>
                <a:cs typeface="Consolas"/>
              </a:rPr>
              <a:t>&lt;VueCal :events="events" /&gt;</a:t>
            </a:r>
          </a:p>
        </p:txBody>
      </p:sp>
      <p:sp>
        <p:nvSpPr>
          <p:cNvPr id="11" name="Text 9">
            <a:extLst>
              <a:ext uri="{FF2B5EF4-FFF2-40B4-BE49-F238E27FC236}">
                <a16:creationId xmlns:a16="http://schemas.microsoft.com/office/drawing/2014/main" id="{E13CAE18-3B54-4F9F-9885-96165EA4B92C}"/>
              </a:ext>
            </a:extLst>
          </p:cNvPr>
          <p:cNvSpPr>
            <a:spLocks noGrp="1"/>
          </p:cNvSpPr>
          <p:nvPr/>
        </p:nvSpPr>
        <p:spPr>
          <a:xfrm>
            <a:off x="868680" y="5438822"/>
            <a:ext cx="4937760" cy="640080"/>
          </a:xfrm>
          <a:prstGeom prst="rect">
            <a:avLst/>
          </a:prstGeom>
          <a:noFill/>
        </p:spPr>
        <p:txBody>
          <a:bodyPr wrap="square" lIns="0" tIns="0" rIns="0" bIns="0" anchor="ctr"/>
          <a:lstStyle/>
          <a:p>
            <a:pPr marL="0" indent="0">
              <a:buNone/>
            </a:pPr>
            <a:r>
              <a:rPr sz="1250" i="1">
                <a:solidFill>
                  <a:srgbClr val="55606E"/>
                </a:solidFill>
                <a:latin typeface="Calibri"/>
                <a:ea typeface="Calibri"/>
                <a:cs typeface="Calibri"/>
              </a:rPr>
              <a:t>Event Titel wird als HTML interpretiert.</a:t>
            </a:r>
          </a:p>
        </p:txBody>
      </p:sp>
      <p:sp>
        <p:nvSpPr>
          <p:cNvPr id="12" name="Text 10">
            <a:extLst>
              <a:ext uri="{FF2B5EF4-FFF2-40B4-BE49-F238E27FC236}">
                <a16:creationId xmlns:a16="http://schemas.microsoft.com/office/drawing/2014/main" id="{1CF1865D-5627-4085-9715-548E2F408F90}"/>
              </a:ext>
            </a:extLst>
          </p:cNvPr>
          <p:cNvSpPr>
            <a:spLocks noGrp="1"/>
          </p:cNvSpPr>
          <p:nvPr/>
        </p:nvSpPr>
        <p:spPr>
          <a:xfrm>
            <a:off x="868680" y="6162536"/>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ReserveTimeslot.vue</a:t>
            </a:r>
          </a:p>
        </p:txBody>
      </p:sp>
      <p:sp>
        <p:nvSpPr>
          <p:cNvPr id="13" name="Text 11">
            <a:extLst>
              <a:ext uri="{FF2B5EF4-FFF2-40B4-BE49-F238E27FC236}">
                <a16:creationId xmlns:a16="http://schemas.microsoft.com/office/drawing/2014/main" id="{E807B7E2-C0CF-45F7-AE39-271D03D0F91C}"/>
              </a:ext>
            </a:extLst>
          </p:cNvPr>
          <p:cNvSpPr>
            <a:spLocks noGrp="1"/>
          </p:cNvSpPr>
          <p:nvPr/>
        </p:nvSpPr>
        <p:spPr>
          <a:xfrm>
            <a:off x="644652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02</a:t>
            </a:r>
          </a:p>
        </p:txBody>
      </p:sp>
      <p:sp>
        <p:nvSpPr>
          <p:cNvPr id="14" name="Text 12">
            <a:extLst>
              <a:ext uri="{FF2B5EF4-FFF2-40B4-BE49-F238E27FC236}">
                <a16:creationId xmlns:a16="http://schemas.microsoft.com/office/drawing/2014/main" id="{0F0510F5-569A-4889-9BB4-C3FC1A0DB3EC}"/>
              </a:ext>
            </a:extLst>
          </p:cNvPr>
          <p:cNvSpPr>
            <a:spLocks noGrp="1"/>
          </p:cNvSpPr>
          <p:nvPr/>
        </p:nvSpPr>
        <p:spPr>
          <a:xfrm>
            <a:off x="708660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SICHER</a:t>
            </a:r>
          </a:p>
        </p:txBody>
      </p:sp>
      <p:sp>
        <p:nvSpPr>
          <p:cNvPr id="15" name="Text 13">
            <a:extLst>
              <a:ext uri="{FF2B5EF4-FFF2-40B4-BE49-F238E27FC236}">
                <a16:creationId xmlns:a16="http://schemas.microsoft.com/office/drawing/2014/main" id="{1A943C59-EF01-4459-B15E-3A946AE37520}"/>
              </a:ext>
            </a:extLst>
          </p:cNvPr>
          <p:cNvSpPr>
            <a:spLocks noGrp="1"/>
          </p:cNvSpPr>
          <p:nvPr/>
        </p:nvSpPr>
        <p:spPr>
          <a:xfrm>
            <a:off x="6455813" y="3379563"/>
            <a:ext cx="4937760" cy="64008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Ein eigener Event Slot kontrolliert die Ausgabe.</a:t>
            </a:r>
          </a:p>
        </p:txBody>
      </p:sp>
      <p:sp>
        <p:nvSpPr>
          <p:cNvPr id="16" name="Text 14">
            <a:extLst>
              <a:ext uri="{FF2B5EF4-FFF2-40B4-BE49-F238E27FC236}">
                <a16:creationId xmlns:a16="http://schemas.microsoft.com/office/drawing/2014/main" id="{D8AE147B-555C-4CE1-BBF3-26A60718F958}"/>
              </a:ext>
            </a:extLst>
          </p:cNvPr>
          <p:cNvSpPr>
            <a:spLocks noGrp="1"/>
          </p:cNvSpPr>
          <p:nvPr/>
        </p:nvSpPr>
        <p:spPr>
          <a:xfrm>
            <a:off x="6688130" y="4203564"/>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&lt;template #event&gt;</a:t>
            </a:r>
          </a:p>
        </p:txBody>
      </p:sp>
      <p:sp>
        <p:nvSpPr>
          <p:cNvPr id="17" name="Text 15">
            <a:extLst>
              <a:ext uri="{FF2B5EF4-FFF2-40B4-BE49-F238E27FC236}">
                <a16:creationId xmlns:a16="http://schemas.microsoft.com/office/drawing/2014/main" id="{441CAD51-1904-41F0-B93C-F9E91B00D6A5}"/>
              </a:ext>
            </a:extLst>
          </p:cNvPr>
          <p:cNvSpPr>
            <a:spLocks noGrp="1"/>
          </p:cNvSpPr>
          <p:nvPr/>
        </p:nvSpPr>
        <p:spPr>
          <a:xfrm>
            <a:off x="9454747" y="4203564"/>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eigener Slot</a:t>
            </a:r>
          </a:p>
        </p:txBody>
      </p:sp>
      <p:sp>
        <p:nvSpPr>
          <p:cNvPr id="18" name="Text 16">
            <a:extLst>
              <a:ext uri="{FF2B5EF4-FFF2-40B4-BE49-F238E27FC236}">
                <a16:creationId xmlns:a16="http://schemas.microsoft.com/office/drawing/2014/main" id="{030DC8A2-C23C-480A-82E6-111FBF03444F}"/>
              </a:ext>
            </a:extLst>
          </p:cNvPr>
          <p:cNvSpPr>
            <a:spLocks noGrp="1"/>
          </p:cNvSpPr>
          <p:nvPr/>
        </p:nvSpPr>
        <p:spPr>
          <a:xfrm>
            <a:off x="7004081" y="4484946"/>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 event.title }}</a:t>
            </a:r>
          </a:p>
        </p:txBody>
      </p:sp>
      <p:sp>
        <p:nvSpPr>
          <p:cNvPr id="19" name="Text 17">
            <a:extLst>
              <a:ext uri="{FF2B5EF4-FFF2-40B4-BE49-F238E27FC236}">
                <a16:creationId xmlns:a16="http://schemas.microsoft.com/office/drawing/2014/main" id="{68B27804-D89B-47C9-A881-B07F98D02BF7}"/>
              </a:ext>
            </a:extLst>
          </p:cNvPr>
          <p:cNvSpPr>
            <a:spLocks noGrp="1"/>
          </p:cNvSpPr>
          <p:nvPr/>
        </p:nvSpPr>
        <p:spPr>
          <a:xfrm>
            <a:off x="9464040" y="4494239"/>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Vue Interpolation</a:t>
            </a:r>
          </a:p>
        </p:txBody>
      </p:sp>
      <p:sp>
        <p:nvSpPr>
          <p:cNvPr id="20" name="Text 18">
            <a:extLst>
              <a:ext uri="{FF2B5EF4-FFF2-40B4-BE49-F238E27FC236}">
                <a16:creationId xmlns:a16="http://schemas.microsoft.com/office/drawing/2014/main" id="{9F5BCFF2-50DB-433A-B52F-9BECB837A4E0}"/>
              </a:ext>
            </a:extLst>
          </p:cNvPr>
          <p:cNvSpPr>
            <a:spLocks noGrp="1"/>
          </p:cNvSpPr>
          <p:nvPr/>
        </p:nvSpPr>
        <p:spPr>
          <a:xfrm>
            <a:off x="6688130" y="4803500"/>
            <a:ext cx="3017520" cy="365760"/>
          </a:xfrm>
          <a:prstGeom prst="rect">
            <a:avLst/>
          </a:prstGeom>
          <a:noFill/>
        </p:spPr>
        <p:txBody>
          <a:bodyPr wrap="square" lIns="0" tIns="0" rIns="0" bIns="0" anchor="ctr"/>
          <a:lstStyle/>
          <a:p>
            <a:pPr marL="0" indent="0">
              <a:buNone/>
            </a:pPr>
            <a:r>
              <a:rPr lang="de-DE" sz="1300" b="1" dirty="0">
                <a:solidFill>
                  <a:srgbClr val="16181D"/>
                </a:solidFill>
                <a:latin typeface="Consolas"/>
              </a:rPr>
              <a:t>&lt;</a:t>
            </a:r>
            <a:r>
              <a:rPr lang="de-DE" sz="1300" b="1" dirty="0" err="1">
                <a:solidFill>
                  <a:srgbClr val="16181D"/>
                </a:solidFill>
                <a:latin typeface="Consolas"/>
              </a:rPr>
              <a:t>template</a:t>
            </a:r>
            <a:r>
              <a:rPr lang="de-DE" sz="1300" b="1" dirty="0">
                <a:solidFill>
                  <a:srgbClr val="16181D"/>
                </a:solidFill>
                <a:latin typeface="Consolas"/>
              </a:rPr>
              <a:t>&gt;</a:t>
            </a:r>
            <a:endParaRPr lang="de-DE" dirty="0"/>
          </a:p>
        </p:txBody>
      </p:sp>
      <p:sp>
        <p:nvSpPr>
          <p:cNvPr id="22" name="Text 20">
            <a:extLst>
              <a:ext uri="{FF2B5EF4-FFF2-40B4-BE49-F238E27FC236}">
                <a16:creationId xmlns:a16="http://schemas.microsoft.com/office/drawing/2014/main" id="{731FC50C-567F-4B1F-BDC7-CD198D0E5691}"/>
              </a:ext>
            </a:extLst>
          </p:cNvPr>
          <p:cNvSpPr>
            <a:spLocks noGrp="1"/>
          </p:cNvSpPr>
          <p:nvPr/>
        </p:nvSpPr>
        <p:spPr>
          <a:xfrm>
            <a:off x="6446520" y="6162536"/>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ReserveTimeslotSafe.vue</a:t>
            </a:r>
          </a:p>
        </p:txBody>
      </p:sp>
      <p:sp>
        <p:nvSpPr>
          <p:cNvPr id="24" name="Text 1">
            <a:extLst>
              <a:ext uri="{FF2B5EF4-FFF2-40B4-BE49-F238E27FC236}">
                <a16:creationId xmlns:a16="http://schemas.microsoft.com/office/drawing/2014/main" id="{47F29759-E576-9D9E-FE8A-752923102F90}"/>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12</a:t>
            </a:fld>
            <a:endParaRPr lang="en-US" sz="1050" dirty="0"/>
          </a:p>
        </p:txBody>
      </p:sp>
      <p:sp>
        <p:nvSpPr>
          <p:cNvPr id="23" name="Text 14">
            <a:extLst>
              <a:ext uri="{FF2B5EF4-FFF2-40B4-BE49-F238E27FC236}">
                <a16:creationId xmlns:a16="http://schemas.microsoft.com/office/drawing/2014/main" id="{790E6680-DEAF-79FE-997D-B579AC52F0A7}"/>
              </a:ext>
            </a:extLst>
          </p:cNvPr>
          <p:cNvSpPr>
            <a:spLocks noGrp="1"/>
          </p:cNvSpPr>
          <p:nvPr/>
        </p:nvSpPr>
        <p:spPr>
          <a:xfrm>
            <a:off x="6446519" y="3999124"/>
            <a:ext cx="3017520" cy="365760"/>
          </a:xfrm>
          <a:prstGeom prst="rect">
            <a:avLst/>
          </a:prstGeom>
          <a:noFill/>
        </p:spPr>
        <p:txBody>
          <a:bodyPr wrap="square" lIns="0" tIns="0" rIns="0" bIns="0" anchor="ctr"/>
          <a:lstStyle/>
          <a:p>
            <a:r>
              <a:rPr lang="en-US" sz="1300" b="1" dirty="0">
                <a:solidFill>
                  <a:srgbClr val="16181D"/>
                </a:solidFill>
                <a:latin typeface="Consolas"/>
                <a:ea typeface="Consolas"/>
                <a:cs typeface="Consolas"/>
              </a:rPr>
              <a:t>&lt;</a:t>
            </a:r>
            <a:r>
              <a:rPr lang="en-US" sz="1300" b="1" dirty="0" err="1">
                <a:solidFill>
                  <a:srgbClr val="16181D"/>
                </a:solidFill>
                <a:latin typeface="Consolas"/>
                <a:ea typeface="Consolas"/>
                <a:cs typeface="Consolas"/>
              </a:rPr>
              <a:t>VueCal</a:t>
            </a:r>
            <a:r>
              <a:rPr lang="en-US" sz="1300" b="1" dirty="0">
                <a:solidFill>
                  <a:srgbClr val="16181D"/>
                </a:solidFill>
                <a:latin typeface="Consolas"/>
                <a:ea typeface="Consolas"/>
                <a:cs typeface="Consolas"/>
              </a:rPr>
              <a:t> :events="events" /&gt;</a:t>
            </a:r>
          </a:p>
          <a:p>
            <a:pPr marL="0" indent="0">
              <a:buNone/>
            </a:pPr>
            <a:endParaRPr sz="1300" b="1" dirty="0">
              <a:solidFill>
                <a:srgbClr val="16181D"/>
              </a:solidFill>
              <a:latin typeface="Consolas"/>
              <a:ea typeface="Consolas"/>
              <a:cs typeface="Consolas"/>
            </a:endParaRPr>
          </a:p>
        </p:txBody>
      </p:sp>
      <p:sp>
        <p:nvSpPr>
          <p:cNvPr id="25" name="Text 9">
            <a:extLst>
              <a:ext uri="{FF2B5EF4-FFF2-40B4-BE49-F238E27FC236}">
                <a16:creationId xmlns:a16="http://schemas.microsoft.com/office/drawing/2014/main" id="{D1397139-91AE-B426-7B3D-BDAD328AE4ED}"/>
              </a:ext>
            </a:extLst>
          </p:cNvPr>
          <p:cNvSpPr>
            <a:spLocks noGrp="1"/>
          </p:cNvSpPr>
          <p:nvPr/>
        </p:nvSpPr>
        <p:spPr>
          <a:xfrm>
            <a:off x="6434996" y="5438821"/>
            <a:ext cx="3971322" cy="723714"/>
          </a:xfrm>
          <a:prstGeom prst="rect">
            <a:avLst/>
          </a:prstGeom>
          <a:noFill/>
        </p:spPr>
        <p:txBody>
          <a:bodyPr wrap="square" lIns="0" tIns="0" rIns="0" bIns="0" anchor="ctr"/>
          <a:lstStyle/>
          <a:p>
            <a:r>
              <a:rPr lang="de-DE" sz="1250" i="1">
                <a:solidFill>
                  <a:srgbClr val="55606E"/>
                </a:solidFill>
                <a:latin typeface="Calibri"/>
                <a:ea typeface="Calibri"/>
                <a:cs typeface="Calibri"/>
              </a:rPr>
              <a:t>Text statt Code</a:t>
            </a:r>
            <a:r>
              <a:rPr sz="1250" i="1">
                <a:solidFill>
                  <a:srgbClr val="55606E"/>
                </a:solidFill>
                <a:latin typeface="Calibri"/>
                <a:ea typeface="Calibri"/>
                <a:cs typeface="Calibri"/>
              </a:rPr>
              <a:t>.</a:t>
            </a:r>
          </a:p>
        </p:txBody>
      </p:sp>
      <p:sp>
        <p:nvSpPr>
          <p:cNvPr id="26" name="Text 18">
            <a:extLst>
              <a:ext uri="{FF2B5EF4-FFF2-40B4-BE49-F238E27FC236}">
                <a16:creationId xmlns:a16="http://schemas.microsoft.com/office/drawing/2014/main" id="{EA9AEB05-21AE-C13A-F79E-3E89CF72013B}"/>
              </a:ext>
            </a:extLst>
          </p:cNvPr>
          <p:cNvSpPr>
            <a:spLocks noGrp="1"/>
          </p:cNvSpPr>
          <p:nvPr/>
        </p:nvSpPr>
        <p:spPr>
          <a:xfrm>
            <a:off x="6437227" y="5128744"/>
            <a:ext cx="3017520" cy="365760"/>
          </a:xfrm>
          <a:prstGeom prst="rect">
            <a:avLst/>
          </a:prstGeom>
          <a:noFill/>
        </p:spPr>
        <p:txBody>
          <a:bodyPr wrap="square" lIns="0" tIns="0" rIns="0" bIns="0" anchor="ctr"/>
          <a:lstStyle/>
          <a:p>
            <a:pPr marL="0" indent="0">
              <a:buNone/>
            </a:pPr>
            <a:r>
              <a:rPr lang="de-DE" sz="1300" b="1" dirty="0">
                <a:solidFill>
                  <a:srgbClr val="16181D"/>
                </a:solidFill>
                <a:latin typeface="Consolas"/>
                <a:ea typeface="+mn-lt"/>
                <a:cs typeface="+mn-lt"/>
              </a:rPr>
              <a:t>&lt;/</a:t>
            </a:r>
            <a:r>
              <a:rPr lang="de-DE" sz="1300" b="1" dirty="0" err="1">
                <a:solidFill>
                  <a:srgbClr val="16181D"/>
                </a:solidFill>
                <a:latin typeface="Consolas"/>
                <a:ea typeface="+mn-lt"/>
                <a:cs typeface="+mn-lt"/>
              </a:rPr>
              <a:t>VueCal</a:t>
            </a:r>
            <a:r>
              <a:rPr lang="de-DE" sz="1300" b="1" dirty="0">
                <a:solidFill>
                  <a:srgbClr val="16181D"/>
                </a:solidFill>
                <a:latin typeface="Consolas"/>
                <a:ea typeface="+mn-lt"/>
                <a:cs typeface="+mn-lt"/>
              </a:rPr>
              <a:t>&gt;</a:t>
            </a:r>
            <a:endParaRPr lang="de-DE" dirty="0"/>
          </a:p>
        </p:txBody>
      </p:sp>
    </p:spTree>
    <p:extLst>
      <p:ext uri="{BB962C8B-B14F-4D97-AF65-F5344CB8AC3E}">
        <p14:creationId xmlns:p14="http://schemas.microsoft.com/office/powerpoint/2010/main" val="19782303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F14438A8-86E6-40A6-8F29-4F1D64CC14CD}"/>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FAZIT · XSS</a:t>
            </a:r>
          </a:p>
        </p:txBody>
      </p:sp>
      <p:sp>
        <p:nvSpPr>
          <p:cNvPr id="4" name="Text 2">
            <a:extLst>
              <a:ext uri="{FF2B5EF4-FFF2-40B4-BE49-F238E27FC236}">
                <a16:creationId xmlns:a16="http://schemas.microsoft.com/office/drawing/2014/main" id="{8C2A5EC1-0471-4723-B1A6-5E24B15C811C}"/>
              </a:ext>
            </a:extLst>
          </p:cNvPr>
          <p:cNvSpPr>
            <a:spLocks noGrp="1"/>
          </p:cNvSpPr>
          <p:nvPr/>
        </p:nvSpPr>
        <p:spPr>
          <a:xfrm>
            <a:off x="868680" y="1600200"/>
            <a:ext cx="10424160" cy="1554480"/>
          </a:xfrm>
          <a:prstGeom prst="rect">
            <a:avLst/>
          </a:prstGeom>
          <a:noFill/>
        </p:spPr>
        <p:txBody>
          <a:bodyPr wrap="square" lIns="0" tIns="0" rIns="0" bIns="0" anchor="ctr"/>
          <a:lstStyle/>
          <a:p>
            <a:pPr marL="0" indent="0">
              <a:buNone/>
            </a:pPr>
            <a:r>
              <a:rPr sz="4800" b="1">
                <a:solidFill>
                  <a:srgbClr val="16181D"/>
                </a:solidFill>
                <a:latin typeface="Trebuchet MS"/>
                <a:ea typeface="Trebuchet MS"/>
                <a:cs typeface="Trebuchet MS"/>
              </a:rPr>
              <a:t>Die Ausgabe ist die Sicherheitsgrenze.</a:t>
            </a:r>
          </a:p>
        </p:txBody>
      </p:sp>
      <p:sp>
        <p:nvSpPr>
          <p:cNvPr id="5" name="Text 3">
            <a:extLst>
              <a:ext uri="{FF2B5EF4-FFF2-40B4-BE49-F238E27FC236}">
                <a16:creationId xmlns:a16="http://schemas.microsoft.com/office/drawing/2014/main" id="{05091A4B-9D74-4647-B741-E814B8C393B1}"/>
              </a:ext>
            </a:extLst>
          </p:cNvPr>
          <p:cNvSpPr>
            <a:spLocks noGrp="1"/>
          </p:cNvSpPr>
          <p:nvPr/>
        </p:nvSpPr>
        <p:spPr>
          <a:xfrm>
            <a:off x="868680" y="3337560"/>
            <a:ext cx="9875520" cy="731520"/>
          </a:xfrm>
          <a:prstGeom prst="rect">
            <a:avLst/>
          </a:prstGeom>
          <a:noFill/>
        </p:spPr>
        <p:txBody>
          <a:bodyPr wrap="square" lIns="0" tIns="0" rIns="0" bIns="0" anchor="ctr"/>
          <a:lstStyle/>
          <a:p>
            <a:pPr marL="0" indent="0">
              <a:buNone/>
            </a:pPr>
            <a:r>
              <a:rPr sz="1900">
                <a:solidFill>
                  <a:srgbClr val="55606E"/>
                </a:solidFill>
                <a:latin typeface="Calibri"/>
                <a:ea typeface="Calibri"/>
                <a:cs typeface="Calibri"/>
              </a:rPr>
              <a:t>Stored DOM XSS entsteht hier, weil eine Bibliothek gespeicherte Daten als HTML rendert. Sichere Textausgabe beseitigt die Ursache.</a:t>
            </a:r>
          </a:p>
        </p:txBody>
      </p:sp>
      <p:sp>
        <p:nvSpPr>
          <p:cNvPr id="6" name="Shape 4">
            <a:extLst>
              <a:ext uri="{FF2B5EF4-FFF2-40B4-BE49-F238E27FC236}">
                <a16:creationId xmlns:a16="http://schemas.microsoft.com/office/drawing/2014/main" id="{463ACFA2-6607-478F-881D-1441DB8A61EA}"/>
              </a:ext>
            </a:extLst>
          </p:cNvPr>
          <p:cNvSpPr>
            <a:spLocks noGrp="1"/>
          </p:cNvSpPr>
          <p:nvPr/>
        </p:nvSpPr>
        <p:spPr>
          <a:xfrm>
            <a:off x="868680" y="4572000"/>
            <a:ext cx="10454335" cy="0"/>
          </a:xfrm>
          <a:prstGeom prst="line">
            <a:avLst/>
          </a:prstGeom>
          <a:noFill/>
          <a:ln w="12700">
            <a:solidFill>
              <a:srgbClr val="E4E7EC"/>
            </a:solidFill>
            <a:prstDash val="solid"/>
          </a:ln>
        </p:spPr>
        <p:txBody>
          <a:bodyPr/>
          <a:lstStyle/>
          <a:p>
            <a:endParaRPr lang="de-DE"/>
          </a:p>
        </p:txBody>
      </p:sp>
      <p:sp>
        <p:nvSpPr>
          <p:cNvPr id="7" name="Text 5">
            <a:extLst>
              <a:ext uri="{FF2B5EF4-FFF2-40B4-BE49-F238E27FC236}">
                <a16:creationId xmlns:a16="http://schemas.microsoft.com/office/drawing/2014/main" id="{FB4026A1-996C-4904-B237-913D0AFC1C7E}"/>
              </a:ext>
            </a:extLst>
          </p:cNvPr>
          <p:cNvSpPr>
            <a:spLocks noGrp="1"/>
          </p:cNvSpPr>
          <p:nvPr/>
        </p:nvSpPr>
        <p:spPr>
          <a:xfrm>
            <a:off x="868680" y="4846320"/>
            <a:ext cx="4937760" cy="292608"/>
          </a:xfrm>
          <a:prstGeom prst="rect">
            <a:avLst/>
          </a:prstGeom>
          <a:noFill/>
        </p:spPr>
        <p:txBody>
          <a:bodyPr wrap="square" lIns="0" tIns="0" rIns="0" bIns="0" anchor="ctr"/>
          <a:lstStyle/>
          <a:p>
            <a:pPr marL="0" indent="0">
              <a:buNone/>
            </a:pPr>
            <a:r>
              <a:rPr sz="1150" b="1">
                <a:solidFill>
                  <a:srgbClr val="16181D"/>
                </a:solidFill>
                <a:latin typeface="Calibri"/>
                <a:ea typeface="Calibri"/>
                <a:cs typeface="Calibri"/>
              </a:rPr>
              <a:t>PRIMÄRER FIX</a:t>
            </a:r>
          </a:p>
        </p:txBody>
      </p:sp>
      <p:sp>
        <p:nvSpPr>
          <p:cNvPr id="8" name="Text 6">
            <a:extLst>
              <a:ext uri="{FF2B5EF4-FFF2-40B4-BE49-F238E27FC236}">
                <a16:creationId xmlns:a16="http://schemas.microsoft.com/office/drawing/2014/main" id="{0E4D9612-EDAB-4332-A7DB-FEFDEDC65C58}"/>
              </a:ext>
            </a:extLst>
          </p:cNvPr>
          <p:cNvSpPr>
            <a:spLocks noGrp="1"/>
          </p:cNvSpPr>
          <p:nvPr/>
        </p:nvSpPr>
        <p:spPr>
          <a:xfrm>
            <a:off x="868680" y="5212080"/>
            <a:ext cx="4754880" cy="73152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Eigene VueCal Event Slots verwenden und nutzerkontrollierte Werte mit Vue Interpolation rendern.</a:t>
            </a:r>
          </a:p>
        </p:txBody>
      </p:sp>
      <p:sp>
        <p:nvSpPr>
          <p:cNvPr id="9" name="Shape 7">
            <a:extLst>
              <a:ext uri="{FF2B5EF4-FFF2-40B4-BE49-F238E27FC236}">
                <a16:creationId xmlns:a16="http://schemas.microsoft.com/office/drawing/2014/main" id="{8710A285-2F57-4A43-B787-63EB729D85F5}"/>
              </a:ext>
            </a:extLst>
          </p:cNvPr>
          <p:cNvSpPr>
            <a:spLocks noGrp="1"/>
          </p:cNvSpPr>
          <p:nvPr/>
        </p:nvSpPr>
        <p:spPr>
          <a:xfrm>
            <a:off x="6172200" y="4864608"/>
            <a:ext cx="0" cy="914400"/>
          </a:xfrm>
          <a:prstGeom prst="line">
            <a:avLst/>
          </a:prstGeom>
          <a:noFill/>
          <a:ln w="12700">
            <a:solidFill>
              <a:srgbClr val="E4E7EC"/>
            </a:solidFill>
            <a:prstDash val="solid"/>
          </a:ln>
        </p:spPr>
        <p:txBody>
          <a:bodyPr/>
          <a:lstStyle/>
          <a:p>
            <a:endParaRPr lang="de-DE"/>
          </a:p>
        </p:txBody>
      </p:sp>
      <p:sp>
        <p:nvSpPr>
          <p:cNvPr id="10" name="Text 8">
            <a:extLst>
              <a:ext uri="{FF2B5EF4-FFF2-40B4-BE49-F238E27FC236}">
                <a16:creationId xmlns:a16="http://schemas.microsoft.com/office/drawing/2014/main" id="{E1DC6AC7-F546-4546-BB72-38525E3A8824}"/>
              </a:ext>
            </a:extLst>
          </p:cNvPr>
          <p:cNvSpPr>
            <a:spLocks noGrp="1"/>
          </p:cNvSpPr>
          <p:nvPr/>
        </p:nvSpPr>
        <p:spPr>
          <a:xfrm>
            <a:off x="6446520" y="4846320"/>
            <a:ext cx="4937760" cy="292608"/>
          </a:xfrm>
          <a:prstGeom prst="rect">
            <a:avLst/>
          </a:prstGeom>
          <a:noFill/>
        </p:spPr>
        <p:txBody>
          <a:bodyPr wrap="square" lIns="0" tIns="0" rIns="0" bIns="0" anchor="ctr"/>
          <a:lstStyle/>
          <a:p>
            <a:pPr marL="0" indent="0">
              <a:buNone/>
            </a:pPr>
            <a:r>
              <a:rPr sz="1150" b="1">
                <a:solidFill>
                  <a:srgbClr val="16181D"/>
                </a:solidFill>
                <a:latin typeface="Calibri"/>
                <a:ea typeface="Calibri"/>
                <a:cs typeface="Calibri"/>
              </a:rPr>
              <a:t>ZUSATZSCHUTZ</a:t>
            </a:r>
          </a:p>
        </p:txBody>
      </p:sp>
      <p:sp>
        <p:nvSpPr>
          <p:cNvPr id="11" name="Text 9">
            <a:extLst>
              <a:ext uri="{FF2B5EF4-FFF2-40B4-BE49-F238E27FC236}">
                <a16:creationId xmlns:a16="http://schemas.microsoft.com/office/drawing/2014/main" id="{7DFA6E6B-4509-4421-BFE8-F8AFF7228670}"/>
              </a:ext>
            </a:extLst>
          </p:cNvPr>
          <p:cNvSpPr>
            <a:spLocks noGrp="1"/>
          </p:cNvSpPr>
          <p:nvPr/>
        </p:nvSpPr>
        <p:spPr>
          <a:xfrm>
            <a:off x="6446520" y="5212080"/>
            <a:ext cx="4754880" cy="73152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Weitere HTML Senken prüfen, serverseitige Längenregeln ergänzen und Content Security Policy einsetzen.</a:t>
            </a:r>
          </a:p>
        </p:txBody>
      </p:sp>
      <p:sp>
        <p:nvSpPr>
          <p:cNvPr id="12" name="Text 1">
            <a:extLst>
              <a:ext uri="{FF2B5EF4-FFF2-40B4-BE49-F238E27FC236}">
                <a16:creationId xmlns:a16="http://schemas.microsoft.com/office/drawing/2014/main" id="{EE088A71-32ED-B075-D75B-39A34473C0C6}"/>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13</a:t>
            </a:fld>
            <a:endParaRPr lang="en-US" sz="1050" dirty="0"/>
          </a:p>
        </p:txBody>
      </p:sp>
    </p:spTree>
    <p:extLst>
      <p:ext uri="{BB962C8B-B14F-4D97-AF65-F5344CB8AC3E}">
        <p14:creationId xmlns:p14="http://schemas.microsoft.com/office/powerpoint/2010/main" val="1572903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822960" y="2194560"/>
            <a:ext cx="10058400" cy="1463040"/>
          </a:xfrm>
          <a:prstGeom prst="rect">
            <a:avLst/>
          </a:prstGeom>
          <a:noFill/>
          <a:ln/>
        </p:spPr>
        <p:txBody>
          <a:bodyPr wrap="square" lIns="0" tIns="0" rIns="0" bIns="0" rtlCol="0" anchor="ctr"/>
          <a:lstStyle/>
          <a:p>
            <a:pPr marL="0" indent="0">
              <a:buNone/>
            </a:pPr>
            <a:r>
              <a:rPr lang="en-US" sz="11000" b="1" kern="0" spc="100" dirty="0">
                <a:solidFill>
                  <a:srgbClr val="16181D"/>
                </a:solidFill>
                <a:latin typeface="Trebuchet MS" pitchFamily="34" charset="0"/>
                <a:ea typeface="Trebuchet MS" pitchFamily="34" charset="-122"/>
                <a:cs typeface="Trebuchet MS" pitchFamily="34" charset="-120"/>
              </a:rPr>
              <a:t>CORS</a:t>
            </a:r>
            <a:endParaRPr lang="en-US" sz="11000" dirty="0"/>
          </a:p>
        </p:txBody>
      </p:sp>
      <p:sp>
        <p:nvSpPr>
          <p:cNvPr id="4" name="Text 2"/>
          <p:cNvSpPr/>
          <p:nvPr/>
        </p:nvSpPr>
        <p:spPr>
          <a:xfrm>
            <a:off x="868680" y="3703320"/>
            <a:ext cx="10058400" cy="502920"/>
          </a:xfrm>
          <a:prstGeom prst="rect">
            <a:avLst/>
          </a:prstGeom>
          <a:noFill/>
          <a:ln/>
        </p:spPr>
        <p:txBody>
          <a:bodyPr wrap="square" lIns="0" tIns="0" rIns="0" bIns="0" rtlCol="0" anchor="ctr"/>
          <a:lstStyle/>
          <a:p>
            <a:pPr marL="0" indent="0">
              <a:buNone/>
            </a:pPr>
            <a:r>
              <a:rPr lang="en-US" sz="2600" dirty="0">
                <a:solidFill>
                  <a:srgbClr val="55606E"/>
                </a:solidFill>
                <a:latin typeface="Trebuchet MS" pitchFamily="34" charset="0"/>
                <a:ea typeface="Trebuchet MS" pitchFamily="34" charset="-122"/>
                <a:cs typeface="Trebuchet MS" pitchFamily="34" charset="-120"/>
              </a:rPr>
              <a:t>Cross-Origin Resource Sharing</a:t>
            </a:r>
            <a:endParaRPr lang="en-US" sz="2600" dirty="0"/>
          </a:p>
        </p:txBody>
      </p:sp>
      <p:sp>
        <p:nvSpPr>
          <p:cNvPr id="5" name="Shape 3"/>
          <p:cNvSpPr/>
          <p:nvPr/>
        </p:nvSpPr>
        <p:spPr>
          <a:xfrm>
            <a:off x="868680" y="4526280"/>
            <a:ext cx="1828800" cy="0"/>
          </a:xfrm>
          <a:prstGeom prst="line">
            <a:avLst/>
          </a:prstGeom>
          <a:noFill/>
          <a:ln w="28575">
            <a:solidFill>
              <a:srgbClr val="16181D"/>
            </a:solidFill>
            <a:prstDash val="solid"/>
          </a:ln>
        </p:spPr>
        <p:txBody>
          <a:bodyPr/>
          <a:lstStyle/>
          <a:p>
            <a:endParaRPr lang="de-DE"/>
          </a:p>
        </p:txBody>
      </p:sp>
      <p:sp>
        <p:nvSpPr>
          <p:cNvPr id="6" name="Text 4"/>
          <p:cNvSpPr/>
          <p:nvPr/>
        </p:nvSpPr>
        <p:spPr>
          <a:xfrm>
            <a:off x="868680" y="4754880"/>
            <a:ext cx="8686800" cy="457200"/>
          </a:xfrm>
          <a:prstGeom prst="rect">
            <a:avLst/>
          </a:prstGeom>
          <a:noFill/>
          <a:ln/>
        </p:spPr>
        <p:txBody>
          <a:bodyPr wrap="square" lIns="0" tIns="0" rIns="0" bIns="0" rtlCol="0" anchor="ctr"/>
          <a:lstStyle/>
          <a:p>
            <a:pPr marL="0" indent="0">
              <a:buNone/>
            </a:pPr>
            <a:r>
              <a:rPr lang="en-US" sz="1600" dirty="0">
                <a:solidFill>
                  <a:srgbClr val="55606E"/>
                </a:solidFill>
                <a:latin typeface="Calibri" pitchFamily="34" charset="0"/>
                <a:ea typeface="Calibri" pitchFamily="34" charset="-122"/>
                <a:cs typeface="Calibri" pitchFamily="34" charset="-120"/>
              </a:rPr>
              <a:t>Was der Browser </a:t>
            </a:r>
            <a:r>
              <a:rPr lang="en-US" sz="1600" dirty="0" err="1">
                <a:solidFill>
                  <a:srgbClr val="55606E"/>
                </a:solidFill>
                <a:latin typeface="Calibri" pitchFamily="34" charset="0"/>
                <a:ea typeface="Calibri" pitchFamily="34" charset="-122"/>
                <a:cs typeface="Calibri" pitchFamily="34" charset="-120"/>
              </a:rPr>
              <a:t>blockiert</a:t>
            </a:r>
            <a:r>
              <a:rPr lang="en-US" sz="1600" dirty="0">
                <a:solidFill>
                  <a:srgbClr val="55606E"/>
                </a:solidFill>
                <a:latin typeface="Calibri" pitchFamily="34" charset="0"/>
                <a:ea typeface="Calibri" pitchFamily="34" charset="-122"/>
                <a:cs typeface="Calibri" pitchFamily="34" charset="-120"/>
              </a:rPr>
              <a:t> - </a:t>
            </a:r>
            <a:r>
              <a:rPr lang="en-US" sz="1600" dirty="0" err="1">
                <a:solidFill>
                  <a:srgbClr val="55606E"/>
                </a:solidFill>
                <a:latin typeface="Calibri" pitchFamily="34" charset="0"/>
                <a:ea typeface="Calibri" pitchFamily="34" charset="-122"/>
                <a:cs typeface="Calibri" pitchFamily="34" charset="-120"/>
              </a:rPr>
              <a:t>warum</a:t>
            </a:r>
            <a:r>
              <a:rPr lang="en-US" sz="1600" dirty="0">
                <a:solidFill>
                  <a:srgbClr val="55606E"/>
                </a:solidFill>
                <a:latin typeface="Calibri" pitchFamily="34" charset="0"/>
                <a:ea typeface="Calibri" pitchFamily="34" charset="-122"/>
                <a:cs typeface="Calibri" pitchFamily="34" charset="-120"/>
              </a:rPr>
              <a:t> und </a:t>
            </a:r>
            <a:r>
              <a:rPr lang="en-US" sz="1600" dirty="0" err="1">
                <a:solidFill>
                  <a:srgbClr val="55606E"/>
                </a:solidFill>
                <a:latin typeface="Calibri" pitchFamily="34" charset="0"/>
                <a:ea typeface="Calibri" pitchFamily="34" charset="-122"/>
                <a:cs typeface="Calibri" pitchFamily="34" charset="-120"/>
              </a:rPr>
              <a:t>wie</a:t>
            </a:r>
            <a:r>
              <a:rPr lang="en-US" sz="1600" dirty="0">
                <a:solidFill>
                  <a:srgbClr val="55606E"/>
                </a:solidFill>
                <a:latin typeface="Calibri" pitchFamily="34" charset="0"/>
                <a:ea typeface="Calibri" pitchFamily="34" charset="-122"/>
                <a:cs typeface="Calibri" pitchFamily="34" charset="-120"/>
              </a:rPr>
              <a:t> die scheduler-API davon betroffen ist.</a:t>
            </a:r>
            <a:endParaRPr lang="en-US" sz="1600" dirty="0"/>
          </a:p>
        </p:txBody>
      </p:sp>
      <p:sp>
        <p:nvSpPr>
          <p:cNvPr id="8" name="Text 5">
            <a:extLst>
              <a:ext uri="{FF2B5EF4-FFF2-40B4-BE49-F238E27FC236}">
                <a16:creationId xmlns:a16="http://schemas.microsoft.com/office/drawing/2014/main" id="{5FDC3C88-357D-D86F-95D0-27F8EFCA191B}"/>
              </a:ext>
            </a:extLst>
          </p:cNvPr>
          <p:cNvSpPr>
            <a:spLocks noGrp="1"/>
          </p:cNvSpPr>
          <p:nvPr/>
        </p:nvSpPr>
        <p:spPr>
          <a:xfrm>
            <a:off x="9448495" y="6080760"/>
            <a:ext cx="1874520" cy="320040"/>
          </a:xfrm>
          <a:prstGeom prst="rect">
            <a:avLst/>
          </a:prstGeom>
          <a:noFill/>
        </p:spPr>
        <p:txBody>
          <a:bodyPr wrap="square" lIns="0" tIns="0" rIns="0" bIns="0" anchor="ctr"/>
          <a:lstStyle/>
          <a:p>
            <a:pPr marL="0" indent="0" algn="r">
              <a:buNone/>
            </a:pPr>
            <a:r>
              <a:rPr sz="1200" i="1" dirty="0" err="1">
                <a:solidFill>
                  <a:srgbClr val="9AA3AF"/>
                </a:solidFill>
                <a:latin typeface="Calibri"/>
                <a:ea typeface="Calibri"/>
                <a:cs typeface="Calibri"/>
              </a:rPr>
              <a:t>Vortrag</a:t>
            </a:r>
            <a:r>
              <a:rPr sz="1200" i="1" dirty="0">
                <a:solidFill>
                  <a:srgbClr val="9AA3AF"/>
                </a:solidFill>
                <a:latin typeface="Calibri"/>
                <a:ea typeface="Calibri"/>
                <a:cs typeface="Calibri"/>
              </a:rPr>
              <a:t>: </a:t>
            </a:r>
            <a:r>
              <a:rPr lang="de-DE" sz="1200" i="1" dirty="0">
                <a:solidFill>
                  <a:srgbClr val="9AA3AF"/>
                </a:solidFill>
                <a:latin typeface="Calibri"/>
                <a:ea typeface="Calibri"/>
                <a:cs typeface="Calibri"/>
              </a:rPr>
              <a:t>Ole</a:t>
            </a:r>
            <a:r>
              <a:rPr sz="1200" i="1" dirty="0">
                <a:solidFill>
                  <a:srgbClr val="9AA3AF"/>
                </a:solidFill>
                <a:latin typeface="Calibri"/>
                <a:ea typeface="Calibri"/>
                <a:cs typeface="Calibri"/>
              </a:rPr>
              <a:t> &amp;</a:t>
            </a:r>
            <a:r>
              <a:rPr lang="de-DE" sz="1200" i="1" dirty="0">
                <a:solidFill>
                  <a:srgbClr val="9AA3AF"/>
                </a:solidFill>
                <a:latin typeface="Calibri"/>
                <a:ea typeface="Calibri"/>
                <a:cs typeface="Calibri"/>
              </a:rPr>
              <a:t> Tom</a:t>
            </a:r>
            <a:endParaRPr sz="1200" i="1" dirty="0">
              <a:solidFill>
                <a:srgbClr val="9AA3AF"/>
              </a:solidFill>
              <a:latin typeface="Calibri"/>
              <a:ea typeface="Calibri"/>
              <a:cs typeface="Calibri"/>
            </a:endParaRPr>
          </a:p>
        </p:txBody>
      </p:sp>
      <p:sp>
        <p:nvSpPr>
          <p:cNvPr id="9" name="Text 0">
            <a:extLst>
              <a:ext uri="{FF2B5EF4-FFF2-40B4-BE49-F238E27FC236}">
                <a16:creationId xmlns:a16="http://schemas.microsoft.com/office/drawing/2014/main" id="{7CB978CC-B92F-47A9-E291-692F319275C4}"/>
              </a:ext>
            </a:extLst>
          </p:cNvPr>
          <p:cNvSpPr>
            <a:spLocks noGrp="1"/>
          </p:cNvSpPr>
          <p:nvPr/>
        </p:nvSpPr>
        <p:spPr>
          <a:xfrm>
            <a:off x="868680" y="1874520"/>
            <a:ext cx="7315200" cy="320040"/>
          </a:xfrm>
          <a:prstGeom prst="rect">
            <a:avLst/>
          </a:prstGeom>
          <a:noFill/>
        </p:spPr>
        <p:txBody>
          <a:bodyPr wrap="square" lIns="0" tIns="0" rIns="0" bIns="0" anchor="ctr"/>
          <a:lstStyle/>
          <a:p>
            <a:pPr marL="0" indent="0">
              <a:buNone/>
            </a:pPr>
            <a:r>
              <a:rPr sz="1200" b="1" dirty="0">
                <a:solidFill>
                  <a:srgbClr val="1463FF"/>
                </a:solidFill>
                <a:latin typeface="Calibri"/>
                <a:ea typeface="Calibri"/>
                <a:cs typeface="Calibri"/>
              </a:rPr>
              <a:t>IT SECURITY · SCHEDULER</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01</a:t>
            </a:r>
            <a:endParaRPr lang="en-US" sz="1050" dirty="0"/>
          </a:p>
        </p:txBody>
      </p:sp>
      <p:sp>
        <p:nvSpPr>
          <p:cNvPr id="4" name="Text 2"/>
          <p:cNvSpPr/>
          <p:nvPr/>
        </p:nvSpPr>
        <p:spPr>
          <a:xfrm>
            <a:off x="868680" y="1051560"/>
            <a:ext cx="10058400" cy="777240"/>
          </a:xfrm>
          <a:prstGeom prst="rect">
            <a:avLst/>
          </a:prstGeom>
          <a:noFill/>
          <a:ln/>
        </p:spPr>
        <p:txBody>
          <a:bodyPr wrap="square" lIns="0" tIns="0" rIns="0" bIns="0" rtlCol="0" anchor="ctr"/>
          <a:lstStyle/>
          <a:p>
            <a:pPr marL="0" indent="0">
              <a:buNone/>
            </a:pPr>
            <a:r>
              <a:rPr lang="en-US" sz="4000" b="1" dirty="0">
                <a:solidFill>
                  <a:srgbClr val="16181D"/>
                </a:solidFill>
                <a:latin typeface="Trebuchet MS" pitchFamily="34" charset="0"/>
                <a:ea typeface="Trebuchet MS" pitchFamily="34" charset="-122"/>
                <a:cs typeface="Trebuchet MS" pitchFamily="34" charset="-120"/>
              </a:rPr>
              <a:t>Same-Origin Policy</a:t>
            </a:r>
            <a:endParaRPr lang="en-US" sz="4000" dirty="0"/>
          </a:p>
        </p:txBody>
      </p:sp>
      <p:sp>
        <p:nvSpPr>
          <p:cNvPr id="5" name="Text 3"/>
          <p:cNvSpPr/>
          <p:nvPr/>
        </p:nvSpPr>
        <p:spPr>
          <a:xfrm>
            <a:off x="868680" y="1920240"/>
            <a:ext cx="8778240" cy="64008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Ein Skript darf einen Request an eine fremde Origin </a:t>
            </a:r>
            <a:r>
              <a:rPr lang="en-US" sz="1700" dirty="0" err="1">
                <a:solidFill>
                  <a:srgbClr val="55606E"/>
                </a:solidFill>
                <a:latin typeface="Calibri" pitchFamily="34" charset="0"/>
                <a:ea typeface="Calibri" pitchFamily="34" charset="-122"/>
                <a:cs typeface="Calibri" pitchFamily="34" charset="-120"/>
              </a:rPr>
              <a:t>senden</a:t>
            </a:r>
            <a:r>
              <a:rPr lang="en-US" sz="1700" dirty="0">
                <a:solidFill>
                  <a:srgbClr val="55606E"/>
                </a:solidFill>
                <a:latin typeface="Calibri" pitchFamily="34" charset="0"/>
                <a:ea typeface="Calibri" pitchFamily="34" charset="-122"/>
                <a:cs typeface="Calibri" pitchFamily="34" charset="-120"/>
              </a:rPr>
              <a:t>, aber die Antwort nicht lesen, wenn die Zielseite das nicht erlaubt.</a:t>
            </a:r>
            <a:endParaRPr lang="en-US" sz="1700" dirty="0"/>
          </a:p>
        </p:txBody>
      </p:sp>
      <p:sp>
        <p:nvSpPr>
          <p:cNvPr id="6" name="Text 4"/>
          <p:cNvSpPr/>
          <p:nvPr/>
        </p:nvSpPr>
        <p:spPr>
          <a:xfrm>
            <a:off x="868680" y="3063240"/>
            <a:ext cx="7315200" cy="274320"/>
          </a:xfrm>
          <a:prstGeom prst="rect">
            <a:avLst/>
          </a:prstGeom>
          <a:noFill/>
          <a:ln/>
        </p:spPr>
        <p:txBody>
          <a:bodyPr wrap="square" lIns="0" tIns="0" rIns="0" bIns="0" rtlCol="0" anchor="ctr"/>
          <a:lstStyle/>
          <a:p>
            <a:pPr marL="0" indent="0">
              <a:buNone/>
            </a:pPr>
            <a:r>
              <a:rPr lang="en-US" sz="1100" b="1" kern="0" spc="250" dirty="0">
                <a:solidFill>
                  <a:srgbClr val="9AA3AF"/>
                </a:solidFill>
                <a:latin typeface="Calibri" pitchFamily="34" charset="0"/>
                <a:ea typeface="Calibri" pitchFamily="34" charset="-122"/>
                <a:cs typeface="Calibri" pitchFamily="34" charset="-120"/>
              </a:rPr>
              <a:t>EINE ORIGIN BESTEHT AUS</a:t>
            </a:r>
            <a:endParaRPr lang="en-US" sz="1100" dirty="0"/>
          </a:p>
        </p:txBody>
      </p:sp>
      <p:sp>
        <p:nvSpPr>
          <p:cNvPr id="7" name="Text 5"/>
          <p:cNvSpPr/>
          <p:nvPr/>
        </p:nvSpPr>
        <p:spPr>
          <a:xfrm>
            <a:off x="868680" y="3474720"/>
            <a:ext cx="2926080" cy="320040"/>
          </a:xfrm>
          <a:prstGeom prst="rect">
            <a:avLst/>
          </a:prstGeom>
          <a:noFill/>
          <a:ln/>
        </p:spPr>
        <p:txBody>
          <a:bodyPr wrap="square" lIns="0" tIns="0" rIns="0" bIns="0" rtlCol="0" anchor="ctr"/>
          <a:lstStyle/>
          <a:p>
            <a:pPr marL="0" indent="0">
              <a:buNone/>
            </a:pPr>
            <a:r>
              <a:rPr lang="en-US" sz="1300" dirty="0">
                <a:solidFill>
                  <a:srgbClr val="9AA3AF"/>
                </a:solidFill>
                <a:latin typeface="Calibri" pitchFamily="34" charset="0"/>
                <a:ea typeface="Calibri" pitchFamily="34" charset="-122"/>
                <a:cs typeface="Calibri" pitchFamily="34" charset="-120"/>
              </a:rPr>
              <a:t>Schema</a:t>
            </a:r>
            <a:endParaRPr lang="en-US" sz="1300" dirty="0"/>
          </a:p>
        </p:txBody>
      </p:sp>
      <p:sp>
        <p:nvSpPr>
          <p:cNvPr id="8" name="Text 6"/>
          <p:cNvSpPr/>
          <p:nvPr/>
        </p:nvSpPr>
        <p:spPr>
          <a:xfrm>
            <a:off x="868680" y="3767328"/>
            <a:ext cx="2926080" cy="548640"/>
          </a:xfrm>
          <a:prstGeom prst="rect">
            <a:avLst/>
          </a:prstGeom>
          <a:noFill/>
          <a:ln/>
        </p:spPr>
        <p:txBody>
          <a:bodyPr wrap="square" lIns="0" tIns="0" rIns="0" bIns="0" rtlCol="0" anchor="ctr"/>
          <a:lstStyle/>
          <a:p>
            <a:pPr marL="0" indent="0">
              <a:buNone/>
            </a:pPr>
            <a:r>
              <a:rPr lang="en-US" sz="3000" b="1" dirty="0">
                <a:solidFill>
                  <a:srgbClr val="16181D"/>
                </a:solidFill>
                <a:latin typeface="Consolas" pitchFamily="34" charset="0"/>
                <a:ea typeface="Consolas" pitchFamily="34" charset="-122"/>
                <a:cs typeface="Consolas" pitchFamily="34" charset="-120"/>
              </a:rPr>
              <a:t>http</a:t>
            </a:r>
            <a:endParaRPr lang="en-US" sz="3000" dirty="0"/>
          </a:p>
        </p:txBody>
      </p:sp>
      <p:sp>
        <p:nvSpPr>
          <p:cNvPr id="9" name="Shape 7"/>
          <p:cNvSpPr/>
          <p:nvPr/>
        </p:nvSpPr>
        <p:spPr>
          <a:xfrm>
            <a:off x="3749040" y="3520440"/>
            <a:ext cx="0" cy="685800"/>
          </a:xfrm>
          <a:prstGeom prst="line">
            <a:avLst/>
          </a:prstGeom>
          <a:noFill/>
          <a:ln w="12700">
            <a:solidFill>
              <a:srgbClr val="E4E7EC"/>
            </a:solidFill>
            <a:prstDash val="solid"/>
          </a:ln>
        </p:spPr>
        <p:txBody>
          <a:bodyPr/>
          <a:lstStyle/>
          <a:p>
            <a:endParaRPr lang="de-DE"/>
          </a:p>
        </p:txBody>
      </p:sp>
      <p:sp>
        <p:nvSpPr>
          <p:cNvPr id="10" name="Text 8"/>
          <p:cNvSpPr/>
          <p:nvPr/>
        </p:nvSpPr>
        <p:spPr>
          <a:xfrm>
            <a:off x="3794760" y="3474720"/>
            <a:ext cx="2926080" cy="320040"/>
          </a:xfrm>
          <a:prstGeom prst="rect">
            <a:avLst/>
          </a:prstGeom>
          <a:noFill/>
          <a:ln/>
        </p:spPr>
        <p:txBody>
          <a:bodyPr wrap="square" lIns="0" tIns="0" rIns="0" bIns="0" rtlCol="0" anchor="ctr"/>
          <a:lstStyle/>
          <a:p>
            <a:pPr marL="0" indent="0">
              <a:buNone/>
            </a:pPr>
            <a:r>
              <a:rPr lang="en-US" sz="1300" dirty="0">
                <a:solidFill>
                  <a:srgbClr val="9AA3AF"/>
                </a:solidFill>
                <a:latin typeface="Calibri" pitchFamily="34" charset="0"/>
                <a:ea typeface="Calibri" pitchFamily="34" charset="-122"/>
                <a:cs typeface="Calibri" pitchFamily="34" charset="-120"/>
              </a:rPr>
              <a:t>Host</a:t>
            </a:r>
            <a:endParaRPr lang="en-US" sz="1300" dirty="0"/>
          </a:p>
        </p:txBody>
      </p:sp>
      <p:sp>
        <p:nvSpPr>
          <p:cNvPr id="11" name="Text 9"/>
          <p:cNvSpPr/>
          <p:nvPr/>
        </p:nvSpPr>
        <p:spPr>
          <a:xfrm>
            <a:off x="3794760" y="3767328"/>
            <a:ext cx="2926080" cy="548640"/>
          </a:xfrm>
          <a:prstGeom prst="rect">
            <a:avLst/>
          </a:prstGeom>
          <a:noFill/>
          <a:ln/>
        </p:spPr>
        <p:txBody>
          <a:bodyPr wrap="square" lIns="0" tIns="0" rIns="0" bIns="0" rtlCol="0" anchor="ctr"/>
          <a:lstStyle/>
          <a:p>
            <a:pPr marL="0" indent="0">
              <a:buNone/>
            </a:pPr>
            <a:r>
              <a:rPr lang="en-US" sz="3000" b="1" dirty="0">
                <a:solidFill>
                  <a:srgbClr val="16181D"/>
                </a:solidFill>
                <a:latin typeface="Consolas" pitchFamily="34" charset="0"/>
                <a:ea typeface="Consolas" pitchFamily="34" charset="-122"/>
                <a:cs typeface="Consolas" pitchFamily="34" charset="-120"/>
              </a:rPr>
              <a:t>localhost</a:t>
            </a:r>
            <a:endParaRPr lang="en-US" sz="3000" dirty="0"/>
          </a:p>
        </p:txBody>
      </p:sp>
      <p:sp>
        <p:nvSpPr>
          <p:cNvPr id="12" name="Shape 10"/>
          <p:cNvSpPr/>
          <p:nvPr/>
        </p:nvSpPr>
        <p:spPr>
          <a:xfrm>
            <a:off x="6675120" y="3520440"/>
            <a:ext cx="0" cy="685800"/>
          </a:xfrm>
          <a:prstGeom prst="line">
            <a:avLst/>
          </a:prstGeom>
          <a:noFill/>
          <a:ln w="12700">
            <a:solidFill>
              <a:srgbClr val="E4E7EC"/>
            </a:solidFill>
            <a:prstDash val="solid"/>
          </a:ln>
        </p:spPr>
        <p:txBody>
          <a:bodyPr/>
          <a:lstStyle/>
          <a:p>
            <a:endParaRPr lang="de-DE"/>
          </a:p>
        </p:txBody>
      </p:sp>
      <p:sp>
        <p:nvSpPr>
          <p:cNvPr id="13" name="Text 11"/>
          <p:cNvSpPr/>
          <p:nvPr/>
        </p:nvSpPr>
        <p:spPr>
          <a:xfrm>
            <a:off x="6720840" y="3474720"/>
            <a:ext cx="2926080" cy="320040"/>
          </a:xfrm>
          <a:prstGeom prst="rect">
            <a:avLst/>
          </a:prstGeom>
          <a:noFill/>
          <a:ln/>
        </p:spPr>
        <p:txBody>
          <a:bodyPr wrap="square" lIns="0" tIns="0" rIns="0" bIns="0" rtlCol="0" anchor="ctr"/>
          <a:lstStyle/>
          <a:p>
            <a:pPr marL="0" indent="0">
              <a:buNone/>
            </a:pPr>
            <a:r>
              <a:rPr lang="en-US" sz="1300" dirty="0">
                <a:solidFill>
                  <a:srgbClr val="9AA3AF"/>
                </a:solidFill>
                <a:latin typeface="Calibri" pitchFamily="34" charset="0"/>
                <a:ea typeface="Calibri" pitchFamily="34" charset="-122"/>
                <a:cs typeface="Calibri" pitchFamily="34" charset="-120"/>
              </a:rPr>
              <a:t>Port</a:t>
            </a:r>
            <a:endParaRPr lang="en-US" sz="1300" dirty="0"/>
          </a:p>
        </p:txBody>
      </p:sp>
      <p:sp>
        <p:nvSpPr>
          <p:cNvPr id="14" name="Text 12"/>
          <p:cNvSpPr/>
          <p:nvPr/>
        </p:nvSpPr>
        <p:spPr>
          <a:xfrm>
            <a:off x="6720840" y="3767328"/>
            <a:ext cx="2926080" cy="548640"/>
          </a:xfrm>
          <a:prstGeom prst="rect">
            <a:avLst/>
          </a:prstGeom>
          <a:noFill/>
          <a:ln/>
        </p:spPr>
        <p:txBody>
          <a:bodyPr wrap="square" lIns="0" tIns="0" rIns="0" bIns="0" rtlCol="0" anchor="ctr"/>
          <a:lstStyle/>
          <a:p>
            <a:pPr marL="0" indent="0">
              <a:buNone/>
            </a:pPr>
            <a:r>
              <a:rPr lang="en-US" sz="3000" b="1" dirty="0">
                <a:solidFill>
                  <a:srgbClr val="16181D"/>
                </a:solidFill>
                <a:latin typeface="Consolas" pitchFamily="34" charset="0"/>
                <a:ea typeface="Consolas" pitchFamily="34" charset="-122"/>
                <a:cs typeface="Consolas" pitchFamily="34" charset="-120"/>
              </a:rPr>
              <a:t>8079</a:t>
            </a:r>
            <a:endParaRPr lang="en-US" sz="3000" dirty="0"/>
          </a:p>
        </p:txBody>
      </p:sp>
      <p:sp>
        <p:nvSpPr>
          <p:cNvPr id="15" name="Shape 13"/>
          <p:cNvSpPr/>
          <p:nvPr/>
        </p:nvSpPr>
        <p:spPr>
          <a:xfrm>
            <a:off x="868680" y="4892040"/>
            <a:ext cx="10454335" cy="0"/>
          </a:xfrm>
          <a:prstGeom prst="line">
            <a:avLst/>
          </a:prstGeom>
          <a:noFill/>
          <a:ln w="12700">
            <a:solidFill>
              <a:srgbClr val="E4E7EC"/>
            </a:solidFill>
            <a:prstDash val="solid"/>
          </a:ln>
        </p:spPr>
        <p:txBody>
          <a:bodyPr/>
          <a:lstStyle/>
          <a:p>
            <a:endParaRPr lang="de-DE"/>
          </a:p>
        </p:txBody>
      </p:sp>
      <p:sp>
        <p:nvSpPr>
          <p:cNvPr id="16" name="Text 14"/>
          <p:cNvSpPr/>
          <p:nvPr/>
        </p:nvSpPr>
        <p:spPr>
          <a:xfrm>
            <a:off x="868680" y="5166360"/>
            <a:ext cx="10058400" cy="365760"/>
          </a:xfrm>
          <a:prstGeom prst="rect">
            <a:avLst/>
          </a:prstGeom>
          <a:noFill/>
          <a:ln/>
        </p:spPr>
        <p:txBody>
          <a:bodyPr wrap="square" lIns="0" tIns="0" rIns="0" bIns="0" rtlCol="0" anchor="ctr"/>
          <a:lstStyle/>
          <a:p>
            <a:pPr marL="0" indent="0">
              <a:buNone/>
            </a:pPr>
            <a:r>
              <a:rPr lang="en-US" sz="1900" b="1" dirty="0">
                <a:solidFill>
                  <a:srgbClr val="16181D"/>
                </a:solidFill>
                <a:latin typeface="Trebuchet MS" pitchFamily="34" charset="0"/>
                <a:ea typeface="Trebuchet MS" pitchFamily="34" charset="-122"/>
                <a:cs typeface="Trebuchet MS" pitchFamily="34" charset="-120"/>
              </a:rPr>
              <a:t>Verschiedene Ports = verschiedene Origins</a:t>
            </a:r>
            <a:endParaRPr lang="en-US" sz="1900" dirty="0"/>
          </a:p>
        </p:txBody>
      </p:sp>
      <p:sp>
        <p:nvSpPr>
          <p:cNvPr id="17" name="Text 15"/>
          <p:cNvSpPr/>
          <p:nvPr/>
        </p:nvSpPr>
        <p:spPr>
          <a:xfrm>
            <a:off x="868680" y="5669280"/>
            <a:ext cx="10058400" cy="457200"/>
          </a:xfrm>
          <a:prstGeom prst="rect">
            <a:avLst/>
          </a:prstGeom>
          <a:noFill/>
          <a:ln/>
        </p:spPr>
        <p:txBody>
          <a:bodyPr wrap="square" lIns="0" tIns="0" rIns="0" bIns="0" rtlCol="0" anchor="ctr"/>
          <a:lstStyle/>
          <a:p>
            <a:pPr marL="0" indent="0">
              <a:buNone/>
            </a:pPr>
            <a:r>
              <a:rPr lang="en-US" sz="1800" b="1" dirty="0">
                <a:solidFill>
                  <a:srgbClr val="16181D"/>
                </a:solidFill>
                <a:latin typeface="Consolas" pitchFamily="34" charset="0"/>
                <a:ea typeface="Consolas" pitchFamily="34" charset="-122"/>
                <a:cs typeface="Consolas" pitchFamily="34" charset="-120"/>
              </a:rPr>
              <a:t>localhost:8078</a:t>
            </a:r>
            <a:r>
              <a:rPr lang="en-US" sz="1800" b="1" dirty="0">
                <a:solidFill>
                  <a:srgbClr val="D23B4E"/>
                </a:solidFill>
                <a:latin typeface="Calibri" pitchFamily="34" charset="0"/>
                <a:ea typeface="Calibri" pitchFamily="34" charset="-122"/>
                <a:cs typeface="Calibri" pitchFamily="34" charset="-120"/>
              </a:rPr>
              <a:t>      ≠      </a:t>
            </a:r>
            <a:r>
              <a:rPr lang="en-US" sz="1800" b="1" dirty="0">
                <a:solidFill>
                  <a:srgbClr val="16181D"/>
                </a:solidFill>
                <a:latin typeface="Consolas" pitchFamily="34" charset="0"/>
                <a:ea typeface="Consolas" pitchFamily="34" charset="-122"/>
                <a:cs typeface="Consolas" pitchFamily="34" charset="-120"/>
              </a:rPr>
              <a:t>localhost:8079</a:t>
            </a:r>
            <a:endParaRPr lang="en-US" sz="1800" dirty="0"/>
          </a:p>
        </p:txBody>
      </p:sp>
      <p:sp>
        <p:nvSpPr>
          <p:cNvPr id="18" name="Text 1">
            <a:extLst>
              <a:ext uri="{FF2B5EF4-FFF2-40B4-BE49-F238E27FC236}">
                <a16:creationId xmlns:a16="http://schemas.microsoft.com/office/drawing/2014/main" id="{B7A4489E-BE97-24EF-F34D-606FEE20585A}"/>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15</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02</a:t>
            </a:r>
            <a:endParaRPr lang="en-US" sz="1050" dirty="0"/>
          </a:p>
        </p:txBody>
      </p:sp>
      <p:sp>
        <p:nvSpPr>
          <p:cNvPr id="4" name="Text 2"/>
          <p:cNvSpPr/>
          <p:nvPr/>
        </p:nvSpPr>
        <p:spPr>
          <a:xfrm>
            <a:off x="868680" y="1051560"/>
            <a:ext cx="10607040" cy="77724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Warum der Browser das blockiert</a:t>
            </a:r>
            <a:endParaRPr lang="en-US" sz="36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Ohne diese Regel </a:t>
            </a:r>
            <a:r>
              <a:rPr lang="en-US" sz="1700" dirty="0" err="1">
                <a:solidFill>
                  <a:srgbClr val="55606E"/>
                </a:solidFill>
                <a:latin typeface="Calibri" pitchFamily="34" charset="0"/>
                <a:ea typeface="Calibri" pitchFamily="34" charset="-122"/>
                <a:cs typeface="Calibri" pitchFamily="34" charset="-120"/>
              </a:rPr>
              <a:t>könnte</a:t>
            </a:r>
            <a:r>
              <a:rPr lang="en-US" sz="1700" dirty="0">
                <a:solidFill>
                  <a:srgbClr val="55606E"/>
                </a:solidFill>
                <a:latin typeface="Calibri" pitchFamily="34" charset="0"/>
                <a:ea typeface="Calibri" pitchFamily="34" charset="-122"/>
                <a:cs typeface="Calibri" pitchFamily="34" charset="-120"/>
              </a:rPr>
              <a:t> jede geöffnete Webseite im Hintergrund fremde Dienste in deinem Namen abfragen und die Antworten auslesen.</a:t>
            </a:r>
            <a:endParaRPr lang="en-US" sz="1700" dirty="0"/>
          </a:p>
        </p:txBody>
      </p:sp>
      <p:sp>
        <p:nvSpPr>
          <p:cNvPr id="6" name="Text 4"/>
          <p:cNvSpPr/>
          <p:nvPr/>
        </p:nvSpPr>
        <p:spPr>
          <a:xfrm>
            <a:off x="868680" y="2926080"/>
            <a:ext cx="7315200" cy="274320"/>
          </a:xfrm>
          <a:prstGeom prst="rect">
            <a:avLst/>
          </a:prstGeom>
          <a:noFill/>
          <a:ln/>
        </p:spPr>
        <p:txBody>
          <a:bodyPr wrap="square" lIns="0" tIns="0" rIns="0" bIns="0" rtlCol="0" anchor="ctr"/>
          <a:lstStyle/>
          <a:p>
            <a:pPr marL="0" indent="0">
              <a:buNone/>
            </a:pPr>
            <a:r>
              <a:rPr lang="en-US" sz="1100" b="1" kern="0" spc="250" dirty="0">
                <a:solidFill>
                  <a:srgbClr val="D23B4E"/>
                </a:solidFill>
                <a:latin typeface="Calibri" pitchFamily="34" charset="0"/>
                <a:ea typeface="Calibri" pitchFamily="34" charset="-122"/>
                <a:cs typeface="Calibri" pitchFamily="34" charset="-120"/>
              </a:rPr>
              <a:t>DAS SZENARIO OHNE SCHUTZ</a:t>
            </a:r>
            <a:endParaRPr lang="en-US" sz="1100" dirty="0"/>
          </a:p>
        </p:txBody>
      </p:sp>
      <p:sp>
        <p:nvSpPr>
          <p:cNvPr id="7" name="Text 5"/>
          <p:cNvSpPr/>
          <p:nvPr/>
        </p:nvSpPr>
        <p:spPr>
          <a:xfrm>
            <a:off x="868680" y="3310128"/>
            <a:ext cx="640080" cy="457200"/>
          </a:xfrm>
          <a:prstGeom prst="rect">
            <a:avLst/>
          </a:prstGeom>
          <a:noFill/>
          <a:ln/>
        </p:spPr>
        <p:txBody>
          <a:bodyPr wrap="square" lIns="0" tIns="0" rIns="0" bIns="0" rtlCol="0" anchor="ctr"/>
          <a:lstStyle/>
          <a:p>
            <a:pPr marL="0" indent="0">
              <a:buNone/>
            </a:pPr>
            <a:r>
              <a:rPr lang="en-US" sz="1900" b="1" dirty="0">
                <a:solidFill>
                  <a:srgbClr val="9AA3AF"/>
                </a:solidFill>
                <a:latin typeface="Trebuchet MS" pitchFamily="34" charset="0"/>
                <a:ea typeface="Trebuchet MS" pitchFamily="34" charset="-122"/>
                <a:cs typeface="Trebuchet MS" pitchFamily="34" charset="-120"/>
              </a:rPr>
              <a:t>01</a:t>
            </a:r>
            <a:endParaRPr lang="en-US" sz="1900" dirty="0"/>
          </a:p>
        </p:txBody>
      </p:sp>
      <p:sp>
        <p:nvSpPr>
          <p:cNvPr id="8" name="Text 6"/>
          <p:cNvSpPr/>
          <p:nvPr/>
        </p:nvSpPr>
        <p:spPr>
          <a:xfrm>
            <a:off x="1645920" y="3291840"/>
            <a:ext cx="4754880" cy="45720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Du bist eingeloggt</a:t>
            </a:r>
            <a:endParaRPr lang="en-US" sz="1700" dirty="0"/>
          </a:p>
        </p:txBody>
      </p:sp>
      <p:sp>
        <p:nvSpPr>
          <p:cNvPr id="9" name="Text 7"/>
          <p:cNvSpPr/>
          <p:nvPr/>
        </p:nvSpPr>
        <p:spPr>
          <a:xfrm>
            <a:off x="6446520" y="3291840"/>
            <a:ext cx="4876495" cy="45720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z. B. bei deiner Bank - der Cookie liegt im Browser.</a:t>
            </a:r>
            <a:endParaRPr lang="en-US" sz="1400" dirty="0"/>
          </a:p>
        </p:txBody>
      </p:sp>
      <p:sp>
        <p:nvSpPr>
          <p:cNvPr id="10" name="Shape 8"/>
          <p:cNvSpPr/>
          <p:nvPr/>
        </p:nvSpPr>
        <p:spPr>
          <a:xfrm>
            <a:off x="1033272" y="3794760"/>
            <a:ext cx="0" cy="237744"/>
          </a:xfrm>
          <a:prstGeom prst="line">
            <a:avLst/>
          </a:prstGeom>
          <a:noFill/>
          <a:ln w="15875">
            <a:solidFill>
              <a:srgbClr val="D2D8DF"/>
            </a:solidFill>
            <a:prstDash val="solid"/>
          </a:ln>
        </p:spPr>
        <p:txBody>
          <a:bodyPr/>
          <a:lstStyle/>
          <a:p>
            <a:endParaRPr lang="de-DE"/>
          </a:p>
        </p:txBody>
      </p:sp>
      <p:sp>
        <p:nvSpPr>
          <p:cNvPr id="11" name="Text 9"/>
          <p:cNvSpPr/>
          <p:nvPr/>
        </p:nvSpPr>
        <p:spPr>
          <a:xfrm>
            <a:off x="868680" y="4096512"/>
            <a:ext cx="640080" cy="457200"/>
          </a:xfrm>
          <a:prstGeom prst="rect">
            <a:avLst/>
          </a:prstGeom>
          <a:noFill/>
          <a:ln/>
        </p:spPr>
        <p:txBody>
          <a:bodyPr wrap="square" lIns="0" tIns="0" rIns="0" bIns="0" rtlCol="0" anchor="ctr"/>
          <a:lstStyle/>
          <a:p>
            <a:pPr marL="0" indent="0">
              <a:buNone/>
            </a:pPr>
            <a:r>
              <a:rPr lang="en-US" sz="1900" b="1" dirty="0">
                <a:solidFill>
                  <a:srgbClr val="9AA3AF"/>
                </a:solidFill>
                <a:latin typeface="Trebuchet MS" pitchFamily="34" charset="0"/>
                <a:ea typeface="Trebuchet MS" pitchFamily="34" charset="-122"/>
                <a:cs typeface="Trebuchet MS" pitchFamily="34" charset="-120"/>
              </a:rPr>
              <a:t>02</a:t>
            </a:r>
            <a:endParaRPr lang="en-US" sz="1900" dirty="0"/>
          </a:p>
        </p:txBody>
      </p:sp>
      <p:sp>
        <p:nvSpPr>
          <p:cNvPr id="12" name="Text 10"/>
          <p:cNvSpPr/>
          <p:nvPr/>
        </p:nvSpPr>
        <p:spPr>
          <a:xfrm>
            <a:off x="1645920" y="4078224"/>
            <a:ext cx="4754880" cy="45720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Du öffnest eine fremde Seite</a:t>
            </a:r>
            <a:endParaRPr lang="en-US" sz="1700" dirty="0"/>
          </a:p>
        </p:txBody>
      </p:sp>
      <p:sp>
        <p:nvSpPr>
          <p:cNvPr id="13" name="Text 11"/>
          <p:cNvSpPr/>
          <p:nvPr/>
        </p:nvSpPr>
        <p:spPr>
          <a:xfrm>
            <a:off x="6446520" y="4078224"/>
            <a:ext cx="4876495" cy="45720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in einem anderen Tab, scheinbar harmlos.</a:t>
            </a:r>
            <a:endParaRPr lang="en-US" sz="1400" dirty="0"/>
          </a:p>
        </p:txBody>
      </p:sp>
      <p:sp>
        <p:nvSpPr>
          <p:cNvPr id="14" name="Shape 12"/>
          <p:cNvSpPr/>
          <p:nvPr/>
        </p:nvSpPr>
        <p:spPr>
          <a:xfrm>
            <a:off x="1033272" y="4581144"/>
            <a:ext cx="0" cy="237744"/>
          </a:xfrm>
          <a:prstGeom prst="line">
            <a:avLst/>
          </a:prstGeom>
          <a:noFill/>
          <a:ln w="15875">
            <a:solidFill>
              <a:srgbClr val="D2D8DF"/>
            </a:solidFill>
            <a:prstDash val="solid"/>
          </a:ln>
        </p:spPr>
        <p:txBody>
          <a:bodyPr/>
          <a:lstStyle/>
          <a:p>
            <a:endParaRPr lang="de-DE"/>
          </a:p>
        </p:txBody>
      </p:sp>
      <p:sp>
        <p:nvSpPr>
          <p:cNvPr id="15" name="Text 13"/>
          <p:cNvSpPr/>
          <p:nvPr/>
        </p:nvSpPr>
        <p:spPr>
          <a:xfrm>
            <a:off x="868680" y="4882896"/>
            <a:ext cx="640080" cy="457200"/>
          </a:xfrm>
          <a:prstGeom prst="rect">
            <a:avLst/>
          </a:prstGeom>
          <a:noFill/>
          <a:ln/>
        </p:spPr>
        <p:txBody>
          <a:bodyPr wrap="square" lIns="0" tIns="0" rIns="0" bIns="0" rtlCol="0" anchor="ctr"/>
          <a:lstStyle/>
          <a:p>
            <a:pPr marL="0" indent="0">
              <a:buNone/>
            </a:pPr>
            <a:r>
              <a:rPr lang="en-US" sz="1900" b="1" dirty="0">
                <a:solidFill>
                  <a:srgbClr val="9AA3AF"/>
                </a:solidFill>
                <a:latin typeface="Trebuchet MS" pitchFamily="34" charset="0"/>
                <a:ea typeface="Trebuchet MS" pitchFamily="34" charset="-122"/>
                <a:cs typeface="Trebuchet MS" pitchFamily="34" charset="-120"/>
              </a:rPr>
              <a:t>03</a:t>
            </a:r>
            <a:endParaRPr lang="en-US" sz="1900" dirty="0"/>
          </a:p>
        </p:txBody>
      </p:sp>
      <p:sp>
        <p:nvSpPr>
          <p:cNvPr id="16" name="Text 14"/>
          <p:cNvSpPr/>
          <p:nvPr/>
        </p:nvSpPr>
        <p:spPr>
          <a:xfrm>
            <a:off x="1645920" y="4864608"/>
            <a:ext cx="4754880" cy="45720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Deren Skript ruft die Bank auf</a:t>
            </a:r>
            <a:endParaRPr lang="en-US" sz="1700" dirty="0"/>
          </a:p>
        </p:txBody>
      </p:sp>
      <p:sp>
        <p:nvSpPr>
          <p:cNvPr id="17" name="Text 15"/>
          <p:cNvSpPr/>
          <p:nvPr/>
        </p:nvSpPr>
        <p:spPr>
          <a:xfrm>
            <a:off x="6446520" y="4864608"/>
            <a:ext cx="4876495" cy="45720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der Browser sendet dein Cookie automatisch mit.</a:t>
            </a:r>
            <a:endParaRPr lang="en-US" sz="1400" dirty="0"/>
          </a:p>
        </p:txBody>
      </p:sp>
      <p:sp>
        <p:nvSpPr>
          <p:cNvPr id="18" name="Shape 16"/>
          <p:cNvSpPr/>
          <p:nvPr/>
        </p:nvSpPr>
        <p:spPr>
          <a:xfrm>
            <a:off x="1033272" y="5367528"/>
            <a:ext cx="0" cy="237744"/>
          </a:xfrm>
          <a:prstGeom prst="line">
            <a:avLst/>
          </a:prstGeom>
          <a:noFill/>
          <a:ln w="15875">
            <a:solidFill>
              <a:srgbClr val="D2D8DF"/>
            </a:solidFill>
            <a:prstDash val="solid"/>
          </a:ln>
        </p:spPr>
        <p:txBody>
          <a:bodyPr/>
          <a:lstStyle/>
          <a:p>
            <a:endParaRPr lang="de-DE"/>
          </a:p>
        </p:txBody>
      </p:sp>
      <p:sp>
        <p:nvSpPr>
          <p:cNvPr id="19" name="Text 17"/>
          <p:cNvSpPr/>
          <p:nvPr/>
        </p:nvSpPr>
        <p:spPr>
          <a:xfrm>
            <a:off x="868680" y="5669280"/>
            <a:ext cx="640080" cy="457200"/>
          </a:xfrm>
          <a:prstGeom prst="rect">
            <a:avLst/>
          </a:prstGeom>
          <a:noFill/>
          <a:ln/>
        </p:spPr>
        <p:txBody>
          <a:bodyPr wrap="square" lIns="0" tIns="0" rIns="0" bIns="0" rtlCol="0" anchor="ctr"/>
          <a:lstStyle/>
          <a:p>
            <a:pPr marL="0" indent="0">
              <a:buNone/>
            </a:pPr>
            <a:r>
              <a:rPr lang="en-US" sz="1900" b="1" dirty="0">
                <a:solidFill>
                  <a:srgbClr val="1E8F5E"/>
                </a:solidFill>
                <a:latin typeface="Trebuchet MS" pitchFamily="34" charset="0"/>
                <a:ea typeface="Trebuchet MS" pitchFamily="34" charset="-122"/>
                <a:cs typeface="Trebuchet MS" pitchFamily="34" charset="-120"/>
              </a:rPr>
              <a:t>04</a:t>
            </a:r>
            <a:endParaRPr lang="en-US" sz="1900" dirty="0"/>
          </a:p>
        </p:txBody>
      </p:sp>
      <p:sp>
        <p:nvSpPr>
          <p:cNvPr id="20" name="Text 18"/>
          <p:cNvSpPr/>
          <p:nvPr/>
        </p:nvSpPr>
        <p:spPr>
          <a:xfrm>
            <a:off x="1645920" y="5650992"/>
            <a:ext cx="4754880" cy="45720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Antwort = blockiert</a:t>
            </a:r>
            <a:endParaRPr lang="en-US" sz="1700" dirty="0"/>
          </a:p>
        </p:txBody>
      </p:sp>
      <p:sp>
        <p:nvSpPr>
          <p:cNvPr id="21" name="Text 19"/>
          <p:cNvSpPr/>
          <p:nvPr/>
        </p:nvSpPr>
        <p:spPr>
          <a:xfrm>
            <a:off x="6446520" y="5650992"/>
            <a:ext cx="4876495" cy="45720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die SOP verhindert, dass das Skript sie liest.</a:t>
            </a:r>
            <a:endParaRPr lang="en-US" sz="1400" dirty="0"/>
          </a:p>
        </p:txBody>
      </p:sp>
      <p:sp>
        <p:nvSpPr>
          <p:cNvPr id="22" name="Text 1">
            <a:extLst>
              <a:ext uri="{FF2B5EF4-FFF2-40B4-BE49-F238E27FC236}">
                <a16:creationId xmlns:a16="http://schemas.microsoft.com/office/drawing/2014/main" id="{1F01E120-F997-C1AE-D2A1-B30BD6621F2D}"/>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16</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03</a:t>
            </a:r>
            <a:endParaRPr lang="en-US" sz="1050" dirty="0"/>
          </a:p>
        </p:txBody>
      </p:sp>
      <p:sp>
        <p:nvSpPr>
          <p:cNvPr id="4" name="Text 2"/>
          <p:cNvSpPr/>
          <p:nvPr/>
        </p:nvSpPr>
        <p:spPr>
          <a:xfrm>
            <a:off x="868680" y="1051560"/>
            <a:ext cx="10424160" cy="777240"/>
          </a:xfrm>
          <a:prstGeom prst="rect">
            <a:avLst/>
          </a:prstGeom>
          <a:noFill/>
          <a:ln/>
        </p:spPr>
        <p:txBody>
          <a:bodyPr wrap="square" lIns="0" tIns="0" rIns="0" bIns="0" rtlCol="0" anchor="ctr"/>
          <a:lstStyle/>
          <a:p>
            <a:pPr marL="0" indent="0">
              <a:buNone/>
            </a:pPr>
            <a:r>
              <a:rPr lang="en-US" sz="3800" b="1" dirty="0">
                <a:solidFill>
                  <a:srgbClr val="16181D"/>
                </a:solidFill>
                <a:latin typeface="Trebuchet MS" pitchFamily="34" charset="0"/>
                <a:ea typeface="Trebuchet MS" pitchFamily="34" charset="-122"/>
                <a:cs typeface="Trebuchet MS" pitchFamily="34" charset="-120"/>
              </a:rPr>
              <a:t>CORS = ausdrückliche Lesefreigabe</a:t>
            </a:r>
            <a:endParaRPr lang="en-US" sz="3800" dirty="0"/>
          </a:p>
        </p:txBody>
      </p:sp>
      <p:sp>
        <p:nvSpPr>
          <p:cNvPr id="5" name="Text 3"/>
          <p:cNvSpPr/>
          <p:nvPr/>
        </p:nvSpPr>
        <p:spPr>
          <a:xfrm>
            <a:off x="868680" y="1874520"/>
            <a:ext cx="10424160" cy="45720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Wenn eine fremde Origin doch lesen soll, muss der Server das </a:t>
            </a:r>
            <a:r>
              <a:rPr lang="en-US" sz="1700" dirty="0" err="1">
                <a:solidFill>
                  <a:srgbClr val="55606E"/>
                </a:solidFill>
                <a:latin typeface="Calibri" pitchFamily="34" charset="0"/>
                <a:ea typeface="Calibri" pitchFamily="34" charset="-122"/>
                <a:cs typeface="Calibri" pitchFamily="34" charset="-120"/>
              </a:rPr>
              <a:t>erlauben</a:t>
            </a:r>
            <a:r>
              <a:rPr lang="en-US" sz="1700" dirty="0">
                <a:solidFill>
                  <a:srgbClr val="55606E"/>
                </a:solidFill>
                <a:latin typeface="Calibri" pitchFamily="34" charset="0"/>
                <a:ea typeface="Calibri" pitchFamily="34" charset="-122"/>
                <a:cs typeface="Calibri" pitchFamily="34" charset="-120"/>
              </a:rPr>
              <a:t> per Header.</a:t>
            </a:r>
            <a:endParaRPr lang="en-US" sz="1700" dirty="0"/>
          </a:p>
        </p:txBody>
      </p:sp>
      <p:sp>
        <p:nvSpPr>
          <p:cNvPr id="6" name="Shape 4"/>
          <p:cNvSpPr/>
          <p:nvPr/>
        </p:nvSpPr>
        <p:spPr>
          <a:xfrm>
            <a:off x="868680" y="2743200"/>
            <a:ext cx="4892040" cy="0"/>
          </a:xfrm>
          <a:prstGeom prst="line">
            <a:avLst/>
          </a:prstGeom>
          <a:noFill/>
          <a:ln w="12700">
            <a:solidFill>
              <a:srgbClr val="E4E7EC"/>
            </a:solidFill>
            <a:prstDash val="solid"/>
          </a:ln>
        </p:spPr>
        <p:txBody>
          <a:bodyPr/>
          <a:lstStyle/>
          <a:p>
            <a:endParaRPr lang="de-DE"/>
          </a:p>
        </p:txBody>
      </p:sp>
      <p:sp>
        <p:nvSpPr>
          <p:cNvPr id="7" name="Text 5"/>
          <p:cNvSpPr/>
          <p:nvPr/>
        </p:nvSpPr>
        <p:spPr>
          <a:xfrm>
            <a:off x="868680" y="2889504"/>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Access-Control-Allow-Origin</a:t>
            </a:r>
            <a:endParaRPr lang="en-US" sz="1450" dirty="0"/>
          </a:p>
        </p:txBody>
      </p:sp>
      <p:sp>
        <p:nvSpPr>
          <p:cNvPr id="8" name="Text 6"/>
          <p:cNvSpPr/>
          <p:nvPr/>
        </p:nvSpPr>
        <p:spPr>
          <a:xfrm>
            <a:off x="868680" y="3273552"/>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Welche Origin darf die Antwort lesen? Sicher = feste Allowlist.</a:t>
            </a:r>
            <a:endParaRPr lang="en-US" sz="1250" dirty="0"/>
          </a:p>
        </p:txBody>
      </p:sp>
      <p:sp>
        <p:nvSpPr>
          <p:cNvPr id="9" name="Shape 7"/>
          <p:cNvSpPr/>
          <p:nvPr/>
        </p:nvSpPr>
        <p:spPr>
          <a:xfrm>
            <a:off x="6446520" y="2743200"/>
            <a:ext cx="4892040" cy="0"/>
          </a:xfrm>
          <a:prstGeom prst="line">
            <a:avLst/>
          </a:prstGeom>
          <a:noFill/>
          <a:ln w="12700">
            <a:solidFill>
              <a:srgbClr val="E4E7EC"/>
            </a:solidFill>
            <a:prstDash val="solid"/>
          </a:ln>
        </p:spPr>
        <p:txBody>
          <a:bodyPr/>
          <a:lstStyle/>
          <a:p>
            <a:endParaRPr lang="de-DE"/>
          </a:p>
        </p:txBody>
      </p:sp>
      <p:sp>
        <p:nvSpPr>
          <p:cNvPr id="10" name="Text 8"/>
          <p:cNvSpPr/>
          <p:nvPr/>
        </p:nvSpPr>
        <p:spPr>
          <a:xfrm>
            <a:off x="6446520" y="2889504"/>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Access-Control-Allow-Credentials</a:t>
            </a:r>
            <a:endParaRPr lang="en-US" sz="1450" dirty="0"/>
          </a:p>
        </p:txBody>
      </p:sp>
      <p:sp>
        <p:nvSpPr>
          <p:cNvPr id="11" name="Text 9"/>
          <p:cNvSpPr/>
          <p:nvPr/>
        </p:nvSpPr>
        <p:spPr>
          <a:xfrm>
            <a:off x="6446520" y="3273552"/>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Dürfen Cookies / Auth mitgesendet werden? Nur wenn nötig.</a:t>
            </a:r>
            <a:endParaRPr lang="en-US" sz="1250" dirty="0"/>
          </a:p>
        </p:txBody>
      </p:sp>
      <p:sp>
        <p:nvSpPr>
          <p:cNvPr id="12" name="Shape 10"/>
          <p:cNvSpPr/>
          <p:nvPr/>
        </p:nvSpPr>
        <p:spPr>
          <a:xfrm>
            <a:off x="868680" y="3822192"/>
            <a:ext cx="4892040" cy="0"/>
          </a:xfrm>
          <a:prstGeom prst="line">
            <a:avLst/>
          </a:prstGeom>
          <a:noFill/>
          <a:ln w="12700">
            <a:solidFill>
              <a:srgbClr val="E4E7EC"/>
            </a:solidFill>
            <a:prstDash val="solid"/>
          </a:ln>
        </p:spPr>
        <p:txBody>
          <a:bodyPr/>
          <a:lstStyle/>
          <a:p>
            <a:endParaRPr lang="de-DE"/>
          </a:p>
        </p:txBody>
      </p:sp>
      <p:sp>
        <p:nvSpPr>
          <p:cNvPr id="13" name="Text 11"/>
          <p:cNvSpPr/>
          <p:nvPr/>
        </p:nvSpPr>
        <p:spPr>
          <a:xfrm>
            <a:off x="868680" y="3968496"/>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Access-Control-Allow-Methods</a:t>
            </a:r>
            <a:endParaRPr lang="en-US" sz="1450" dirty="0"/>
          </a:p>
        </p:txBody>
      </p:sp>
      <p:sp>
        <p:nvSpPr>
          <p:cNvPr id="14" name="Text 12"/>
          <p:cNvSpPr/>
          <p:nvPr/>
        </p:nvSpPr>
        <p:spPr>
          <a:xfrm>
            <a:off x="868680" y="4352544"/>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Erlaubte Methoden, z. B. GET, POST, PUT, DELETE.</a:t>
            </a:r>
            <a:endParaRPr lang="en-US" sz="1250" dirty="0"/>
          </a:p>
        </p:txBody>
      </p:sp>
      <p:sp>
        <p:nvSpPr>
          <p:cNvPr id="15" name="Shape 13"/>
          <p:cNvSpPr/>
          <p:nvPr/>
        </p:nvSpPr>
        <p:spPr>
          <a:xfrm>
            <a:off x="6446520" y="3822192"/>
            <a:ext cx="4892040" cy="0"/>
          </a:xfrm>
          <a:prstGeom prst="line">
            <a:avLst/>
          </a:prstGeom>
          <a:noFill/>
          <a:ln w="12700">
            <a:solidFill>
              <a:srgbClr val="E4E7EC"/>
            </a:solidFill>
            <a:prstDash val="solid"/>
          </a:ln>
        </p:spPr>
        <p:txBody>
          <a:bodyPr/>
          <a:lstStyle/>
          <a:p>
            <a:endParaRPr lang="de-DE"/>
          </a:p>
        </p:txBody>
      </p:sp>
      <p:sp>
        <p:nvSpPr>
          <p:cNvPr id="16" name="Text 14"/>
          <p:cNvSpPr/>
          <p:nvPr/>
        </p:nvSpPr>
        <p:spPr>
          <a:xfrm>
            <a:off x="6446520" y="3968496"/>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Access-Control-Allow-Headers</a:t>
            </a:r>
            <a:endParaRPr lang="en-US" sz="1450" dirty="0"/>
          </a:p>
        </p:txBody>
      </p:sp>
      <p:sp>
        <p:nvSpPr>
          <p:cNvPr id="17" name="Text 15"/>
          <p:cNvSpPr/>
          <p:nvPr/>
        </p:nvSpPr>
        <p:spPr>
          <a:xfrm>
            <a:off x="6446520" y="4352544"/>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Erlaubte Request-Header, z. B. Authorization, Content-Type.</a:t>
            </a:r>
            <a:endParaRPr lang="en-US" sz="1250" dirty="0"/>
          </a:p>
        </p:txBody>
      </p:sp>
      <p:sp>
        <p:nvSpPr>
          <p:cNvPr id="18" name="Shape 16"/>
          <p:cNvSpPr/>
          <p:nvPr/>
        </p:nvSpPr>
        <p:spPr>
          <a:xfrm>
            <a:off x="868680" y="4901184"/>
            <a:ext cx="4892040" cy="0"/>
          </a:xfrm>
          <a:prstGeom prst="line">
            <a:avLst/>
          </a:prstGeom>
          <a:noFill/>
          <a:ln w="12700">
            <a:solidFill>
              <a:srgbClr val="E4E7EC"/>
            </a:solidFill>
            <a:prstDash val="solid"/>
          </a:ln>
        </p:spPr>
        <p:txBody>
          <a:bodyPr/>
          <a:lstStyle/>
          <a:p>
            <a:endParaRPr lang="de-DE"/>
          </a:p>
        </p:txBody>
      </p:sp>
      <p:sp>
        <p:nvSpPr>
          <p:cNvPr id="19" name="Text 17"/>
          <p:cNvSpPr/>
          <p:nvPr/>
        </p:nvSpPr>
        <p:spPr>
          <a:xfrm>
            <a:off x="868680" y="5047488"/>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Access-Control-Expose-Headers</a:t>
            </a:r>
            <a:endParaRPr lang="en-US" sz="1450" dirty="0"/>
          </a:p>
        </p:txBody>
      </p:sp>
      <p:sp>
        <p:nvSpPr>
          <p:cNvPr id="20" name="Text 18"/>
          <p:cNvSpPr/>
          <p:nvPr/>
        </p:nvSpPr>
        <p:spPr>
          <a:xfrm>
            <a:off x="868680" y="5431536"/>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Welche Response-Header darf JavaScript lesen, z. B. Content-Disposition.</a:t>
            </a:r>
            <a:endParaRPr lang="en-US" sz="1250" dirty="0"/>
          </a:p>
        </p:txBody>
      </p:sp>
      <p:sp>
        <p:nvSpPr>
          <p:cNvPr id="21" name="Shape 19"/>
          <p:cNvSpPr/>
          <p:nvPr/>
        </p:nvSpPr>
        <p:spPr>
          <a:xfrm>
            <a:off x="6446520" y="4901184"/>
            <a:ext cx="4892040" cy="0"/>
          </a:xfrm>
          <a:prstGeom prst="line">
            <a:avLst/>
          </a:prstGeom>
          <a:noFill/>
          <a:ln w="12700">
            <a:solidFill>
              <a:srgbClr val="E4E7EC"/>
            </a:solidFill>
            <a:prstDash val="solid"/>
          </a:ln>
        </p:spPr>
        <p:txBody>
          <a:bodyPr/>
          <a:lstStyle/>
          <a:p>
            <a:endParaRPr lang="de-DE"/>
          </a:p>
        </p:txBody>
      </p:sp>
      <p:sp>
        <p:nvSpPr>
          <p:cNvPr id="22" name="Text 20"/>
          <p:cNvSpPr/>
          <p:nvPr/>
        </p:nvSpPr>
        <p:spPr>
          <a:xfrm>
            <a:off x="6446520" y="5047488"/>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Vary: Origin</a:t>
            </a:r>
            <a:endParaRPr lang="en-US" sz="1450" dirty="0"/>
          </a:p>
        </p:txBody>
      </p:sp>
      <p:sp>
        <p:nvSpPr>
          <p:cNvPr id="23" name="Text 21"/>
          <p:cNvSpPr/>
          <p:nvPr/>
        </p:nvSpPr>
        <p:spPr>
          <a:xfrm>
            <a:off x="6446520" y="5431536"/>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Bei dynamischer Origin-Wahl nötig, damit Caches nicht mischen.</a:t>
            </a:r>
            <a:endParaRPr lang="en-US" sz="1250" dirty="0"/>
          </a:p>
        </p:txBody>
      </p:sp>
      <p:sp>
        <p:nvSpPr>
          <p:cNvPr id="24" name="Text 1">
            <a:extLst>
              <a:ext uri="{FF2B5EF4-FFF2-40B4-BE49-F238E27FC236}">
                <a16:creationId xmlns:a16="http://schemas.microsoft.com/office/drawing/2014/main" id="{4C0CAA97-4997-429E-2F9E-722BC644E38D}"/>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17</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04</a:t>
            </a:r>
            <a:endParaRPr lang="en-US" sz="1050" dirty="0"/>
          </a:p>
        </p:txBody>
      </p:sp>
      <p:sp>
        <p:nvSpPr>
          <p:cNvPr id="4" name="Text 2"/>
          <p:cNvSpPr/>
          <p:nvPr/>
        </p:nvSpPr>
        <p:spPr>
          <a:xfrm>
            <a:off x="868680" y="1051560"/>
            <a:ext cx="10607040" cy="77724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So läuft ein CORS-Request ab</a:t>
            </a:r>
            <a:endParaRPr lang="en-US" sz="36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650" dirty="0">
                <a:solidFill>
                  <a:srgbClr val="55606E"/>
                </a:solidFill>
                <a:latin typeface="Calibri" pitchFamily="34" charset="0"/>
                <a:ea typeface="Calibri" pitchFamily="34" charset="-122"/>
                <a:cs typeface="Calibri" pitchFamily="34" charset="-120"/>
              </a:rPr>
              <a:t>Der Browser hängt die Origin selbst an, der Server antwortet mit der </a:t>
            </a:r>
            <a:r>
              <a:rPr lang="en-US" sz="1650" dirty="0" err="1">
                <a:solidFill>
                  <a:srgbClr val="55606E"/>
                </a:solidFill>
                <a:latin typeface="Calibri" pitchFamily="34" charset="0"/>
                <a:ea typeface="Calibri" pitchFamily="34" charset="-122"/>
                <a:cs typeface="Calibri" pitchFamily="34" charset="-120"/>
              </a:rPr>
              <a:t>Freigabe</a:t>
            </a:r>
            <a:r>
              <a:rPr lang="en-US" sz="1650" dirty="0">
                <a:solidFill>
                  <a:srgbClr val="55606E"/>
                </a:solidFill>
                <a:latin typeface="Calibri" pitchFamily="34" charset="0"/>
                <a:ea typeface="Calibri" pitchFamily="34" charset="-122"/>
                <a:cs typeface="Calibri" pitchFamily="34" charset="-120"/>
              </a:rPr>
              <a:t> und der Browser entscheidet, ob das Skript lesen darf.</a:t>
            </a:r>
            <a:endParaRPr lang="en-US" sz="1650" dirty="0"/>
          </a:p>
        </p:txBody>
      </p:sp>
      <p:sp>
        <p:nvSpPr>
          <p:cNvPr id="6" name="Shape 4"/>
          <p:cNvSpPr/>
          <p:nvPr/>
        </p:nvSpPr>
        <p:spPr>
          <a:xfrm>
            <a:off x="6172200" y="2926080"/>
            <a:ext cx="0" cy="2880360"/>
          </a:xfrm>
          <a:prstGeom prst="line">
            <a:avLst/>
          </a:prstGeom>
          <a:noFill/>
          <a:ln w="12700">
            <a:solidFill>
              <a:srgbClr val="E4E7EC"/>
            </a:solidFill>
            <a:prstDash val="solid"/>
          </a:ln>
        </p:spPr>
        <p:txBody>
          <a:bodyPr/>
          <a:lstStyle/>
          <a:p>
            <a:endParaRPr lang="de-DE"/>
          </a:p>
        </p:txBody>
      </p:sp>
      <p:sp>
        <p:nvSpPr>
          <p:cNvPr id="7" name="Text 5"/>
          <p:cNvSpPr/>
          <p:nvPr/>
        </p:nvSpPr>
        <p:spPr>
          <a:xfrm>
            <a:off x="868680" y="2926080"/>
            <a:ext cx="4937760" cy="274320"/>
          </a:xfrm>
          <a:prstGeom prst="rect">
            <a:avLst/>
          </a:prstGeom>
          <a:noFill/>
          <a:ln/>
        </p:spPr>
        <p:txBody>
          <a:bodyPr wrap="square" lIns="0" tIns="0" rIns="0" bIns="0" rtlCol="0" anchor="ctr"/>
          <a:lstStyle/>
          <a:p>
            <a:pPr marL="0" indent="0">
              <a:buNone/>
            </a:pPr>
            <a:r>
              <a:rPr lang="en-US" sz="1100" b="1" kern="0" spc="200" dirty="0">
                <a:solidFill>
                  <a:srgbClr val="1463FF"/>
                </a:solidFill>
                <a:latin typeface="Calibri" pitchFamily="34" charset="0"/>
                <a:ea typeface="Calibri" pitchFamily="34" charset="-122"/>
                <a:cs typeface="Calibri" pitchFamily="34" charset="-120"/>
              </a:rPr>
              <a:t>1 · REQUEST DES BROWSERS</a:t>
            </a:r>
            <a:endParaRPr lang="en-US" sz="1100" dirty="0"/>
          </a:p>
        </p:txBody>
      </p:sp>
      <p:sp>
        <p:nvSpPr>
          <p:cNvPr id="8" name="Text 6"/>
          <p:cNvSpPr/>
          <p:nvPr/>
        </p:nvSpPr>
        <p:spPr>
          <a:xfrm>
            <a:off x="868680" y="3246120"/>
            <a:ext cx="4937760" cy="36576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GET /session</a:t>
            </a:r>
            <a:endParaRPr lang="en-US" sz="1500" dirty="0"/>
          </a:p>
        </p:txBody>
      </p:sp>
      <p:sp>
        <p:nvSpPr>
          <p:cNvPr id="9" name="Text 7"/>
          <p:cNvSpPr/>
          <p:nvPr/>
        </p:nvSpPr>
        <p:spPr>
          <a:xfrm>
            <a:off x="868680" y="3639312"/>
            <a:ext cx="4937760" cy="365760"/>
          </a:xfrm>
          <a:prstGeom prst="rect">
            <a:avLst/>
          </a:prstGeom>
          <a:noFill/>
          <a:ln/>
        </p:spPr>
        <p:txBody>
          <a:bodyPr wrap="square" lIns="0" tIns="0" rIns="0" bIns="0" rtlCol="0" anchor="ctr"/>
          <a:lstStyle/>
          <a:p>
            <a:pPr marL="0" indent="0">
              <a:buNone/>
            </a:pPr>
            <a:r>
              <a:rPr lang="en-US" sz="1400" dirty="0">
                <a:solidFill>
                  <a:srgbClr val="55606E"/>
                </a:solidFill>
                <a:latin typeface="Consolas" pitchFamily="34" charset="0"/>
                <a:ea typeface="Consolas" pitchFamily="34" charset="-122"/>
                <a:cs typeface="Consolas" pitchFamily="34" charset="-120"/>
              </a:rPr>
              <a:t>Origin: http://localhost:5173</a:t>
            </a:r>
            <a:endParaRPr lang="en-US" sz="1400" dirty="0"/>
          </a:p>
        </p:txBody>
      </p:sp>
      <p:sp>
        <p:nvSpPr>
          <p:cNvPr id="10" name="Text 8"/>
          <p:cNvSpPr/>
          <p:nvPr/>
        </p:nvSpPr>
        <p:spPr>
          <a:xfrm>
            <a:off x="868680" y="4251960"/>
            <a:ext cx="4937760" cy="914400"/>
          </a:xfrm>
          <a:prstGeom prst="rect">
            <a:avLst/>
          </a:prstGeom>
          <a:noFill/>
          <a:ln/>
        </p:spPr>
        <p:txBody>
          <a:bodyPr wrap="square" lIns="0" tIns="0" rIns="0" bIns="0" rtlCol="0" anchor="ctr"/>
          <a:lstStyle/>
          <a:p>
            <a:pPr marL="0" indent="0">
              <a:buNone/>
            </a:pPr>
            <a:r>
              <a:rPr lang="en-US" sz="1350" dirty="0">
                <a:solidFill>
                  <a:srgbClr val="000000"/>
                </a:solidFill>
                <a:latin typeface="Calibri" pitchFamily="34" charset="0"/>
                <a:ea typeface="Calibri" pitchFamily="34" charset="-122"/>
                <a:cs typeface="Calibri" pitchFamily="34" charset="-120"/>
              </a:rPr>
              <a:t>Der Origin-Header wird vom Browser </a:t>
            </a:r>
            <a:r>
              <a:rPr lang="en-US" sz="1350" dirty="0" err="1">
                <a:solidFill>
                  <a:srgbClr val="000000"/>
                </a:solidFill>
                <a:latin typeface="Calibri" pitchFamily="34" charset="0"/>
                <a:ea typeface="Calibri" pitchFamily="34" charset="-122"/>
                <a:cs typeface="Calibri" pitchFamily="34" charset="-120"/>
              </a:rPr>
              <a:t>automatisch</a:t>
            </a:r>
            <a:r>
              <a:rPr lang="en-US" sz="1350" dirty="0">
                <a:solidFill>
                  <a:srgbClr val="000000"/>
                </a:solidFill>
                <a:latin typeface="Calibri" pitchFamily="34" charset="0"/>
                <a:ea typeface="Calibri" pitchFamily="34" charset="-122"/>
                <a:cs typeface="Calibri" pitchFamily="34" charset="-120"/>
              </a:rPr>
              <a:t> </a:t>
            </a:r>
            <a:r>
              <a:rPr lang="en-US" sz="1350" dirty="0" err="1">
                <a:solidFill>
                  <a:srgbClr val="000000"/>
                </a:solidFill>
                <a:latin typeface="Calibri" pitchFamily="34" charset="0"/>
                <a:ea typeface="Calibri" pitchFamily="34" charset="-122"/>
                <a:cs typeface="Calibri" pitchFamily="34" charset="-120"/>
              </a:rPr>
              <a:t>gesetzt</a:t>
            </a:r>
            <a:r>
              <a:rPr lang="en-US" sz="1350" dirty="0">
                <a:solidFill>
                  <a:srgbClr val="000000"/>
                </a:solidFill>
                <a:latin typeface="Calibri" pitchFamily="34" charset="0"/>
                <a:ea typeface="Calibri" pitchFamily="34" charset="-122"/>
                <a:cs typeface="Calibri" pitchFamily="34" charset="-120"/>
              </a:rPr>
              <a:t>, das Skript kann ihn nicht fälschen.</a:t>
            </a:r>
            <a:endParaRPr lang="en-US" sz="1350" dirty="0"/>
          </a:p>
        </p:txBody>
      </p:sp>
      <p:sp>
        <p:nvSpPr>
          <p:cNvPr id="11" name="Text 9"/>
          <p:cNvSpPr/>
          <p:nvPr/>
        </p:nvSpPr>
        <p:spPr>
          <a:xfrm>
            <a:off x="6446520" y="2926080"/>
            <a:ext cx="4937760" cy="274320"/>
          </a:xfrm>
          <a:prstGeom prst="rect">
            <a:avLst/>
          </a:prstGeom>
          <a:noFill/>
          <a:ln/>
        </p:spPr>
        <p:txBody>
          <a:bodyPr wrap="square" lIns="0" tIns="0" rIns="0" bIns="0" rtlCol="0" anchor="ctr"/>
          <a:lstStyle/>
          <a:p>
            <a:pPr marL="0" indent="0">
              <a:buNone/>
            </a:pPr>
            <a:r>
              <a:rPr lang="en-US" sz="1100" b="1" kern="0" spc="200" dirty="0">
                <a:solidFill>
                  <a:srgbClr val="1E8F5E"/>
                </a:solidFill>
                <a:latin typeface="Calibri" pitchFamily="34" charset="0"/>
                <a:ea typeface="Calibri" pitchFamily="34" charset="-122"/>
                <a:cs typeface="Calibri" pitchFamily="34" charset="-120"/>
              </a:rPr>
              <a:t>2 · ANTWORT DES SERVERS</a:t>
            </a:r>
            <a:endParaRPr lang="en-US" sz="1100" dirty="0"/>
          </a:p>
        </p:txBody>
      </p:sp>
      <p:sp>
        <p:nvSpPr>
          <p:cNvPr id="12" name="Text 10"/>
          <p:cNvSpPr/>
          <p:nvPr/>
        </p:nvSpPr>
        <p:spPr>
          <a:xfrm>
            <a:off x="6446520" y="3246120"/>
            <a:ext cx="4937760" cy="36576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200 OK</a:t>
            </a:r>
            <a:endParaRPr lang="en-US" sz="1500" dirty="0"/>
          </a:p>
        </p:txBody>
      </p:sp>
      <p:sp>
        <p:nvSpPr>
          <p:cNvPr id="13" name="Text 11"/>
          <p:cNvSpPr/>
          <p:nvPr/>
        </p:nvSpPr>
        <p:spPr>
          <a:xfrm>
            <a:off x="6446520" y="3639312"/>
            <a:ext cx="4937760" cy="365760"/>
          </a:xfrm>
          <a:prstGeom prst="rect">
            <a:avLst/>
          </a:prstGeom>
          <a:noFill/>
          <a:ln/>
        </p:spPr>
        <p:txBody>
          <a:bodyPr wrap="square" lIns="0" tIns="0" rIns="0" bIns="0" rtlCol="0" anchor="ctr"/>
          <a:lstStyle/>
          <a:p>
            <a:pPr marL="0" indent="0">
              <a:buNone/>
            </a:pPr>
            <a:r>
              <a:rPr lang="en-US" sz="1400" dirty="0">
                <a:solidFill>
                  <a:srgbClr val="55606E"/>
                </a:solidFill>
                <a:latin typeface="Consolas" pitchFamily="34" charset="0"/>
                <a:ea typeface="Consolas" pitchFamily="34" charset="-122"/>
                <a:cs typeface="Consolas" pitchFamily="34" charset="-120"/>
              </a:rPr>
              <a:t>Access-Control-Allow-Origin:</a:t>
            </a:r>
            <a:endParaRPr lang="en-US" sz="1400" dirty="0"/>
          </a:p>
        </p:txBody>
      </p:sp>
      <p:sp>
        <p:nvSpPr>
          <p:cNvPr id="14" name="Text 12"/>
          <p:cNvSpPr/>
          <p:nvPr/>
        </p:nvSpPr>
        <p:spPr>
          <a:xfrm>
            <a:off x="6446520" y="3931920"/>
            <a:ext cx="4937760" cy="365760"/>
          </a:xfrm>
          <a:prstGeom prst="rect">
            <a:avLst/>
          </a:prstGeom>
          <a:noFill/>
          <a:ln/>
        </p:spPr>
        <p:txBody>
          <a:bodyPr wrap="square" lIns="0" tIns="0" rIns="0" bIns="0" rtlCol="0" anchor="ctr"/>
          <a:lstStyle/>
          <a:p>
            <a:pPr marL="0" indent="0">
              <a:buNone/>
            </a:pPr>
            <a:r>
              <a:rPr lang="en-US" sz="1400" dirty="0">
                <a:solidFill>
                  <a:srgbClr val="55606E"/>
                </a:solidFill>
                <a:latin typeface="Consolas" pitchFamily="34" charset="0"/>
                <a:ea typeface="Consolas" pitchFamily="34" charset="-122"/>
                <a:cs typeface="Consolas" pitchFamily="34" charset="-120"/>
              </a:rPr>
              <a:t>  http://localhost:5173</a:t>
            </a:r>
            <a:endParaRPr lang="en-US" sz="1400" dirty="0"/>
          </a:p>
        </p:txBody>
      </p:sp>
      <p:sp>
        <p:nvSpPr>
          <p:cNvPr id="15" name="Text 13"/>
          <p:cNvSpPr/>
          <p:nvPr/>
        </p:nvSpPr>
        <p:spPr>
          <a:xfrm>
            <a:off x="6446520" y="4526280"/>
            <a:ext cx="4937760" cy="914400"/>
          </a:xfrm>
          <a:prstGeom prst="rect">
            <a:avLst/>
          </a:prstGeom>
          <a:noFill/>
          <a:ln/>
        </p:spPr>
        <p:txBody>
          <a:bodyPr wrap="square" lIns="0" tIns="0" rIns="0" bIns="0" rtlCol="0" anchor="ctr"/>
          <a:lstStyle/>
          <a:p>
            <a:pPr marL="0" indent="0">
              <a:buNone/>
            </a:pPr>
            <a:r>
              <a:rPr lang="en-US" sz="1350" dirty="0">
                <a:solidFill>
                  <a:srgbClr val="000000"/>
                </a:solidFill>
                <a:latin typeface="Calibri" pitchFamily="34" charset="0"/>
                <a:ea typeface="Calibri" pitchFamily="34" charset="-122"/>
                <a:cs typeface="Calibri" pitchFamily="34" charset="-120"/>
              </a:rPr>
              <a:t>Passt der Header zur Origin, gibt der Browser die Antwort frei. Fehlt er, blockiert der Browser.</a:t>
            </a:r>
            <a:endParaRPr lang="en-US" sz="1350" dirty="0"/>
          </a:p>
        </p:txBody>
      </p:sp>
      <p:sp>
        <p:nvSpPr>
          <p:cNvPr id="18" name="Text 1">
            <a:extLst>
              <a:ext uri="{FF2B5EF4-FFF2-40B4-BE49-F238E27FC236}">
                <a16:creationId xmlns:a16="http://schemas.microsoft.com/office/drawing/2014/main" id="{3CF26BD2-DA49-204E-19F6-EB562ECA4BE9}"/>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18</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05</a:t>
            </a:r>
            <a:endParaRPr lang="en-US" sz="1050" dirty="0"/>
          </a:p>
        </p:txBody>
      </p:sp>
      <p:sp>
        <p:nvSpPr>
          <p:cNvPr id="4" name="Text 2"/>
          <p:cNvSpPr/>
          <p:nvPr/>
        </p:nvSpPr>
        <p:spPr>
          <a:xfrm>
            <a:off x="868680" y="1051560"/>
            <a:ext cx="10607040" cy="77724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Einfacher Request vs. Preflight</a:t>
            </a:r>
            <a:endParaRPr lang="en-US" sz="36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650" dirty="0">
                <a:solidFill>
                  <a:srgbClr val="55606E"/>
                </a:solidFill>
                <a:latin typeface="Calibri" pitchFamily="34" charset="0"/>
                <a:ea typeface="Calibri" pitchFamily="34" charset="-122"/>
                <a:cs typeface="Calibri" pitchFamily="34" charset="-120"/>
              </a:rPr>
              <a:t>Bei „besonderen“ Requests fragt der Browser vorher per OPTIONS nach, ob der eigentliche Request überhaupt erlaubt ist.</a:t>
            </a:r>
            <a:endParaRPr lang="en-US" sz="1650" dirty="0"/>
          </a:p>
        </p:txBody>
      </p:sp>
      <p:sp>
        <p:nvSpPr>
          <p:cNvPr id="6" name="Text 4"/>
          <p:cNvSpPr/>
          <p:nvPr/>
        </p:nvSpPr>
        <p:spPr>
          <a:xfrm>
            <a:off x="868680" y="2880360"/>
            <a:ext cx="9144000" cy="292608"/>
          </a:xfrm>
          <a:prstGeom prst="rect">
            <a:avLst/>
          </a:prstGeom>
          <a:noFill/>
          <a:ln/>
        </p:spPr>
        <p:txBody>
          <a:bodyPr wrap="square" lIns="0" tIns="0" rIns="0" bIns="0" rtlCol="0" anchor="ctr"/>
          <a:lstStyle/>
          <a:p>
            <a:pPr marL="0" indent="0">
              <a:buNone/>
            </a:pPr>
            <a:r>
              <a:rPr lang="en-US" sz="1150" b="1" kern="0" spc="250" dirty="0">
                <a:solidFill>
                  <a:srgbClr val="1463FF"/>
                </a:solidFill>
                <a:latin typeface="Calibri" pitchFamily="34" charset="0"/>
                <a:ea typeface="Calibri" pitchFamily="34" charset="-122"/>
                <a:cs typeface="Calibri" pitchFamily="34" charset="-120"/>
              </a:rPr>
              <a:t>EINFACHER REQUEST (GET, EINFACHES POST)</a:t>
            </a:r>
            <a:endParaRPr lang="en-US" sz="1150" dirty="0"/>
          </a:p>
        </p:txBody>
      </p:sp>
      <p:sp>
        <p:nvSpPr>
          <p:cNvPr id="7" name="Text 5"/>
          <p:cNvSpPr/>
          <p:nvPr/>
        </p:nvSpPr>
        <p:spPr>
          <a:xfrm>
            <a:off x="868680" y="324612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Browser</a:t>
            </a:r>
            <a:endParaRPr lang="en-US" sz="1700" dirty="0"/>
          </a:p>
        </p:txBody>
      </p:sp>
      <p:sp>
        <p:nvSpPr>
          <p:cNvPr id="8" name="Text 6"/>
          <p:cNvSpPr/>
          <p:nvPr/>
        </p:nvSpPr>
        <p:spPr>
          <a:xfrm>
            <a:off x="868680" y="363016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sendet direkt</a:t>
            </a:r>
            <a:endParaRPr lang="en-US" sz="1250" dirty="0"/>
          </a:p>
        </p:txBody>
      </p:sp>
      <p:sp>
        <p:nvSpPr>
          <p:cNvPr id="9" name="Text 7"/>
          <p:cNvSpPr/>
          <p:nvPr/>
        </p:nvSpPr>
        <p:spPr>
          <a:xfrm>
            <a:off x="3611880" y="3246120"/>
            <a:ext cx="457200" cy="411480"/>
          </a:xfrm>
          <a:prstGeom prst="rect">
            <a:avLst/>
          </a:prstGeom>
          <a:noFill/>
          <a:ln/>
        </p:spPr>
        <p:txBody>
          <a:bodyPr wrap="square" lIns="0" tIns="0" rIns="0" bIns="0" rtlCol="0" anchor="ctr"/>
          <a:lstStyle/>
          <a:p>
            <a:pPr marL="0" indent="0" algn="ctr">
              <a:buNone/>
            </a:pPr>
            <a:r>
              <a:rPr lang="en-US" sz="2000" dirty="0">
                <a:solidFill>
                  <a:srgbClr val="9AA3AF"/>
                </a:solidFill>
                <a:latin typeface="Calibri" pitchFamily="34" charset="0"/>
                <a:ea typeface="Calibri" pitchFamily="34" charset="-122"/>
                <a:cs typeface="Calibri" pitchFamily="34" charset="-120"/>
              </a:rPr>
              <a:t>→</a:t>
            </a:r>
            <a:endParaRPr lang="en-US" sz="2000" dirty="0"/>
          </a:p>
        </p:txBody>
      </p:sp>
      <p:sp>
        <p:nvSpPr>
          <p:cNvPr id="10" name="Text 8"/>
          <p:cNvSpPr/>
          <p:nvPr/>
        </p:nvSpPr>
        <p:spPr>
          <a:xfrm>
            <a:off x="4114800" y="324612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API antwortet</a:t>
            </a:r>
            <a:endParaRPr lang="en-US" sz="1700" dirty="0"/>
          </a:p>
        </p:txBody>
      </p:sp>
      <p:sp>
        <p:nvSpPr>
          <p:cNvPr id="11" name="Text 9"/>
          <p:cNvSpPr/>
          <p:nvPr/>
        </p:nvSpPr>
        <p:spPr>
          <a:xfrm>
            <a:off x="4114800" y="363016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mit Allow-Origin</a:t>
            </a:r>
            <a:endParaRPr lang="en-US" sz="1250" dirty="0"/>
          </a:p>
        </p:txBody>
      </p:sp>
      <p:sp>
        <p:nvSpPr>
          <p:cNvPr id="12" name="Shape 10"/>
          <p:cNvSpPr/>
          <p:nvPr/>
        </p:nvSpPr>
        <p:spPr>
          <a:xfrm>
            <a:off x="868680" y="4343400"/>
            <a:ext cx="10454335" cy="0"/>
          </a:xfrm>
          <a:prstGeom prst="line">
            <a:avLst/>
          </a:prstGeom>
          <a:noFill/>
          <a:ln w="12700">
            <a:solidFill>
              <a:srgbClr val="E4E7EC"/>
            </a:solidFill>
            <a:prstDash val="solid"/>
          </a:ln>
        </p:spPr>
        <p:txBody>
          <a:bodyPr/>
          <a:lstStyle/>
          <a:p>
            <a:endParaRPr lang="de-DE"/>
          </a:p>
        </p:txBody>
      </p:sp>
      <p:sp>
        <p:nvSpPr>
          <p:cNvPr id="13" name="Text 11"/>
          <p:cNvSpPr/>
          <p:nvPr/>
        </p:nvSpPr>
        <p:spPr>
          <a:xfrm>
            <a:off x="868680" y="4617720"/>
            <a:ext cx="9144000" cy="292608"/>
          </a:xfrm>
          <a:prstGeom prst="rect">
            <a:avLst/>
          </a:prstGeom>
          <a:noFill/>
          <a:ln/>
        </p:spPr>
        <p:txBody>
          <a:bodyPr wrap="square" lIns="0" tIns="0" rIns="0" bIns="0" rtlCol="0" anchor="ctr"/>
          <a:lstStyle/>
          <a:p>
            <a:pPr marL="0" indent="0">
              <a:buNone/>
            </a:pPr>
            <a:r>
              <a:rPr lang="en-US" sz="1150" b="1" kern="0" spc="250" dirty="0">
                <a:solidFill>
                  <a:srgbClr val="D23B4E"/>
                </a:solidFill>
                <a:latin typeface="Calibri" pitchFamily="34" charset="0"/>
                <a:ea typeface="Calibri" pitchFamily="34" charset="-122"/>
                <a:cs typeface="Calibri" pitchFamily="34" charset="-120"/>
              </a:rPr>
              <a:t>MIT PREFLIGHT (AUTHORIZATION, APPLICATION/JSON)</a:t>
            </a:r>
            <a:endParaRPr lang="en-US" sz="1150" dirty="0"/>
          </a:p>
        </p:txBody>
      </p:sp>
      <p:sp>
        <p:nvSpPr>
          <p:cNvPr id="14" name="Text 12"/>
          <p:cNvSpPr/>
          <p:nvPr/>
        </p:nvSpPr>
        <p:spPr>
          <a:xfrm>
            <a:off x="868680" y="498348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OPTIONS</a:t>
            </a:r>
            <a:endParaRPr lang="en-US" sz="1700" dirty="0"/>
          </a:p>
        </p:txBody>
      </p:sp>
      <p:sp>
        <p:nvSpPr>
          <p:cNvPr id="15" name="Text 13"/>
          <p:cNvSpPr/>
          <p:nvPr/>
        </p:nvSpPr>
        <p:spPr>
          <a:xfrm>
            <a:off x="868680" y="536752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Vorab-Anfrage</a:t>
            </a:r>
            <a:endParaRPr lang="en-US" sz="1250" dirty="0"/>
          </a:p>
        </p:txBody>
      </p:sp>
      <p:sp>
        <p:nvSpPr>
          <p:cNvPr id="16" name="Text 14"/>
          <p:cNvSpPr/>
          <p:nvPr/>
        </p:nvSpPr>
        <p:spPr>
          <a:xfrm>
            <a:off x="3611880" y="4983480"/>
            <a:ext cx="457200" cy="411480"/>
          </a:xfrm>
          <a:prstGeom prst="rect">
            <a:avLst/>
          </a:prstGeom>
          <a:noFill/>
          <a:ln/>
        </p:spPr>
        <p:txBody>
          <a:bodyPr wrap="square" lIns="0" tIns="0" rIns="0" bIns="0" rtlCol="0" anchor="ctr"/>
          <a:lstStyle/>
          <a:p>
            <a:pPr marL="0" indent="0" algn="ctr">
              <a:buNone/>
            </a:pPr>
            <a:r>
              <a:rPr lang="en-US" sz="2000" dirty="0">
                <a:solidFill>
                  <a:srgbClr val="9AA3AF"/>
                </a:solidFill>
                <a:latin typeface="Calibri" pitchFamily="34" charset="0"/>
                <a:ea typeface="Calibri" pitchFamily="34" charset="-122"/>
                <a:cs typeface="Calibri" pitchFamily="34" charset="-120"/>
              </a:rPr>
              <a:t>→</a:t>
            </a:r>
            <a:endParaRPr lang="en-US" sz="2000" dirty="0"/>
          </a:p>
        </p:txBody>
      </p:sp>
      <p:sp>
        <p:nvSpPr>
          <p:cNvPr id="17" name="Text 15"/>
          <p:cNvSpPr/>
          <p:nvPr/>
        </p:nvSpPr>
        <p:spPr>
          <a:xfrm>
            <a:off x="4114800" y="498348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Server-OK?</a:t>
            </a:r>
            <a:endParaRPr lang="en-US" sz="1700" dirty="0"/>
          </a:p>
        </p:txBody>
      </p:sp>
      <p:sp>
        <p:nvSpPr>
          <p:cNvPr id="18" name="Text 16"/>
          <p:cNvSpPr/>
          <p:nvPr/>
        </p:nvSpPr>
        <p:spPr>
          <a:xfrm>
            <a:off x="4114800" y="536752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CORS-Header prüfen</a:t>
            </a:r>
            <a:endParaRPr lang="en-US" sz="1250" dirty="0"/>
          </a:p>
        </p:txBody>
      </p:sp>
      <p:sp>
        <p:nvSpPr>
          <p:cNvPr id="19" name="Text 17"/>
          <p:cNvSpPr/>
          <p:nvPr/>
        </p:nvSpPr>
        <p:spPr>
          <a:xfrm>
            <a:off x="6858000" y="4983480"/>
            <a:ext cx="457200" cy="411480"/>
          </a:xfrm>
          <a:prstGeom prst="rect">
            <a:avLst/>
          </a:prstGeom>
          <a:noFill/>
          <a:ln/>
        </p:spPr>
        <p:txBody>
          <a:bodyPr wrap="square" lIns="0" tIns="0" rIns="0" bIns="0" rtlCol="0" anchor="ctr"/>
          <a:lstStyle/>
          <a:p>
            <a:pPr marL="0" indent="0" algn="ctr">
              <a:buNone/>
            </a:pPr>
            <a:r>
              <a:rPr lang="en-US" sz="2000" dirty="0">
                <a:solidFill>
                  <a:srgbClr val="9AA3AF"/>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360920" y="498348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Echter Request</a:t>
            </a:r>
            <a:endParaRPr lang="en-US" sz="1700" dirty="0"/>
          </a:p>
        </p:txBody>
      </p:sp>
      <p:sp>
        <p:nvSpPr>
          <p:cNvPr id="21" name="Text 19"/>
          <p:cNvSpPr/>
          <p:nvPr/>
        </p:nvSpPr>
        <p:spPr>
          <a:xfrm>
            <a:off x="7360920" y="536752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sonst blockiert</a:t>
            </a:r>
            <a:endParaRPr lang="en-US" sz="1250" dirty="0"/>
          </a:p>
        </p:txBody>
      </p:sp>
      <p:sp>
        <p:nvSpPr>
          <p:cNvPr id="23" name="Text 1">
            <a:extLst>
              <a:ext uri="{FF2B5EF4-FFF2-40B4-BE49-F238E27FC236}">
                <a16:creationId xmlns:a16="http://schemas.microsoft.com/office/drawing/2014/main" id="{FD3F7E3C-122B-DBFF-219E-B221CD7E8082}"/>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19</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06</a:t>
            </a:r>
            <a:endParaRPr lang="en-US" sz="1050" dirty="0"/>
          </a:p>
        </p:txBody>
      </p:sp>
      <p:sp>
        <p:nvSpPr>
          <p:cNvPr id="4" name="Text 2"/>
          <p:cNvSpPr/>
          <p:nvPr/>
        </p:nvSpPr>
        <p:spPr>
          <a:xfrm>
            <a:off x="868680" y="1051560"/>
            <a:ext cx="10789920" cy="777240"/>
          </a:xfrm>
          <a:prstGeom prst="rect">
            <a:avLst/>
          </a:prstGeom>
          <a:noFill/>
          <a:ln/>
        </p:spPr>
        <p:txBody>
          <a:bodyPr wrap="square" lIns="0" tIns="0" rIns="0" bIns="0" rtlCol="0" anchor="ctr"/>
          <a:lstStyle/>
          <a:p>
            <a:pPr marL="0" indent="0">
              <a:buNone/>
            </a:pPr>
            <a:r>
              <a:rPr lang="en-US" sz="3400" b="1" dirty="0">
                <a:solidFill>
                  <a:srgbClr val="16181D"/>
                </a:solidFill>
                <a:latin typeface="Trebuchet MS" pitchFamily="34" charset="0"/>
                <a:ea typeface="Trebuchet MS" pitchFamily="34" charset="-122"/>
                <a:cs typeface="Trebuchet MS" pitchFamily="34" charset="-120"/>
              </a:rPr>
              <a:t>Wildcard oder Credentials - nicht beides</a:t>
            </a:r>
            <a:endParaRPr lang="en-US" sz="34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650" dirty="0">
                <a:solidFill>
                  <a:srgbClr val="55606E"/>
                </a:solidFill>
                <a:latin typeface="Calibri" pitchFamily="34" charset="0"/>
                <a:ea typeface="Calibri" pitchFamily="34" charset="-122"/>
                <a:cs typeface="Calibri" pitchFamily="34" charset="-120"/>
              </a:rPr>
              <a:t>Wie weit die Freigabe geht, hängt davon ab, ob Anmeldedaten im Spiel sind. Der Browser erzwingt hier eine klare Regel.</a:t>
            </a:r>
            <a:endParaRPr lang="en-US" sz="1650" dirty="0"/>
          </a:p>
        </p:txBody>
      </p:sp>
      <p:sp>
        <p:nvSpPr>
          <p:cNvPr id="6" name="Text 4"/>
          <p:cNvSpPr/>
          <p:nvPr/>
        </p:nvSpPr>
        <p:spPr>
          <a:xfrm>
            <a:off x="868680" y="2834640"/>
            <a:ext cx="4937760" cy="411480"/>
          </a:xfrm>
          <a:prstGeom prst="rect">
            <a:avLst/>
          </a:prstGeom>
          <a:noFill/>
          <a:ln/>
        </p:spPr>
        <p:txBody>
          <a:bodyPr wrap="square" lIns="0" tIns="0" rIns="0" bIns="0" rtlCol="0" anchor="ctr"/>
          <a:lstStyle/>
          <a:p>
            <a:pPr marL="0" indent="0">
              <a:buNone/>
            </a:pPr>
            <a:r>
              <a:rPr lang="en-US" sz="1600" b="1" dirty="0">
                <a:solidFill>
                  <a:srgbClr val="1463FF"/>
                </a:solidFill>
                <a:latin typeface="Consolas" pitchFamily="34" charset="0"/>
                <a:ea typeface="Consolas" pitchFamily="34" charset="-122"/>
                <a:cs typeface="Consolas" pitchFamily="34" charset="-120"/>
              </a:rPr>
              <a:t>Allow-Origin: *</a:t>
            </a:r>
            <a:endParaRPr lang="en-US" sz="1600" dirty="0"/>
          </a:p>
        </p:txBody>
      </p:sp>
      <p:sp>
        <p:nvSpPr>
          <p:cNvPr id="7" name="Shape 5"/>
          <p:cNvSpPr/>
          <p:nvPr/>
        </p:nvSpPr>
        <p:spPr>
          <a:xfrm>
            <a:off x="868680" y="3429000"/>
            <a:ext cx="4937760" cy="0"/>
          </a:xfrm>
          <a:prstGeom prst="line">
            <a:avLst/>
          </a:prstGeom>
          <a:noFill/>
          <a:ln w="12700">
            <a:solidFill>
              <a:srgbClr val="E4E7EC"/>
            </a:solidFill>
            <a:prstDash val="solid"/>
          </a:ln>
        </p:spPr>
        <p:txBody>
          <a:bodyPr/>
          <a:lstStyle/>
          <a:p>
            <a:endParaRPr lang="de-DE"/>
          </a:p>
        </p:txBody>
      </p:sp>
      <p:sp>
        <p:nvSpPr>
          <p:cNvPr id="8" name="Text 6"/>
          <p:cNvSpPr/>
          <p:nvPr/>
        </p:nvSpPr>
        <p:spPr>
          <a:xfrm>
            <a:off x="868680" y="3538728"/>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Jede Origin darf lesen.</a:t>
            </a:r>
            <a:endParaRPr lang="en-US" sz="1400" dirty="0"/>
          </a:p>
        </p:txBody>
      </p:sp>
      <p:sp>
        <p:nvSpPr>
          <p:cNvPr id="9" name="Shape 7"/>
          <p:cNvSpPr/>
          <p:nvPr/>
        </p:nvSpPr>
        <p:spPr>
          <a:xfrm>
            <a:off x="868680" y="4087368"/>
            <a:ext cx="4937760" cy="0"/>
          </a:xfrm>
          <a:prstGeom prst="line">
            <a:avLst/>
          </a:prstGeom>
          <a:noFill/>
          <a:ln w="12700">
            <a:solidFill>
              <a:srgbClr val="E4E7EC"/>
            </a:solidFill>
            <a:prstDash val="solid"/>
          </a:ln>
        </p:spPr>
        <p:txBody>
          <a:bodyPr/>
          <a:lstStyle/>
          <a:p>
            <a:endParaRPr lang="de-DE"/>
          </a:p>
        </p:txBody>
      </p:sp>
      <p:sp>
        <p:nvSpPr>
          <p:cNvPr id="10" name="Text 8"/>
          <p:cNvSpPr/>
          <p:nvPr/>
        </p:nvSpPr>
        <p:spPr>
          <a:xfrm>
            <a:off x="868680" y="4197096"/>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Nur für </a:t>
            </a:r>
            <a:r>
              <a:rPr lang="en-US" sz="1400" dirty="0" err="1">
                <a:solidFill>
                  <a:srgbClr val="55606E"/>
                </a:solidFill>
                <a:latin typeface="Calibri" pitchFamily="34" charset="0"/>
                <a:ea typeface="Calibri" pitchFamily="34" charset="-122"/>
                <a:cs typeface="Calibri" pitchFamily="34" charset="-120"/>
              </a:rPr>
              <a:t>öffentliche</a:t>
            </a:r>
            <a:r>
              <a:rPr lang="en-US" sz="1400" dirty="0">
                <a:solidFill>
                  <a:srgbClr val="55606E"/>
                </a:solidFill>
                <a:latin typeface="Calibri" pitchFamily="34" charset="0"/>
                <a:ea typeface="Calibri" pitchFamily="34" charset="-122"/>
                <a:cs typeface="Calibri" pitchFamily="34" charset="-120"/>
              </a:rPr>
              <a:t>, nicht vertrauliche Daten.</a:t>
            </a:r>
            <a:endParaRPr lang="en-US" sz="1400" dirty="0"/>
          </a:p>
        </p:txBody>
      </p:sp>
      <p:sp>
        <p:nvSpPr>
          <p:cNvPr id="11" name="Shape 9"/>
          <p:cNvSpPr/>
          <p:nvPr/>
        </p:nvSpPr>
        <p:spPr>
          <a:xfrm>
            <a:off x="868680" y="4745736"/>
            <a:ext cx="4937760" cy="0"/>
          </a:xfrm>
          <a:prstGeom prst="line">
            <a:avLst/>
          </a:prstGeom>
          <a:noFill/>
          <a:ln w="12700">
            <a:solidFill>
              <a:srgbClr val="E4E7EC"/>
            </a:solidFill>
            <a:prstDash val="solid"/>
          </a:ln>
        </p:spPr>
        <p:txBody>
          <a:bodyPr/>
          <a:lstStyle/>
          <a:p>
            <a:endParaRPr lang="de-DE"/>
          </a:p>
        </p:txBody>
      </p:sp>
      <p:sp>
        <p:nvSpPr>
          <p:cNvPr id="12" name="Text 10"/>
          <p:cNvSpPr/>
          <p:nvPr/>
        </p:nvSpPr>
        <p:spPr>
          <a:xfrm>
            <a:off x="868680" y="4855464"/>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Funktioniert NICHT zusammen mit Credentials.</a:t>
            </a:r>
            <a:endParaRPr lang="en-US" sz="1400" dirty="0"/>
          </a:p>
        </p:txBody>
      </p:sp>
      <p:sp>
        <p:nvSpPr>
          <p:cNvPr id="13" name="Text 11"/>
          <p:cNvSpPr/>
          <p:nvPr/>
        </p:nvSpPr>
        <p:spPr>
          <a:xfrm>
            <a:off x="6446520" y="2834640"/>
            <a:ext cx="4937760" cy="411480"/>
          </a:xfrm>
          <a:prstGeom prst="rect">
            <a:avLst/>
          </a:prstGeom>
          <a:noFill/>
          <a:ln/>
        </p:spPr>
        <p:txBody>
          <a:bodyPr wrap="square" lIns="0" tIns="0" rIns="0" bIns="0" rtlCol="0" anchor="ctr"/>
          <a:lstStyle/>
          <a:p>
            <a:pPr marL="0" indent="0">
              <a:buNone/>
            </a:pPr>
            <a:r>
              <a:rPr lang="en-US" sz="1600" b="1" dirty="0">
                <a:solidFill>
                  <a:srgbClr val="1E8F5E"/>
                </a:solidFill>
                <a:latin typeface="Consolas" pitchFamily="34" charset="0"/>
                <a:ea typeface="Consolas" pitchFamily="34" charset="-122"/>
                <a:cs typeface="Consolas" pitchFamily="34" charset="-120"/>
              </a:rPr>
              <a:t>Feste Origin + Credentials</a:t>
            </a:r>
            <a:endParaRPr lang="en-US" sz="1600" dirty="0"/>
          </a:p>
        </p:txBody>
      </p:sp>
      <p:sp>
        <p:nvSpPr>
          <p:cNvPr id="14" name="Shape 12"/>
          <p:cNvSpPr/>
          <p:nvPr/>
        </p:nvSpPr>
        <p:spPr>
          <a:xfrm>
            <a:off x="6446520" y="3429000"/>
            <a:ext cx="4937760" cy="0"/>
          </a:xfrm>
          <a:prstGeom prst="line">
            <a:avLst/>
          </a:prstGeom>
          <a:noFill/>
          <a:ln w="12700">
            <a:solidFill>
              <a:srgbClr val="E4E7EC"/>
            </a:solidFill>
            <a:prstDash val="solid"/>
          </a:ln>
        </p:spPr>
        <p:txBody>
          <a:bodyPr/>
          <a:lstStyle/>
          <a:p>
            <a:endParaRPr lang="de-DE"/>
          </a:p>
        </p:txBody>
      </p:sp>
      <p:sp>
        <p:nvSpPr>
          <p:cNvPr id="15" name="Text 13"/>
          <p:cNvSpPr/>
          <p:nvPr/>
        </p:nvSpPr>
        <p:spPr>
          <a:xfrm>
            <a:off x="6446520" y="3538728"/>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Genau eine konkrete Origin erlaubt.</a:t>
            </a:r>
            <a:endParaRPr lang="en-US" sz="1400" dirty="0"/>
          </a:p>
        </p:txBody>
      </p:sp>
      <p:sp>
        <p:nvSpPr>
          <p:cNvPr id="16" name="Shape 14"/>
          <p:cNvSpPr/>
          <p:nvPr/>
        </p:nvSpPr>
        <p:spPr>
          <a:xfrm>
            <a:off x="6446520" y="4087368"/>
            <a:ext cx="4937760" cy="0"/>
          </a:xfrm>
          <a:prstGeom prst="line">
            <a:avLst/>
          </a:prstGeom>
          <a:noFill/>
          <a:ln w="12700">
            <a:solidFill>
              <a:srgbClr val="E4E7EC"/>
            </a:solidFill>
            <a:prstDash val="solid"/>
          </a:ln>
        </p:spPr>
        <p:txBody>
          <a:bodyPr/>
          <a:lstStyle/>
          <a:p>
            <a:endParaRPr lang="de-DE"/>
          </a:p>
        </p:txBody>
      </p:sp>
      <p:sp>
        <p:nvSpPr>
          <p:cNvPr id="17" name="Text 15"/>
          <p:cNvSpPr/>
          <p:nvPr/>
        </p:nvSpPr>
        <p:spPr>
          <a:xfrm>
            <a:off x="6446520" y="4197096"/>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Cookies / Auth </a:t>
            </a:r>
            <a:r>
              <a:rPr lang="en-US" sz="1400" dirty="0" err="1">
                <a:solidFill>
                  <a:srgbClr val="55606E"/>
                </a:solidFill>
                <a:latin typeface="Calibri" pitchFamily="34" charset="0"/>
                <a:ea typeface="Calibri" pitchFamily="34" charset="-122"/>
                <a:cs typeface="Calibri" pitchFamily="34" charset="-120"/>
              </a:rPr>
              <a:t>dürfen</a:t>
            </a:r>
            <a:r>
              <a:rPr lang="en-US" sz="1400" dirty="0">
                <a:solidFill>
                  <a:srgbClr val="55606E"/>
                </a:solidFill>
                <a:latin typeface="Calibri" pitchFamily="34" charset="0"/>
                <a:ea typeface="Calibri" pitchFamily="34" charset="-122"/>
                <a:cs typeface="Calibri" pitchFamily="34" charset="-120"/>
              </a:rPr>
              <a:t> mitgesendet werden.</a:t>
            </a:r>
            <a:endParaRPr lang="en-US" sz="1400" dirty="0"/>
          </a:p>
        </p:txBody>
      </p:sp>
      <p:sp>
        <p:nvSpPr>
          <p:cNvPr id="18" name="Shape 16"/>
          <p:cNvSpPr/>
          <p:nvPr/>
        </p:nvSpPr>
        <p:spPr>
          <a:xfrm>
            <a:off x="6446520" y="4745736"/>
            <a:ext cx="4937760" cy="0"/>
          </a:xfrm>
          <a:prstGeom prst="line">
            <a:avLst/>
          </a:prstGeom>
          <a:noFill/>
          <a:ln w="12700">
            <a:solidFill>
              <a:srgbClr val="E4E7EC"/>
            </a:solidFill>
            <a:prstDash val="solid"/>
          </a:ln>
        </p:spPr>
        <p:txBody>
          <a:bodyPr/>
          <a:lstStyle/>
          <a:p>
            <a:endParaRPr lang="de-DE"/>
          </a:p>
        </p:txBody>
      </p:sp>
      <p:sp>
        <p:nvSpPr>
          <p:cNvPr id="19" name="Text 17"/>
          <p:cNvSpPr/>
          <p:nvPr/>
        </p:nvSpPr>
        <p:spPr>
          <a:xfrm>
            <a:off x="6446520" y="4855464"/>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Pflicht, sobald es um Nutzerdaten geht.</a:t>
            </a:r>
            <a:endParaRPr lang="en-US" sz="1400" dirty="0"/>
          </a:p>
        </p:txBody>
      </p:sp>
      <p:sp>
        <p:nvSpPr>
          <p:cNvPr id="23" name="Text 1">
            <a:extLst>
              <a:ext uri="{FF2B5EF4-FFF2-40B4-BE49-F238E27FC236}">
                <a16:creationId xmlns:a16="http://schemas.microsoft.com/office/drawing/2014/main" id="{5A01C078-220C-60C8-AB8E-826648C197B2}"/>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20</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WICHTIGSTE BOTSCHAFT</a:t>
            </a:r>
            <a:endParaRPr lang="en-US" sz="1050" dirty="0"/>
          </a:p>
        </p:txBody>
      </p:sp>
      <p:sp>
        <p:nvSpPr>
          <p:cNvPr id="4" name="Text 2"/>
          <p:cNvSpPr/>
          <p:nvPr/>
        </p:nvSpPr>
        <p:spPr>
          <a:xfrm>
            <a:off x="868680" y="1600200"/>
            <a:ext cx="10424160" cy="1554480"/>
          </a:xfrm>
          <a:prstGeom prst="rect">
            <a:avLst/>
          </a:prstGeom>
          <a:noFill/>
          <a:ln/>
        </p:spPr>
        <p:txBody>
          <a:bodyPr wrap="square" lIns="0" tIns="0" rIns="0" bIns="0" rtlCol="0" anchor="ctr"/>
          <a:lstStyle/>
          <a:p>
            <a:pPr marL="0" indent="0">
              <a:buNone/>
            </a:pPr>
            <a:r>
              <a:rPr lang="en-US" sz="4800" b="1" dirty="0">
                <a:solidFill>
                  <a:srgbClr val="16181D"/>
                </a:solidFill>
                <a:latin typeface="Trebuchet MS" pitchFamily="34" charset="0"/>
                <a:ea typeface="Trebuchet MS" pitchFamily="34" charset="-122"/>
                <a:cs typeface="Trebuchet MS" pitchFamily="34" charset="-120"/>
              </a:rPr>
              <a:t>CORS ist </a:t>
            </a:r>
            <a:r>
              <a:rPr lang="en-US" sz="4800" b="1" dirty="0">
                <a:solidFill>
                  <a:srgbClr val="D23B4E"/>
                </a:solidFill>
                <a:latin typeface="Trebuchet MS" pitchFamily="34" charset="0"/>
                <a:ea typeface="Trebuchet MS" pitchFamily="34" charset="-122"/>
                <a:cs typeface="Trebuchet MS" pitchFamily="34" charset="-120"/>
              </a:rPr>
              <a:t>keine</a:t>
            </a:r>
            <a:r>
              <a:rPr lang="en-US" sz="4800" b="1" dirty="0">
                <a:solidFill>
                  <a:srgbClr val="16181D"/>
                </a:solidFill>
                <a:latin typeface="Trebuchet MS" pitchFamily="34" charset="0"/>
                <a:ea typeface="Trebuchet MS" pitchFamily="34" charset="-122"/>
                <a:cs typeface="Trebuchet MS" pitchFamily="34" charset="-120"/>
              </a:rPr>
              <a:t> Authentifizierung.</a:t>
            </a:r>
            <a:endParaRPr lang="en-US" sz="4800" dirty="0"/>
          </a:p>
        </p:txBody>
      </p:sp>
      <p:sp>
        <p:nvSpPr>
          <p:cNvPr id="5" name="Text 3"/>
          <p:cNvSpPr/>
          <p:nvPr/>
        </p:nvSpPr>
        <p:spPr>
          <a:xfrm>
            <a:off x="868680" y="3337560"/>
            <a:ext cx="9875520" cy="731520"/>
          </a:xfrm>
          <a:prstGeom prst="rect">
            <a:avLst/>
          </a:prstGeom>
          <a:noFill/>
          <a:ln/>
        </p:spPr>
        <p:txBody>
          <a:bodyPr wrap="square" lIns="0" tIns="0" rIns="0" bIns="0" rtlCol="0" anchor="ctr"/>
          <a:lstStyle/>
          <a:p>
            <a:pPr marL="0" indent="0">
              <a:buNone/>
            </a:pPr>
            <a:r>
              <a:rPr lang="en-US" sz="1900" dirty="0">
                <a:solidFill>
                  <a:srgbClr val="55606E"/>
                </a:solidFill>
                <a:latin typeface="Calibri" pitchFamily="34" charset="0"/>
                <a:ea typeface="Calibri" pitchFamily="34" charset="-122"/>
                <a:cs typeface="Calibri" pitchFamily="34" charset="-120"/>
              </a:rPr>
              <a:t>Es regelt nur, ob fremdes JavaScript die Antwort lesen darf. Wer der Nutzer ist und was er darf, muss der Server weiterhin selbst prüfen.</a:t>
            </a:r>
            <a:endParaRPr lang="en-US" sz="1900" dirty="0"/>
          </a:p>
        </p:txBody>
      </p:sp>
      <p:sp>
        <p:nvSpPr>
          <p:cNvPr id="6" name="Shape 4"/>
          <p:cNvSpPr/>
          <p:nvPr/>
        </p:nvSpPr>
        <p:spPr>
          <a:xfrm>
            <a:off x="868680" y="4572000"/>
            <a:ext cx="10454335" cy="0"/>
          </a:xfrm>
          <a:prstGeom prst="line">
            <a:avLst/>
          </a:prstGeom>
          <a:noFill/>
          <a:ln w="12700">
            <a:solidFill>
              <a:srgbClr val="E4E7EC"/>
            </a:solidFill>
            <a:prstDash val="solid"/>
          </a:ln>
        </p:spPr>
        <p:txBody>
          <a:bodyPr/>
          <a:lstStyle/>
          <a:p>
            <a:endParaRPr lang="de-DE"/>
          </a:p>
        </p:txBody>
      </p:sp>
      <p:sp>
        <p:nvSpPr>
          <p:cNvPr id="7" name="Text 5"/>
          <p:cNvSpPr/>
          <p:nvPr/>
        </p:nvSpPr>
        <p:spPr>
          <a:xfrm>
            <a:off x="868680" y="4846320"/>
            <a:ext cx="4937760" cy="292608"/>
          </a:xfrm>
          <a:prstGeom prst="rect">
            <a:avLst/>
          </a:prstGeom>
          <a:noFill/>
          <a:ln/>
        </p:spPr>
        <p:txBody>
          <a:bodyPr wrap="square" lIns="0" tIns="0" rIns="0" bIns="0" rtlCol="0" anchor="ctr"/>
          <a:lstStyle/>
          <a:p>
            <a:pPr marL="0" indent="0">
              <a:buNone/>
            </a:pPr>
            <a:r>
              <a:rPr lang="en-US" sz="1150" b="1" kern="0" spc="150" dirty="0">
                <a:solidFill>
                  <a:srgbClr val="16181D"/>
                </a:solidFill>
                <a:latin typeface="Calibri" pitchFamily="34" charset="0"/>
                <a:ea typeface="Calibri" pitchFamily="34" charset="-122"/>
                <a:cs typeface="Calibri" pitchFamily="34" charset="-120"/>
              </a:rPr>
              <a:t>AUTHENTIFIZIERUNG &amp; RECHTE</a:t>
            </a:r>
            <a:endParaRPr lang="en-US" sz="1150" dirty="0"/>
          </a:p>
        </p:txBody>
      </p:sp>
      <p:sp>
        <p:nvSpPr>
          <p:cNvPr id="8" name="Text 6"/>
          <p:cNvSpPr/>
          <p:nvPr/>
        </p:nvSpPr>
        <p:spPr>
          <a:xfrm>
            <a:off x="868680" y="5212080"/>
            <a:ext cx="4754880" cy="7315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Prüft serverseitig, wer der Nutzer ist und was er sehen darf. Schützt die Daten selbst.</a:t>
            </a:r>
            <a:endParaRPr lang="en-US" sz="1400" dirty="0"/>
          </a:p>
        </p:txBody>
      </p:sp>
      <p:sp>
        <p:nvSpPr>
          <p:cNvPr id="9" name="Shape 7"/>
          <p:cNvSpPr/>
          <p:nvPr/>
        </p:nvSpPr>
        <p:spPr>
          <a:xfrm>
            <a:off x="6172200" y="4864608"/>
            <a:ext cx="0" cy="914400"/>
          </a:xfrm>
          <a:prstGeom prst="line">
            <a:avLst/>
          </a:prstGeom>
          <a:noFill/>
          <a:ln w="12700">
            <a:solidFill>
              <a:srgbClr val="E4E7EC"/>
            </a:solidFill>
            <a:prstDash val="solid"/>
          </a:ln>
        </p:spPr>
        <p:txBody>
          <a:bodyPr/>
          <a:lstStyle/>
          <a:p>
            <a:endParaRPr lang="de-DE"/>
          </a:p>
        </p:txBody>
      </p:sp>
      <p:sp>
        <p:nvSpPr>
          <p:cNvPr id="10" name="Text 8"/>
          <p:cNvSpPr/>
          <p:nvPr/>
        </p:nvSpPr>
        <p:spPr>
          <a:xfrm>
            <a:off x="6446520" y="4846320"/>
            <a:ext cx="4937760" cy="292608"/>
          </a:xfrm>
          <a:prstGeom prst="rect">
            <a:avLst/>
          </a:prstGeom>
          <a:noFill/>
          <a:ln/>
        </p:spPr>
        <p:txBody>
          <a:bodyPr wrap="square" lIns="0" tIns="0" rIns="0" bIns="0" rtlCol="0" anchor="ctr"/>
          <a:lstStyle/>
          <a:p>
            <a:pPr marL="0" indent="0">
              <a:buNone/>
            </a:pPr>
            <a:r>
              <a:rPr lang="en-US" sz="1150" b="1" kern="0" spc="150" dirty="0">
                <a:solidFill>
                  <a:srgbClr val="16181D"/>
                </a:solidFill>
                <a:latin typeface="Calibri" pitchFamily="34" charset="0"/>
                <a:ea typeface="Calibri" pitchFamily="34" charset="-122"/>
                <a:cs typeface="Calibri" pitchFamily="34" charset="-120"/>
              </a:rPr>
              <a:t>CORS</a:t>
            </a:r>
            <a:endParaRPr lang="en-US" sz="1150" dirty="0"/>
          </a:p>
        </p:txBody>
      </p:sp>
      <p:sp>
        <p:nvSpPr>
          <p:cNvPr id="11" name="Text 9"/>
          <p:cNvSpPr/>
          <p:nvPr/>
        </p:nvSpPr>
        <p:spPr>
          <a:xfrm>
            <a:off x="6446520" y="5212080"/>
            <a:ext cx="4754880" cy="7315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Hebt nur die Browser-Lesesperre für bestimmte Origins auf. Gibt keinerlei Rechte.</a:t>
            </a:r>
            <a:endParaRPr lang="en-US" sz="1400" dirty="0"/>
          </a:p>
        </p:txBody>
      </p:sp>
      <p:sp>
        <p:nvSpPr>
          <p:cNvPr id="12" name="Text 1">
            <a:extLst>
              <a:ext uri="{FF2B5EF4-FFF2-40B4-BE49-F238E27FC236}">
                <a16:creationId xmlns:a16="http://schemas.microsoft.com/office/drawing/2014/main" id="{733DD691-8C5F-4799-AD01-2F0B39F5DECD}"/>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21</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ZUSAMMENFASSUNG</a:t>
            </a:r>
            <a:endParaRPr lang="en-US" sz="1050" dirty="0"/>
          </a:p>
        </p:txBody>
      </p:sp>
      <p:sp>
        <p:nvSpPr>
          <p:cNvPr id="4" name="Text 2"/>
          <p:cNvSpPr/>
          <p:nvPr/>
        </p:nvSpPr>
        <p:spPr>
          <a:xfrm>
            <a:off x="868680" y="1188720"/>
            <a:ext cx="10058400" cy="822960"/>
          </a:xfrm>
          <a:prstGeom prst="rect">
            <a:avLst/>
          </a:prstGeom>
          <a:noFill/>
          <a:ln/>
        </p:spPr>
        <p:txBody>
          <a:bodyPr wrap="square" lIns="0" tIns="0" rIns="0" bIns="0" rtlCol="0" anchor="ctr"/>
          <a:lstStyle/>
          <a:p>
            <a:pPr marL="0" indent="0">
              <a:buNone/>
            </a:pPr>
            <a:r>
              <a:rPr lang="en-US" sz="4000" b="1" dirty="0">
                <a:solidFill>
                  <a:srgbClr val="16181D"/>
                </a:solidFill>
                <a:latin typeface="Trebuchet MS" pitchFamily="34" charset="0"/>
                <a:ea typeface="Trebuchet MS" pitchFamily="34" charset="-122"/>
                <a:cs typeface="Trebuchet MS" pitchFamily="34" charset="-120"/>
              </a:rPr>
              <a:t>Das Wichtigste in Kürze</a:t>
            </a:r>
            <a:endParaRPr lang="en-US" sz="4000" dirty="0"/>
          </a:p>
        </p:txBody>
      </p:sp>
      <p:sp>
        <p:nvSpPr>
          <p:cNvPr id="5" name="Shape 3"/>
          <p:cNvSpPr/>
          <p:nvPr/>
        </p:nvSpPr>
        <p:spPr>
          <a:xfrm>
            <a:off x="868680" y="2240280"/>
            <a:ext cx="10454335" cy="0"/>
          </a:xfrm>
          <a:prstGeom prst="line">
            <a:avLst/>
          </a:prstGeom>
          <a:noFill/>
          <a:ln w="12700">
            <a:solidFill>
              <a:srgbClr val="E4E7EC"/>
            </a:solidFill>
            <a:prstDash val="solid"/>
          </a:ln>
        </p:spPr>
        <p:txBody>
          <a:bodyPr/>
          <a:lstStyle/>
          <a:p>
            <a:endParaRPr lang="de-DE"/>
          </a:p>
        </p:txBody>
      </p:sp>
      <p:sp>
        <p:nvSpPr>
          <p:cNvPr id="6" name="Text 4"/>
          <p:cNvSpPr/>
          <p:nvPr/>
        </p:nvSpPr>
        <p:spPr>
          <a:xfrm>
            <a:off x="868680" y="256032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01</a:t>
            </a:r>
            <a:endParaRPr lang="en-US" sz="1700" dirty="0"/>
          </a:p>
        </p:txBody>
      </p:sp>
      <p:sp>
        <p:nvSpPr>
          <p:cNvPr id="7" name="Text 5"/>
          <p:cNvSpPr/>
          <p:nvPr/>
        </p:nvSpPr>
        <p:spPr>
          <a:xfrm>
            <a:off x="1508760" y="256032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Die Same-Origin Policy blockiert standardmäßig Cross-Origin-Lesen.</a:t>
            </a:r>
            <a:endParaRPr lang="en-US" sz="1600" dirty="0"/>
          </a:p>
        </p:txBody>
      </p:sp>
      <p:sp>
        <p:nvSpPr>
          <p:cNvPr id="8" name="Text 6"/>
          <p:cNvSpPr/>
          <p:nvPr/>
        </p:nvSpPr>
        <p:spPr>
          <a:xfrm>
            <a:off x="868680" y="310896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02</a:t>
            </a:r>
            <a:endParaRPr lang="en-US" sz="1700" dirty="0"/>
          </a:p>
        </p:txBody>
      </p:sp>
      <p:sp>
        <p:nvSpPr>
          <p:cNvPr id="9" name="Text 7"/>
          <p:cNvSpPr/>
          <p:nvPr/>
        </p:nvSpPr>
        <p:spPr>
          <a:xfrm>
            <a:off x="1508760" y="310896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CORS lockert das </a:t>
            </a:r>
            <a:r>
              <a:rPr lang="en-US" sz="1600" dirty="0" err="1">
                <a:solidFill>
                  <a:srgbClr val="16181D"/>
                </a:solidFill>
                <a:latin typeface="Calibri" pitchFamily="34" charset="0"/>
                <a:ea typeface="Calibri" pitchFamily="34" charset="-122"/>
                <a:cs typeface="Calibri" pitchFamily="34" charset="-120"/>
              </a:rPr>
              <a:t>kontrolliert</a:t>
            </a:r>
            <a:r>
              <a:rPr lang="en-US" sz="1600" dirty="0">
                <a:solidFill>
                  <a:srgbClr val="16181D"/>
                </a:solidFill>
                <a:latin typeface="Calibri" pitchFamily="34" charset="0"/>
                <a:ea typeface="Calibri" pitchFamily="34" charset="-122"/>
                <a:cs typeface="Calibri" pitchFamily="34" charset="-120"/>
              </a:rPr>
              <a:t> per Header vom Server.</a:t>
            </a:r>
            <a:endParaRPr lang="en-US" sz="1600" dirty="0"/>
          </a:p>
        </p:txBody>
      </p:sp>
      <p:sp>
        <p:nvSpPr>
          <p:cNvPr id="10" name="Text 8"/>
          <p:cNvSpPr/>
          <p:nvPr/>
        </p:nvSpPr>
        <p:spPr>
          <a:xfrm>
            <a:off x="868680" y="365760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03</a:t>
            </a:r>
            <a:endParaRPr lang="en-US" sz="1700" dirty="0"/>
          </a:p>
        </p:txBody>
      </p:sp>
      <p:sp>
        <p:nvSpPr>
          <p:cNvPr id="11" name="Text 9"/>
          <p:cNvSpPr/>
          <p:nvPr/>
        </p:nvSpPr>
        <p:spPr>
          <a:xfrm>
            <a:off x="1508760" y="365760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Der Browser entscheidet anhand der Header, nicht der Server.</a:t>
            </a:r>
            <a:endParaRPr lang="en-US" sz="1600" dirty="0"/>
          </a:p>
        </p:txBody>
      </p:sp>
      <p:sp>
        <p:nvSpPr>
          <p:cNvPr id="12" name="Text 10"/>
          <p:cNvSpPr/>
          <p:nvPr/>
        </p:nvSpPr>
        <p:spPr>
          <a:xfrm>
            <a:off x="868680" y="420624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04</a:t>
            </a:r>
            <a:endParaRPr lang="en-US" sz="1700" dirty="0"/>
          </a:p>
        </p:txBody>
      </p:sp>
      <p:sp>
        <p:nvSpPr>
          <p:cNvPr id="13" name="Text 11"/>
          <p:cNvSpPr/>
          <p:nvPr/>
        </p:nvSpPr>
        <p:spPr>
          <a:xfrm>
            <a:off x="1508760" y="420624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Bei besonderen Requests kommt ein OPTIONS-Preflight davor.</a:t>
            </a:r>
            <a:endParaRPr lang="en-US" sz="1600" dirty="0"/>
          </a:p>
        </p:txBody>
      </p:sp>
      <p:sp>
        <p:nvSpPr>
          <p:cNvPr id="14" name="Text 12"/>
          <p:cNvSpPr/>
          <p:nvPr/>
        </p:nvSpPr>
        <p:spPr>
          <a:xfrm>
            <a:off x="868680" y="475488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05</a:t>
            </a:r>
            <a:endParaRPr lang="en-US" sz="1700" dirty="0"/>
          </a:p>
        </p:txBody>
      </p:sp>
      <p:sp>
        <p:nvSpPr>
          <p:cNvPr id="15" name="Text 13"/>
          <p:cNvSpPr/>
          <p:nvPr/>
        </p:nvSpPr>
        <p:spPr>
          <a:xfrm>
            <a:off x="1508760" y="475488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CORS ist Lesefreigabe, kein Ersatz für Authentifizierung.</a:t>
            </a:r>
            <a:endParaRPr lang="en-US" sz="1600" dirty="0"/>
          </a:p>
        </p:txBody>
      </p:sp>
      <p:sp>
        <p:nvSpPr>
          <p:cNvPr id="16" name="Text 1">
            <a:extLst>
              <a:ext uri="{FF2B5EF4-FFF2-40B4-BE49-F238E27FC236}">
                <a16:creationId xmlns:a16="http://schemas.microsoft.com/office/drawing/2014/main" id="{1B8A174F-8C07-C37A-69B7-01A6BBFE9812}"/>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22</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DEMO · AUFBAU</a:t>
            </a:r>
            <a:endParaRPr lang="en-US" sz="1050" dirty="0"/>
          </a:p>
        </p:txBody>
      </p:sp>
      <p:sp>
        <p:nvSpPr>
          <p:cNvPr id="3" name="Text 1"/>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23</a:t>
            </a:fld>
            <a:endParaRPr lang="en-US" sz="1050" dirty="0"/>
          </a:p>
        </p:txBody>
      </p:sp>
      <p:sp>
        <p:nvSpPr>
          <p:cNvPr id="4" name="Text 2"/>
          <p:cNvSpPr/>
          <p:nvPr/>
        </p:nvSpPr>
        <p:spPr>
          <a:xfrm>
            <a:off x="868680" y="1051560"/>
            <a:ext cx="10058400" cy="777240"/>
          </a:xfrm>
          <a:prstGeom prst="rect">
            <a:avLst/>
          </a:prstGeom>
          <a:noFill/>
          <a:ln/>
        </p:spPr>
        <p:txBody>
          <a:bodyPr wrap="square" lIns="0" tIns="0" rIns="0" bIns="0" rtlCol="0" anchor="ctr"/>
          <a:lstStyle/>
          <a:p>
            <a:pPr marL="0" indent="0">
              <a:buNone/>
            </a:pPr>
            <a:r>
              <a:rPr lang="en-US" sz="4000" b="1" dirty="0">
                <a:solidFill>
                  <a:srgbClr val="16181D"/>
                </a:solidFill>
                <a:latin typeface="Trebuchet MS" pitchFamily="34" charset="0"/>
                <a:ea typeface="Trebuchet MS" pitchFamily="34" charset="-122"/>
                <a:cs typeface="Trebuchet MS" pitchFamily="34" charset="-120"/>
              </a:rPr>
              <a:t>Setup</a:t>
            </a:r>
            <a:endParaRPr lang="en-US" sz="4000" dirty="0"/>
          </a:p>
        </p:txBody>
      </p:sp>
      <p:sp>
        <p:nvSpPr>
          <p:cNvPr id="5" name="Text 3"/>
          <p:cNvSpPr/>
          <p:nvPr/>
        </p:nvSpPr>
        <p:spPr>
          <a:xfrm>
            <a:off x="868680" y="1920240"/>
            <a:ext cx="10424160" cy="640080"/>
          </a:xfrm>
          <a:prstGeom prst="rect">
            <a:avLst/>
          </a:prstGeom>
          <a:noFill/>
          <a:ln/>
        </p:spPr>
        <p:txBody>
          <a:bodyPr wrap="square" lIns="0" tIns="0" rIns="0" bIns="0" rtlCol="0" anchor="ctr"/>
          <a:lstStyle/>
          <a:p>
            <a:r>
              <a:rPr lang="en-US" sz="1700" dirty="0">
                <a:solidFill>
                  <a:srgbClr val="55606E"/>
                </a:solidFill>
                <a:latin typeface="Calibri" pitchFamily="34" charset="0"/>
                <a:ea typeface="Calibri" pitchFamily="34" charset="-122"/>
                <a:cs typeface="Calibri" pitchFamily="34" charset="-120"/>
              </a:rPr>
              <a:t>Vier </a:t>
            </a:r>
            <a:r>
              <a:rPr lang="en-US" sz="1700" dirty="0" err="1">
                <a:solidFill>
                  <a:srgbClr val="55606E"/>
                </a:solidFill>
                <a:latin typeface="Calibri" pitchFamily="34" charset="0"/>
                <a:ea typeface="Calibri" pitchFamily="34" charset="-122"/>
                <a:cs typeface="Calibri" pitchFamily="34" charset="-120"/>
              </a:rPr>
              <a:t>lokale</a:t>
            </a:r>
            <a:r>
              <a:rPr lang="en-US" sz="1700" dirty="0">
                <a:solidFill>
                  <a:srgbClr val="55606E"/>
                </a:solidFill>
                <a:latin typeface="Calibri" pitchFamily="34" charset="0"/>
                <a:ea typeface="Calibri" pitchFamily="34" charset="-122"/>
                <a:cs typeface="Calibri" pitchFamily="34" charset="-120"/>
              </a:rPr>
              <a:t> </a:t>
            </a:r>
            <a:r>
              <a:rPr lang="en-US" sz="1700" dirty="0" err="1">
                <a:solidFill>
                  <a:srgbClr val="55606E"/>
                </a:solidFill>
                <a:latin typeface="Calibri" pitchFamily="34" charset="0"/>
                <a:ea typeface="Calibri" pitchFamily="34" charset="-122"/>
                <a:cs typeface="Calibri" pitchFamily="34" charset="-120"/>
              </a:rPr>
              <a:t>Komponenten</a:t>
            </a:r>
            <a:endParaRPr lang="en-US" sz="1700" dirty="0"/>
          </a:p>
        </p:txBody>
      </p:sp>
      <p:sp>
        <p:nvSpPr>
          <p:cNvPr id="6" name="Shape 4"/>
          <p:cNvSpPr/>
          <p:nvPr/>
        </p:nvSpPr>
        <p:spPr>
          <a:xfrm>
            <a:off x="868680" y="2788920"/>
            <a:ext cx="10454335" cy="0"/>
          </a:xfrm>
          <a:prstGeom prst="line">
            <a:avLst/>
          </a:prstGeom>
          <a:noFill/>
          <a:ln w="12700">
            <a:solidFill>
              <a:srgbClr val="E4E7EC"/>
            </a:solidFill>
            <a:prstDash val="solid"/>
          </a:ln>
        </p:spPr>
        <p:txBody>
          <a:bodyPr/>
          <a:lstStyle/>
          <a:p>
            <a:endParaRPr lang="de-DE"/>
          </a:p>
        </p:txBody>
      </p:sp>
      <p:sp>
        <p:nvSpPr>
          <p:cNvPr id="7" name="Text 5"/>
          <p:cNvSpPr/>
          <p:nvPr/>
        </p:nvSpPr>
        <p:spPr>
          <a:xfrm>
            <a:off x="868680" y="2916936"/>
            <a:ext cx="5943600" cy="384048"/>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docker-compose up</a:t>
            </a:r>
            <a:endParaRPr lang="en-US" sz="1500" dirty="0"/>
          </a:p>
        </p:txBody>
      </p:sp>
      <p:sp>
        <p:nvSpPr>
          <p:cNvPr id="8" name="Text 6"/>
          <p:cNvSpPr/>
          <p:nvPr/>
        </p:nvSpPr>
        <p:spPr>
          <a:xfrm>
            <a:off x="868680" y="3246120"/>
            <a:ext cx="6400800" cy="329184"/>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Keycloak · Postgres</a:t>
            </a:r>
            <a:endParaRPr lang="en-US" sz="1250" dirty="0"/>
          </a:p>
        </p:txBody>
      </p:sp>
      <p:sp>
        <p:nvSpPr>
          <p:cNvPr id="9" name="Text 7"/>
          <p:cNvSpPr/>
          <p:nvPr/>
        </p:nvSpPr>
        <p:spPr>
          <a:xfrm>
            <a:off x="8579815" y="2916936"/>
            <a:ext cx="2743200" cy="548640"/>
          </a:xfrm>
          <a:prstGeom prst="rect">
            <a:avLst/>
          </a:prstGeom>
          <a:noFill/>
          <a:ln/>
        </p:spPr>
        <p:txBody>
          <a:bodyPr wrap="square" lIns="0" tIns="0" rIns="0" bIns="0" rtlCol="0" anchor="ctr"/>
          <a:lstStyle/>
          <a:p>
            <a:pPr marL="0" indent="0" algn="r">
              <a:buNone/>
            </a:pPr>
            <a:r>
              <a:rPr lang="en-US" sz="1500" b="1" dirty="0">
                <a:solidFill>
                  <a:srgbClr val="9AA3AF"/>
                </a:solidFill>
                <a:latin typeface="Consolas" pitchFamily="34" charset="0"/>
                <a:ea typeface="Consolas" pitchFamily="34" charset="-122"/>
                <a:cs typeface="Consolas" pitchFamily="34" charset="-120"/>
              </a:rPr>
              <a:t>:8080 / :5432</a:t>
            </a:r>
            <a:endParaRPr lang="en-US" sz="1500" dirty="0"/>
          </a:p>
        </p:txBody>
      </p:sp>
      <p:sp>
        <p:nvSpPr>
          <p:cNvPr id="10" name="Shape 8"/>
          <p:cNvSpPr/>
          <p:nvPr/>
        </p:nvSpPr>
        <p:spPr>
          <a:xfrm>
            <a:off x="868680" y="3630168"/>
            <a:ext cx="10454335" cy="0"/>
          </a:xfrm>
          <a:prstGeom prst="line">
            <a:avLst/>
          </a:prstGeom>
          <a:noFill/>
          <a:ln w="12700">
            <a:solidFill>
              <a:srgbClr val="E4E7EC"/>
            </a:solidFill>
            <a:prstDash val="solid"/>
          </a:ln>
        </p:spPr>
        <p:txBody>
          <a:bodyPr/>
          <a:lstStyle/>
          <a:p>
            <a:endParaRPr lang="de-DE"/>
          </a:p>
        </p:txBody>
      </p:sp>
      <p:sp>
        <p:nvSpPr>
          <p:cNvPr id="11" name="Text 9"/>
          <p:cNvSpPr/>
          <p:nvPr/>
        </p:nvSpPr>
        <p:spPr>
          <a:xfrm>
            <a:off x="868680" y="3758184"/>
            <a:ext cx="5943600" cy="384048"/>
          </a:xfrm>
          <a:prstGeom prst="rect">
            <a:avLst/>
          </a:prstGeom>
          <a:noFill/>
          <a:ln/>
        </p:spPr>
        <p:txBody>
          <a:bodyPr wrap="square" lIns="0" tIns="0" rIns="0" bIns="0" rtlCol="0" anchor="ctr"/>
          <a:lstStyle/>
          <a:p>
            <a:pPr marL="0" indent="0">
              <a:buNone/>
            </a:pPr>
            <a:r>
              <a:rPr lang="en-US" sz="1500" b="1" dirty="0" err="1">
                <a:solidFill>
                  <a:srgbClr val="16181D"/>
                </a:solidFill>
                <a:latin typeface="Consolas" pitchFamily="34" charset="0"/>
                <a:ea typeface="Consolas" pitchFamily="34" charset="-122"/>
                <a:cs typeface="Consolas" pitchFamily="34" charset="-120"/>
              </a:rPr>
              <a:t>gradlew</a:t>
            </a:r>
            <a:r>
              <a:rPr lang="en-US" sz="1500" b="1" dirty="0">
                <a:solidFill>
                  <a:srgbClr val="16181D"/>
                </a:solidFill>
                <a:latin typeface="Consolas" pitchFamily="34" charset="0"/>
                <a:ea typeface="Consolas" pitchFamily="34" charset="-122"/>
                <a:cs typeface="Consolas" pitchFamily="34" charset="-120"/>
              </a:rPr>
              <a:t> </a:t>
            </a:r>
            <a:r>
              <a:rPr lang="en-US" sz="1500" b="1" dirty="0" err="1">
                <a:solidFill>
                  <a:srgbClr val="16181D"/>
                </a:solidFill>
                <a:latin typeface="Consolas" pitchFamily="34" charset="0"/>
                <a:ea typeface="Consolas" pitchFamily="34" charset="-122"/>
                <a:cs typeface="Consolas" pitchFamily="34" charset="-120"/>
              </a:rPr>
              <a:t>bootRun</a:t>
            </a:r>
            <a:endParaRPr lang="en-US" sz="1500" dirty="0"/>
          </a:p>
        </p:txBody>
      </p:sp>
      <p:sp>
        <p:nvSpPr>
          <p:cNvPr id="12" name="Text 10"/>
          <p:cNvSpPr/>
          <p:nvPr/>
        </p:nvSpPr>
        <p:spPr>
          <a:xfrm>
            <a:off x="868680" y="4087368"/>
            <a:ext cx="6400800" cy="329184"/>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Spring-Boot-API</a:t>
            </a:r>
            <a:endParaRPr lang="en-US" sz="1250" dirty="0"/>
          </a:p>
        </p:txBody>
      </p:sp>
      <p:sp>
        <p:nvSpPr>
          <p:cNvPr id="13" name="Text 11"/>
          <p:cNvSpPr/>
          <p:nvPr/>
        </p:nvSpPr>
        <p:spPr>
          <a:xfrm>
            <a:off x="8579815" y="3758184"/>
            <a:ext cx="2743200" cy="548640"/>
          </a:xfrm>
          <a:prstGeom prst="rect">
            <a:avLst/>
          </a:prstGeom>
          <a:noFill/>
          <a:ln/>
        </p:spPr>
        <p:txBody>
          <a:bodyPr wrap="square" lIns="0" tIns="0" rIns="0" bIns="0" rtlCol="0" anchor="ctr"/>
          <a:lstStyle/>
          <a:p>
            <a:pPr marL="0" indent="0" algn="r">
              <a:buNone/>
            </a:pPr>
            <a:r>
              <a:rPr lang="en-US" sz="1500" b="1" dirty="0">
                <a:solidFill>
                  <a:srgbClr val="9AA3AF"/>
                </a:solidFill>
                <a:latin typeface="Consolas" pitchFamily="34" charset="0"/>
                <a:ea typeface="Consolas" pitchFamily="34" charset="-122"/>
                <a:cs typeface="Consolas" pitchFamily="34" charset="-120"/>
              </a:rPr>
              <a:t>:8079</a:t>
            </a:r>
            <a:endParaRPr lang="en-US" sz="1500" dirty="0"/>
          </a:p>
        </p:txBody>
      </p:sp>
      <p:sp>
        <p:nvSpPr>
          <p:cNvPr id="14" name="Shape 12"/>
          <p:cNvSpPr/>
          <p:nvPr/>
        </p:nvSpPr>
        <p:spPr>
          <a:xfrm>
            <a:off x="868680" y="4471416"/>
            <a:ext cx="10454335" cy="0"/>
          </a:xfrm>
          <a:prstGeom prst="line">
            <a:avLst/>
          </a:prstGeom>
          <a:noFill/>
          <a:ln w="12700">
            <a:solidFill>
              <a:srgbClr val="E4E7EC"/>
            </a:solidFill>
            <a:prstDash val="solid"/>
          </a:ln>
        </p:spPr>
        <p:txBody>
          <a:bodyPr/>
          <a:lstStyle/>
          <a:p>
            <a:endParaRPr lang="de-DE"/>
          </a:p>
        </p:txBody>
      </p:sp>
      <p:sp>
        <p:nvSpPr>
          <p:cNvPr id="15" name="Text 13"/>
          <p:cNvSpPr/>
          <p:nvPr/>
        </p:nvSpPr>
        <p:spPr>
          <a:xfrm>
            <a:off x="868680" y="4599432"/>
            <a:ext cx="5943600" cy="384048"/>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npm run dev</a:t>
            </a:r>
            <a:endParaRPr lang="en-US" sz="1500" dirty="0"/>
          </a:p>
        </p:txBody>
      </p:sp>
      <p:sp>
        <p:nvSpPr>
          <p:cNvPr id="16" name="Text 14"/>
          <p:cNvSpPr/>
          <p:nvPr/>
        </p:nvSpPr>
        <p:spPr>
          <a:xfrm>
            <a:off x="868680" y="4928616"/>
            <a:ext cx="6400800" cy="329184"/>
          </a:xfrm>
          <a:prstGeom prst="rect">
            <a:avLst/>
          </a:prstGeom>
          <a:noFill/>
          <a:ln/>
        </p:spPr>
        <p:txBody>
          <a:bodyPr wrap="square" lIns="0" tIns="0" rIns="0" bIns="0" rtlCol="0" anchor="ctr"/>
          <a:lstStyle/>
          <a:p>
            <a:pPr marL="0" indent="0">
              <a:buNone/>
            </a:pPr>
            <a:r>
              <a:rPr lang="en-US" sz="1250" dirty="0" err="1">
                <a:solidFill>
                  <a:srgbClr val="55606E"/>
                </a:solidFill>
                <a:latin typeface="Calibri" pitchFamily="34" charset="0"/>
                <a:ea typeface="Calibri" pitchFamily="34" charset="-122"/>
                <a:cs typeface="Calibri" pitchFamily="34" charset="-120"/>
              </a:rPr>
              <a:t>reguläres</a:t>
            </a:r>
            <a:r>
              <a:rPr lang="en-US" sz="1250" dirty="0">
                <a:solidFill>
                  <a:srgbClr val="55606E"/>
                </a:solidFill>
                <a:latin typeface="Calibri" pitchFamily="34" charset="0"/>
                <a:ea typeface="Calibri" pitchFamily="34" charset="-122"/>
                <a:cs typeface="Calibri" pitchFamily="34" charset="-120"/>
              </a:rPr>
              <a:t> Vue-Frontend</a:t>
            </a:r>
            <a:endParaRPr lang="en-US" sz="1250" dirty="0"/>
          </a:p>
        </p:txBody>
      </p:sp>
      <p:sp>
        <p:nvSpPr>
          <p:cNvPr id="17" name="Text 15"/>
          <p:cNvSpPr/>
          <p:nvPr/>
        </p:nvSpPr>
        <p:spPr>
          <a:xfrm>
            <a:off x="8579815" y="4599432"/>
            <a:ext cx="2743200" cy="548640"/>
          </a:xfrm>
          <a:prstGeom prst="rect">
            <a:avLst/>
          </a:prstGeom>
          <a:noFill/>
          <a:ln/>
        </p:spPr>
        <p:txBody>
          <a:bodyPr wrap="square" lIns="0" tIns="0" rIns="0" bIns="0" rtlCol="0" anchor="ctr"/>
          <a:lstStyle/>
          <a:p>
            <a:pPr marL="0" indent="0" algn="r">
              <a:buNone/>
            </a:pPr>
            <a:r>
              <a:rPr lang="en-US" sz="1500" b="1" dirty="0">
                <a:solidFill>
                  <a:srgbClr val="9AA3AF"/>
                </a:solidFill>
                <a:latin typeface="Consolas" pitchFamily="34" charset="0"/>
                <a:ea typeface="Consolas" pitchFamily="34" charset="-122"/>
                <a:cs typeface="Consolas" pitchFamily="34" charset="-120"/>
              </a:rPr>
              <a:t>:8078</a:t>
            </a:r>
            <a:endParaRPr lang="en-US" sz="1500" dirty="0"/>
          </a:p>
        </p:txBody>
      </p:sp>
      <p:sp>
        <p:nvSpPr>
          <p:cNvPr id="18" name="Shape 16"/>
          <p:cNvSpPr/>
          <p:nvPr/>
        </p:nvSpPr>
        <p:spPr>
          <a:xfrm>
            <a:off x="868680" y="5312664"/>
            <a:ext cx="10454335" cy="0"/>
          </a:xfrm>
          <a:prstGeom prst="line">
            <a:avLst/>
          </a:prstGeom>
          <a:noFill/>
          <a:ln w="12700">
            <a:solidFill>
              <a:srgbClr val="E4E7EC"/>
            </a:solidFill>
            <a:prstDash val="solid"/>
          </a:ln>
        </p:spPr>
        <p:txBody>
          <a:bodyPr/>
          <a:lstStyle/>
          <a:p>
            <a:endParaRPr lang="de-DE"/>
          </a:p>
        </p:txBody>
      </p:sp>
      <p:sp>
        <p:nvSpPr>
          <p:cNvPr id="19" name="Text 17"/>
          <p:cNvSpPr/>
          <p:nvPr/>
        </p:nvSpPr>
        <p:spPr>
          <a:xfrm>
            <a:off x="868680" y="5440680"/>
            <a:ext cx="5943600" cy="384048"/>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python -m http.server 5173</a:t>
            </a:r>
            <a:endParaRPr lang="en-US" sz="1500" dirty="0"/>
          </a:p>
        </p:txBody>
      </p:sp>
      <p:sp>
        <p:nvSpPr>
          <p:cNvPr id="20" name="Text 18"/>
          <p:cNvSpPr/>
          <p:nvPr/>
        </p:nvSpPr>
        <p:spPr>
          <a:xfrm>
            <a:off x="868680" y="5769864"/>
            <a:ext cx="6400800" cy="329184"/>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exploit.html - die </a:t>
            </a:r>
            <a:r>
              <a:rPr lang="en-US" sz="1250" dirty="0" err="1">
                <a:solidFill>
                  <a:srgbClr val="55606E"/>
                </a:solidFill>
                <a:latin typeface="Calibri" pitchFamily="34" charset="0"/>
                <a:ea typeface="Calibri" pitchFamily="34" charset="-122"/>
                <a:cs typeface="Calibri" pitchFamily="34" charset="-120"/>
              </a:rPr>
              <a:t>Angreifer-Seite</a:t>
            </a:r>
            <a:r>
              <a:rPr lang="en-US" sz="1250" dirty="0">
                <a:solidFill>
                  <a:srgbClr val="55606E"/>
                </a:solidFill>
                <a:latin typeface="Calibri" pitchFamily="34" charset="0"/>
                <a:ea typeface="Calibri" pitchFamily="34" charset="-122"/>
                <a:cs typeface="Calibri" pitchFamily="34" charset="-120"/>
              </a:rPr>
              <a:t> auf </a:t>
            </a:r>
            <a:r>
              <a:rPr lang="en-US" sz="1250" dirty="0" err="1">
                <a:solidFill>
                  <a:srgbClr val="55606E"/>
                </a:solidFill>
                <a:latin typeface="Calibri" pitchFamily="34" charset="0"/>
                <a:ea typeface="Calibri" pitchFamily="34" charset="-122"/>
                <a:cs typeface="Calibri" pitchFamily="34" charset="-120"/>
              </a:rPr>
              <a:t>anderem</a:t>
            </a:r>
            <a:r>
              <a:rPr lang="en-US" sz="1250" dirty="0">
                <a:solidFill>
                  <a:srgbClr val="55606E"/>
                </a:solidFill>
                <a:latin typeface="Calibri" pitchFamily="34" charset="0"/>
                <a:ea typeface="Calibri" pitchFamily="34" charset="-122"/>
                <a:cs typeface="Calibri" pitchFamily="34" charset="-120"/>
              </a:rPr>
              <a:t> Port für CORS</a:t>
            </a:r>
            <a:endParaRPr lang="en-US" sz="1250" dirty="0"/>
          </a:p>
        </p:txBody>
      </p:sp>
      <p:sp>
        <p:nvSpPr>
          <p:cNvPr id="21" name="Text 19"/>
          <p:cNvSpPr/>
          <p:nvPr/>
        </p:nvSpPr>
        <p:spPr>
          <a:xfrm>
            <a:off x="8579815" y="5440680"/>
            <a:ext cx="2743200" cy="548640"/>
          </a:xfrm>
          <a:prstGeom prst="rect">
            <a:avLst/>
          </a:prstGeom>
          <a:noFill/>
          <a:ln/>
        </p:spPr>
        <p:txBody>
          <a:bodyPr wrap="square" lIns="0" tIns="0" rIns="0" bIns="0" rtlCol="0" anchor="ctr"/>
          <a:lstStyle/>
          <a:p>
            <a:pPr marL="0" indent="0" algn="r">
              <a:buNone/>
            </a:pPr>
            <a:r>
              <a:rPr lang="en-US" sz="1500" b="1" dirty="0">
                <a:solidFill>
                  <a:srgbClr val="D23B4E"/>
                </a:solidFill>
                <a:latin typeface="Consolas" pitchFamily="34" charset="0"/>
                <a:ea typeface="Consolas" pitchFamily="34" charset="-122"/>
                <a:cs typeface="Consolas" pitchFamily="34" charset="-120"/>
              </a:rPr>
              <a:t>:5173</a:t>
            </a:r>
            <a:endParaRPr lang="en-US" sz="15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DEMO · ZUSTAND 1</a:t>
            </a:r>
            <a:endParaRPr lang="en-US" sz="1050" dirty="0"/>
          </a:p>
        </p:txBody>
      </p:sp>
      <p:sp>
        <p:nvSpPr>
          <p:cNvPr id="4" name="Text 2"/>
          <p:cNvSpPr/>
          <p:nvPr/>
        </p:nvSpPr>
        <p:spPr>
          <a:xfrm>
            <a:off x="868680" y="914400"/>
            <a:ext cx="6400800" cy="292608"/>
          </a:xfrm>
          <a:prstGeom prst="rect">
            <a:avLst/>
          </a:prstGeom>
          <a:noFill/>
          <a:ln/>
        </p:spPr>
        <p:txBody>
          <a:bodyPr wrap="square" lIns="0" tIns="0" rIns="0" bIns="0" rtlCol="0" anchor="ctr"/>
          <a:lstStyle/>
          <a:p>
            <a:pPr marL="0" indent="0">
              <a:buNone/>
            </a:pPr>
            <a:r>
              <a:rPr lang="en-US" sz="1150" b="1" kern="0" spc="250" dirty="0">
                <a:solidFill>
                  <a:srgbClr val="D23B4E"/>
                </a:solidFill>
                <a:latin typeface="Calibri" pitchFamily="34" charset="0"/>
                <a:ea typeface="Calibri" pitchFamily="34" charset="-122"/>
                <a:cs typeface="Calibri" pitchFamily="34" charset="-120"/>
              </a:rPr>
              <a:t>DER ERFOLGREICHE HACK · UNSICHERES CORS</a:t>
            </a:r>
            <a:endParaRPr lang="en-US" sz="1150" dirty="0"/>
          </a:p>
        </p:txBody>
      </p:sp>
      <p:sp>
        <p:nvSpPr>
          <p:cNvPr id="5" name="Text 3"/>
          <p:cNvSpPr/>
          <p:nvPr/>
        </p:nvSpPr>
        <p:spPr>
          <a:xfrm>
            <a:off x="868680" y="1234440"/>
            <a:ext cx="6583680" cy="73152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Lautloser Download</a:t>
            </a:r>
            <a:endParaRPr lang="en-US" sz="3600" dirty="0"/>
          </a:p>
        </p:txBody>
      </p:sp>
      <p:sp>
        <p:nvSpPr>
          <p:cNvPr id="6" name="Text 4"/>
          <p:cNvSpPr/>
          <p:nvPr/>
        </p:nvSpPr>
        <p:spPr>
          <a:xfrm>
            <a:off x="868680" y="2011680"/>
            <a:ext cx="5122544" cy="822960"/>
          </a:xfrm>
          <a:prstGeom prst="rect">
            <a:avLst/>
          </a:prstGeom>
          <a:noFill/>
          <a:ln/>
        </p:spPr>
        <p:txBody>
          <a:bodyPr wrap="square" lIns="0" tIns="0" rIns="0" bIns="0" rtlCol="0" anchor="ctr"/>
          <a:lstStyle/>
          <a:p>
            <a:pPr marL="0" indent="0">
              <a:buNone/>
            </a:pPr>
            <a:r>
              <a:rPr lang="en-US" sz="1550" dirty="0" err="1">
                <a:solidFill>
                  <a:srgbClr val="55606E"/>
                </a:solidFill>
                <a:latin typeface="Calibri" pitchFamily="34" charset="0"/>
                <a:ea typeface="Calibri" pitchFamily="34" charset="-122"/>
                <a:cs typeface="Calibri" pitchFamily="34" charset="-120"/>
              </a:rPr>
              <a:t>Unsichere</a:t>
            </a:r>
            <a:r>
              <a:rPr lang="en-US" sz="1550" dirty="0">
                <a:solidFill>
                  <a:srgbClr val="55606E"/>
                </a:solidFill>
                <a:latin typeface="Calibri" pitchFamily="34" charset="0"/>
                <a:ea typeface="Calibri" pitchFamily="34" charset="-122"/>
                <a:cs typeface="Calibri" pitchFamily="34" charset="-120"/>
              </a:rPr>
              <a:t> CORS-</a:t>
            </a:r>
            <a:r>
              <a:rPr lang="en-US" sz="1550" dirty="0" err="1">
                <a:solidFill>
                  <a:srgbClr val="55606E"/>
                </a:solidFill>
                <a:latin typeface="Calibri" pitchFamily="34" charset="0"/>
                <a:ea typeface="Calibri" pitchFamily="34" charset="-122"/>
                <a:cs typeface="Calibri" pitchFamily="34" charset="-120"/>
              </a:rPr>
              <a:t>Konfiguration</a:t>
            </a:r>
            <a:r>
              <a:rPr lang="en-US" sz="1550" dirty="0">
                <a:solidFill>
                  <a:srgbClr val="55606E"/>
                </a:solidFill>
                <a:latin typeface="Calibri" pitchFamily="34" charset="0"/>
                <a:ea typeface="Calibri" pitchFamily="34" charset="-122"/>
                <a:cs typeface="Calibri" pitchFamily="34" charset="-120"/>
              </a:rPr>
              <a:t> </a:t>
            </a:r>
            <a:r>
              <a:rPr lang="en-US" sz="1550" dirty="0" err="1">
                <a:solidFill>
                  <a:srgbClr val="55606E"/>
                </a:solidFill>
                <a:latin typeface="Calibri" pitchFamily="34" charset="0"/>
                <a:ea typeface="Calibri" pitchFamily="34" charset="-122"/>
                <a:cs typeface="Calibri" pitchFamily="34" charset="-120"/>
              </a:rPr>
              <a:t>im</a:t>
            </a:r>
            <a:r>
              <a:rPr lang="en-US" sz="1550" dirty="0">
                <a:solidFill>
                  <a:srgbClr val="55606E"/>
                </a:solidFill>
                <a:latin typeface="Calibri" pitchFamily="34" charset="0"/>
                <a:ea typeface="Calibri" pitchFamily="34" charset="-122"/>
                <a:cs typeface="Calibri" pitchFamily="34" charset="-120"/>
              </a:rPr>
              <a:t> Spring-Backend</a:t>
            </a:r>
            <a:endParaRPr lang="en-US" sz="1550" dirty="0"/>
          </a:p>
        </p:txBody>
      </p:sp>
      <p:sp>
        <p:nvSpPr>
          <p:cNvPr id="7" name="Text 5"/>
          <p:cNvSpPr/>
          <p:nvPr/>
        </p:nvSpPr>
        <p:spPr>
          <a:xfrm>
            <a:off x="868680" y="2995088"/>
            <a:ext cx="5486400" cy="274320"/>
          </a:xfrm>
          <a:prstGeom prst="rect">
            <a:avLst/>
          </a:prstGeom>
          <a:noFill/>
          <a:ln/>
        </p:spPr>
        <p:txBody>
          <a:bodyPr wrap="square" lIns="0" tIns="0" rIns="0" bIns="0" rtlCol="0" anchor="ctr"/>
          <a:lstStyle/>
          <a:p>
            <a:pPr marL="0" indent="0">
              <a:buNone/>
            </a:pPr>
            <a:r>
              <a:rPr lang="en-US" sz="1100" b="1" kern="0" spc="250" dirty="0">
                <a:solidFill>
                  <a:srgbClr val="9AA3AF"/>
                </a:solidFill>
                <a:latin typeface="Calibri" pitchFamily="34" charset="0"/>
                <a:ea typeface="Calibri" pitchFamily="34" charset="-122"/>
                <a:cs typeface="Calibri" pitchFamily="34" charset="-120"/>
              </a:rPr>
              <a:t>KONFIGURATION</a:t>
            </a:r>
            <a:endParaRPr lang="en-US" sz="1100" dirty="0"/>
          </a:p>
        </p:txBody>
      </p:sp>
      <p:sp>
        <p:nvSpPr>
          <p:cNvPr id="8" name="Text 6"/>
          <p:cNvSpPr/>
          <p:nvPr/>
        </p:nvSpPr>
        <p:spPr>
          <a:xfrm>
            <a:off x="868680" y="3269408"/>
            <a:ext cx="6126480" cy="365760"/>
          </a:xfrm>
          <a:prstGeom prst="rect">
            <a:avLst/>
          </a:prstGeom>
          <a:noFill/>
          <a:ln/>
        </p:spPr>
        <p:txBody>
          <a:bodyPr wrap="square" lIns="0" tIns="0" rIns="0" bIns="0" rtlCol="0" anchor="ctr"/>
          <a:lstStyle/>
          <a:p>
            <a:pPr marL="0" indent="0">
              <a:buNone/>
            </a:pPr>
            <a:r>
              <a:rPr lang="en-US" sz="1350" b="1" dirty="0">
                <a:solidFill>
                  <a:srgbClr val="16181D"/>
                </a:solidFill>
                <a:latin typeface="Consolas" pitchFamily="34" charset="0"/>
                <a:ea typeface="Consolas" pitchFamily="34" charset="-122"/>
                <a:cs typeface="Consolas" pitchFamily="34" charset="-120"/>
              </a:rPr>
              <a:t>allowedOriginPatterns("*")</a:t>
            </a:r>
            <a:endParaRPr lang="en-US" sz="1350" dirty="0"/>
          </a:p>
        </p:txBody>
      </p:sp>
      <p:sp>
        <p:nvSpPr>
          <p:cNvPr id="9" name="Text 7"/>
          <p:cNvSpPr/>
          <p:nvPr/>
        </p:nvSpPr>
        <p:spPr>
          <a:xfrm>
            <a:off x="868680" y="3653456"/>
            <a:ext cx="6126480" cy="365760"/>
          </a:xfrm>
          <a:prstGeom prst="rect">
            <a:avLst/>
          </a:prstGeom>
          <a:noFill/>
          <a:ln/>
        </p:spPr>
        <p:txBody>
          <a:bodyPr wrap="square" lIns="0" tIns="0" rIns="0" bIns="0" rtlCol="0" anchor="ctr"/>
          <a:lstStyle/>
          <a:p>
            <a:pPr marL="0" indent="0">
              <a:buNone/>
            </a:pPr>
            <a:r>
              <a:rPr lang="en-US" sz="1350" b="1" dirty="0">
                <a:solidFill>
                  <a:srgbClr val="16181D"/>
                </a:solidFill>
                <a:latin typeface="Consolas" pitchFamily="34" charset="0"/>
                <a:ea typeface="Consolas" pitchFamily="34" charset="-122"/>
                <a:cs typeface="Consolas" pitchFamily="34" charset="-120"/>
              </a:rPr>
              <a:t>allowCredentials(true)</a:t>
            </a:r>
            <a:endParaRPr lang="en-US" sz="1350" dirty="0"/>
          </a:p>
        </p:txBody>
      </p:sp>
      <p:sp>
        <p:nvSpPr>
          <p:cNvPr id="10" name="Text 8"/>
          <p:cNvSpPr/>
          <p:nvPr/>
        </p:nvSpPr>
        <p:spPr>
          <a:xfrm>
            <a:off x="868680" y="4298536"/>
            <a:ext cx="5486400" cy="274320"/>
          </a:xfrm>
          <a:prstGeom prst="rect">
            <a:avLst/>
          </a:prstGeom>
          <a:noFill/>
          <a:ln/>
        </p:spPr>
        <p:txBody>
          <a:bodyPr wrap="square" lIns="0" tIns="0" rIns="0" bIns="0" rtlCol="0" anchor="ctr"/>
          <a:lstStyle/>
          <a:p>
            <a:pPr marL="0" indent="0">
              <a:buNone/>
            </a:pPr>
            <a:r>
              <a:rPr lang="en-US" sz="1100" b="1" kern="0" spc="250" dirty="0">
                <a:solidFill>
                  <a:srgbClr val="D23B4E"/>
                </a:solidFill>
                <a:latin typeface="Calibri" pitchFamily="34" charset="0"/>
                <a:ea typeface="Calibri" pitchFamily="34" charset="-122"/>
                <a:cs typeface="Calibri" pitchFamily="34" charset="-120"/>
              </a:rPr>
              <a:t>EFFEKT</a:t>
            </a:r>
            <a:endParaRPr lang="en-US" sz="1100" dirty="0"/>
          </a:p>
        </p:txBody>
      </p:sp>
      <p:sp>
        <p:nvSpPr>
          <p:cNvPr id="11" name="Text 9"/>
          <p:cNvSpPr/>
          <p:nvPr/>
        </p:nvSpPr>
        <p:spPr>
          <a:xfrm>
            <a:off x="868680" y="4572856"/>
            <a:ext cx="4893944" cy="1097280"/>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Ein Klick </a:t>
            </a:r>
            <a:r>
              <a:rPr lang="en-US" sz="1400" dirty="0" err="1">
                <a:solidFill>
                  <a:srgbClr val="000000"/>
                </a:solidFill>
                <a:latin typeface="Calibri" pitchFamily="34" charset="0"/>
                <a:ea typeface="Calibri" pitchFamily="34" charset="-122"/>
                <a:cs typeface="Calibri" pitchFamily="34" charset="-120"/>
              </a:rPr>
              <a:t>triggert</a:t>
            </a:r>
            <a:r>
              <a:rPr lang="en-US" sz="1400" dirty="0">
                <a:solidFill>
                  <a:srgbClr val="000000"/>
                </a:solidFill>
                <a:latin typeface="Calibri" pitchFamily="34" charset="0"/>
                <a:ea typeface="Calibri" pitchFamily="34" charset="-122"/>
                <a:cs typeface="Calibri" pitchFamily="34" charset="-120"/>
              </a:rPr>
              <a:t> </a:t>
            </a:r>
            <a:r>
              <a:rPr lang="en-US" sz="1400" dirty="0" err="1">
                <a:solidFill>
                  <a:srgbClr val="000000"/>
                </a:solidFill>
                <a:latin typeface="Calibri" pitchFamily="34" charset="0"/>
                <a:ea typeface="Calibri" pitchFamily="34" charset="-122"/>
                <a:cs typeface="Calibri" pitchFamily="34" charset="-120"/>
              </a:rPr>
              <a:t>einen</a:t>
            </a:r>
            <a:r>
              <a:rPr lang="en-US" sz="1400" dirty="0">
                <a:solidFill>
                  <a:srgbClr val="000000"/>
                </a:solidFill>
                <a:latin typeface="Calibri" pitchFamily="34" charset="0"/>
                <a:ea typeface="Calibri" pitchFamily="34" charset="-122"/>
                <a:cs typeface="Calibri" pitchFamily="34" charset="-120"/>
              </a:rPr>
              <a:t> automatischen, lautlosen Download der echten Excel-Datei Stundenplan_Export.xlsx von der Scheduler-API</a:t>
            </a:r>
            <a:endParaRPr lang="en-US" sz="1400" dirty="0"/>
          </a:p>
        </p:txBody>
      </p:sp>
      <p:sp>
        <p:nvSpPr>
          <p:cNvPr id="14" name="Shape 4">
            <a:extLst>
              <a:ext uri="{FF2B5EF4-FFF2-40B4-BE49-F238E27FC236}">
                <a16:creationId xmlns:a16="http://schemas.microsoft.com/office/drawing/2014/main" id="{F74A304D-4C30-1941-E54D-816F2E12DCFD}"/>
              </a:ext>
            </a:extLst>
          </p:cNvPr>
          <p:cNvSpPr/>
          <p:nvPr/>
        </p:nvSpPr>
        <p:spPr>
          <a:xfrm rot="16200000" flipH="1">
            <a:off x="3169922" y="3429002"/>
            <a:ext cx="5852157" cy="0"/>
          </a:xfrm>
          <a:prstGeom prst="line">
            <a:avLst/>
          </a:prstGeom>
          <a:noFill/>
          <a:ln w="12700">
            <a:solidFill>
              <a:srgbClr val="E4E7EC"/>
            </a:solidFill>
            <a:prstDash val="solid"/>
          </a:ln>
        </p:spPr>
        <p:txBody>
          <a:bodyPr/>
          <a:lstStyle/>
          <a:p>
            <a:endParaRPr lang="de-DE"/>
          </a:p>
        </p:txBody>
      </p:sp>
      <p:sp>
        <p:nvSpPr>
          <p:cNvPr id="15" name="Text 0">
            <a:extLst>
              <a:ext uri="{FF2B5EF4-FFF2-40B4-BE49-F238E27FC236}">
                <a16:creationId xmlns:a16="http://schemas.microsoft.com/office/drawing/2014/main" id="{0AD32B5F-4A91-871B-56E9-FF2D91F6C299}"/>
              </a:ext>
            </a:extLst>
          </p:cNvPr>
          <p:cNvSpPr/>
          <p:nvPr/>
        </p:nvSpPr>
        <p:spPr>
          <a:xfrm>
            <a:off x="63550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DEMO · ZUSTAND 2</a:t>
            </a:r>
            <a:endParaRPr lang="en-US" sz="1050" dirty="0"/>
          </a:p>
        </p:txBody>
      </p:sp>
      <p:sp>
        <p:nvSpPr>
          <p:cNvPr id="16" name="Text 2">
            <a:extLst>
              <a:ext uri="{FF2B5EF4-FFF2-40B4-BE49-F238E27FC236}">
                <a16:creationId xmlns:a16="http://schemas.microsoft.com/office/drawing/2014/main" id="{07971162-B37B-8A9D-D9B1-4A5EB8C332EF}"/>
              </a:ext>
            </a:extLst>
          </p:cNvPr>
          <p:cNvSpPr/>
          <p:nvPr/>
        </p:nvSpPr>
        <p:spPr>
          <a:xfrm>
            <a:off x="6355080" y="914400"/>
            <a:ext cx="6400800" cy="292608"/>
          </a:xfrm>
          <a:prstGeom prst="rect">
            <a:avLst/>
          </a:prstGeom>
          <a:noFill/>
          <a:ln/>
        </p:spPr>
        <p:txBody>
          <a:bodyPr wrap="square" lIns="0" tIns="0" rIns="0" bIns="0" rtlCol="0" anchor="ctr"/>
          <a:lstStyle/>
          <a:p>
            <a:pPr marL="0" indent="0">
              <a:buNone/>
            </a:pPr>
            <a:r>
              <a:rPr lang="en-US" sz="1150" b="1" kern="0" spc="250" dirty="0">
                <a:solidFill>
                  <a:srgbClr val="1E8F5E"/>
                </a:solidFill>
                <a:latin typeface="Calibri" pitchFamily="34" charset="0"/>
                <a:ea typeface="Calibri" pitchFamily="34" charset="-122"/>
                <a:cs typeface="Calibri" pitchFamily="34" charset="-120"/>
              </a:rPr>
              <a:t>DER SICHERE FIX · DIE ALLOWLIST</a:t>
            </a:r>
            <a:endParaRPr lang="en-US" sz="1150" dirty="0"/>
          </a:p>
        </p:txBody>
      </p:sp>
      <p:sp>
        <p:nvSpPr>
          <p:cNvPr id="17" name="Text 3">
            <a:extLst>
              <a:ext uri="{FF2B5EF4-FFF2-40B4-BE49-F238E27FC236}">
                <a16:creationId xmlns:a16="http://schemas.microsoft.com/office/drawing/2014/main" id="{80968698-DED7-F625-46E5-4E85083A0B26}"/>
              </a:ext>
            </a:extLst>
          </p:cNvPr>
          <p:cNvSpPr/>
          <p:nvPr/>
        </p:nvSpPr>
        <p:spPr>
          <a:xfrm>
            <a:off x="6355080" y="1234440"/>
            <a:ext cx="6583680" cy="73152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Feste Allowlist</a:t>
            </a:r>
            <a:endParaRPr lang="en-US" sz="3600" dirty="0"/>
          </a:p>
        </p:txBody>
      </p:sp>
      <p:sp>
        <p:nvSpPr>
          <p:cNvPr id="18" name="Text 4">
            <a:extLst>
              <a:ext uri="{FF2B5EF4-FFF2-40B4-BE49-F238E27FC236}">
                <a16:creationId xmlns:a16="http://schemas.microsoft.com/office/drawing/2014/main" id="{31024434-F174-3604-AE84-1156CBF01313}"/>
              </a:ext>
            </a:extLst>
          </p:cNvPr>
          <p:cNvSpPr/>
          <p:nvPr/>
        </p:nvSpPr>
        <p:spPr>
          <a:xfrm>
            <a:off x="6355080" y="2011680"/>
            <a:ext cx="5486400" cy="822960"/>
          </a:xfrm>
          <a:prstGeom prst="rect">
            <a:avLst/>
          </a:prstGeom>
          <a:noFill/>
          <a:ln/>
        </p:spPr>
        <p:txBody>
          <a:bodyPr wrap="square" lIns="0" tIns="0" rIns="0" bIns="0" rtlCol="0" anchor="ctr"/>
          <a:lstStyle/>
          <a:p>
            <a:r>
              <a:rPr lang="en-US" sz="1550" dirty="0" err="1">
                <a:solidFill>
                  <a:srgbClr val="55606E"/>
                </a:solidFill>
                <a:latin typeface="Calibri" pitchFamily="34" charset="0"/>
                <a:ea typeface="Calibri" pitchFamily="34" charset="-122"/>
                <a:cs typeface="Calibri" pitchFamily="34" charset="-120"/>
              </a:rPr>
              <a:t>Sichere</a:t>
            </a:r>
            <a:r>
              <a:rPr lang="en-US" sz="1550" dirty="0">
                <a:solidFill>
                  <a:srgbClr val="55606E"/>
                </a:solidFill>
                <a:latin typeface="Calibri" pitchFamily="34" charset="0"/>
                <a:ea typeface="Calibri" pitchFamily="34" charset="-122"/>
                <a:cs typeface="Calibri" pitchFamily="34" charset="-120"/>
              </a:rPr>
              <a:t> CORS-</a:t>
            </a:r>
            <a:r>
              <a:rPr lang="en-US" sz="1550" dirty="0" err="1">
                <a:solidFill>
                  <a:srgbClr val="55606E"/>
                </a:solidFill>
                <a:latin typeface="Calibri" pitchFamily="34" charset="0"/>
                <a:ea typeface="Calibri" pitchFamily="34" charset="-122"/>
                <a:cs typeface="Calibri" pitchFamily="34" charset="-120"/>
              </a:rPr>
              <a:t>Konfiguration</a:t>
            </a:r>
            <a:r>
              <a:rPr lang="en-US" sz="1550" dirty="0">
                <a:solidFill>
                  <a:srgbClr val="55606E"/>
                </a:solidFill>
                <a:latin typeface="Calibri" pitchFamily="34" charset="0"/>
                <a:ea typeface="Calibri" pitchFamily="34" charset="-122"/>
                <a:cs typeface="Calibri" pitchFamily="34" charset="-120"/>
              </a:rPr>
              <a:t> </a:t>
            </a:r>
            <a:r>
              <a:rPr lang="en-US" sz="1550" dirty="0" err="1">
                <a:solidFill>
                  <a:srgbClr val="55606E"/>
                </a:solidFill>
                <a:latin typeface="Calibri" pitchFamily="34" charset="0"/>
                <a:ea typeface="Calibri" pitchFamily="34" charset="-122"/>
                <a:cs typeface="Calibri" pitchFamily="34" charset="-120"/>
              </a:rPr>
              <a:t>durch</a:t>
            </a:r>
            <a:r>
              <a:rPr lang="en-US" sz="1550" dirty="0">
                <a:solidFill>
                  <a:srgbClr val="55606E"/>
                </a:solidFill>
                <a:latin typeface="Calibri" pitchFamily="34" charset="0"/>
                <a:ea typeface="Calibri" pitchFamily="34" charset="-122"/>
                <a:cs typeface="Calibri" pitchFamily="34" charset="-120"/>
              </a:rPr>
              <a:t> feste, </a:t>
            </a:r>
            <a:r>
              <a:rPr lang="en-US" sz="1550" dirty="0" err="1">
                <a:solidFill>
                  <a:srgbClr val="55606E"/>
                </a:solidFill>
                <a:latin typeface="Calibri" pitchFamily="34" charset="0"/>
                <a:ea typeface="Calibri" pitchFamily="34" charset="-122"/>
                <a:cs typeface="Calibri" pitchFamily="34" charset="-120"/>
              </a:rPr>
              <a:t>restriktive</a:t>
            </a:r>
            <a:r>
              <a:rPr lang="en-US" sz="1550" dirty="0">
                <a:solidFill>
                  <a:srgbClr val="55606E"/>
                </a:solidFill>
                <a:latin typeface="Calibri" pitchFamily="34" charset="0"/>
                <a:ea typeface="Calibri" pitchFamily="34" charset="-122"/>
                <a:cs typeface="Calibri" pitchFamily="34" charset="-120"/>
              </a:rPr>
              <a:t> Allowlist</a:t>
            </a:r>
          </a:p>
        </p:txBody>
      </p:sp>
      <p:sp>
        <p:nvSpPr>
          <p:cNvPr id="19" name="Text 5">
            <a:extLst>
              <a:ext uri="{FF2B5EF4-FFF2-40B4-BE49-F238E27FC236}">
                <a16:creationId xmlns:a16="http://schemas.microsoft.com/office/drawing/2014/main" id="{2B154276-CA3F-BA90-796B-19D34E1D4906}"/>
              </a:ext>
            </a:extLst>
          </p:cNvPr>
          <p:cNvSpPr/>
          <p:nvPr/>
        </p:nvSpPr>
        <p:spPr>
          <a:xfrm>
            <a:off x="6355080" y="4298536"/>
            <a:ext cx="5486400" cy="274320"/>
          </a:xfrm>
          <a:prstGeom prst="rect">
            <a:avLst/>
          </a:prstGeom>
          <a:noFill/>
          <a:ln/>
        </p:spPr>
        <p:txBody>
          <a:bodyPr wrap="square" lIns="0" tIns="0" rIns="0" bIns="0" rtlCol="0" anchor="ctr"/>
          <a:lstStyle/>
          <a:p>
            <a:pPr marL="0" indent="0">
              <a:buNone/>
            </a:pPr>
            <a:r>
              <a:rPr lang="en-US" sz="1100" b="1" kern="0" spc="250" dirty="0">
                <a:solidFill>
                  <a:srgbClr val="1E8F5E"/>
                </a:solidFill>
                <a:latin typeface="Calibri" pitchFamily="34" charset="0"/>
                <a:ea typeface="Calibri" pitchFamily="34" charset="-122"/>
                <a:cs typeface="Calibri" pitchFamily="34" charset="-120"/>
              </a:rPr>
              <a:t>EFFEKT</a:t>
            </a:r>
            <a:endParaRPr lang="en-US" sz="1100" dirty="0"/>
          </a:p>
        </p:txBody>
      </p:sp>
      <p:sp>
        <p:nvSpPr>
          <p:cNvPr id="20" name="Text 6">
            <a:extLst>
              <a:ext uri="{FF2B5EF4-FFF2-40B4-BE49-F238E27FC236}">
                <a16:creationId xmlns:a16="http://schemas.microsoft.com/office/drawing/2014/main" id="{E4A428AB-491B-8447-BABC-BDBB61382490}"/>
              </a:ext>
            </a:extLst>
          </p:cNvPr>
          <p:cNvSpPr/>
          <p:nvPr/>
        </p:nvSpPr>
        <p:spPr>
          <a:xfrm>
            <a:off x="6355080" y="4572856"/>
            <a:ext cx="5486398" cy="1097280"/>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Das </a:t>
            </a:r>
            <a:r>
              <a:rPr lang="en-US" sz="1400" dirty="0" err="1">
                <a:solidFill>
                  <a:srgbClr val="000000"/>
                </a:solidFill>
                <a:latin typeface="Calibri" pitchFamily="34" charset="0"/>
                <a:ea typeface="Calibri" pitchFamily="34" charset="-122"/>
                <a:cs typeface="Calibri" pitchFamily="34" charset="-120"/>
              </a:rPr>
              <a:t>reguläre</a:t>
            </a:r>
            <a:r>
              <a:rPr lang="en-US" sz="1400" dirty="0">
                <a:solidFill>
                  <a:srgbClr val="000000"/>
                </a:solidFill>
                <a:latin typeface="Calibri" pitchFamily="34" charset="0"/>
                <a:ea typeface="Calibri" pitchFamily="34" charset="-122"/>
                <a:cs typeface="Calibri" pitchFamily="34" charset="-120"/>
              </a:rPr>
              <a:t> Frontend auf Port 8078 darf </a:t>
            </a:r>
            <a:r>
              <a:rPr lang="en-US" sz="1400" dirty="0" err="1">
                <a:solidFill>
                  <a:srgbClr val="000000"/>
                </a:solidFill>
                <a:latin typeface="Calibri" pitchFamily="34" charset="0"/>
                <a:ea typeface="Calibri" pitchFamily="34" charset="-122"/>
                <a:cs typeface="Calibri" pitchFamily="34" charset="-120"/>
              </a:rPr>
              <a:t>arbeiten</a:t>
            </a:r>
            <a:r>
              <a:rPr lang="en-US" sz="1400" dirty="0">
                <a:solidFill>
                  <a:srgbClr val="000000"/>
                </a:solidFill>
                <a:latin typeface="Calibri" pitchFamily="34" charset="0"/>
                <a:ea typeface="Calibri" pitchFamily="34" charset="-122"/>
                <a:cs typeface="Calibri" pitchFamily="34" charset="-120"/>
              </a:rPr>
              <a:t>.</a:t>
            </a:r>
          </a:p>
          <a:p>
            <a:r>
              <a:rPr lang="en-US" sz="1400" dirty="0">
                <a:solidFill>
                  <a:srgbClr val="000000"/>
                </a:solidFill>
                <a:latin typeface="Calibri" pitchFamily="34" charset="0"/>
                <a:ea typeface="Calibri" pitchFamily="34" charset="-122"/>
                <a:cs typeface="Calibri" pitchFamily="34" charset="-120"/>
              </a:rPr>
              <a:t>Die </a:t>
            </a:r>
            <a:r>
              <a:rPr lang="en-US" sz="1400" dirty="0" err="1">
                <a:solidFill>
                  <a:srgbClr val="000000"/>
                </a:solidFill>
                <a:latin typeface="Calibri" pitchFamily="34" charset="0"/>
                <a:ea typeface="Calibri" pitchFamily="34" charset="-122"/>
                <a:cs typeface="Calibri" pitchFamily="34" charset="-120"/>
              </a:rPr>
              <a:t>Angreifer</a:t>
            </a:r>
            <a:r>
              <a:rPr lang="en-US" sz="1400" dirty="0">
                <a:solidFill>
                  <a:srgbClr val="000000"/>
                </a:solidFill>
                <a:latin typeface="Calibri" pitchFamily="34" charset="0"/>
                <a:ea typeface="Calibri" pitchFamily="34" charset="-122"/>
                <a:cs typeface="Calibri" pitchFamily="34" charset="-120"/>
              </a:rPr>
              <a:t>-Origin - </a:t>
            </a:r>
            <a:r>
              <a:rPr lang="en-US" sz="1400" dirty="0" err="1">
                <a:solidFill>
                  <a:srgbClr val="000000"/>
                </a:solidFill>
                <a:latin typeface="Calibri" pitchFamily="34" charset="0"/>
                <a:ea typeface="Calibri" pitchFamily="34" charset="-122"/>
                <a:cs typeface="Calibri" pitchFamily="34" charset="-120"/>
              </a:rPr>
              <a:t>oder</a:t>
            </a:r>
            <a:r>
              <a:rPr lang="en-US" sz="1400" dirty="0">
                <a:solidFill>
                  <a:srgbClr val="000000"/>
                </a:solidFill>
                <a:latin typeface="Calibri" pitchFamily="34" charset="0"/>
                <a:ea typeface="Calibri" pitchFamily="34" charset="-122"/>
                <a:cs typeface="Calibri" pitchFamily="34" charset="-120"/>
              </a:rPr>
              <a:t> </a:t>
            </a:r>
            <a:r>
              <a:rPr lang="en-US" sz="1400" dirty="0" err="1">
                <a:solidFill>
                  <a:srgbClr val="000000"/>
                </a:solidFill>
                <a:latin typeface="Calibri" pitchFamily="34" charset="0"/>
                <a:ea typeface="Calibri" pitchFamily="34" charset="-122"/>
                <a:cs typeface="Calibri" pitchFamily="34" charset="-120"/>
              </a:rPr>
              <a:t>ein</a:t>
            </a:r>
            <a:r>
              <a:rPr lang="en-US" sz="1400" dirty="0">
                <a:solidFill>
                  <a:srgbClr val="000000"/>
                </a:solidFill>
                <a:latin typeface="Calibri" pitchFamily="34" charset="0"/>
                <a:ea typeface="Calibri" pitchFamily="34" charset="-122"/>
                <a:cs typeface="Calibri" pitchFamily="34" charset="-120"/>
              </a:rPr>
              <a:t> </a:t>
            </a:r>
            <a:r>
              <a:rPr lang="en-US" sz="1400" dirty="0" err="1">
                <a:solidFill>
                  <a:srgbClr val="000000"/>
                </a:solidFill>
                <a:latin typeface="Calibri" pitchFamily="34" charset="0"/>
                <a:ea typeface="Calibri" pitchFamily="34" charset="-122"/>
                <a:cs typeface="Calibri" pitchFamily="34" charset="-120"/>
              </a:rPr>
              <a:t>unbefugter</a:t>
            </a:r>
            <a:r>
              <a:rPr lang="en-US" sz="1400" dirty="0">
                <a:solidFill>
                  <a:srgbClr val="000000"/>
                </a:solidFill>
                <a:latin typeface="Calibri" pitchFamily="34" charset="0"/>
                <a:ea typeface="Calibri" pitchFamily="34" charset="-122"/>
                <a:cs typeface="Calibri" pitchFamily="34" charset="-120"/>
              </a:rPr>
              <a:t> Port - </a:t>
            </a:r>
            <a:r>
              <a:rPr lang="en-US" sz="1400" dirty="0" err="1">
                <a:solidFill>
                  <a:srgbClr val="000000"/>
                </a:solidFill>
                <a:latin typeface="Calibri" pitchFamily="34" charset="0"/>
                <a:ea typeface="Calibri" pitchFamily="34" charset="-122"/>
                <a:cs typeface="Calibri" pitchFamily="34" charset="-120"/>
              </a:rPr>
              <a:t>wird</a:t>
            </a:r>
            <a:r>
              <a:rPr lang="en-US" sz="1400" dirty="0">
                <a:solidFill>
                  <a:srgbClr val="000000"/>
                </a:solidFill>
                <a:latin typeface="Calibri" pitchFamily="34" charset="0"/>
                <a:ea typeface="Calibri" pitchFamily="34" charset="-122"/>
                <a:cs typeface="Calibri" pitchFamily="34" charset="-120"/>
              </a:rPr>
              <a:t> </a:t>
            </a:r>
            <a:r>
              <a:rPr lang="en-US" sz="1400" dirty="0" err="1">
                <a:solidFill>
                  <a:srgbClr val="000000"/>
                </a:solidFill>
                <a:latin typeface="Calibri" pitchFamily="34" charset="0"/>
                <a:ea typeface="Calibri" pitchFamily="34" charset="-122"/>
                <a:cs typeface="Calibri" pitchFamily="34" charset="-120"/>
              </a:rPr>
              <a:t>blockiert</a:t>
            </a:r>
            <a:r>
              <a:rPr lang="en-US" sz="1400" dirty="0">
                <a:solidFill>
                  <a:srgbClr val="000000"/>
                </a:solidFill>
                <a:latin typeface="Calibri" pitchFamily="34" charset="0"/>
                <a:ea typeface="Calibri" pitchFamily="34" charset="-122"/>
                <a:cs typeface="Calibri" pitchFamily="34" charset="-120"/>
              </a:rPr>
              <a:t>.</a:t>
            </a:r>
            <a:endParaRPr lang="en-US" sz="1400" dirty="0"/>
          </a:p>
        </p:txBody>
      </p:sp>
      <p:sp>
        <p:nvSpPr>
          <p:cNvPr id="23" name="Text 5">
            <a:extLst>
              <a:ext uri="{FF2B5EF4-FFF2-40B4-BE49-F238E27FC236}">
                <a16:creationId xmlns:a16="http://schemas.microsoft.com/office/drawing/2014/main" id="{5F800674-4C8E-75DF-CFFF-6DF82993985D}"/>
              </a:ext>
            </a:extLst>
          </p:cNvPr>
          <p:cNvSpPr/>
          <p:nvPr/>
        </p:nvSpPr>
        <p:spPr>
          <a:xfrm>
            <a:off x="6355080" y="2995088"/>
            <a:ext cx="5486400" cy="274320"/>
          </a:xfrm>
          <a:prstGeom prst="rect">
            <a:avLst/>
          </a:prstGeom>
          <a:noFill/>
          <a:ln/>
        </p:spPr>
        <p:txBody>
          <a:bodyPr wrap="square" lIns="0" tIns="0" rIns="0" bIns="0" rtlCol="0" anchor="ctr"/>
          <a:lstStyle/>
          <a:p>
            <a:pPr marL="0" indent="0">
              <a:buNone/>
            </a:pPr>
            <a:r>
              <a:rPr lang="en-US" sz="1100" b="1" kern="0" spc="250" dirty="0">
                <a:solidFill>
                  <a:srgbClr val="9AA3AF"/>
                </a:solidFill>
                <a:latin typeface="Calibri" pitchFamily="34" charset="0"/>
                <a:ea typeface="Calibri" pitchFamily="34" charset="-122"/>
                <a:cs typeface="Calibri" pitchFamily="34" charset="-120"/>
              </a:rPr>
              <a:t>KONFIGURATION</a:t>
            </a:r>
            <a:endParaRPr lang="en-US" sz="1100" dirty="0"/>
          </a:p>
        </p:txBody>
      </p:sp>
      <p:sp>
        <p:nvSpPr>
          <p:cNvPr id="24" name="Text 6">
            <a:extLst>
              <a:ext uri="{FF2B5EF4-FFF2-40B4-BE49-F238E27FC236}">
                <a16:creationId xmlns:a16="http://schemas.microsoft.com/office/drawing/2014/main" id="{F6FC7321-DEED-5FB3-4F5E-1D428DD48DB9}"/>
              </a:ext>
            </a:extLst>
          </p:cNvPr>
          <p:cNvSpPr/>
          <p:nvPr/>
        </p:nvSpPr>
        <p:spPr>
          <a:xfrm>
            <a:off x="6355080" y="3269408"/>
            <a:ext cx="6126480" cy="365760"/>
          </a:xfrm>
          <a:prstGeom prst="rect">
            <a:avLst/>
          </a:prstGeom>
          <a:noFill/>
          <a:ln/>
        </p:spPr>
        <p:txBody>
          <a:bodyPr wrap="square" lIns="0" tIns="0" rIns="0" bIns="0" rtlCol="0" anchor="ctr"/>
          <a:lstStyle/>
          <a:p>
            <a:pPr marL="0" indent="0">
              <a:buNone/>
            </a:pPr>
            <a:r>
              <a:rPr lang="en-US" sz="1350" b="1" dirty="0" err="1">
                <a:solidFill>
                  <a:srgbClr val="16181D"/>
                </a:solidFill>
                <a:latin typeface="Consolas" pitchFamily="34" charset="0"/>
                <a:ea typeface="Consolas" pitchFamily="34" charset="-122"/>
                <a:cs typeface="Consolas" pitchFamily="34" charset="-120"/>
              </a:rPr>
              <a:t>allowedOriginPatterns</a:t>
            </a:r>
            <a:r>
              <a:rPr lang="en-US" sz="1350" b="1" dirty="0">
                <a:solidFill>
                  <a:srgbClr val="16181D"/>
                </a:solidFill>
                <a:latin typeface="Consolas" pitchFamily="34" charset="0"/>
                <a:ea typeface="Consolas" pitchFamily="34" charset="-122"/>
                <a:cs typeface="Consolas" pitchFamily="34" charset="-120"/>
              </a:rPr>
              <a:t>(</a:t>
            </a:r>
            <a:r>
              <a:rPr lang="en-US" sz="1350" b="1" dirty="0" err="1">
                <a:solidFill>
                  <a:srgbClr val="16181D"/>
                </a:solidFill>
                <a:latin typeface="Consolas" pitchFamily="34" charset="0"/>
                <a:ea typeface="Consolas" pitchFamily="34" charset="-122"/>
                <a:cs typeface="Consolas" pitchFamily="34" charset="-120"/>
              </a:rPr>
              <a:t>List.of</a:t>
            </a:r>
            <a:r>
              <a:rPr lang="en-US" sz="1350" b="1" dirty="0">
                <a:solidFill>
                  <a:srgbClr val="16181D"/>
                </a:solidFill>
                <a:latin typeface="Consolas" pitchFamily="34" charset="0"/>
                <a:ea typeface="Consolas" pitchFamily="34" charset="-122"/>
                <a:cs typeface="Consolas" pitchFamily="34" charset="-120"/>
              </a:rPr>
              <a:t>("http://localhost:8078"))</a:t>
            </a:r>
            <a:endParaRPr lang="en-US" sz="1350" dirty="0"/>
          </a:p>
        </p:txBody>
      </p:sp>
      <p:sp>
        <p:nvSpPr>
          <p:cNvPr id="25" name="Text 7">
            <a:extLst>
              <a:ext uri="{FF2B5EF4-FFF2-40B4-BE49-F238E27FC236}">
                <a16:creationId xmlns:a16="http://schemas.microsoft.com/office/drawing/2014/main" id="{99790533-209D-69DC-D303-9149D137A1B2}"/>
              </a:ext>
            </a:extLst>
          </p:cNvPr>
          <p:cNvSpPr/>
          <p:nvPr/>
        </p:nvSpPr>
        <p:spPr>
          <a:xfrm>
            <a:off x="6355080" y="3653456"/>
            <a:ext cx="6126480" cy="365760"/>
          </a:xfrm>
          <a:prstGeom prst="rect">
            <a:avLst/>
          </a:prstGeom>
          <a:noFill/>
          <a:ln/>
        </p:spPr>
        <p:txBody>
          <a:bodyPr wrap="square" lIns="0" tIns="0" rIns="0" bIns="0" rtlCol="0" anchor="ctr"/>
          <a:lstStyle/>
          <a:p>
            <a:pPr marL="0" indent="0">
              <a:buNone/>
            </a:pPr>
            <a:r>
              <a:rPr lang="en-US" sz="1350" b="1" dirty="0" err="1">
                <a:solidFill>
                  <a:srgbClr val="16181D"/>
                </a:solidFill>
                <a:latin typeface="Consolas" pitchFamily="34" charset="0"/>
                <a:ea typeface="Consolas" pitchFamily="34" charset="-122"/>
                <a:cs typeface="Consolas" pitchFamily="34" charset="-120"/>
              </a:rPr>
              <a:t>allowCredentials</a:t>
            </a:r>
            <a:r>
              <a:rPr lang="en-US" sz="1350" b="1" dirty="0">
                <a:solidFill>
                  <a:srgbClr val="16181D"/>
                </a:solidFill>
                <a:latin typeface="Consolas" pitchFamily="34" charset="0"/>
                <a:ea typeface="Consolas" pitchFamily="34" charset="-122"/>
                <a:cs typeface="Consolas" pitchFamily="34" charset="-120"/>
              </a:rPr>
              <a:t>(false)</a:t>
            </a:r>
            <a:endParaRPr lang="en-US" sz="1350" dirty="0"/>
          </a:p>
        </p:txBody>
      </p:sp>
      <p:sp>
        <p:nvSpPr>
          <p:cNvPr id="12" name="Text 1">
            <a:extLst>
              <a:ext uri="{FF2B5EF4-FFF2-40B4-BE49-F238E27FC236}">
                <a16:creationId xmlns:a16="http://schemas.microsoft.com/office/drawing/2014/main" id="{BD236A1F-AEF5-3B98-3186-848018F9A358}"/>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24</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500"/>
                                        <p:tgtEl>
                                          <p:spTgt spid="1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500"/>
                                        <p:tgtEl>
                                          <p:spTgt spid="1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500"/>
                                        <p:tgtEl>
                                          <p:spTgt spid="2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500"/>
                                        <p:tgtEl>
                                          <p:spTgt spid="2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19" grpId="0" animBg="1"/>
      <p:bldP spid="20" grpId="0" animBg="1"/>
      <p:bldP spid="23" grpId="0" animBg="1"/>
      <p:bldP spid="24" grpId="0" animBg="1"/>
      <p:bldP spid="2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B95CA36-7AD5-4CED-959F-F065EF9A96F2}"/>
              </a:ext>
            </a:extLst>
          </p:cNvPr>
          <p:cNvSpPr>
            <a:spLocks noGrp="1"/>
          </p:cNvSpPr>
          <p:nvPr/>
        </p:nvSpPr>
        <p:spPr>
          <a:xfrm>
            <a:off x="868680" y="1874520"/>
            <a:ext cx="7315200" cy="320040"/>
          </a:xfrm>
          <a:prstGeom prst="rect">
            <a:avLst/>
          </a:prstGeom>
          <a:noFill/>
        </p:spPr>
        <p:txBody>
          <a:bodyPr wrap="square" lIns="0" tIns="0" rIns="0" bIns="0" anchor="ctr"/>
          <a:lstStyle/>
          <a:p>
            <a:pPr marL="0" indent="0">
              <a:buNone/>
            </a:pPr>
            <a:r>
              <a:rPr sz="1200" b="1" dirty="0">
                <a:solidFill>
                  <a:srgbClr val="1463FF"/>
                </a:solidFill>
                <a:latin typeface="Calibri"/>
                <a:ea typeface="Calibri"/>
                <a:cs typeface="Calibri"/>
              </a:rPr>
              <a:t>LIVE DEMO · </a:t>
            </a:r>
            <a:r>
              <a:rPr lang="de-DE" sz="1200" b="1" dirty="0">
                <a:solidFill>
                  <a:srgbClr val="1463FF"/>
                </a:solidFill>
                <a:latin typeface="Calibri"/>
                <a:ea typeface="Calibri"/>
                <a:cs typeface="Calibri"/>
              </a:rPr>
              <a:t>CORS</a:t>
            </a:r>
            <a:endParaRPr sz="1200" b="1" dirty="0">
              <a:solidFill>
                <a:srgbClr val="1463FF"/>
              </a:solidFill>
              <a:latin typeface="Calibri"/>
              <a:ea typeface="Calibri"/>
              <a:cs typeface="Calibri"/>
            </a:endParaRPr>
          </a:p>
        </p:txBody>
      </p:sp>
      <p:sp>
        <p:nvSpPr>
          <p:cNvPr id="3" name="Text 1">
            <a:extLst>
              <a:ext uri="{FF2B5EF4-FFF2-40B4-BE49-F238E27FC236}">
                <a16:creationId xmlns:a16="http://schemas.microsoft.com/office/drawing/2014/main" id="{FD8DA67A-FD81-4D52-AB3E-0B0E93F9DAB5}"/>
              </a:ext>
            </a:extLst>
          </p:cNvPr>
          <p:cNvSpPr>
            <a:spLocks noGrp="1"/>
          </p:cNvSpPr>
          <p:nvPr/>
        </p:nvSpPr>
        <p:spPr>
          <a:xfrm>
            <a:off x="822960" y="2194560"/>
            <a:ext cx="10058400" cy="1463040"/>
          </a:xfrm>
          <a:prstGeom prst="rect">
            <a:avLst/>
          </a:prstGeom>
          <a:noFill/>
        </p:spPr>
        <p:txBody>
          <a:bodyPr wrap="square" lIns="0" tIns="0" rIns="0" bIns="0" anchor="ctr"/>
          <a:lstStyle/>
          <a:p>
            <a:pPr marL="0" indent="0">
              <a:buNone/>
            </a:pPr>
            <a:r>
              <a:rPr sz="11000" b="1" dirty="0">
                <a:solidFill>
                  <a:srgbClr val="16181D"/>
                </a:solidFill>
                <a:latin typeface="Trebuchet MS"/>
                <a:ea typeface="Trebuchet MS"/>
                <a:cs typeface="Trebuchet MS"/>
              </a:rPr>
              <a:t>Zur Live Demo</a:t>
            </a:r>
          </a:p>
        </p:txBody>
      </p:sp>
      <p:sp>
        <p:nvSpPr>
          <p:cNvPr id="4" name="Text 2">
            <a:extLst>
              <a:ext uri="{FF2B5EF4-FFF2-40B4-BE49-F238E27FC236}">
                <a16:creationId xmlns:a16="http://schemas.microsoft.com/office/drawing/2014/main" id="{17D4FDB8-F8F0-4D96-95F0-9B90E32AF337}"/>
              </a:ext>
            </a:extLst>
          </p:cNvPr>
          <p:cNvSpPr>
            <a:spLocks noGrp="1"/>
          </p:cNvSpPr>
          <p:nvPr/>
        </p:nvSpPr>
        <p:spPr>
          <a:xfrm>
            <a:off x="868680" y="3703320"/>
            <a:ext cx="10058400" cy="502920"/>
          </a:xfrm>
          <a:prstGeom prst="rect">
            <a:avLst/>
          </a:prstGeom>
          <a:noFill/>
        </p:spPr>
        <p:txBody>
          <a:bodyPr wrap="square" lIns="0" tIns="0" rIns="0" bIns="0" anchor="ctr"/>
          <a:lstStyle/>
          <a:p>
            <a:pPr marL="0" indent="0">
              <a:buNone/>
            </a:pPr>
            <a:endParaRPr/>
          </a:p>
        </p:txBody>
      </p:sp>
      <p:sp>
        <p:nvSpPr>
          <p:cNvPr id="5" name="Shape 3">
            <a:extLst>
              <a:ext uri="{FF2B5EF4-FFF2-40B4-BE49-F238E27FC236}">
                <a16:creationId xmlns:a16="http://schemas.microsoft.com/office/drawing/2014/main" id="{42345276-9CC1-4302-B204-8758E42AE5A8}"/>
              </a:ext>
            </a:extLst>
          </p:cNvPr>
          <p:cNvSpPr>
            <a:spLocks noGrp="1"/>
          </p:cNvSpPr>
          <p:nvPr/>
        </p:nvSpPr>
        <p:spPr>
          <a:xfrm>
            <a:off x="868680" y="4526280"/>
            <a:ext cx="1828800" cy="0"/>
          </a:xfrm>
          <a:prstGeom prst="line">
            <a:avLst/>
          </a:prstGeom>
          <a:noFill/>
          <a:ln w="28575">
            <a:solidFill>
              <a:srgbClr val="16181D"/>
            </a:solidFill>
            <a:prstDash val="solid"/>
          </a:ln>
        </p:spPr>
        <p:txBody>
          <a:bodyPr/>
          <a:lstStyle/>
          <a:p>
            <a:endParaRPr lang="de-DE"/>
          </a:p>
        </p:txBody>
      </p:sp>
      <p:sp>
        <p:nvSpPr>
          <p:cNvPr id="6" name="Text 4">
            <a:extLst>
              <a:ext uri="{FF2B5EF4-FFF2-40B4-BE49-F238E27FC236}">
                <a16:creationId xmlns:a16="http://schemas.microsoft.com/office/drawing/2014/main" id="{468481FB-4609-481A-89AB-8748CC339F06}"/>
              </a:ext>
            </a:extLst>
          </p:cNvPr>
          <p:cNvSpPr>
            <a:spLocks noGrp="1"/>
          </p:cNvSpPr>
          <p:nvPr/>
        </p:nvSpPr>
        <p:spPr>
          <a:xfrm>
            <a:off x="868680" y="4754880"/>
            <a:ext cx="8686800" cy="457200"/>
          </a:xfrm>
          <a:prstGeom prst="rect">
            <a:avLst/>
          </a:prstGeom>
          <a:noFill/>
        </p:spPr>
        <p:txBody>
          <a:bodyPr wrap="square" lIns="0" tIns="0" rIns="0" bIns="0" anchor="ctr"/>
          <a:lstStyle/>
          <a:p>
            <a:pPr marL="0" indent="0">
              <a:buNone/>
            </a:pPr>
            <a:r>
              <a:rPr lang="de-DE" sz="1600" dirty="0">
                <a:solidFill>
                  <a:srgbClr val="55606E"/>
                </a:solidFill>
                <a:latin typeface="Calibri"/>
                <a:ea typeface="Calibri"/>
                <a:cs typeface="Calibri"/>
              </a:rPr>
              <a:t>Cross Origin Anfragen werden erst durch eine Unsichere Konfiguration durchgelassen und dann blockiert.</a:t>
            </a:r>
            <a:endParaRPr sz="1600" dirty="0">
              <a:solidFill>
                <a:srgbClr val="55606E"/>
              </a:solidFill>
              <a:latin typeface="Calibri"/>
              <a:ea typeface="Calibri"/>
              <a:cs typeface="Calibri"/>
            </a:endParaRPr>
          </a:p>
        </p:txBody>
      </p:sp>
      <p:sp>
        <p:nvSpPr>
          <p:cNvPr id="7" name="Text 5">
            <a:extLst>
              <a:ext uri="{FF2B5EF4-FFF2-40B4-BE49-F238E27FC236}">
                <a16:creationId xmlns:a16="http://schemas.microsoft.com/office/drawing/2014/main" id="{94A987EA-ED23-44AA-ABC1-DB16DB020FDD}"/>
              </a:ext>
            </a:extLst>
          </p:cNvPr>
          <p:cNvSpPr>
            <a:spLocks noGrp="1"/>
          </p:cNvSpPr>
          <p:nvPr/>
        </p:nvSpPr>
        <p:spPr>
          <a:xfrm>
            <a:off x="9448495" y="6080760"/>
            <a:ext cx="1874520" cy="320040"/>
          </a:xfrm>
          <a:prstGeom prst="rect">
            <a:avLst/>
          </a:prstGeom>
          <a:noFill/>
        </p:spPr>
        <p:txBody>
          <a:bodyPr wrap="square" lIns="0" tIns="0" rIns="0" bIns="0" anchor="ctr"/>
          <a:lstStyle/>
          <a:p>
            <a:pPr marL="0" indent="0" algn="r">
              <a:buNone/>
            </a:pPr>
            <a:r>
              <a:rPr lang="de-DE" sz="1200" i="1" dirty="0">
                <a:solidFill>
                  <a:srgbClr val="9AA3AF"/>
                </a:solidFill>
                <a:latin typeface="Calibri"/>
                <a:ea typeface="Calibri"/>
                <a:cs typeface="Calibri"/>
              </a:rPr>
              <a:t>Ole &amp; Tom</a:t>
            </a:r>
            <a:endParaRPr sz="1200" i="1" dirty="0">
              <a:solidFill>
                <a:srgbClr val="9AA3AF"/>
              </a:solidFill>
              <a:latin typeface="Calibri"/>
              <a:ea typeface="Calibri"/>
              <a:cs typeface="Calibri"/>
            </a:endParaRPr>
          </a:p>
        </p:txBody>
      </p:sp>
    </p:spTree>
    <p:extLst>
      <p:ext uri="{BB962C8B-B14F-4D97-AF65-F5344CB8AC3E}">
        <p14:creationId xmlns:p14="http://schemas.microsoft.com/office/powerpoint/2010/main" val="24813346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KRITISCHES RISIKO · ARCHITEKTUR</a:t>
            </a:r>
            <a:endParaRPr lang="en-US" sz="1050" dirty="0"/>
          </a:p>
        </p:txBody>
      </p:sp>
      <p:sp>
        <p:nvSpPr>
          <p:cNvPr id="4" name="Text 2"/>
          <p:cNvSpPr/>
          <p:nvPr/>
        </p:nvSpPr>
        <p:spPr>
          <a:xfrm>
            <a:off x="868680" y="1051560"/>
            <a:ext cx="10424160" cy="777240"/>
          </a:xfrm>
          <a:prstGeom prst="rect">
            <a:avLst/>
          </a:prstGeom>
          <a:noFill/>
          <a:ln/>
        </p:spPr>
        <p:txBody>
          <a:bodyPr wrap="square" lIns="0" tIns="0" rIns="0" bIns="0" rtlCol="0" anchor="ctr"/>
          <a:lstStyle/>
          <a:p>
            <a:pPr marL="0" indent="0">
              <a:buNone/>
            </a:pPr>
            <a:r>
              <a:rPr lang="en-US" sz="3800" b="1" dirty="0">
                <a:solidFill>
                  <a:srgbClr val="16181D"/>
                </a:solidFill>
                <a:latin typeface="Trebuchet MS" pitchFamily="34" charset="0"/>
                <a:ea typeface="Trebuchet MS" pitchFamily="34" charset="-122"/>
                <a:cs typeface="Trebuchet MS" pitchFamily="34" charset="-120"/>
              </a:rPr>
              <a:t>Das eigentliche Risiko</a:t>
            </a:r>
            <a:endParaRPr lang="en-US" sz="3800" dirty="0"/>
          </a:p>
        </p:txBody>
      </p:sp>
      <p:sp>
        <p:nvSpPr>
          <p:cNvPr id="5" name="Text 3"/>
          <p:cNvSpPr/>
          <p:nvPr/>
        </p:nvSpPr>
        <p:spPr>
          <a:xfrm>
            <a:off x="868680" y="1874520"/>
            <a:ext cx="10241280" cy="64008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Die Excel-Demo ist nur der sichtbare Teil. Kritisch wird es durch </a:t>
            </a:r>
            <a:r>
              <a:rPr lang="en-US" sz="1700" dirty="0" err="1">
                <a:solidFill>
                  <a:srgbClr val="55606E"/>
                </a:solidFill>
                <a:latin typeface="Calibri" pitchFamily="34" charset="0"/>
                <a:ea typeface="Calibri" pitchFamily="34" charset="-122"/>
                <a:cs typeface="Calibri" pitchFamily="34" charset="-120"/>
              </a:rPr>
              <a:t>eine</a:t>
            </a:r>
            <a:r>
              <a:rPr lang="en-US" sz="1700" dirty="0">
                <a:solidFill>
                  <a:srgbClr val="55606E"/>
                </a:solidFill>
                <a:latin typeface="Calibri" pitchFamily="34" charset="0"/>
                <a:ea typeface="Calibri" pitchFamily="34" charset="-122"/>
                <a:cs typeface="Calibri" pitchFamily="34" charset="-120"/>
              </a:rPr>
              <a:t> </a:t>
            </a:r>
            <a:r>
              <a:rPr lang="en-US" sz="1700" dirty="0" err="1">
                <a:solidFill>
                  <a:srgbClr val="55606E"/>
                </a:solidFill>
                <a:latin typeface="Calibri" pitchFamily="34" charset="0"/>
                <a:ea typeface="Calibri" pitchFamily="34" charset="-122"/>
                <a:cs typeface="Calibri" pitchFamily="34" charset="-120"/>
              </a:rPr>
              <a:t>Fehlerkette</a:t>
            </a:r>
            <a:r>
              <a:rPr lang="en-US" sz="1700" dirty="0">
                <a:solidFill>
                  <a:srgbClr val="55606E"/>
                </a:solidFill>
                <a:latin typeface="Calibri" pitchFamily="34" charset="0"/>
                <a:ea typeface="Calibri" pitchFamily="34" charset="-122"/>
                <a:cs typeface="Calibri" pitchFamily="34" charset="-120"/>
              </a:rPr>
              <a:t>, beginnend bei Keycloak.</a:t>
            </a:r>
            <a:endParaRPr lang="en-US" sz="1700" dirty="0"/>
          </a:p>
        </p:txBody>
      </p:sp>
      <p:sp>
        <p:nvSpPr>
          <p:cNvPr id="6" name="Text 4"/>
          <p:cNvSpPr/>
          <p:nvPr/>
        </p:nvSpPr>
        <p:spPr>
          <a:xfrm>
            <a:off x="868680" y="2880360"/>
            <a:ext cx="7315200" cy="274320"/>
          </a:xfrm>
          <a:prstGeom prst="rect">
            <a:avLst/>
          </a:prstGeom>
          <a:noFill/>
          <a:ln/>
        </p:spPr>
        <p:txBody>
          <a:bodyPr wrap="square" lIns="0" tIns="0" rIns="0" bIns="0" rtlCol="0" anchor="ctr"/>
          <a:lstStyle/>
          <a:p>
            <a:pPr marL="0" indent="0">
              <a:buNone/>
            </a:pPr>
            <a:r>
              <a:rPr lang="en-US" sz="1150" b="1" kern="0" spc="250" dirty="0">
                <a:solidFill>
                  <a:srgbClr val="D23B4E"/>
                </a:solidFill>
                <a:latin typeface="Calibri" pitchFamily="34" charset="0"/>
                <a:ea typeface="Calibri" pitchFamily="34" charset="-122"/>
                <a:cs typeface="Calibri" pitchFamily="34" charset="-120"/>
              </a:rPr>
              <a:t>IN scheduler.json</a:t>
            </a:r>
            <a:endParaRPr lang="en-US" sz="1150" dirty="0"/>
          </a:p>
        </p:txBody>
      </p:sp>
      <p:sp>
        <p:nvSpPr>
          <p:cNvPr id="7" name="Shape 5"/>
          <p:cNvSpPr/>
          <p:nvPr/>
        </p:nvSpPr>
        <p:spPr>
          <a:xfrm>
            <a:off x="868680" y="3291840"/>
            <a:ext cx="10454335" cy="0"/>
          </a:xfrm>
          <a:prstGeom prst="line">
            <a:avLst/>
          </a:prstGeom>
          <a:noFill/>
          <a:ln w="12700">
            <a:solidFill>
              <a:srgbClr val="E4E7EC"/>
            </a:solidFill>
            <a:prstDash val="solid"/>
          </a:ln>
        </p:spPr>
        <p:txBody>
          <a:bodyPr/>
          <a:lstStyle/>
          <a:p>
            <a:endParaRPr lang="de-DE"/>
          </a:p>
        </p:txBody>
      </p:sp>
      <p:sp>
        <p:nvSpPr>
          <p:cNvPr id="8" name="Text 6"/>
          <p:cNvSpPr/>
          <p:nvPr/>
        </p:nvSpPr>
        <p:spPr>
          <a:xfrm>
            <a:off x="868680" y="3410712"/>
            <a:ext cx="5943600" cy="41148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webOrigins: ["*"]</a:t>
            </a:r>
            <a:endParaRPr lang="en-US" sz="1500" dirty="0"/>
          </a:p>
        </p:txBody>
      </p:sp>
      <p:sp>
        <p:nvSpPr>
          <p:cNvPr id="9" name="Text 7"/>
          <p:cNvSpPr/>
          <p:nvPr/>
        </p:nvSpPr>
        <p:spPr>
          <a:xfrm>
            <a:off x="6751015" y="3410712"/>
            <a:ext cx="4572000" cy="411480"/>
          </a:xfrm>
          <a:prstGeom prst="rect">
            <a:avLst/>
          </a:prstGeom>
          <a:noFill/>
          <a:ln/>
        </p:spPr>
        <p:txBody>
          <a:bodyPr wrap="square" lIns="0" tIns="0" rIns="0" bIns="0" rtlCol="0" anchor="ctr"/>
          <a:lstStyle/>
          <a:p>
            <a:pPr marL="0" indent="0" algn="r">
              <a:buNone/>
            </a:pPr>
            <a:r>
              <a:rPr lang="en-US" sz="1400" i="1" dirty="0">
                <a:solidFill>
                  <a:srgbClr val="D23B4E"/>
                </a:solidFill>
                <a:latin typeface="Calibri" pitchFamily="34" charset="0"/>
                <a:ea typeface="Calibri" pitchFamily="34" charset="-122"/>
                <a:cs typeface="Calibri" pitchFamily="34" charset="-120"/>
              </a:rPr>
              <a:t>jede Origin erlaubt</a:t>
            </a:r>
            <a:endParaRPr lang="en-US" sz="1400" dirty="0"/>
          </a:p>
        </p:txBody>
      </p:sp>
      <p:sp>
        <p:nvSpPr>
          <p:cNvPr id="10" name="Shape 8"/>
          <p:cNvSpPr/>
          <p:nvPr/>
        </p:nvSpPr>
        <p:spPr>
          <a:xfrm>
            <a:off x="868680" y="3950208"/>
            <a:ext cx="10454335" cy="0"/>
          </a:xfrm>
          <a:prstGeom prst="line">
            <a:avLst/>
          </a:prstGeom>
          <a:noFill/>
          <a:ln w="12700">
            <a:solidFill>
              <a:srgbClr val="E4E7EC"/>
            </a:solidFill>
            <a:prstDash val="solid"/>
          </a:ln>
        </p:spPr>
        <p:txBody>
          <a:bodyPr/>
          <a:lstStyle/>
          <a:p>
            <a:endParaRPr lang="de-DE"/>
          </a:p>
        </p:txBody>
      </p:sp>
      <p:sp>
        <p:nvSpPr>
          <p:cNvPr id="11" name="Text 9"/>
          <p:cNvSpPr/>
          <p:nvPr/>
        </p:nvSpPr>
        <p:spPr>
          <a:xfrm>
            <a:off x="868680" y="4069080"/>
            <a:ext cx="5943600" cy="41148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implicitFlowEnabled</a:t>
            </a:r>
            <a:endParaRPr lang="en-US" sz="1500" dirty="0"/>
          </a:p>
        </p:txBody>
      </p:sp>
      <p:sp>
        <p:nvSpPr>
          <p:cNvPr id="12" name="Text 10"/>
          <p:cNvSpPr/>
          <p:nvPr/>
        </p:nvSpPr>
        <p:spPr>
          <a:xfrm>
            <a:off x="6751015" y="4069080"/>
            <a:ext cx="4572000" cy="411480"/>
          </a:xfrm>
          <a:prstGeom prst="rect">
            <a:avLst/>
          </a:prstGeom>
          <a:noFill/>
          <a:ln/>
        </p:spPr>
        <p:txBody>
          <a:bodyPr wrap="square" lIns="0" tIns="0" rIns="0" bIns="0" rtlCol="0" anchor="ctr"/>
          <a:lstStyle/>
          <a:p>
            <a:pPr marL="0" indent="0" algn="r">
              <a:buNone/>
            </a:pPr>
            <a:r>
              <a:rPr lang="en-US" sz="1400" i="1" dirty="0">
                <a:solidFill>
                  <a:srgbClr val="D23B4E"/>
                </a:solidFill>
                <a:latin typeface="Calibri" pitchFamily="34" charset="0"/>
                <a:ea typeface="Calibri" pitchFamily="34" charset="-122"/>
                <a:cs typeface="Calibri" pitchFamily="34" charset="-120"/>
              </a:rPr>
              <a:t>veralteter Flow aktiv</a:t>
            </a:r>
            <a:endParaRPr lang="en-US" sz="1400" dirty="0"/>
          </a:p>
        </p:txBody>
      </p:sp>
      <p:sp>
        <p:nvSpPr>
          <p:cNvPr id="13" name="Shape 11"/>
          <p:cNvSpPr/>
          <p:nvPr/>
        </p:nvSpPr>
        <p:spPr>
          <a:xfrm>
            <a:off x="868680" y="4608576"/>
            <a:ext cx="10454335" cy="0"/>
          </a:xfrm>
          <a:prstGeom prst="line">
            <a:avLst/>
          </a:prstGeom>
          <a:noFill/>
          <a:ln w="12700">
            <a:solidFill>
              <a:srgbClr val="E4E7EC"/>
            </a:solidFill>
            <a:prstDash val="solid"/>
          </a:ln>
        </p:spPr>
        <p:txBody>
          <a:bodyPr/>
          <a:lstStyle/>
          <a:p>
            <a:endParaRPr lang="de-DE"/>
          </a:p>
        </p:txBody>
      </p:sp>
      <p:sp>
        <p:nvSpPr>
          <p:cNvPr id="14" name="Text 12"/>
          <p:cNvSpPr/>
          <p:nvPr/>
        </p:nvSpPr>
        <p:spPr>
          <a:xfrm>
            <a:off x="868680" y="4727448"/>
            <a:ext cx="5943600" cy="41148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directAccessGrants</a:t>
            </a:r>
            <a:endParaRPr lang="en-US" sz="1500" dirty="0"/>
          </a:p>
        </p:txBody>
      </p:sp>
      <p:sp>
        <p:nvSpPr>
          <p:cNvPr id="15" name="Text 13"/>
          <p:cNvSpPr/>
          <p:nvPr/>
        </p:nvSpPr>
        <p:spPr>
          <a:xfrm>
            <a:off x="6751015" y="4727448"/>
            <a:ext cx="4572000" cy="411480"/>
          </a:xfrm>
          <a:prstGeom prst="rect">
            <a:avLst/>
          </a:prstGeom>
          <a:noFill/>
          <a:ln/>
        </p:spPr>
        <p:txBody>
          <a:bodyPr wrap="square" lIns="0" tIns="0" rIns="0" bIns="0" rtlCol="0" anchor="ctr"/>
          <a:lstStyle/>
          <a:p>
            <a:pPr marL="0" indent="0" algn="r">
              <a:buNone/>
            </a:pPr>
            <a:r>
              <a:rPr lang="en-US" sz="1400" i="1" dirty="0">
                <a:solidFill>
                  <a:srgbClr val="D23B4E"/>
                </a:solidFill>
                <a:latin typeface="Calibri" pitchFamily="34" charset="0"/>
                <a:ea typeface="Calibri" pitchFamily="34" charset="-122"/>
                <a:cs typeface="Calibri" pitchFamily="34" charset="-120"/>
              </a:rPr>
              <a:t>Passwort-Grant aktiv</a:t>
            </a:r>
            <a:endParaRPr lang="en-US" sz="1400" dirty="0"/>
          </a:p>
        </p:txBody>
      </p:sp>
      <p:sp>
        <p:nvSpPr>
          <p:cNvPr id="16" name="Text 14"/>
          <p:cNvSpPr/>
          <p:nvPr/>
        </p:nvSpPr>
        <p:spPr>
          <a:xfrm>
            <a:off x="868680" y="5358384"/>
            <a:ext cx="10241280" cy="457200"/>
          </a:xfrm>
          <a:prstGeom prst="rect">
            <a:avLst/>
          </a:prstGeom>
          <a:noFill/>
          <a:ln/>
        </p:spPr>
        <p:txBody>
          <a:bodyPr wrap="square" lIns="0" tIns="0" rIns="0" bIns="0" rtlCol="0" anchor="ctr"/>
          <a:lstStyle/>
          <a:p>
            <a:pPr marL="0" indent="0">
              <a:buNone/>
            </a:pPr>
            <a:r>
              <a:rPr lang="en-US" sz="1350" i="1" dirty="0">
                <a:solidFill>
                  <a:srgbClr val="9AA3AF"/>
                </a:solidFill>
                <a:latin typeface="Calibri" pitchFamily="34" charset="0"/>
                <a:ea typeface="Calibri" pitchFamily="34" charset="-122"/>
                <a:cs typeface="Calibri" pitchFamily="34" charset="-120"/>
              </a:rPr>
              <a:t>Veraltete Flows und eine Wildcard bei den Web-Origins - </a:t>
            </a:r>
            <a:r>
              <a:rPr lang="en-US" sz="1350" i="1" dirty="0" err="1">
                <a:solidFill>
                  <a:srgbClr val="9AA3AF"/>
                </a:solidFill>
                <a:latin typeface="Calibri" pitchFamily="34" charset="0"/>
                <a:ea typeface="Calibri" pitchFamily="34" charset="-122"/>
                <a:cs typeface="Calibri" pitchFamily="34" charset="-120"/>
              </a:rPr>
              <a:t>zu</a:t>
            </a:r>
            <a:r>
              <a:rPr lang="en-US" sz="1350" i="1" dirty="0">
                <a:solidFill>
                  <a:srgbClr val="9AA3AF"/>
                </a:solidFill>
                <a:latin typeface="Calibri" pitchFamily="34" charset="0"/>
                <a:ea typeface="Calibri" pitchFamily="34" charset="-122"/>
                <a:cs typeface="Calibri" pitchFamily="34" charset="-120"/>
              </a:rPr>
              <a:t> </a:t>
            </a:r>
            <a:r>
              <a:rPr lang="en-US" sz="1350" i="1" dirty="0" err="1">
                <a:solidFill>
                  <a:srgbClr val="9AA3AF"/>
                </a:solidFill>
                <a:latin typeface="Calibri" pitchFamily="34" charset="0"/>
                <a:ea typeface="Calibri" pitchFamily="34" charset="-122"/>
                <a:cs typeface="Calibri" pitchFamily="34" charset="-120"/>
              </a:rPr>
              <a:t>breit</a:t>
            </a:r>
            <a:r>
              <a:rPr lang="en-US" sz="1350" i="1" dirty="0">
                <a:solidFill>
                  <a:srgbClr val="9AA3AF"/>
                </a:solidFill>
                <a:latin typeface="Calibri" pitchFamily="34" charset="0"/>
                <a:ea typeface="Calibri" pitchFamily="34" charset="-122"/>
                <a:cs typeface="Calibri" pitchFamily="34" charset="-120"/>
              </a:rPr>
              <a:t> für einen SPA-Client.</a:t>
            </a:r>
            <a:endParaRPr lang="en-US" sz="1350" dirty="0"/>
          </a:p>
        </p:txBody>
      </p:sp>
      <p:sp>
        <p:nvSpPr>
          <p:cNvPr id="17" name="Text 1">
            <a:extLst>
              <a:ext uri="{FF2B5EF4-FFF2-40B4-BE49-F238E27FC236}">
                <a16:creationId xmlns:a16="http://schemas.microsoft.com/office/drawing/2014/main" id="{E4CBF162-AD41-8BBF-E6AF-09E8ABA6A2D9}"/>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26</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KRITISCHES RISIKO · ACCOUNT-TAKEOVER</a:t>
            </a:r>
            <a:endParaRPr lang="en-US" sz="1050" dirty="0"/>
          </a:p>
        </p:txBody>
      </p:sp>
      <p:sp>
        <p:nvSpPr>
          <p:cNvPr id="4" name="Text 2"/>
          <p:cNvSpPr/>
          <p:nvPr/>
        </p:nvSpPr>
        <p:spPr>
          <a:xfrm>
            <a:off x="868680" y="1051560"/>
            <a:ext cx="10424160" cy="77724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Token-Diebstahl als Fehlerkette</a:t>
            </a:r>
            <a:endParaRPr lang="en-US" sz="36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650" dirty="0" err="1">
                <a:solidFill>
                  <a:srgbClr val="55606E"/>
                </a:solidFill>
                <a:latin typeface="Calibri" pitchFamily="34" charset="0"/>
                <a:ea typeface="Calibri" pitchFamily="34" charset="-122"/>
                <a:cs typeface="Calibri" pitchFamily="34" charset="-120"/>
              </a:rPr>
              <a:t>Über</a:t>
            </a:r>
            <a:r>
              <a:rPr lang="en-US" sz="1650" dirty="0">
                <a:solidFill>
                  <a:srgbClr val="55606E"/>
                </a:solidFill>
                <a:latin typeface="Calibri" pitchFamily="34" charset="0"/>
                <a:ea typeface="Calibri" pitchFamily="34" charset="-122"/>
                <a:cs typeface="Calibri" pitchFamily="34" charset="-120"/>
              </a:rPr>
              <a:t> </a:t>
            </a:r>
            <a:r>
              <a:rPr lang="en-US" sz="1650" dirty="0" err="1">
                <a:solidFill>
                  <a:srgbClr val="55606E"/>
                </a:solidFill>
                <a:latin typeface="Calibri" pitchFamily="34" charset="0"/>
                <a:ea typeface="Calibri" pitchFamily="34" charset="-122"/>
                <a:cs typeface="Calibri" pitchFamily="34" charset="-120"/>
              </a:rPr>
              <a:t>dieselbe</a:t>
            </a:r>
            <a:r>
              <a:rPr lang="en-US" sz="1650" dirty="0">
                <a:solidFill>
                  <a:srgbClr val="55606E"/>
                </a:solidFill>
                <a:latin typeface="Calibri" pitchFamily="34" charset="0"/>
                <a:ea typeface="Calibri" pitchFamily="34" charset="-122"/>
                <a:cs typeface="Calibri" pitchFamily="34" charset="-120"/>
              </a:rPr>
              <a:t> CORS-</a:t>
            </a:r>
            <a:r>
              <a:rPr lang="en-US" sz="1650" dirty="0" err="1">
                <a:solidFill>
                  <a:srgbClr val="55606E"/>
                </a:solidFill>
                <a:latin typeface="Calibri" pitchFamily="34" charset="0"/>
                <a:ea typeface="Calibri" pitchFamily="34" charset="-122"/>
                <a:cs typeface="Calibri" pitchFamily="34" charset="-120"/>
              </a:rPr>
              <a:t>Lücke</a:t>
            </a:r>
            <a:r>
              <a:rPr lang="en-US" sz="1650" dirty="0">
                <a:solidFill>
                  <a:srgbClr val="55606E"/>
                </a:solidFill>
                <a:latin typeface="Calibri" pitchFamily="34" charset="0"/>
                <a:ea typeface="Calibri" pitchFamily="34" charset="-122"/>
                <a:cs typeface="Calibri" pitchFamily="34" charset="-120"/>
              </a:rPr>
              <a:t> an der API </a:t>
            </a:r>
            <a:r>
              <a:rPr lang="en-US" sz="1650" dirty="0" err="1">
                <a:solidFill>
                  <a:srgbClr val="55606E"/>
                </a:solidFill>
                <a:latin typeface="Calibri" pitchFamily="34" charset="0"/>
                <a:ea typeface="Calibri" pitchFamily="34" charset="-122"/>
                <a:cs typeface="Calibri" pitchFamily="34" charset="-120"/>
              </a:rPr>
              <a:t>wird</a:t>
            </a:r>
            <a:r>
              <a:rPr lang="en-US" sz="1650" dirty="0">
                <a:solidFill>
                  <a:srgbClr val="55606E"/>
                </a:solidFill>
                <a:latin typeface="Calibri" pitchFamily="34" charset="0"/>
                <a:ea typeface="Calibri" pitchFamily="34" charset="-122"/>
                <a:cs typeface="Calibri" pitchFamily="34" charset="-120"/>
              </a:rPr>
              <a:t> aus Mitlesen </a:t>
            </a:r>
            <a:r>
              <a:rPr lang="en-US" sz="1650" dirty="0" err="1">
                <a:solidFill>
                  <a:srgbClr val="55606E"/>
                </a:solidFill>
                <a:latin typeface="Calibri" pitchFamily="34" charset="0"/>
                <a:ea typeface="Calibri" pitchFamily="34" charset="-122"/>
                <a:cs typeface="Calibri" pitchFamily="34" charset="-120"/>
              </a:rPr>
              <a:t>eine</a:t>
            </a:r>
            <a:r>
              <a:rPr lang="en-US" sz="1650" dirty="0">
                <a:solidFill>
                  <a:srgbClr val="55606E"/>
                </a:solidFill>
                <a:latin typeface="Calibri" pitchFamily="34" charset="0"/>
                <a:ea typeface="Calibri" pitchFamily="34" charset="-122"/>
                <a:cs typeface="Calibri" pitchFamily="34" charset="-120"/>
              </a:rPr>
              <a:t> </a:t>
            </a:r>
            <a:r>
              <a:rPr lang="en-US" sz="1650" dirty="0" err="1">
                <a:solidFill>
                  <a:srgbClr val="55606E"/>
                </a:solidFill>
                <a:latin typeface="Calibri" pitchFamily="34" charset="0"/>
                <a:ea typeface="Calibri" pitchFamily="34" charset="-122"/>
                <a:cs typeface="Calibri" pitchFamily="34" charset="-120"/>
              </a:rPr>
              <a:t>vollständige</a:t>
            </a:r>
            <a:r>
              <a:rPr lang="en-US" sz="1650" dirty="0">
                <a:solidFill>
                  <a:srgbClr val="55606E"/>
                </a:solidFill>
                <a:latin typeface="Calibri" pitchFamily="34" charset="0"/>
                <a:ea typeface="Calibri" pitchFamily="34" charset="-122"/>
                <a:cs typeface="Calibri" pitchFamily="34" charset="-120"/>
              </a:rPr>
              <a:t> </a:t>
            </a:r>
            <a:r>
              <a:rPr lang="en-US" sz="1650" dirty="0" err="1">
                <a:solidFill>
                  <a:srgbClr val="55606E"/>
                </a:solidFill>
                <a:latin typeface="Calibri" pitchFamily="34" charset="0"/>
                <a:ea typeface="Calibri" pitchFamily="34" charset="-122"/>
                <a:cs typeface="Calibri" pitchFamily="34" charset="-120"/>
              </a:rPr>
              <a:t>Identitätsübernahme</a:t>
            </a:r>
            <a:r>
              <a:rPr lang="en-US" sz="1650" dirty="0">
                <a:solidFill>
                  <a:srgbClr val="55606E"/>
                </a:solidFill>
                <a:latin typeface="Calibri" pitchFamily="34" charset="0"/>
                <a:ea typeface="Calibri" pitchFamily="34" charset="-122"/>
                <a:cs typeface="Calibri" pitchFamily="34" charset="-120"/>
              </a:rPr>
              <a:t>.</a:t>
            </a:r>
            <a:endParaRPr lang="en-US" sz="1650" dirty="0"/>
          </a:p>
        </p:txBody>
      </p:sp>
      <p:sp>
        <p:nvSpPr>
          <p:cNvPr id="6" name="Text 4"/>
          <p:cNvSpPr/>
          <p:nvPr/>
        </p:nvSpPr>
        <p:spPr>
          <a:xfrm>
            <a:off x="1080897" y="2898648"/>
            <a:ext cx="640080" cy="457200"/>
          </a:xfrm>
          <a:prstGeom prst="rect">
            <a:avLst/>
          </a:prstGeom>
          <a:noFill/>
          <a:ln/>
        </p:spPr>
        <p:txBody>
          <a:bodyPr wrap="square" lIns="0" tIns="0" rIns="0" bIns="0" rtlCol="0" anchor="ctr"/>
          <a:lstStyle/>
          <a:p>
            <a:pPr marL="0" indent="0">
              <a:buNone/>
            </a:pPr>
            <a:r>
              <a:rPr lang="en-US" sz="2000" b="1" dirty="0">
                <a:solidFill>
                  <a:srgbClr val="9AA3AF"/>
                </a:solidFill>
                <a:latin typeface="Trebuchet MS" pitchFamily="34" charset="0"/>
                <a:ea typeface="Trebuchet MS" pitchFamily="34" charset="-122"/>
                <a:cs typeface="Trebuchet MS" pitchFamily="34" charset="-120"/>
              </a:rPr>
              <a:t>01</a:t>
            </a:r>
            <a:endParaRPr lang="en-US" sz="2000" dirty="0"/>
          </a:p>
        </p:txBody>
      </p:sp>
      <p:sp>
        <p:nvSpPr>
          <p:cNvPr id="7" name="Text 5"/>
          <p:cNvSpPr/>
          <p:nvPr/>
        </p:nvSpPr>
        <p:spPr>
          <a:xfrm>
            <a:off x="1883665" y="2898648"/>
            <a:ext cx="1087755" cy="457200"/>
          </a:xfrm>
          <a:prstGeom prst="rect">
            <a:avLst/>
          </a:prstGeom>
          <a:noFill/>
          <a:ln/>
        </p:spPr>
        <p:txBody>
          <a:bodyPr wrap="square" lIns="0" tIns="0" rIns="0" bIns="0" rtlCol="0" anchor="ctr"/>
          <a:lstStyle/>
          <a:p>
            <a:pPr marL="0" indent="0" algn="ctr">
              <a:buNone/>
            </a:pPr>
            <a:r>
              <a:rPr lang="en-US" sz="1800" b="1" dirty="0">
                <a:solidFill>
                  <a:srgbClr val="16181D"/>
                </a:solidFill>
                <a:latin typeface="Trebuchet MS" pitchFamily="34" charset="0"/>
                <a:ea typeface="Trebuchet MS" pitchFamily="34" charset="-122"/>
                <a:cs typeface="Trebuchet MS" pitchFamily="34" charset="-120"/>
              </a:rPr>
              <a:t>Login</a:t>
            </a:r>
            <a:endParaRPr lang="en-US" sz="1800" dirty="0"/>
          </a:p>
        </p:txBody>
      </p:sp>
      <p:sp>
        <p:nvSpPr>
          <p:cNvPr id="8" name="Text 6"/>
          <p:cNvSpPr/>
          <p:nvPr/>
        </p:nvSpPr>
        <p:spPr>
          <a:xfrm>
            <a:off x="3566312" y="2898648"/>
            <a:ext cx="5059375" cy="457200"/>
          </a:xfrm>
          <a:prstGeom prst="rect">
            <a:avLst/>
          </a:prstGeom>
          <a:noFill/>
          <a:ln/>
        </p:spPr>
        <p:txBody>
          <a:bodyPr wrap="square" lIns="0" tIns="0" rIns="0" bIns="0" rtlCol="0" anchor="ctr"/>
          <a:lstStyle/>
          <a:p>
            <a:pPr marL="0" indent="0">
              <a:buNone/>
            </a:pPr>
            <a:r>
              <a:rPr lang="en-US" sz="1450" dirty="0" err="1">
                <a:solidFill>
                  <a:srgbClr val="55606E"/>
                </a:solidFill>
                <a:latin typeface="Calibri" pitchFamily="34" charset="0"/>
                <a:ea typeface="Calibri" pitchFamily="34" charset="-122"/>
                <a:cs typeface="Calibri" pitchFamily="34" charset="-120"/>
              </a:rPr>
              <a:t>Nutzer</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ist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angemeldet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gültiges</a:t>
            </a:r>
            <a:r>
              <a:rPr lang="en-US" sz="1450" dirty="0">
                <a:solidFill>
                  <a:srgbClr val="55606E"/>
                </a:solidFill>
                <a:latin typeface="Calibri" pitchFamily="34" charset="0"/>
                <a:ea typeface="Calibri" pitchFamily="34" charset="-122"/>
                <a:cs typeface="Calibri" pitchFamily="34" charset="-120"/>
              </a:rPr>
              <a:t> Bearer-Token </a:t>
            </a:r>
            <a:r>
              <a:rPr lang="en-US" sz="1450" dirty="0" err="1">
                <a:solidFill>
                  <a:srgbClr val="55606E"/>
                </a:solidFill>
                <a:latin typeface="Calibri" pitchFamily="34" charset="0"/>
                <a:ea typeface="Calibri" pitchFamily="34" charset="-122"/>
                <a:cs typeface="Calibri" pitchFamily="34" charset="-120"/>
              </a:rPr>
              <a:t>liegt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im</a:t>
            </a:r>
            <a:r>
              <a:rPr lang="en-US" sz="1450" dirty="0">
                <a:solidFill>
                  <a:srgbClr val="55606E"/>
                </a:solidFill>
                <a:latin typeface="Calibri" pitchFamily="34" charset="0"/>
                <a:ea typeface="Calibri" pitchFamily="34" charset="-122"/>
                <a:cs typeface="Calibri" pitchFamily="34" charset="-120"/>
              </a:rPr>
              <a:t> Browser.</a:t>
            </a:r>
            <a:endParaRPr lang="en-US" sz="1450" dirty="0"/>
          </a:p>
        </p:txBody>
      </p:sp>
      <p:sp>
        <p:nvSpPr>
          <p:cNvPr id="9" name="Shape 7"/>
          <p:cNvSpPr/>
          <p:nvPr/>
        </p:nvSpPr>
        <p:spPr>
          <a:xfrm>
            <a:off x="1245489" y="3419856"/>
            <a:ext cx="0" cy="256032"/>
          </a:xfrm>
          <a:prstGeom prst="line">
            <a:avLst/>
          </a:prstGeom>
          <a:noFill/>
          <a:ln w="15875">
            <a:solidFill>
              <a:srgbClr val="D2D8DF"/>
            </a:solidFill>
            <a:prstDash val="solid"/>
          </a:ln>
        </p:spPr>
        <p:txBody>
          <a:bodyPr/>
          <a:lstStyle/>
          <a:p>
            <a:endParaRPr lang="de-DE"/>
          </a:p>
        </p:txBody>
      </p:sp>
      <p:sp>
        <p:nvSpPr>
          <p:cNvPr id="10" name="Text 8"/>
          <p:cNvSpPr/>
          <p:nvPr/>
        </p:nvSpPr>
        <p:spPr>
          <a:xfrm>
            <a:off x="1080897" y="3739896"/>
            <a:ext cx="640080" cy="457200"/>
          </a:xfrm>
          <a:prstGeom prst="rect">
            <a:avLst/>
          </a:prstGeom>
          <a:noFill/>
          <a:ln/>
        </p:spPr>
        <p:txBody>
          <a:bodyPr wrap="square" lIns="0" tIns="0" rIns="0" bIns="0" rtlCol="0" anchor="ctr"/>
          <a:lstStyle/>
          <a:p>
            <a:pPr marL="0" indent="0">
              <a:buNone/>
            </a:pPr>
            <a:r>
              <a:rPr lang="en-US" sz="2000" b="1" dirty="0">
                <a:solidFill>
                  <a:srgbClr val="9AA3AF"/>
                </a:solidFill>
                <a:latin typeface="Trebuchet MS" pitchFamily="34" charset="0"/>
                <a:ea typeface="Trebuchet MS" pitchFamily="34" charset="-122"/>
                <a:cs typeface="Trebuchet MS" pitchFamily="34" charset="-120"/>
              </a:rPr>
              <a:t>02</a:t>
            </a:r>
            <a:endParaRPr lang="en-US" sz="2000" dirty="0"/>
          </a:p>
        </p:txBody>
      </p:sp>
      <p:sp>
        <p:nvSpPr>
          <p:cNvPr id="11" name="Text 9"/>
          <p:cNvSpPr/>
          <p:nvPr/>
        </p:nvSpPr>
        <p:spPr>
          <a:xfrm>
            <a:off x="1883665" y="3739896"/>
            <a:ext cx="1087755" cy="457200"/>
          </a:xfrm>
          <a:prstGeom prst="rect">
            <a:avLst/>
          </a:prstGeom>
          <a:noFill/>
          <a:ln/>
        </p:spPr>
        <p:txBody>
          <a:bodyPr wrap="square" lIns="0" tIns="0" rIns="0" bIns="0" rtlCol="0" anchor="ctr"/>
          <a:lstStyle/>
          <a:p>
            <a:pPr marL="0" indent="0" algn="ctr">
              <a:buNone/>
            </a:pPr>
            <a:r>
              <a:rPr lang="en-US" sz="1800" b="1" dirty="0">
                <a:solidFill>
                  <a:srgbClr val="16181D"/>
                </a:solidFill>
                <a:latin typeface="Trebuchet MS" pitchFamily="34" charset="0"/>
                <a:ea typeface="Trebuchet MS" pitchFamily="34" charset="-122"/>
                <a:cs typeface="Trebuchet MS" pitchFamily="34" charset="-120"/>
              </a:rPr>
              <a:t>/session</a:t>
            </a:r>
            <a:endParaRPr lang="en-US" sz="1800" dirty="0"/>
          </a:p>
        </p:txBody>
      </p:sp>
      <p:sp>
        <p:nvSpPr>
          <p:cNvPr id="12" name="Text 10"/>
          <p:cNvSpPr/>
          <p:nvPr/>
        </p:nvSpPr>
        <p:spPr>
          <a:xfrm>
            <a:off x="3566312" y="3739896"/>
            <a:ext cx="5059375" cy="457200"/>
          </a:xfrm>
          <a:prstGeom prst="rect">
            <a:avLst/>
          </a:prstGeom>
          <a:noFill/>
          <a:ln/>
        </p:spPr>
        <p:txBody>
          <a:bodyPr wrap="square" lIns="0" tIns="0" rIns="0" bIns="0" rtlCol="0" anchor="ctr"/>
          <a:lstStyle/>
          <a:p>
            <a:pPr marL="0" indent="0">
              <a:buNone/>
            </a:pPr>
            <a:r>
              <a:rPr lang="en-US" sz="1450" dirty="0" err="1">
                <a:solidFill>
                  <a:srgbClr val="55606E"/>
                </a:solidFill>
                <a:latin typeface="Calibri" pitchFamily="34" charset="0"/>
                <a:ea typeface="Calibri" pitchFamily="34" charset="-122"/>
                <a:cs typeface="Calibri" pitchFamily="34" charset="-120"/>
              </a:rPr>
              <a:t>Fremde</a:t>
            </a:r>
            <a:r>
              <a:rPr lang="en-US" sz="1450" dirty="0">
                <a:solidFill>
                  <a:srgbClr val="55606E"/>
                </a:solidFill>
                <a:latin typeface="Calibri" pitchFamily="34" charset="0"/>
                <a:ea typeface="Calibri" pitchFamily="34" charset="-122"/>
                <a:cs typeface="Calibri" pitchFamily="34" charset="-120"/>
              </a:rPr>
              <a:t> Seite liest die Antwort dank offenem CORS.</a:t>
            </a:r>
            <a:endParaRPr lang="en-US" sz="1450" dirty="0"/>
          </a:p>
        </p:txBody>
      </p:sp>
      <p:sp>
        <p:nvSpPr>
          <p:cNvPr id="13" name="Shape 11"/>
          <p:cNvSpPr/>
          <p:nvPr/>
        </p:nvSpPr>
        <p:spPr>
          <a:xfrm>
            <a:off x="1245489" y="4261104"/>
            <a:ext cx="0" cy="256032"/>
          </a:xfrm>
          <a:prstGeom prst="line">
            <a:avLst/>
          </a:prstGeom>
          <a:noFill/>
          <a:ln w="15875">
            <a:solidFill>
              <a:srgbClr val="D2D8DF"/>
            </a:solidFill>
            <a:prstDash val="solid"/>
          </a:ln>
        </p:spPr>
        <p:txBody>
          <a:bodyPr/>
          <a:lstStyle/>
          <a:p>
            <a:endParaRPr lang="de-DE"/>
          </a:p>
        </p:txBody>
      </p:sp>
      <p:sp>
        <p:nvSpPr>
          <p:cNvPr id="14" name="Text 12"/>
          <p:cNvSpPr/>
          <p:nvPr/>
        </p:nvSpPr>
        <p:spPr>
          <a:xfrm>
            <a:off x="1080897" y="4581144"/>
            <a:ext cx="640080" cy="457200"/>
          </a:xfrm>
          <a:prstGeom prst="rect">
            <a:avLst/>
          </a:prstGeom>
          <a:noFill/>
          <a:ln/>
        </p:spPr>
        <p:txBody>
          <a:bodyPr wrap="square" lIns="0" tIns="0" rIns="0" bIns="0" rtlCol="0" anchor="ctr"/>
          <a:lstStyle/>
          <a:p>
            <a:pPr marL="0" indent="0">
              <a:buNone/>
            </a:pPr>
            <a:r>
              <a:rPr lang="en-US" sz="2000" b="1" dirty="0">
                <a:solidFill>
                  <a:srgbClr val="9AA3AF"/>
                </a:solidFill>
                <a:latin typeface="Trebuchet MS" pitchFamily="34" charset="0"/>
                <a:ea typeface="Trebuchet MS" pitchFamily="34" charset="-122"/>
                <a:cs typeface="Trebuchet MS" pitchFamily="34" charset="-120"/>
              </a:rPr>
              <a:t>03</a:t>
            </a:r>
            <a:endParaRPr lang="en-US" sz="2000" dirty="0"/>
          </a:p>
        </p:txBody>
      </p:sp>
      <p:sp>
        <p:nvSpPr>
          <p:cNvPr id="15" name="Text 13"/>
          <p:cNvSpPr/>
          <p:nvPr/>
        </p:nvSpPr>
        <p:spPr>
          <a:xfrm>
            <a:off x="1883665" y="4581144"/>
            <a:ext cx="1087755" cy="457200"/>
          </a:xfrm>
          <a:prstGeom prst="rect">
            <a:avLst/>
          </a:prstGeom>
          <a:noFill/>
          <a:ln/>
        </p:spPr>
        <p:txBody>
          <a:bodyPr wrap="square" lIns="0" tIns="0" rIns="0" bIns="0" rtlCol="0" anchor="ctr"/>
          <a:lstStyle/>
          <a:p>
            <a:pPr marL="0" indent="0" algn="ctr">
              <a:buNone/>
            </a:pPr>
            <a:r>
              <a:rPr lang="en-US" b="1" dirty="0">
                <a:solidFill>
                  <a:srgbClr val="16181D"/>
                </a:solidFill>
                <a:latin typeface="Trebuchet MS" pitchFamily="34" charset="0"/>
                <a:ea typeface="Trebuchet MS" pitchFamily="34" charset="-122"/>
                <a:cs typeface="Trebuchet MS" pitchFamily="34" charset="-120"/>
              </a:rPr>
              <a:t>Leaking</a:t>
            </a:r>
            <a:endParaRPr lang="en-US" sz="1800" dirty="0"/>
          </a:p>
        </p:txBody>
      </p:sp>
      <p:sp>
        <p:nvSpPr>
          <p:cNvPr id="16" name="Text 14"/>
          <p:cNvSpPr/>
          <p:nvPr/>
        </p:nvSpPr>
        <p:spPr>
          <a:xfrm>
            <a:off x="3566312" y="4581144"/>
            <a:ext cx="5059375" cy="457200"/>
          </a:xfrm>
          <a:prstGeom prst="rect">
            <a:avLst/>
          </a:prstGeom>
          <a:noFill/>
          <a:ln/>
        </p:spPr>
        <p:txBody>
          <a:bodyPr wrap="square" lIns="0" tIns="0" rIns="0" bIns="0" rtlCol="0" anchor="ctr"/>
          <a:lstStyle/>
          <a:p>
            <a:pPr marL="0" indent="0">
              <a:buNone/>
            </a:pPr>
            <a:r>
              <a:rPr lang="en-US" sz="1450" dirty="0">
                <a:solidFill>
                  <a:srgbClr val="55606E"/>
                </a:solidFill>
                <a:latin typeface="Calibri" pitchFamily="34" charset="0"/>
                <a:ea typeface="Calibri" pitchFamily="34" charset="-122"/>
                <a:cs typeface="Calibri" pitchFamily="34" charset="-120"/>
              </a:rPr>
              <a:t>Das </a:t>
            </a:r>
            <a:r>
              <a:rPr lang="en-US" sz="1450" dirty="0" err="1">
                <a:solidFill>
                  <a:srgbClr val="55606E"/>
                </a:solidFill>
                <a:latin typeface="Calibri" pitchFamily="34" charset="0"/>
                <a:ea typeface="Calibri" pitchFamily="34" charset="-122"/>
                <a:cs typeface="Calibri" pitchFamily="34" charset="-120"/>
              </a:rPr>
              <a:t>gültige</a:t>
            </a:r>
            <a:r>
              <a:rPr lang="en-US" sz="1450" dirty="0">
                <a:solidFill>
                  <a:srgbClr val="55606E"/>
                </a:solidFill>
                <a:latin typeface="Calibri" pitchFamily="34" charset="0"/>
                <a:ea typeface="Calibri" pitchFamily="34" charset="-122"/>
                <a:cs typeface="Calibri" pitchFamily="34" charset="-120"/>
              </a:rPr>
              <a:t> Bearer-Token </a:t>
            </a:r>
            <a:r>
              <a:rPr lang="en-US" sz="1450" dirty="0" err="1">
                <a:solidFill>
                  <a:srgbClr val="55606E"/>
                </a:solidFill>
                <a:latin typeface="Calibri" pitchFamily="34" charset="0"/>
                <a:ea typeface="Calibri" pitchFamily="34" charset="-122"/>
                <a:cs typeface="Calibri" pitchFamily="34" charset="-120"/>
              </a:rPr>
              <a:t>wird</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im</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Klartext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ausgelesen</a:t>
            </a:r>
            <a:r>
              <a:rPr lang="en-US" sz="1450" dirty="0">
                <a:solidFill>
                  <a:srgbClr val="55606E"/>
                </a:solidFill>
                <a:latin typeface="Calibri" pitchFamily="34" charset="0"/>
                <a:ea typeface="Calibri" pitchFamily="34" charset="-122"/>
                <a:cs typeface="Calibri" pitchFamily="34" charset="-120"/>
              </a:rPr>
              <a:t>.</a:t>
            </a:r>
            <a:endParaRPr lang="en-US" sz="1450" dirty="0"/>
          </a:p>
        </p:txBody>
      </p:sp>
      <p:sp>
        <p:nvSpPr>
          <p:cNvPr id="17" name="Shape 15"/>
          <p:cNvSpPr/>
          <p:nvPr/>
        </p:nvSpPr>
        <p:spPr>
          <a:xfrm>
            <a:off x="1245489" y="5102352"/>
            <a:ext cx="0" cy="256032"/>
          </a:xfrm>
          <a:prstGeom prst="line">
            <a:avLst/>
          </a:prstGeom>
          <a:noFill/>
          <a:ln w="15875">
            <a:solidFill>
              <a:srgbClr val="D2D8DF"/>
            </a:solidFill>
            <a:prstDash val="solid"/>
          </a:ln>
        </p:spPr>
        <p:txBody>
          <a:bodyPr/>
          <a:lstStyle/>
          <a:p>
            <a:endParaRPr lang="de-DE"/>
          </a:p>
        </p:txBody>
      </p:sp>
      <p:sp>
        <p:nvSpPr>
          <p:cNvPr id="18" name="Text 16"/>
          <p:cNvSpPr/>
          <p:nvPr/>
        </p:nvSpPr>
        <p:spPr>
          <a:xfrm>
            <a:off x="1080897" y="5422392"/>
            <a:ext cx="640080" cy="457200"/>
          </a:xfrm>
          <a:prstGeom prst="rect">
            <a:avLst/>
          </a:prstGeom>
          <a:noFill/>
          <a:ln/>
        </p:spPr>
        <p:txBody>
          <a:bodyPr wrap="square" lIns="0" tIns="0" rIns="0" bIns="0" rtlCol="0" anchor="ctr"/>
          <a:lstStyle/>
          <a:p>
            <a:pPr marL="0" indent="0">
              <a:buNone/>
            </a:pPr>
            <a:r>
              <a:rPr lang="en-US" sz="2000" b="1" dirty="0">
                <a:solidFill>
                  <a:srgbClr val="D23B4E"/>
                </a:solidFill>
                <a:latin typeface="Trebuchet MS" pitchFamily="34" charset="0"/>
                <a:ea typeface="Trebuchet MS" pitchFamily="34" charset="-122"/>
                <a:cs typeface="Trebuchet MS" pitchFamily="34" charset="-120"/>
              </a:rPr>
              <a:t>04</a:t>
            </a:r>
            <a:endParaRPr lang="en-US" sz="2000" dirty="0"/>
          </a:p>
        </p:txBody>
      </p:sp>
      <p:sp>
        <p:nvSpPr>
          <p:cNvPr id="19" name="Text 17"/>
          <p:cNvSpPr/>
          <p:nvPr/>
        </p:nvSpPr>
        <p:spPr>
          <a:xfrm>
            <a:off x="1883665" y="5422392"/>
            <a:ext cx="1087755" cy="457200"/>
          </a:xfrm>
          <a:prstGeom prst="rect">
            <a:avLst/>
          </a:prstGeom>
          <a:noFill/>
          <a:ln/>
        </p:spPr>
        <p:txBody>
          <a:bodyPr wrap="square" lIns="0" tIns="0" rIns="0" bIns="0" rtlCol="0" anchor="ctr"/>
          <a:lstStyle/>
          <a:p>
            <a:pPr marL="0" indent="0" algn="ctr">
              <a:buNone/>
            </a:pPr>
            <a:r>
              <a:rPr lang="en-US" sz="1800" b="1" dirty="0">
                <a:solidFill>
                  <a:srgbClr val="16181D"/>
                </a:solidFill>
                <a:latin typeface="Trebuchet MS" pitchFamily="34" charset="0"/>
                <a:ea typeface="Trebuchet MS" pitchFamily="34" charset="-122"/>
                <a:cs typeface="Trebuchet MS" pitchFamily="34" charset="-120"/>
              </a:rPr>
              <a:t>Takeover</a:t>
            </a:r>
            <a:endParaRPr lang="en-US" sz="1800" dirty="0"/>
          </a:p>
        </p:txBody>
      </p:sp>
      <p:sp>
        <p:nvSpPr>
          <p:cNvPr id="20" name="Text 18"/>
          <p:cNvSpPr/>
          <p:nvPr/>
        </p:nvSpPr>
        <p:spPr>
          <a:xfrm>
            <a:off x="3566312" y="5422392"/>
            <a:ext cx="5059375" cy="457200"/>
          </a:xfrm>
          <a:prstGeom prst="rect">
            <a:avLst/>
          </a:prstGeom>
          <a:noFill/>
          <a:ln/>
        </p:spPr>
        <p:txBody>
          <a:bodyPr wrap="square" lIns="0" tIns="0" rIns="0" bIns="0" rtlCol="0" anchor="ctr"/>
          <a:lstStyle/>
          <a:p>
            <a:pPr marL="0" indent="0">
              <a:buNone/>
            </a:pPr>
            <a:r>
              <a:rPr lang="en-US" sz="1450" dirty="0">
                <a:solidFill>
                  <a:srgbClr val="55606E"/>
                </a:solidFill>
                <a:latin typeface="Calibri" pitchFamily="34" charset="0"/>
                <a:ea typeface="Calibri" pitchFamily="34" charset="-122"/>
                <a:cs typeface="Calibri" pitchFamily="34" charset="-120"/>
              </a:rPr>
              <a:t>Angreifer </a:t>
            </a:r>
            <a:r>
              <a:rPr lang="en-US" sz="1450" dirty="0" err="1">
                <a:solidFill>
                  <a:srgbClr val="55606E"/>
                </a:solidFill>
                <a:latin typeface="Calibri" pitchFamily="34" charset="0"/>
                <a:ea typeface="Calibri" pitchFamily="34" charset="-122"/>
                <a:cs typeface="Calibri" pitchFamily="34" charset="-120"/>
              </a:rPr>
              <a:t>agiert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vollständig</a:t>
            </a:r>
            <a:r>
              <a:rPr lang="en-US" sz="1450" dirty="0">
                <a:solidFill>
                  <a:srgbClr val="55606E"/>
                </a:solidFill>
                <a:latin typeface="Calibri" pitchFamily="34" charset="0"/>
                <a:ea typeface="Calibri" pitchFamily="34" charset="-122"/>
                <a:cs typeface="Calibri" pitchFamily="34" charset="-120"/>
              </a:rPr>
              <a:t> als der Nutzer.</a:t>
            </a:r>
            <a:endParaRPr lang="en-US" sz="1450" dirty="0"/>
          </a:p>
        </p:txBody>
      </p:sp>
      <p:sp>
        <p:nvSpPr>
          <p:cNvPr id="21" name="Text 1">
            <a:extLst>
              <a:ext uri="{FF2B5EF4-FFF2-40B4-BE49-F238E27FC236}">
                <a16:creationId xmlns:a16="http://schemas.microsoft.com/office/drawing/2014/main" id="{56F96ED9-BE3A-4178-B271-B9ED9DFDF13F}"/>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27</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FAZIT · ARCHITEKTUR</a:t>
            </a:r>
            <a:endParaRPr lang="en-US" sz="1050" dirty="0"/>
          </a:p>
        </p:txBody>
      </p:sp>
      <p:sp>
        <p:nvSpPr>
          <p:cNvPr id="4" name="Text 2"/>
          <p:cNvSpPr/>
          <p:nvPr/>
        </p:nvSpPr>
        <p:spPr>
          <a:xfrm>
            <a:off x="868680" y="1051560"/>
            <a:ext cx="10607040" cy="777240"/>
          </a:xfrm>
          <a:prstGeom prst="rect">
            <a:avLst/>
          </a:prstGeom>
          <a:noFill/>
          <a:ln/>
        </p:spPr>
        <p:txBody>
          <a:bodyPr wrap="square" lIns="0" tIns="0" rIns="0" bIns="0" rtlCol="0" anchor="ctr"/>
          <a:lstStyle/>
          <a:p>
            <a:pPr marL="0" indent="0">
              <a:buNone/>
            </a:pPr>
            <a:r>
              <a:rPr lang="en-US" sz="3400" b="1" dirty="0">
                <a:solidFill>
                  <a:srgbClr val="16181D"/>
                </a:solidFill>
                <a:latin typeface="Trebuchet MS" pitchFamily="34" charset="0"/>
                <a:ea typeface="Trebuchet MS" pitchFamily="34" charset="-122"/>
                <a:cs typeface="Trebuchet MS" pitchFamily="34" charset="-120"/>
              </a:rPr>
              <a:t>Das </a:t>
            </a:r>
            <a:r>
              <a:rPr lang="en-US" sz="3400" b="1" dirty="0" err="1">
                <a:solidFill>
                  <a:srgbClr val="16181D"/>
                </a:solidFill>
                <a:latin typeface="Trebuchet MS" pitchFamily="34" charset="0"/>
                <a:ea typeface="Trebuchet MS" pitchFamily="34" charset="-122"/>
                <a:cs typeface="Trebuchet MS" pitchFamily="34" charset="-120"/>
              </a:rPr>
              <a:t>Zusammenspiel</a:t>
            </a:r>
            <a:r>
              <a:rPr lang="en-US" sz="3400" b="1" dirty="0">
                <a:solidFill>
                  <a:srgbClr val="16181D"/>
                </a:solidFill>
                <a:latin typeface="Trebuchet MS" pitchFamily="34" charset="0"/>
                <a:ea typeface="Trebuchet MS" pitchFamily="34" charset="-122"/>
                <a:cs typeface="Trebuchet MS" pitchFamily="34" charset="-120"/>
              </a:rPr>
              <a:t> der </a:t>
            </a:r>
            <a:r>
              <a:rPr lang="en-US" sz="3400" b="1" dirty="0" err="1">
                <a:solidFill>
                  <a:srgbClr val="16181D"/>
                </a:solidFill>
                <a:latin typeface="Trebuchet MS" pitchFamily="34" charset="0"/>
                <a:ea typeface="Trebuchet MS" pitchFamily="34" charset="-122"/>
                <a:cs typeface="Trebuchet MS" pitchFamily="34" charset="-120"/>
              </a:rPr>
              <a:t>Schwachstellen</a:t>
            </a:r>
            <a:endParaRPr lang="en-US" sz="3400" dirty="0"/>
          </a:p>
        </p:txBody>
      </p:sp>
      <p:sp>
        <p:nvSpPr>
          <p:cNvPr id="5" name="Text 3"/>
          <p:cNvSpPr/>
          <p:nvPr/>
        </p:nvSpPr>
        <p:spPr>
          <a:xfrm>
            <a:off x="868680" y="1874520"/>
            <a:ext cx="10241280" cy="45720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Keine </a:t>
            </a:r>
            <a:r>
              <a:rPr lang="en-US" sz="1700" dirty="0" err="1">
                <a:solidFill>
                  <a:srgbClr val="55606E"/>
                </a:solidFill>
                <a:latin typeface="Calibri" pitchFamily="34" charset="0"/>
                <a:ea typeface="Calibri" pitchFamily="34" charset="-122"/>
                <a:cs typeface="Calibri" pitchFamily="34" charset="-120"/>
              </a:rPr>
              <a:t>Einzel-Lücke</a:t>
            </a:r>
            <a:r>
              <a:rPr lang="en-US" sz="1700" dirty="0">
                <a:solidFill>
                  <a:srgbClr val="55606E"/>
                </a:solidFill>
                <a:latin typeface="Calibri" pitchFamily="34" charset="0"/>
                <a:ea typeface="Calibri" pitchFamily="34" charset="-122"/>
                <a:cs typeface="Calibri" pitchFamily="34" charset="-120"/>
              </a:rPr>
              <a:t>, </a:t>
            </a:r>
            <a:r>
              <a:rPr lang="en-US" sz="1700" dirty="0" err="1">
                <a:solidFill>
                  <a:srgbClr val="55606E"/>
                </a:solidFill>
                <a:latin typeface="Calibri" pitchFamily="34" charset="0"/>
                <a:ea typeface="Calibri" pitchFamily="34" charset="-122"/>
                <a:cs typeface="Calibri" pitchFamily="34" charset="-120"/>
              </a:rPr>
              <a:t>sondern</a:t>
            </a:r>
            <a:r>
              <a:rPr lang="en-US" sz="1700" dirty="0">
                <a:solidFill>
                  <a:srgbClr val="55606E"/>
                </a:solidFill>
                <a:latin typeface="Calibri" pitchFamily="34" charset="0"/>
                <a:ea typeface="Calibri" pitchFamily="34" charset="-122"/>
                <a:cs typeface="Calibri" pitchFamily="34" charset="-120"/>
              </a:rPr>
              <a:t> </a:t>
            </a:r>
            <a:r>
              <a:rPr lang="de-DE" sz="1700" dirty="0">
                <a:solidFill>
                  <a:srgbClr val="55606E"/>
                </a:solidFill>
                <a:latin typeface="Calibri" pitchFamily="34" charset="0"/>
                <a:ea typeface="Calibri" pitchFamily="34" charset="-122"/>
                <a:cs typeface="Calibri" pitchFamily="34" charset="-120"/>
              </a:rPr>
              <a:t>die Schichten machen es kritisch</a:t>
            </a:r>
          </a:p>
        </p:txBody>
      </p:sp>
      <p:sp>
        <p:nvSpPr>
          <p:cNvPr id="6" name="Shape 4"/>
          <p:cNvSpPr/>
          <p:nvPr/>
        </p:nvSpPr>
        <p:spPr>
          <a:xfrm>
            <a:off x="868680" y="2743200"/>
            <a:ext cx="10454335" cy="0"/>
          </a:xfrm>
          <a:prstGeom prst="line">
            <a:avLst/>
          </a:prstGeom>
          <a:noFill/>
          <a:ln w="12700">
            <a:solidFill>
              <a:srgbClr val="E4E7EC"/>
            </a:solidFill>
            <a:prstDash val="solid"/>
          </a:ln>
        </p:spPr>
        <p:txBody>
          <a:bodyPr/>
          <a:lstStyle/>
          <a:p>
            <a:endParaRPr lang="de-DE"/>
          </a:p>
        </p:txBody>
      </p:sp>
      <p:sp>
        <p:nvSpPr>
          <p:cNvPr id="7" name="Text 5"/>
          <p:cNvSpPr/>
          <p:nvPr/>
        </p:nvSpPr>
        <p:spPr>
          <a:xfrm>
            <a:off x="868680" y="2889504"/>
            <a:ext cx="10454335" cy="384048"/>
          </a:xfrm>
          <a:prstGeom prst="rect">
            <a:avLst/>
          </a:prstGeom>
          <a:noFill/>
          <a:ln/>
        </p:spPr>
        <p:txBody>
          <a:bodyPr wrap="square" lIns="0" tIns="0" rIns="0" bIns="0" rtlCol="0" anchor="ctr"/>
          <a:lstStyle/>
          <a:p>
            <a:pPr marL="0" indent="0">
              <a:buNone/>
            </a:pPr>
            <a:r>
              <a:rPr lang="en-US" sz="1900" b="1" dirty="0">
                <a:solidFill>
                  <a:srgbClr val="16181D"/>
                </a:solidFill>
                <a:latin typeface="Trebuchet MS" pitchFamily="34" charset="0"/>
                <a:ea typeface="Trebuchet MS" pitchFamily="34" charset="-122"/>
                <a:cs typeface="Trebuchet MS" pitchFamily="34" charset="-120"/>
              </a:rPr>
              <a:t>Offenes CORS</a:t>
            </a:r>
            <a:endParaRPr lang="en-US" sz="1900" dirty="0"/>
          </a:p>
        </p:txBody>
      </p:sp>
      <p:sp>
        <p:nvSpPr>
          <p:cNvPr id="8" name="Text 6"/>
          <p:cNvSpPr/>
          <p:nvPr/>
        </p:nvSpPr>
        <p:spPr>
          <a:xfrm>
            <a:off x="868680" y="3310128"/>
            <a:ext cx="10454335" cy="36576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weicht die Browser-Sperre für fremde Origins auf.</a:t>
            </a:r>
            <a:endParaRPr lang="en-US" sz="1400" dirty="0"/>
          </a:p>
        </p:txBody>
      </p:sp>
      <p:sp>
        <p:nvSpPr>
          <p:cNvPr id="9" name="Shape 7"/>
          <p:cNvSpPr/>
          <p:nvPr/>
        </p:nvSpPr>
        <p:spPr>
          <a:xfrm>
            <a:off x="868680" y="3822192"/>
            <a:ext cx="10454335" cy="0"/>
          </a:xfrm>
          <a:prstGeom prst="line">
            <a:avLst/>
          </a:prstGeom>
          <a:noFill/>
          <a:ln w="12700">
            <a:solidFill>
              <a:srgbClr val="E4E7EC"/>
            </a:solidFill>
            <a:prstDash val="solid"/>
          </a:ln>
        </p:spPr>
        <p:txBody>
          <a:bodyPr/>
          <a:lstStyle/>
          <a:p>
            <a:endParaRPr lang="de-DE"/>
          </a:p>
        </p:txBody>
      </p:sp>
      <p:sp>
        <p:nvSpPr>
          <p:cNvPr id="10" name="Text 8"/>
          <p:cNvSpPr/>
          <p:nvPr/>
        </p:nvSpPr>
        <p:spPr>
          <a:xfrm>
            <a:off x="868680" y="3968496"/>
            <a:ext cx="10454335" cy="384048"/>
          </a:xfrm>
          <a:prstGeom prst="rect">
            <a:avLst/>
          </a:prstGeom>
          <a:noFill/>
          <a:ln/>
        </p:spPr>
        <p:txBody>
          <a:bodyPr wrap="square" lIns="0" tIns="0" rIns="0" bIns="0" rtlCol="0" anchor="ctr"/>
          <a:lstStyle/>
          <a:p>
            <a:pPr marL="0" indent="0">
              <a:buNone/>
            </a:pPr>
            <a:r>
              <a:rPr lang="en-US" sz="1900" b="1" dirty="0">
                <a:solidFill>
                  <a:srgbClr val="16181D"/>
                </a:solidFill>
                <a:latin typeface="Trebuchet MS" pitchFamily="34" charset="0"/>
                <a:ea typeface="Trebuchet MS" pitchFamily="34" charset="-122"/>
                <a:cs typeface="Trebuchet MS" pitchFamily="34" charset="-120"/>
              </a:rPr>
              <a:t>Unauthentifizierter /files-Endpunkt</a:t>
            </a:r>
            <a:endParaRPr lang="en-US" sz="1900" dirty="0"/>
          </a:p>
        </p:txBody>
      </p:sp>
      <p:sp>
        <p:nvSpPr>
          <p:cNvPr id="11" name="Text 9"/>
          <p:cNvSpPr/>
          <p:nvPr/>
        </p:nvSpPr>
        <p:spPr>
          <a:xfrm>
            <a:off x="868680" y="4389120"/>
            <a:ext cx="10454335" cy="36576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liefert Datei-Exporte ohne Anmeldung.</a:t>
            </a:r>
            <a:endParaRPr lang="en-US" sz="1400" dirty="0"/>
          </a:p>
        </p:txBody>
      </p:sp>
      <p:sp>
        <p:nvSpPr>
          <p:cNvPr id="12" name="Shape 10"/>
          <p:cNvSpPr/>
          <p:nvPr/>
        </p:nvSpPr>
        <p:spPr>
          <a:xfrm>
            <a:off x="868680" y="4901184"/>
            <a:ext cx="10454335" cy="0"/>
          </a:xfrm>
          <a:prstGeom prst="line">
            <a:avLst/>
          </a:prstGeom>
          <a:noFill/>
          <a:ln w="12700">
            <a:solidFill>
              <a:srgbClr val="E4E7EC"/>
            </a:solidFill>
            <a:prstDash val="solid"/>
          </a:ln>
        </p:spPr>
        <p:txBody>
          <a:bodyPr/>
          <a:lstStyle/>
          <a:p>
            <a:endParaRPr lang="de-DE"/>
          </a:p>
        </p:txBody>
      </p:sp>
      <p:sp>
        <p:nvSpPr>
          <p:cNvPr id="13" name="Text 11"/>
          <p:cNvSpPr/>
          <p:nvPr/>
        </p:nvSpPr>
        <p:spPr>
          <a:xfrm>
            <a:off x="868680" y="5047488"/>
            <a:ext cx="10454335" cy="384048"/>
          </a:xfrm>
          <a:prstGeom prst="rect">
            <a:avLst/>
          </a:prstGeom>
          <a:noFill/>
          <a:ln/>
        </p:spPr>
        <p:txBody>
          <a:bodyPr wrap="square" lIns="0" tIns="0" rIns="0" bIns="0" rtlCol="0" anchor="ctr"/>
          <a:lstStyle/>
          <a:p>
            <a:pPr marL="0" indent="0">
              <a:buNone/>
            </a:pPr>
            <a:r>
              <a:rPr lang="en-US" sz="1900" b="1" dirty="0" err="1">
                <a:solidFill>
                  <a:srgbClr val="16181D"/>
                </a:solidFill>
                <a:latin typeface="Trebuchet MS" pitchFamily="34" charset="0"/>
                <a:ea typeface="Trebuchet MS" pitchFamily="34" charset="-122"/>
                <a:cs typeface="Trebuchet MS" pitchFamily="34" charset="-120"/>
              </a:rPr>
              <a:t>Unsichere</a:t>
            </a:r>
            <a:r>
              <a:rPr lang="en-US" sz="1900" b="1" dirty="0">
                <a:solidFill>
                  <a:srgbClr val="16181D"/>
                </a:solidFill>
                <a:latin typeface="Trebuchet MS" pitchFamily="34" charset="0"/>
                <a:ea typeface="Trebuchet MS" pitchFamily="34" charset="-122"/>
                <a:cs typeface="Trebuchet MS" pitchFamily="34" charset="-120"/>
              </a:rPr>
              <a:t> Keycloak-Regeln</a:t>
            </a:r>
            <a:endParaRPr lang="en-US" sz="1900" dirty="0"/>
          </a:p>
        </p:txBody>
      </p:sp>
      <p:sp>
        <p:nvSpPr>
          <p:cNvPr id="14" name="Text 12"/>
          <p:cNvSpPr/>
          <p:nvPr/>
        </p:nvSpPr>
        <p:spPr>
          <a:xfrm>
            <a:off x="868680" y="5468112"/>
            <a:ext cx="10454335" cy="36576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Wildcard-Origins und veraltete Token-Flows.</a:t>
            </a:r>
            <a:endParaRPr lang="en-US" sz="1400" dirty="0"/>
          </a:p>
        </p:txBody>
      </p:sp>
      <p:sp>
        <p:nvSpPr>
          <p:cNvPr id="15" name="Text 1">
            <a:extLst>
              <a:ext uri="{FF2B5EF4-FFF2-40B4-BE49-F238E27FC236}">
                <a16:creationId xmlns:a16="http://schemas.microsoft.com/office/drawing/2014/main" id="{E30CECDF-2AC1-01E7-3CE7-CA5D74B92E3C}"/>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28</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FAZIT</a:t>
            </a:r>
            <a:endParaRPr lang="en-US" sz="1050" dirty="0"/>
          </a:p>
        </p:txBody>
      </p:sp>
      <p:sp>
        <p:nvSpPr>
          <p:cNvPr id="4" name="Text 2"/>
          <p:cNvSpPr/>
          <p:nvPr/>
        </p:nvSpPr>
        <p:spPr>
          <a:xfrm>
            <a:off x="868680" y="1188720"/>
            <a:ext cx="10058400" cy="822960"/>
          </a:xfrm>
          <a:prstGeom prst="rect">
            <a:avLst/>
          </a:prstGeom>
          <a:noFill/>
          <a:ln/>
        </p:spPr>
        <p:txBody>
          <a:bodyPr wrap="square" lIns="0" tIns="0" rIns="0" bIns="0" rtlCol="0" anchor="ctr"/>
          <a:lstStyle/>
          <a:p>
            <a:pPr marL="0" indent="0">
              <a:buNone/>
            </a:pPr>
            <a:r>
              <a:rPr lang="en-US" sz="4400" b="1" dirty="0">
                <a:solidFill>
                  <a:srgbClr val="16181D"/>
                </a:solidFill>
                <a:latin typeface="Trebuchet MS" pitchFamily="34" charset="0"/>
                <a:ea typeface="Trebuchet MS" pitchFamily="34" charset="-122"/>
                <a:cs typeface="Trebuchet MS" pitchFamily="34" charset="-120"/>
              </a:rPr>
              <a:t>Fazit</a:t>
            </a:r>
            <a:endParaRPr lang="en-US" sz="4400" dirty="0"/>
          </a:p>
        </p:txBody>
      </p:sp>
      <p:sp>
        <p:nvSpPr>
          <p:cNvPr id="5" name="Text 3"/>
          <p:cNvSpPr/>
          <p:nvPr/>
        </p:nvSpPr>
        <p:spPr>
          <a:xfrm>
            <a:off x="868680" y="2103120"/>
            <a:ext cx="10058400" cy="822960"/>
          </a:xfrm>
          <a:prstGeom prst="rect">
            <a:avLst/>
          </a:prstGeom>
          <a:noFill/>
          <a:ln/>
        </p:spPr>
        <p:txBody>
          <a:bodyPr wrap="square" lIns="0" tIns="0" rIns="0" bIns="0" rtlCol="0" anchor="ctr"/>
          <a:lstStyle/>
          <a:p>
            <a:pPr marL="0" indent="0">
              <a:buNone/>
            </a:pPr>
            <a:r>
              <a:rPr lang="en-US" sz="2100" b="1" dirty="0">
                <a:solidFill>
                  <a:srgbClr val="16181D"/>
                </a:solidFill>
                <a:latin typeface="Trebuchet MS" pitchFamily="34" charset="0"/>
                <a:ea typeface="Trebuchet MS" pitchFamily="34" charset="-122"/>
                <a:cs typeface="Trebuchet MS" pitchFamily="34" charset="-120"/>
              </a:rPr>
              <a:t>CORS ist kein Schutz - es weicht die Browser-Sperre kontrolliert auf.</a:t>
            </a:r>
          </a:p>
          <a:p>
            <a:pPr marL="0" indent="0">
              <a:buNone/>
            </a:pPr>
            <a:r>
              <a:rPr lang="en-US" sz="2100" b="1" dirty="0">
                <a:solidFill>
                  <a:srgbClr val="16181D"/>
                </a:solidFill>
                <a:latin typeface="Trebuchet MS" pitchFamily="34" charset="0"/>
                <a:ea typeface="Trebuchet MS" pitchFamily="34" charset="-122"/>
                <a:cs typeface="Trebuchet MS" pitchFamily="34" charset="-120"/>
              </a:rPr>
              <a:t>Auth </a:t>
            </a:r>
            <a:r>
              <a:rPr lang="en-US" sz="2100" b="1" dirty="0" err="1">
                <a:solidFill>
                  <a:srgbClr val="16181D"/>
                </a:solidFill>
                <a:latin typeface="Trebuchet MS" pitchFamily="34" charset="0"/>
                <a:ea typeface="Trebuchet MS" pitchFamily="34" charset="-122"/>
                <a:cs typeface="Trebuchet MS" pitchFamily="34" charset="-120"/>
              </a:rPr>
              <a:t>prüft</a:t>
            </a:r>
            <a:r>
              <a:rPr lang="en-US" sz="2100" b="1" dirty="0">
                <a:solidFill>
                  <a:srgbClr val="16181D"/>
                </a:solidFill>
                <a:latin typeface="Trebuchet MS" pitchFamily="34" charset="0"/>
                <a:ea typeface="Trebuchet MS" pitchFamily="34" charset="-122"/>
                <a:cs typeface="Trebuchet MS" pitchFamily="34" charset="-120"/>
              </a:rPr>
              <a:t> die Rechte.</a:t>
            </a:r>
            <a:endParaRPr lang="en-US" sz="2100" dirty="0"/>
          </a:p>
        </p:txBody>
      </p:sp>
      <p:sp>
        <p:nvSpPr>
          <p:cNvPr id="6" name="Shape 4"/>
          <p:cNvSpPr/>
          <p:nvPr/>
        </p:nvSpPr>
        <p:spPr>
          <a:xfrm>
            <a:off x="868680" y="3200400"/>
            <a:ext cx="10454335" cy="0"/>
          </a:xfrm>
          <a:prstGeom prst="line">
            <a:avLst/>
          </a:prstGeom>
          <a:noFill/>
          <a:ln w="12700">
            <a:solidFill>
              <a:srgbClr val="E4E7EC"/>
            </a:solidFill>
            <a:prstDash val="solid"/>
          </a:ln>
        </p:spPr>
        <p:txBody>
          <a:bodyPr/>
          <a:lstStyle/>
          <a:p>
            <a:endParaRPr lang="de-DE"/>
          </a:p>
        </p:txBody>
      </p:sp>
      <p:sp>
        <p:nvSpPr>
          <p:cNvPr id="7" name="Text 5"/>
          <p:cNvSpPr/>
          <p:nvPr/>
        </p:nvSpPr>
        <p:spPr>
          <a:xfrm>
            <a:off x="868680" y="3429000"/>
            <a:ext cx="7315200" cy="274320"/>
          </a:xfrm>
          <a:prstGeom prst="rect">
            <a:avLst/>
          </a:prstGeom>
          <a:noFill/>
          <a:ln/>
        </p:spPr>
        <p:txBody>
          <a:bodyPr wrap="square" lIns="0" tIns="0" rIns="0" bIns="0" rtlCol="0" anchor="ctr"/>
          <a:lstStyle/>
          <a:p>
            <a:pPr marL="0" indent="0">
              <a:buNone/>
            </a:pPr>
            <a:r>
              <a:rPr lang="en-US" sz="1150" b="1" kern="0" spc="250" dirty="0">
                <a:solidFill>
                  <a:srgbClr val="1E8F5E"/>
                </a:solidFill>
                <a:latin typeface="Calibri" pitchFamily="34" charset="0"/>
                <a:ea typeface="Calibri" pitchFamily="34" charset="-122"/>
                <a:cs typeface="Calibri" pitchFamily="34" charset="-120"/>
              </a:rPr>
              <a:t>DIE FINALE LÖSUNG</a:t>
            </a:r>
            <a:endParaRPr lang="en-US" sz="1150" dirty="0"/>
          </a:p>
        </p:txBody>
      </p:sp>
      <p:sp>
        <p:nvSpPr>
          <p:cNvPr id="8" name="Text 6"/>
          <p:cNvSpPr/>
          <p:nvPr/>
        </p:nvSpPr>
        <p:spPr>
          <a:xfrm>
            <a:off x="868680" y="379476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01</a:t>
            </a:r>
            <a:endParaRPr lang="en-US" sz="1700" dirty="0"/>
          </a:p>
        </p:txBody>
      </p:sp>
      <p:sp>
        <p:nvSpPr>
          <p:cNvPr id="9" name="Text 7"/>
          <p:cNvSpPr/>
          <p:nvPr/>
        </p:nvSpPr>
        <p:spPr>
          <a:xfrm>
            <a:off x="1508760" y="379476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Saubere Trennung von Dev- und Prod-Properties.</a:t>
            </a:r>
            <a:endParaRPr lang="en-US" sz="1600" dirty="0"/>
          </a:p>
        </p:txBody>
      </p:sp>
      <p:sp>
        <p:nvSpPr>
          <p:cNvPr id="10" name="Text 8"/>
          <p:cNvSpPr/>
          <p:nvPr/>
        </p:nvSpPr>
        <p:spPr>
          <a:xfrm>
            <a:off x="868680" y="434340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02</a:t>
            </a:r>
            <a:endParaRPr lang="en-US" sz="1700" dirty="0"/>
          </a:p>
        </p:txBody>
      </p:sp>
      <p:sp>
        <p:nvSpPr>
          <p:cNvPr id="11" name="Text 9"/>
          <p:cNvSpPr/>
          <p:nvPr/>
        </p:nvSpPr>
        <p:spPr>
          <a:xfrm>
            <a:off x="1508760" y="4343400"/>
            <a:ext cx="9814255" cy="457200"/>
          </a:xfrm>
          <a:prstGeom prst="rect">
            <a:avLst/>
          </a:prstGeom>
          <a:noFill/>
          <a:ln/>
        </p:spPr>
        <p:txBody>
          <a:bodyPr wrap="square" lIns="0" tIns="0" rIns="0" bIns="0" rtlCol="0" anchor="ctr"/>
          <a:lstStyle/>
          <a:p>
            <a:pPr marL="0" indent="0">
              <a:buNone/>
            </a:pPr>
            <a:r>
              <a:rPr lang="en-US" sz="1600" dirty="0" err="1">
                <a:solidFill>
                  <a:srgbClr val="16181D"/>
                </a:solidFill>
                <a:latin typeface="Calibri" pitchFamily="34" charset="0"/>
                <a:ea typeface="Calibri" pitchFamily="34" charset="-122"/>
                <a:cs typeface="Calibri" pitchFamily="34" charset="-120"/>
              </a:rPr>
              <a:t>Authentifizierung</a:t>
            </a:r>
            <a:r>
              <a:rPr lang="en-US" sz="1600" dirty="0">
                <a:solidFill>
                  <a:srgbClr val="16181D"/>
                </a:solidFill>
                <a:latin typeface="Calibri" pitchFamily="34" charset="0"/>
                <a:ea typeface="Calibri" pitchFamily="34" charset="-122"/>
                <a:cs typeface="Calibri" pitchFamily="34" charset="-120"/>
              </a:rPr>
              <a:t> für Datei-Exporte erzwingen.</a:t>
            </a:r>
            <a:endParaRPr lang="en-US" sz="1600" dirty="0"/>
          </a:p>
        </p:txBody>
      </p:sp>
      <p:sp>
        <p:nvSpPr>
          <p:cNvPr id="12" name="Text 10"/>
          <p:cNvSpPr/>
          <p:nvPr/>
        </p:nvSpPr>
        <p:spPr>
          <a:xfrm>
            <a:off x="868680" y="489204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03</a:t>
            </a:r>
            <a:endParaRPr lang="en-US" sz="1700" dirty="0"/>
          </a:p>
        </p:txBody>
      </p:sp>
      <p:sp>
        <p:nvSpPr>
          <p:cNvPr id="13" name="Text 11"/>
          <p:cNvSpPr/>
          <p:nvPr/>
        </p:nvSpPr>
        <p:spPr>
          <a:xfrm>
            <a:off x="1508760" y="489204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Keycloak-Wildcards schliessen, veraltete Flows deaktivieren.</a:t>
            </a:r>
            <a:endParaRPr lang="en-US" sz="1600" dirty="0"/>
          </a:p>
        </p:txBody>
      </p:sp>
      <p:sp>
        <p:nvSpPr>
          <p:cNvPr id="14" name="Text 12"/>
          <p:cNvSpPr/>
          <p:nvPr/>
        </p:nvSpPr>
        <p:spPr>
          <a:xfrm>
            <a:off x="868680" y="544068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04</a:t>
            </a:r>
            <a:endParaRPr lang="en-US" sz="1700" dirty="0"/>
          </a:p>
        </p:txBody>
      </p:sp>
      <p:sp>
        <p:nvSpPr>
          <p:cNvPr id="15" name="Text 13"/>
          <p:cNvSpPr/>
          <p:nvPr/>
        </p:nvSpPr>
        <p:spPr>
          <a:xfrm>
            <a:off x="1508760" y="544068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Feste CORS-Allowlist statt Origin-Spiegelung.</a:t>
            </a:r>
            <a:endParaRPr lang="en-US" sz="1600" dirty="0"/>
          </a:p>
        </p:txBody>
      </p:sp>
      <p:sp>
        <p:nvSpPr>
          <p:cNvPr id="16" name="Text 1">
            <a:extLst>
              <a:ext uri="{FF2B5EF4-FFF2-40B4-BE49-F238E27FC236}">
                <a16:creationId xmlns:a16="http://schemas.microsoft.com/office/drawing/2014/main" id="{50AC08BC-9F32-DDAA-6B5E-9BC06F58D6F6}"/>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29</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2815</Words>
  <Application>Microsoft Office PowerPoint</Application>
  <DocSecurity>0</DocSecurity>
  <PresentationFormat>Breitbild</PresentationFormat>
  <Paragraphs>446</Paragraphs>
  <Slides>29</Slides>
  <Notes>29</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29</vt:i4>
      </vt:variant>
    </vt:vector>
  </HeadingPairs>
  <TitlesOfParts>
    <vt:vector size="33" baseType="lpstr">
      <vt:lpstr>Calibri</vt:lpstr>
      <vt:lpstr>Consolas</vt:lpstr>
      <vt:lpstr>Trebuchet MS</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Tom Markmann</cp:lastModifiedBy>
  <cp:revision>58</cp:revision>
  <dcterms:created xsi:type="dcterms:W3CDTF">2026-06-09T16:20:32Z</dcterms:created>
  <dcterms:modified xsi:type="dcterms:W3CDTF">2026-06-11T07:22:51Z</dcterms:modified>
</cp:coreProperties>
</file>