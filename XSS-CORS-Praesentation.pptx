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8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leitung" id="{83E6BEB8-E7DD-4FA4-ADAD-A9F3F3A9B470}">
          <p14:sldIdLst>
            <p14:sldId id="281"/>
          </p14:sldIdLst>
        </p14:section>
        <p14:section name="XSS" id="{8D85D553-47C9-4C47-8041-E6C53F6B860B}">
          <p14:sldIdLst>
            <p14:sldId id="256"/>
            <p14:sldId id="257"/>
            <p14:sldId id="258"/>
            <p14:sldId id="259"/>
            <p14:sldId id="260"/>
            <p14:sldId id="261"/>
            <p14:sldId id="262"/>
            <p14:sldId id="263"/>
            <p14:sldId id="264"/>
            <p14:sldId id="265"/>
          </p14:sldIdLst>
        </p14:section>
        <p14:section name="CORS" id="{11B11767-8EC2-4D59-ACBC-E6EC4288162A}">
          <p14:sldIdLst>
            <p14:sldId id="266"/>
            <p14:sldId id="267"/>
            <p14:sldId id="268"/>
            <p14:sldId id="269"/>
            <p14:sldId id="270"/>
            <p14:sldId id="271"/>
            <p14:sldId id="272"/>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340" autoAdjust="0"/>
  </p:normalViewPr>
  <p:slideViewPr>
    <p:cSldViewPr snapToGrid="0">
      <p:cViewPr varScale="1">
        <p:scale>
          <a:sx n="109" d="100"/>
          <a:sy n="109" d="100"/>
        </p:scale>
        <p:origin x="996" y="10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6E5EA-881B-94FB-E3D0-D5D75D5F7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DC4CB-C3D3-E208-6501-D8FACA961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6C05F-C8C1-3AF9-ECE3-22E303153D8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51B86BF-2386-82AE-FEFB-230FA31AEE6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624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Linus: Wir erklären zunächst die Grundlagen von Cross Site Scripting und zeigen danach die konkrete Stored DOM XSS Schwachstelle im Scheduler.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Linus: XSS ist kein Fehler beim Speichern allein. Entscheidend ist die spätere Ausgabe. Sobald Nutzerdaten als HTML interpretiert werden, kann daraus ausführbarer Code werden.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Linus: Stored XSS bleibt in der Anwendung gespeichert. Reflected XSS wird direkt aus einer Anfrage zurückgegeben. DOM XSS entsteht beim unsicheren Schreiben in das DOM. Unsere Schwachstelle verbindet Stored XSS und DOM XSS.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Linus: Typische unsichere Senken sind innerHTML oder HTML Rendering ohne Escaping. Das sichere Grundprinzip ist Output Encoding. In Vue geschieht das bei normaler Interpolation automatisch.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Arvid: Die Schwachstelle liegt nicht in einer direkten Nutzung von v html im eigenen Code. Gespeicherte Werte werden an VueCal übergeben und dort im Standardrenderer mit innerHTML ausgegeben.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Arvid: Der Setup Test bereitet reproduzierbare lokale Daten vor. Danach zeigen wir dieselbe Route einmal mit der unsicheren und einmal mit der sicheren Kalenderkomponente.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Arvid: Zuerst die unsichere Variante öffnen und die Codeausführung zeigen. Danach die sichere Variante starten. Der gespeicherte Payload bleibt unverändert, wird aber nur noch als Text angezeigt.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Linus: Die Demo nutzt nur einen harmlosen sichtbaren Effekt. Reale XSS könnte sichtbare Daten lesen, API Requests im Kontext des Nutzers senden oder auf den im JavaScript Kontext verfügbaren Keycloak Token zugreifen.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Arvid: Der Fix ist ein eigener Event Slot. Vue Interpolation escaped den Event Titel und erzeugt Text. Dieser Fix muss auf alle VueCal Ansichten mit Datenbankwerten übertragen werden.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Arvid: Der wichtigste Schutz ist sichere Ausgabe. Content Security Policy, Validierung und Tests sind zusätzliche Schichten, ersetzen den eigentlichen Fix aber nicht.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Arvid: Zuerst die unsichere Variante öffnen und die Codeausführung zeigen. Danach die sichere Variante starten. Der gespeicherte Payload bleibt unverändert, wird aber nur noch als Text angezeigt.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07AD9-8F3E-A65E-7CDC-9B129834F1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73D6ED-D1EE-C903-EB00-753D85251E91}"/>
              </a:ext>
            </a:extLst>
          </p:cNvPr>
          <p:cNvSpPr>
            <a:spLocks noGrp="1"/>
          </p:cNvSpPr>
          <p:nvPr/>
        </p:nvSpPr>
        <p:spPr>
          <a:xfrm>
            <a:off x="2426893" y="440616"/>
            <a:ext cx="7315200" cy="320040"/>
          </a:xfrm>
          <a:prstGeom prst="rect">
            <a:avLst/>
          </a:prstGeom>
          <a:noFill/>
        </p:spPr>
        <p:txBody>
          <a:bodyPr wrap="square" lIns="0" tIns="0" rIns="0" bIns="0" anchor="ctr"/>
          <a:lstStyle/>
          <a:p>
            <a:pPr marL="0" indent="0" algn="ctr">
              <a:buNone/>
            </a:pPr>
            <a:r>
              <a:rPr lang="de-DE" sz="1200" b="1" dirty="0">
                <a:solidFill>
                  <a:srgbClr val="1463FF"/>
                </a:solidFill>
                <a:latin typeface="Calibri"/>
                <a:ea typeface="Calibri"/>
                <a:cs typeface="Calibri"/>
              </a:rPr>
              <a:t>Berufliche Hochschule Hamburg | Informatik</a:t>
            </a:r>
            <a:endParaRPr sz="1200" b="1" dirty="0">
              <a:solidFill>
                <a:srgbClr val="1463FF"/>
              </a:solidFill>
              <a:latin typeface="Calibri"/>
              <a:ea typeface="Calibri"/>
              <a:cs typeface="Calibri"/>
            </a:endParaRPr>
          </a:p>
        </p:txBody>
      </p:sp>
      <p:sp>
        <p:nvSpPr>
          <p:cNvPr id="3" name="Text 1">
            <a:extLst>
              <a:ext uri="{FF2B5EF4-FFF2-40B4-BE49-F238E27FC236}">
                <a16:creationId xmlns:a16="http://schemas.microsoft.com/office/drawing/2014/main" id="{5D6158CB-DC6A-771B-FD87-31A3C529F457}"/>
              </a:ext>
            </a:extLst>
          </p:cNvPr>
          <p:cNvSpPr>
            <a:spLocks noGrp="1"/>
          </p:cNvSpPr>
          <p:nvPr/>
        </p:nvSpPr>
        <p:spPr>
          <a:xfrm>
            <a:off x="1055293" y="1416319"/>
            <a:ext cx="10058400" cy="1463040"/>
          </a:xfrm>
          <a:prstGeom prst="rect">
            <a:avLst/>
          </a:prstGeom>
          <a:noFill/>
        </p:spPr>
        <p:txBody>
          <a:bodyPr wrap="square" lIns="0" tIns="0" rIns="0" bIns="0" anchor="ctr"/>
          <a:lstStyle/>
          <a:p>
            <a:pPr marL="0" indent="0" algn="ctr">
              <a:buNone/>
            </a:pPr>
            <a:r>
              <a:rPr sz="11000" b="1" dirty="0">
                <a:solidFill>
                  <a:srgbClr val="16181D"/>
                </a:solidFill>
                <a:latin typeface="Trebuchet MS"/>
                <a:ea typeface="Trebuchet MS"/>
                <a:cs typeface="Trebuchet MS"/>
              </a:rPr>
              <a:t>XSS</a:t>
            </a:r>
            <a:r>
              <a:rPr lang="de-DE" sz="11000" b="1" dirty="0">
                <a:solidFill>
                  <a:srgbClr val="16181D"/>
                </a:solidFill>
                <a:latin typeface="Trebuchet MS"/>
                <a:ea typeface="Trebuchet MS"/>
                <a:cs typeface="Trebuchet MS"/>
              </a:rPr>
              <a:t> und CORS</a:t>
            </a:r>
            <a:endParaRPr sz="11000" b="1" dirty="0">
              <a:solidFill>
                <a:srgbClr val="16181D"/>
              </a:solidFill>
              <a:latin typeface="Trebuchet MS"/>
              <a:ea typeface="Trebuchet MS"/>
              <a:cs typeface="Trebuchet MS"/>
            </a:endParaRPr>
          </a:p>
        </p:txBody>
      </p:sp>
      <p:sp>
        <p:nvSpPr>
          <p:cNvPr id="4" name="Text 2">
            <a:extLst>
              <a:ext uri="{FF2B5EF4-FFF2-40B4-BE49-F238E27FC236}">
                <a16:creationId xmlns:a16="http://schemas.microsoft.com/office/drawing/2014/main" id="{2C2921CB-32AF-8397-509C-782B9F192604}"/>
              </a:ext>
            </a:extLst>
          </p:cNvPr>
          <p:cNvSpPr>
            <a:spLocks noGrp="1"/>
          </p:cNvSpPr>
          <p:nvPr/>
        </p:nvSpPr>
        <p:spPr>
          <a:xfrm>
            <a:off x="1055293" y="3177540"/>
            <a:ext cx="10058400" cy="502920"/>
          </a:xfrm>
          <a:prstGeom prst="rect">
            <a:avLst/>
          </a:prstGeom>
          <a:noFill/>
        </p:spPr>
        <p:txBody>
          <a:bodyPr wrap="square" lIns="0" tIns="0" rIns="0" bIns="0" anchor="ctr"/>
          <a:lstStyle/>
          <a:p>
            <a:pPr marL="0" indent="0" algn="ctr">
              <a:buNone/>
            </a:pPr>
            <a:r>
              <a:rPr lang="de-DE" sz="2600" dirty="0">
                <a:solidFill>
                  <a:srgbClr val="55606E"/>
                </a:solidFill>
                <a:latin typeface="Trebuchet MS"/>
                <a:ea typeface="Trebuchet MS"/>
                <a:cs typeface="Trebuchet MS"/>
              </a:rPr>
              <a:t>Theorie und Analyse des Scheduler</a:t>
            </a:r>
          </a:p>
        </p:txBody>
      </p:sp>
      <p:sp>
        <p:nvSpPr>
          <p:cNvPr id="5" name="Shape 3">
            <a:extLst>
              <a:ext uri="{FF2B5EF4-FFF2-40B4-BE49-F238E27FC236}">
                <a16:creationId xmlns:a16="http://schemas.microsoft.com/office/drawing/2014/main" id="{EC14102A-537C-1A72-473F-796B7825FEF6}"/>
              </a:ext>
            </a:extLst>
          </p:cNvPr>
          <p:cNvSpPr>
            <a:spLocks noGrp="1"/>
          </p:cNvSpPr>
          <p:nvPr/>
        </p:nvSpPr>
        <p:spPr>
          <a:xfrm rot="5400000">
            <a:off x="5388343" y="5138985"/>
            <a:ext cx="1415316" cy="0"/>
          </a:xfrm>
          <a:prstGeom prst="line">
            <a:avLst/>
          </a:prstGeom>
          <a:noFill/>
          <a:ln w="28575">
            <a:solidFill>
              <a:srgbClr val="16181D"/>
            </a:solidFill>
            <a:prstDash val="solid"/>
          </a:ln>
        </p:spPr>
      </p:sp>
      <p:sp>
        <p:nvSpPr>
          <p:cNvPr id="6" name="Text 4">
            <a:extLst>
              <a:ext uri="{FF2B5EF4-FFF2-40B4-BE49-F238E27FC236}">
                <a16:creationId xmlns:a16="http://schemas.microsoft.com/office/drawing/2014/main" id="{8D13DD9F-B7F8-9528-6DDF-82DAACED2A0F}"/>
              </a:ext>
            </a:extLst>
          </p:cNvPr>
          <p:cNvSpPr>
            <a:spLocks noGrp="1"/>
          </p:cNvSpPr>
          <p:nvPr/>
        </p:nvSpPr>
        <p:spPr>
          <a:xfrm>
            <a:off x="6418170" y="4754260"/>
            <a:ext cx="2154330" cy="769448"/>
          </a:xfrm>
          <a:prstGeom prst="rect">
            <a:avLst/>
          </a:prstGeom>
          <a:noFill/>
        </p:spPr>
        <p:txBody>
          <a:bodyPr wrap="square" lIns="0" tIns="0" rIns="0" bIns="0" anchor="t"/>
          <a:lstStyle/>
          <a:p>
            <a:r>
              <a:rPr lang="de-DE" sz="1600" dirty="0">
                <a:solidFill>
                  <a:srgbClr val="55606E"/>
                </a:solidFill>
                <a:ea typeface="Calibri"/>
                <a:cs typeface="Calibri"/>
              </a:rPr>
              <a:t>IT Security</a:t>
            </a:r>
          </a:p>
          <a:p>
            <a:endParaRPr lang="de-DE" sz="1600" dirty="0">
              <a:solidFill>
                <a:srgbClr val="55606E"/>
              </a:solidFill>
              <a:ea typeface="Calibri"/>
              <a:cs typeface="Calibri"/>
            </a:endParaRPr>
          </a:p>
          <a:p>
            <a:r>
              <a:rPr lang="de-DE" sz="1600" dirty="0">
                <a:solidFill>
                  <a:srgbClr val="55606E"/>
                </a:solidFill>
                <a:ea typeface="Calibri"/>
                <a:cs typeface="Calibri"/>
              </a:rPr>
              <a:t>10. Juni 2026</a:t>
            </a:r>
          </a:p>
        </p:txBody>
      </p:sp>
      <p:sp>
        <p:nvSpPr>
          <p:cNvPr id="7" name="Text 5">
            <a:extLst>
              <a:ext uri="{FF2B5EF4-FFF2-40B4-BE49-F238E27FC236}">
                <a16:creationId xmlns:a16="http://schemas.microsoft.com/office/drawing/2014/main" id="{90A7BE38-A326-1550-979C-31AD0B5D3EE6}"/>
              </a:ext>
            </a:extLst>
          </p:cNvPr>
          <p:cNvSpPr>
            <a:spLocks noGrp="1"/>
          </p:cNvSpPr>
          <p:nvPr/>
        </p:nvSpPr>
        <p:spPr>
          <a:xfrm>
            <a:off x="3625363" y="4627867"/>
            <a:ext cx="2148469" cy="1022235"/>
          </a:xfrm>
          <a:prstGeom prst="rect">
            <a:avLst/>
          </a:prstGeom>
          <a:noFill/>
        </p:spPr>
        <p:txBody>
          <a:bodyPr wrap="square" lIns="0" tIns="0" rIns="0" bIns="0" anchor="t"/>
          <a:lstStyle/>
          <a:p>
            <a:pPr algn="r"/>
            <a:r>
              <a:rPr lang="de-DE" sz="1600" dirty="0">
                <a:solidFill>
                  <a:srgbClr val="55606E"/>
                </a:solidFill>
                <a:ea typeface="Calibri"/>
                <a:cs typeface="Calibri"/>
              </a:rPr>
              <a:t>Linus </a:t>
            </a:r>
            <a:r>
              <a:rPr lang="de-DE" sz="1600" dirty="0" err="1">
                <a:solidFill>
                  <a:srgbClr val="55606E"/>
                </a:solidFill>
                <a:ea typeface="Calibri"/>
                <a:cs typeface="Calibri"/>
              </a:rPr>
              <a:t>Paliga</a:t>
            </a:r>
            <a:endParaRPr lang="de-DE" sz="1600" dirty="0">
              <a:solidFill>
                <a:srgbClr val="55606E"/>
              </a:solidFill>
              <a:ea typeface="Calibri"/>
              <a:cs typeface="Calibri"/>
            </a:endParaRPr>
          </a:p>
          <a:p>
            <a:pPr algn="r"/>
            <a:r>
              <a:rPr sz="1600" dirty="0">
                <a:solidFill>
                  <a:srgbClr val="55606E"/>
                </a:solidFill>
                <a:ea typeface="Calibri"/>
                <a:cs typeface="Calibri"/>
              </a:rPr>
              <a:t>Arvid</a:t>
            </a:r>
            <a:r>
              <a:rPr lang="de-DE" sz="1600" dirty="0">
                <a:solidFill>
                  <a:srgbClr val="55606E"/>
                </a:solidFill>
                <a:ea typeface="Calibri"/>
                <a:cs typeface="Calibri"/>
              </a:rPr>
              <a:t> Freese</a:t>
            </a:r>
          </a:p>
          <a:p>
            <a:pPr algn="r"/>
            <a:r>
              <a:rPr lang="de-DE" sz="1600" dirty="0">
                <a:solidFill>
                  <a:srgbClr val="55606E"/>
                </a:solidFill>
                <a:ea typeface="Calibri"/>
                <a:cs typeface="Calibri"/>
              </a:rPr>
              <a:t>Raik Ole Kannenberg</a:t>
            </a:r>
          </a:p>
          <a:p>
            <a:pPr algn="r"/>
            <a:r>
              <a:rPr lang="de-DE" sz="1600" dirty="0">
                <a:solidFill>
                  <a:srgbClr val="55606E"/>
                </a:solidFill>
                <a:ea typeface="Calibri"/>
                <a:cs typeface="Calibri"/>
              </a:rPr>
              <a:t>Tom Markmann</a:t>
            </a:r>
            <a:endParaRPr sz="1600" dirty="0">
              <a:solidFill>
                <a:srgbClr val="55606E"/>
              </a:solidFill>
              <a:ea typeface="Calibri"/>
              <a:cs typeface="Calibri"/>
            </a:endParaRPr>
          </a:p>
        </p:txBody>
      </p:sp>
    </p:spTree>
    <p:extLst>
      <p:ext uri="{BB962C8B-B14F-4D97-AF65-F5344CB8AC3E}">
        <p14:creationId xmlns:p14="http://schemas.microsoft.com/office/powerpoint/2010/main" val="427317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B95CA36-7AD5-4CED-959F-F065EF9A96F2}"/>
              </a:ext>
            </a:extLst>
          </p:cNvPr>
          <p:cNvSpPr>
            <a:spLocks noGrp="1"/>
          </p:cNvSpPr>
          <p:nvPr/>
        </p:nvSpPr>
        <p:spPr>
          <a:xfrm>
            <a:off x="868680" y="1874520"/>
            <a:ext cx="7315200" cy="320040"/>
          </a:xfrm>
          <a:prstGeom prst="rect">
            <a:avLst/>
          </a:prstGeom>
          <a:noFill/>
        </p:spPr>
        <p:txBody>
          <a:bodyPr wrap="square" lIns="0" tIns="0" rIns="0" bIns="0" anchor="ctr"/>
          <a:lstStyle/>
          <a:p>
            <a:pPr marL="0" indent="0">
              <a:buNone/>
            </a:pPr>
            <a:r>
              <a:rPr sz="1200" b="1" dirty="0">
                <a:solidFill>
                  <a:srgbClr val="1463FF"/>
                </a:solidFill>
                <a:latin typeface="Calibri"/>
                <a:ea typeface="Calibri"/>
                <a:cs typeface="Calibri"/>
              </a:rPr>
              <a:t>IT SECURITY · SCHEDULER</a:t>
            </a:r>
          </a:p>
        </p:txBody>
      </p:sp>
      <p:sp>
        <p:nvSpPr>
          <p:cNvPr id="3" name="Text 1">
            <a:extLst>
              <a:ext uri="{FF2B5EF4-FFF2-40B4-BE49-F238E27FC236}">
                <a16:creationId xmlns:a16="http://schemas.microsoft.com/office/drawing/2014/main" id="{FD8DA67A-FD81-4D52-AB3E-0B0E93F9DAB5}"/>
              </a:ext>
            </a:extLst>
          </p:cNvPr>
          <p:cNvSpPr>
            <a:spLocks noGrp="1"/>
          </p:cNvSpPr>
          <p:nvPr/>
        </p:nvSpPr>
        <p:spPr>
          <a:xfrm>
            <a:off x="822960" y="2194560"/>
            <a:ext cx="10058400" cy="1463040"/>
          </a:xfrm>
          <a:prstGeom prst="rect">
            <a:avLst/>
          </a:prstGeom>
          <a:noFill/>
        </p:spPr>
        <p:txBody>
          <a:bodyPr wrap="square" lIns="0" tIns="0" rIns="0" bIns="0" anchor="ctr"/>
          <a:lstStyle/>
          <a:p>
            <a:pPr marL="0" indent="0">
              <a:buNone/>
            </a:pPr>
            <a:r>
              <a:rPr sz="11000" b="1" dirty="0">
                <a:solidFill>
                  <a:srgbClr val="16181D"/>
                </a:solidFill>
                <a:latin typeface="Trebuchet MS"/>
                <a:ea typeface="Trebuchet MS"/>
                <a:cs typeface="Trebuchet MS"/>
              </a:rPr>
              <a:t>XSS</a:t>
            </a:r>
          </a:p>
        </p:txBody>
      </p:sp>
      <p:sp>
        <p:nvSpPr>
          <p:cNvPr id="4" name="Text 2">
            <a:extLst>
              <a:ext uri="{FF2B5EF4-FFF2-40B4-BE49-F238E27FC236}">
                <a16:creationId xmlns:a16="http://schemas.microsoft.com/office/drawing/2014/main" id="{17D4FDB8-F8F0-4D96-95F0-9B90E32AF337}"/>
              </a:ext>
            </a:extLst>
          </p:cNvPr>
          <p:cNvSpPr>
            <a:spLocks noGrp="1"/>
          </p:cNvSpPr>
          <p:nvPr/>
        </p:nvSpPr>
        <p:spPr>
          <a:xfrm>
            <a:off x="868680" y="3703320"/>
            <a:ext cx="10058400" cy="502920"/>
          </a:xfrm>
          <a:prstGeom prst="rect">
            <a:avLst/>
          </a:prstGeom>
          <a:noFill/>
        </p:spPr>
        <p:txBody>
          <a:bodyPr wrap="square" lIns="0" tIns="0" rIns="0" bIns="0" anchor="ctr"/>
          <a:lstStyle/>
          <a:p>
            <a:pPr marL="0" indent="0">
              <a:buNone/>
            </a:pPr>
            <a:r>
              <a:rPr sz="2600">
                <a:solidFill>
                  <a:srgbClr val="55606E"/>
                </a:solidFill>
                <a:latin typeface="Trebuchet MS"/>
                <a:ea typeface="Trebuchet MS"/>
                <a:cs typeface="Trebuchet MS"/>
              </a:rPr>
              <a:t>Cross Site Scripting</a:t>
            </a:r>
          </a:p>
        </p:txBody>
      </p:sp>
      <p:sp>
        <p:nvSpPr>
          <p:cNvPr id="5" name="Shape 3">
            <a:extLst>
              <a:ext uri="{FF2B5EF4-FFF2-40B4-BE49-F238E27FC236}">
                <a16:creationId xmlns:a16="http://schemas.microsoft.com/office/drawing/2014/main" id="{42345276-9CC1-4302-B204-8758E42AE5A8}"/>
              </a:ext>
            </a:extLst>
          </p:cNvPr>
          <p:cNvSpPr>
            <a:spLocks noGrp="1"/>
          </p:cNvSpPr>
          <p:nvPr/>
        </p:nvSpPr>
        <p:spPr>
          <a:xfrm>
            <a:off x="868680" y="4526280"/>
            <a:ext cx="1828800" cy="0"/>
          </a:xfrm>
          <a:prstGeom prst="line">
            <a:avLst/>
          </a:prstGeom>
          <a:noFill/>
          <a:ln w="28575">
            <a:solidFill>
              <a:srgbClr val="16181D"/>
            </a:solidFill>
            <a:prstDash val="solid"/>
          </a:ln>
        </p:spPr>
      </p:sp>
      <p:sp>
        <p:nvSpPr>
          <p:cNvPr id="6" name="Text 4">
            <a:extLst>
              <a:ext uri="{FF2B5EF4-FFF2-40B4-BE49-F238E27FC236}">
                <a16:creationId xmlns:a16="http://schemas.microsoft.com/office/drawing/2014/main" id="{468481FB-4609-481A-89AB-8748CC339F06}"/>
              </a:ext>
            </a:extLst>
          </p:cNvPr>
          <p:cNvSpPr>
            <a:spLocks noGrp="1"/>
          </p:cNvSpPr>
          <p:nvPr/>
        </p:nvSpPr>
        <p:spPr>
          <a:xfrm>
            <a:off x="868680" y="4754880"/>
            <a:ext cx="8686800" cy="457200"/>
          </a:xfrm>
          <a:prstGeom prst="rect">
            <a:avLst/>
          </a:prstGeom>
          <a:noFill/>
        </p:spPr>
        <p:txBody>
          <a:bodyPr wrap="square" lIns="0" tIns="0" rIns="0" bIns="0" anchor="ctr"/>
          <a:lstStyle/>
          <a:p>
            <a:pPr marL="0" indent="0">
              <a:buNone/>
            </a:pPr>
            <a:r>
              <a:rPr sz="1600" dirty="0" err="1">
                <a:solidFill>
                  <a:srgbClr val="55606E"/>
                </a:solidFill>
                <a:latin typeface="Calibri"/>
                <a:ea typeface="Calibri"/>
                <a:cs typeface="Calibri"/>
              </a:rPr>
              <a:t>Theorie</a:t>
            </a:r>
            <a:r>
              <a:rPr sz="1600" dirty="0">
                <a:solidFill>
                  <a:srgbClr val="55606E"/>
                </a:solidFill>
                <a:latin typeface="Calibri"/>
                <a:ea typeface="Calibri"/>
                <a:cs typeface="Calibri"/>
              </a:rPr>
              <a:t>, </a:t>
            </a:r>
            <a:r>
              <a:rPr sz="1600" dirty="0" err="1">
                <a:solidFill>
                  <a:srgbClr val="55606E"/>
                </a:solidFill>
                <a:latin typeface="Calibri"/>
                <a:ea typeface="Calibri"/>
                <a:cs typeface="Calibri"/>
              </a:rPr>
              <a:t>reale</a:t>
            </a:r>
            <a:r>
              <a:rPr sz="1600" dirty="0">
                <a:solidFill>
                  <a:srgbClr val="55606E"/>
                </a:solidFill>
                <a:latin typeface="Calibri"/>
                <a:ea typeface="Calibri"/>
                <a:cs typeface="Calibri"/>
              </a:rPr>
              <a:t> </a:t>
            </a:r>
            <a:r>
              <a:rPr sz="1600" dirty="0" err="1">
                <a:solidFill>
                  <a:srgbClr val="55606E"/>
                </a:solidFill>
                <a:latin typeface="Calibri"/>
                <a:ea typeface="Calibri"/>
                <a:cs typeface="Calibri"/>
              </a:rPr>
              <a:t>Schwachstelle</a:t>
            </a:r>
            <a:r>
              <a:rPr sz="1600" dirty="0">
                <a:solidFill>
                  <a:srgbClr val="55606E"/>
                </a:solidFill>
                <a:latin typeface="Calibri"/>
                <a:ea typeface="Calibri"/>
                <a:cs typeface="Calibri"/>
              </a:rPr>
              <a:t> und Live Demo </a:t>
            </a:r>
            <a:r>
              <a:rPr sz="1600" dirty="0" err="1">
                <a:solidFill>
                  <a:srgbClr val="55606E"/>
                </a:solidFill>
                <a:latin typeface="Calibri"/>
                <a:ea typeface="Calibri"/>
                <a:cs typeface="Calibri"/>
              </a:rPr>
              <a:t>im</a:t>
            </a:r>
            <a:r>
              <a:rPr sz="1600" dirty="0">
                <a:solidFill>
                  <a:srgbClr val="55606E"/>
                </a:solidFill>
                <a:latin typeface="Calibri"/>
                <a:ea typeface="Calibri"/>
                <a:cs typeface="Calibri"/>
              </a:rPr>
              <a:t> Scheduler.</a:t>
            </a:r>
          </a:p>
        </p:txBody>
      </p:sp>
      <p:sp>
        <p:nvSpPr>
          <p:cNvPr id="7" name="Text 5">
            <a:extLst>
              <a:ext uri="{FF2B5EF4-FFF2-40B4-BE49-F238E27FC236}">
                <a16:creationId xmlns:a16="http://schemas.microsoft.com/office/drawing/2014/main" id="{94A987EA-ED23-44AA-ABC1-DB16DB020FDD}"/>
              </a:ext>
            </a:extLst>
          </p:cNvPr>
          <p:cNvSpPr>
            <a:spLocks noGrp="1"/>
          </p:cNvSpPr>
          <p:nvPr/>
        </p:nvSpPr>
        <p:spPr>
          <a:xfrm>
            <a:off x="9448495" y="6080760"/>
            <a:ext cx="1874520" cy="320040"/>
          </a:xfrm>
          <a:prstGeom prst="rect">
            <a:avLst/>
          </a:prstGeom>
          <a:noFill/>
        </p:spPr>
        <p:txBody>
          <a:bodyPr wrap="square" lIns="0" tIns="0" rIns="0" bIns="0" anchor="ctr"/>
          <a:lstStyle/>
          <a:p>
            <a:pPr marL="0" indent="0" algn="r">
              <a:buNone/>
            </a:pPr>
            <a:r>
              <a:rPr sz="1200" i="1" dirty="0" err="1">
                <a:solidFill>
                  <a:srgbClr val="9AA3AF"/>
                </a:solidFill>
                <a:latin typeface="Calibri"/>
                <a:ea typeface="Calibri"/>
                <a:cs typeface="Calibri"/>
              </a:rPr>
              <a:t>Vortrag</a:t>
            </a:r>
            <a:r>
              <a:rPr sz="1200" i="1" dirty="0">
                <a:solidFill>
                  <a:srgbClr val="9AA3AF"/>
                </a:solidFill>
                <a:latin typeface="Calibri"/>
                <a:ea typeface="Calibri"/>
                <a:cs typeface="Calibri"/>
              </a:rPr>
              <a:t>: Linus &amp; Arvid</a:t>
            </a:r>
          </a:p>
        </p:txBody>
      </p:sp>
    </p:spTree>
    <p:extLst>
      <p:ext uri="{BB962C8B-B14F-4D97-AF65-F5344CB8AC3E}">
        <p14:creationId xmlns:p14="http://schemas.microsoft.com/office/powerpoint/2010/main" val="144883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14438A8-86E6-40A6-8F29-4F1D64CC14CD}"/>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GRUNDLAGE 01</a:t>
            </a:r>
          </a:p>
        </p:txBody>
      </p:sp>
      <p:sp>
        <p:nvSpPr>
          <p:cNvPr id="4" name="Text 2">
            <a:extLst>
              <a:ext uri="{FF2B5EF4-FFF2-40B4-BE49-F238E27FC236}">
                <a16:creationId xmlns:a16="http://schemas.microsoft.com/office/drawing/2014/main" id="{8C2A5EC1-0471-4723-B1A6-5E24B15C811C}"/>
              </a:ext>
            </a:extLst>
          </p:cNvPr>
          <p:cNvSpPr>
            <a:spLocks noGrp="1"/>
          </p:cNvSpPr>
          <p:nvPr/>
        </p:nvSpPr>
        <p:spPr>
          <a:xfrm>
            <a:off x="868680" y="1600200"/>
            <a:ext cx="10424160" cy="1554480"/>
          </a:xfrm>
          <a:prstGeom prst="rect">
            <a:avLst/>
          </a:prstGeom>
          <a:noFill/>
        </p:spPr>
        <p:txBody>
          <a:bodyPr wrap="square" lIns="0" tIns="0" rIns="0" bIns="0" anchor="ctr"/>
          <a:lstStyle/>
          <a:p>
            <a:pPr marL="0" indent="0">
              <a:buNone/>
            </a:pPr>
            <a:r>
              <a:rPr sz="4800" b="1">
                <a:solidFill>
                  <a:srgbClr val="16181D"/>
                </a:solidFill>
                <a:latin typeface="Trebuchet MS"/>
                <a:ea typeface="Trebuchet MS"/>
                <a:cs typeface="Trebuchet MS"/>
              </a:rPr>
              <a:t>XSS: Aus Text wird Code</a:t>
            </a:r>
          </a:p>
        </p:txBody>
      </p:sp>
      <p:sp>
        <p:nvSpPr>
          <p:cNvPr id="5" name="Text 3">
            <a:extLst>
              <a:ext uri="{FF2B5EF4-FFF2-40B4-BE49-F238E27FC236}">
                <a16:creationId xmlns:a16="http://schemas.microsoft.com/office/drawing/2014/main" id="{05091A4B-9D74-4647-B741-E814B8C393B1}"/>
              </a:ext>
            </a:extLst>
          </p:cNvPr>
          <p:cNvSpPr>
            <a:spLocks noGrp="1"/>
          </p:cNvSpPr>
          <p:nvPr/>
        </p:nvSpPr>
        <p:spPr>
          <a:xfrm>
            <a:off x="868680" y="3337560"/>
            <a:ext cx="9875520" cy="731520"/>
          </a:xfrm>
          <a:prstGeom prst="rect">
            <a:avLst/>
          </a:prstGeom>
          <a:noFill/>
        </p:spPr>
        <p:txBody>
          <a:bodyPr wrap="square" lIns="0" tIns="0" rIns="0" bIns="0" anchor="ctr"/>
          <a:lstStyle/>
          <a:p>
            <a:pPr marL="0" indent="0">
              <a:buNone/>
            </a:pPr>
            <a:r>
              <a:rPr sz="1900">
                <a:solidFill>
                  <a:srgbClr val="55606E"/>
                </a:solidFill>
                <a:latin typeface="Calibri"/>
                <a:ea typeface="Calibri"/>
                <a:cs typeface="Calibri"/>
              </a:rPr>
              <a:t>Cross Site Scripting bedeutet, dass fremder HTML oder JavaScript Code ausgeführt wird, obwohl die Anwendung ihn nur als Nutzereingabe behandeln sollte.</a:t>
            </a:r>
          </a:p>
        </p:txBody>
      </p:sp>
      <p:sp>
        <p:nvSpPr>
          <p:cNvPr id="6" name="Shape 4">
            <a:extLst>
              <a:ext uri="{FF2B5EF4-FFF2-40B4-BE49-F238E27FC236}">
                <a16:creationId xmlns:a16="http://schemas.microsoft.com/office/drawing/2014/main" id="{463ACFA2-6607-478F-881D-1441DB8A61EA}"/>
              </a:ext>
            </a:extLst>
          </p:cNvPr>
          <p:cNvSpPr>
            <a:spLocks noGrp="1"/>
          </p:cNvSpPr>
          <p:nvPr/>
        </p:nvSpPr>
        <p:spPr>
          <a:xfrm>
            <a:off x="868680" y="4572000"/>
            <a:ext cx="10454335" cy="0"/>
          </a:xfrm>
          <a:prstGeom prst="line">
            <a:avLst/>
          </a:prstGeom>
          <a:noFill/>
          <a:ln w="12700">
            <a:solidFill>
              <a:srgbClr val="E4E7EC"/>
            </a:solidFill>
            <a:prstDash val="solid"/>
          </a:ln>
        </p:spPr>
      </p:sp>
      <p:sp>
        <p:nvSpPr>
          <p:cNvPr id="7" name="Text 5">
            <a:extLst>
              <a:ext uri="{FF2B5EF4-FFF2-40B4-BE49-F238E27FC236}">
                <a16:creationId xmlns:a16="http://schemas.microsoft.com/office/drawing/2014/main" id="{FB4026A1-996C-4904-B237-913D0AFC1C7E}"/>
              </a:ext>
            </a:extLst>
          </p:cNvPr>
          <p:cNvSpPr>
            <a:spLocks noGrp="1"/>
          </p:cNvSpPr>
          <p:nvPr/>
        </p:nvSpPr>
        <p:spPr>
          <a:xfrm>
            <a:off x="868680" y="4846320"/>
            <a:ext cx="4937760" cy="292608"/>
          </a:xfrm>
          <a:prstGeom prst="rect">
            <a:avLst/>
          </a:prstGeom>
          <a:noFill/>
        </p:spPr>
        <p:txBody>
          <a:bodyPr wrap="square" lIns="0" tIns="0" rIns="0" bIns="0" anchor="ctr"/>
          <a:lstStyle/>
          <a:p>
            <a:pPr marL="0" indent="0">
              <a:buNone/>
            </a:pPr>
            <a:r>
              <a:rPr sz="1150" b="1">
                <a:solidFill>
                  <a:srgbClr val="16181D"/>
                </a:solidFill>
                <a:latin typeface="Calibri"/>
                <a:ea typeface="Calibri"/>
                <a:cs typeface="Calibri"/>
              </a:rPr>
              <a:t>URSACHE</a:t>
            </a:r>
          </a:p>
        </p:txBody>
      </p:sp>
      <p:sp>
        <p:nvSpPr>
          <p:cNvPr id="8" name="Text 6">
            <a:extLst>
              <a:ext uri="{FF2B5EF4-FFF2-40B4-BE49-F238E27FC236}">
                <a16:creationId xmlns:a16="http://schemas.microsoft.com/office/drawing/2014/main" id="{0E4D9612-EDAB-4332-A7DB-FEFDEDC65C58}"/>
              </a:ext>
            </a:extLst>
          </p:cNvPr>
          <p:cNvSpPr>
            <a:spLocks noGrp="1"/>
          </p:cNvSpPr>
          <p:nvPr/>
        </p:nvSpPr>
        <p:spPr>
          <a:xfrm>
            <a:off x="868680" y="5212080"/>
            <a:ext cx="4754880" cy="731520"/>
          </a:xfrm>
          <a:prstGeom prst="rect">
            <a:avLst/>
          </a:prstGeom>
          <a:noFill/>
        </p:spPr>
        <p:txBody>
          <a:bodyPr wrap="square" lIns="0" tIns="0" rIns="0" bIns="0" anchor="ctr"/>
          <a:lstStyle/>
          <a:p>
            <a:pPr marL="0" indent="0">
              <a:buNone/>
            </a:pPr>
            <a:r>
              <a:rPr sz="1400" dirty="0" err="1">
                <a:solidFill>
                  <a:srgbClr val="55606E"/>
                </a:solidFill>
                <a:latin typeface="Calibri"/>
                <a:ea typeface="Calibri"/>
                <a:cs typeface="Calibri"/>
              </a:rPr>
              <a:t>Unkontrollierte</a:t>
            </a:r>
            <a:r>
              <a:rPr sz="1400" dirty="0">
                <a:solidFill>
                  <a:srgbClr val="55606E"/>
                </a:solidFill>
                <a:latin typeface="Calibri"/>
                <a:ea typeface="Calibri"/>
                <a:cs typeface="Calibri"/>
              </a:rPr>
              <a:t> Daten </a:t>
            </a:r>
            <a:r>
              <a:rPr sz="1400" dirty="0" err="1">
                <a:solidFill>
                  <a:srgbClr val="55606E"/>
                </a:solidFill>
                <a:latin typeface="Calibri"/>
                <a:ea typeface="Calibri"/>
                <a:cs typeface="Calibri"/>
              </a:rPr>
              <a:t>werden</a:t>
            </a:r>
            <a:r>
              <a:rPr sz="1400" dirty="0">
                <a:solidFill>
                  <a:srgbClr val="55606E"/>
                </a:solidFill>
                <a:latin typeface="Calibri"/>
                <a:ea typeface="Calibri"/>
                <a:cs typeface="Calibri"/>
              </a:rPr>
              <a:t> </a:t>
            </a:r>
            <a:r>
              <a:rPr sz="1400" dirty="0" err="1">
                <a:solidFill>
                  <a:srgbClr val="55606E"/>
                </a:solidFill>
                <a:latin typeface="Calibri"/>
                <a:ea typeface="Calibri"/>
                <a:cs typeface="Calibri"/>
              </a:rPr>
              <a:t>als</a:t>
            </a:r>
            <a:r>
              <a:rPr sz="1400" dirty="0">
                <a:solidFill>
                  <a:srgbClr val="55606E"/>
                </a:solidFill>
                <a:latin typeface="Calibri"/>
                <a:ea typeface="Calibri"/>
                <a:cs typeface="Calibri"/>
              </a:rPr>
              <a:t> HTML </a:t>
            </a:r>
            <a:r>
              <a:rPr sz="1400" dirty="0" err="1">
                <a:solidFill>
                  <a:srgbClr val="55606E"/>
                </a:solidFill>
                <a:latin typeface="Calibri"/>
                <a:ea typeface="Calibri"/>
                <a:cs typeface="Calibri"/>
              </a:rPr>
              <a:t>interpretiert</a:t>
            </a:r>
            <a:r>
              <a:rPr sz="1400" dirty="0">
                <a:solidFill>
                  <a:srgbClr val="55606E"/>
                </a:solidFill>
                <a:latin typeface="Calibri"/>
                <a:ea typeface="Calibri"/>
                <a:cs typeface="Calibri"/>
              </a:rPr>
              <a:t> </a:t>
            </a:r>
            <a:r>
              <a:rPr sz="1400" dirty="0" err="1">
                <a:solidFill>
                  <a:srgbClr val="55606E"/>
                </a:solidFill>
                <a:latin typeface="Calibri"/>
                <a:ea typeface="Calibri"/>
                <a:cs typeface="Calibri"/>
              </a:rPr>
              <a:t>statt</a:t>
            </a:r>
            <a:r>
              <a:rPr sz="1400" dirty="0">
                <a:solidFill>
                  <a:srgbClr val="55606E"/>
                </a:solidFill>
                <a:latin typeface="Calibri"/>
                <a:ea typeface="Calibri"/>
                <a:cs typeface="Calibri"/>
              </a:rPr>
              <a:t> </a:t>
            </a:r>
            <a:r>
              <a:rPr sz="1400" dirty="0" err="1">
                <a:solidFill>
                  <a:srgbClr val="55606E"/>
                </a:solidFill>
                <a:latin typeface="Calibri"/>
                <a:ea typeface="Calibri"/>
                <a:cs typeface="Calibri"/>
              </a:rPr>
              <a:t>als</a:t>
            </a:r>
            <a:r>
              <a:rPr sz="1400" dirty="0">
                <a:solidFill>
                  <a:srgbClr val="55606E"/>
                </a:solidFill>
                <a:latin typeface="Calibri"/>
                <a:ea typeface="Calibri"/>
                <a:cs typeface="Calibri"/>
              </a:rPr>
              <a:t> Text </a:t>
            </a:r>
            <a:r>
              <a:rPr sz="1400" dirty="0" err="1">
                <a:solidFill>
                  <a:srgbClr val="55606E"/>
                </a:solidFill>
                <a:latin typeface="Calibri"/>
                <a:ea typeface="Calibri"/>
                <a:cs typeface="Calibri"/>
              </a:rPr>
              <a:t>ausgegeben</a:t>
            </a:r>
            <a:r>
              <a:rPr sz="1400" dirty="0">
                <a:solidFill>
                  <a:srgbClr val="55606E"/>
                </a:solidFill>
                <a:latin typeface="Calibri"/>
                <a:ea typeface="Calibri"/>
                <a:cs typeface="Calibri"/>
              </a:rPr>
              <a:t>.</a:t>
            </a:r>
          </a:p>
        </p:txBody>
      </p:sp>
      <p:sp>
        <p:nvSpPr>
          <p:cNvPr id="9" name="Shape 7">
            <a:extLst>
              <a:ext uri="{FF2B5EF4-FFF2-40B4-BE49-F238E27FC236}">
                <a16:creationId xmlns:a16="http://schemas.microsoft.com/office/drawing/2014/main" id="{8710A285-2F57-4A43-B787-63EB729D85F5}"/>
              </a:ext>
            </a:extLst>
          </p:cNvPr>
          <p:cNvSpPr>
            <a:spLocks noGrp="1"/>
          </p:cNvSpPr>
          <p:nvPr/>
        </p:nvSpPr>
        <p:spPr>
          <a:xfrm>
            <a:off x="6172200" y="4864608"/>
            <a:ext cx="0" cy="914400"/>
          </a:xfrm>
          <a:prstGeom prst="line">
            <a:avLst/>
          </a:prstGeom>
          <a:noFill/>
          <a:ln w="12700">
            <a:solidFill>
              <a:srgbClr val="E4E7EC"/>
            </a:solidFill>
            <a:prstDash val="solid"/>
          </a:ln>
        </p:spPr>
      </p:sp>
      <p:sp>
        <p:nvSpPr>
          <p:cNvPr id="10" name="Text 8">
            <a:extLst>
              <a:ext uri="{FF2B5EF4-FFF2-40B4-BE49-F238E27FC236}">
                <a16:creationId xmlns:a16="http://schemas.microsoft.com/office/drawing/2014/main" id="{E1DC6AC7-F546-4546-BB72-38525E3A8824}"/>
              </a:ext>
            </a:extLst>
          </p:cNvPr>
          <p:cNvSpPr>
            <a:spLocks noGrp="1"/>
          </p:cNvSpPr>
          <p:nvPr/>
        </p:nvSpPr>
        <p:spPr>
          <a:xfrm>
            <a:off x="6446520" y="4846320"/>
            <a:ext cx="4937760" cy="292608"/>
          </a:xfrm>
          <a:prstGeom prst="rect">
            <a:avLst/>
          </a:prstGeom>
          <a:noFill/>
        </p:spPr>
        <p:txBody>
          <a:bodyPr wrap="square" lIns="0" tIns="0" rIns="0" bIns="0" anchor="ctr"/>
          <a:lstStyle/>
          <a:p>
            <a:pPr marL="0" indent="0">
              <a:buNone/>
            </a:pPr>
            <a:r>
              <a:rPr sz="1150" b="1">
                <a:solidFill>
                  <a:srgbClr val="16181D"/>
                </a:solidFill>
                <a:latin typeface="Calibri"/>
                <a:ea typeface="Calibri"/>
                <a:cs typeface="Calibri"/>
              </a:rPr>
              <a:t>WIRKUNG</a:t>
            </a:r>
          </a:p>
        </p:txBody>
      </p:sp>
      <p:sp>
        <p:nvSpPr>
          <p:cNvPr id="11" name="Text 9">
            <a:extLst>
              <a:ext uri="{FF2B5EF4-FFF2-40B4-BE49-F238E27FC236}">
                <a16:creationId xmlns:a16="http://schemas.microsoft.com/office/drawing/2014/main" id="{7DFA6E6B-4509-4421-BFE8-F8AFF7228670}"/>
              </a:ext>
            </a:extLst>
          </p:cNvPr>
          <p:cNvSpPr>
            <a:spLocks noGrp="1"/>
          </p:cNvSpPr>
          <p:nvPr/>
        </p:nvSpPr>
        <p:spPr>
          <a:xfrm>
            <a:off x="6446520" y="5212080"/>
            <a:ext cx="4754880" cy="73152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Der Code läuft im vertrauenswürdigen Browserkontext der echten Anwendung.</a:t>
            </a:r>
          </a:p>
        </p:txBody>
      </p:sp>
      <p:sp>
        <p:nvSpPr>
          <p:cNvPr id="12" name="Text 1">
            <a:extLst>
              <a:ext uri="{FF2B5EF4-FFF2-40B4-BE49-F238E27FC236}">
                <a16:creationId xmlns:a16="http://schemas.microsoft.com/office/drawing/2014/main" id="{9E9017EA-4717-D9BD-92D9-CFE7983948E8}"/>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r>
              <a:rPr lang="en-US" sz="1050" b="1" kern="0" spc="100" dirty="0">
                <a:solidFill>
                  <a:srgbClr val="9AA3AF"/>
                </a:solidFill>
                <a:latin typeface="Calibri" pitchFamily="34" charset="0"/>
                <a:ea typeface="Calibri" pitchFamily="34" charset="-122"/>
                <a:cs typeface="Calibri" pitchFamily="34" charset="-120"/>
              </a:rPr>
              <a:t>0</a:t>
            </a: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3</a:t>
            </a:fld>
            <a:endParaRPr lang="en-US" sz="1050" dirty="0"/>
          </a:p>
        </p:txBody>
      </p:sp>
    </p:spTree>
    <p:extLst>
      <p:ext uri="{BB962C8B-B14F-4D97-AF65-F5344CB8AC3E}">
        <p14:creationId xmlns:p14="http://schemas.microsoft.com/office/powerpoint/2010/main" val="1572903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05B925-20F2-478D-ABE4-CF63D19317D7}"/>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GRUNDLAGE 02</a:t>
            </a:r>
          </a:p>
        </p:txBody>
      </p:sp>
      <p:sp>
        <p:nvSpPr>
          <p:cNvPr id="4" name="Text 2">
            <a:extLst>
              <a:ext uri="{FF2B5EF4-FFF2-40B4-BE49-F238E27FC236}">
                <a16:creationId xmlns:a16="http://schemas.microsoft.com/office/drawing/2014/main" id="{0CA56D71-8EDE-4C16-B422-C390CBED320E}"/>
              </a:ext>
            </a:extLst>
          </p:cNvPr>
          <p:cNvSpPr>
            <a:spLocks noGrp="1"/>
          </p:cNvSpPr>
          <p:nvPr/>
        </p:nvSpPr>
        <p:spPr>
          <a:xfrm>
            <a:off x="868680" y="1051560"/>
            <a:ext cx="10058400" cy="777240"/>
          </a:xfrm>
          <a:prstGeom prst="rect">
            <a:avLst/>
          </a:prstGeom>
          <a:noFill/>
        </p:spPr>
        <p:txBody>
          <a:bodyPr wrap="square" lIns="0" tIns="0" rIns="0" bIns="0" anchor="ctr"/>
          <a:lstStyle/>
          <a:p>
            <a:pPr marL="0" indent="0">
              <a:buNone/>
            </a:pPr>
            <a:r>
              <a:rPr sz="4000" b="1">
                <a:solidFill>
                  <a:srgbClr val="16181D"/>
                </a:solidFill>
                <a:latin typeface="Trebuchet MS"/>
                <a:ea typeface="Trebuchet MS"/>
                <a:cs typeface="Trebuchet MS"/>
              </a:rPr>
              <a:t>Drei Arten von XSS</a:t>
            </a:r>
          </a:p>
        </p:txBody>
      </p:sp>
      <p:sp>
        <p:nvSpPr>
          <p:cNvPr id="5" name="Text 3">
            <a:extLst>
              <a:ext uri="{FF2B5EF4-FFF2-40B4-BE49-F238E27FC236}">
                <a16:creationId xmlns:a16="http://schemas.microsoft.com/office/drawing/2014/main" id="{1D91B4D8-43A2-49F5-AE0D-56AA8530603C}"/>
              </a:ext>
            </a:extLst>
          </p:cNvPr>
          <p:cNvSpPr>
            <a:spLocks noGrp="1"/>
          </p:cNvSpPr>
          <p:nvPr/>
        </p:nvSpPr>
        <p:spPr>
          <a:xfrm>
            <a:off x="868680" y="1920240"/>
            <a:ext cx="8778240" cy="640080"/>
          </a:xfrm>
          <a:prstGeom prst="rect">
            <a:avLst/>
          </a:prstGeom>
          <a:noFill/>
        </p:spPr>
        <p:txBody>
          <a:bodyPr wrap="square" lIns="0" tIns="0" rIns="0" bIns="0" anchor="ctr"/>
          <a:lstStyle/>
          <a:p>
            <a:pPr marL="0" indent="0">
              <a:buNone/>
            </a:pPr>
            <a:r>
              <a:rPr sz="1700">
                <a:solidFill>
                  <a:srgbClr val="55606E"/>
                </a:solidFill>
                <a:latin typeface="Calibri"/>
                <a:ea typeface="Calibri"/>
                <a:cs typeface="Calibri"/>
              </a:rPr>
              <a:t>Sie unterscheiden sich durch die Herkunft des Payloads und den Zeitpunkt der Ausführung.</a:t>
            </a:r>
          </a:p>
        </p:txBody>
      </p:sp>
      <p:sp>
        <p:nvSpPr>
          <p:cNvPr id="6" name="Text 4">
            <a:extLst>
              <a:ext uri="{FF2B5EF4-FFF2-40B4-BE49-F238E27FC236}">
                <a16:creationId xmlns:a16="http://schemas.microsoft.com/office/drawing/2014/main" id="{3BD51F4C-3C9E-470A-8612-D1DD25BD43BE}"/>
              </a:ext>
            </a:extLst>
          </p:cNvPr>
          <p:cNvSpPr>
            <a:spLocks noGrp="1"/>
          </p:cNvSpPr>
          <p:nvPr/>
        </p:nvSpPr>
        <p:spPr>
          <a:xfrm>
            <a:off x="868680" y="3063240"/>
            <a:ext cx="7315200" cy="274320"/>
          </a:xfrm>
          <a:prstGeom prst="rect">
            <a:avLst/>
          </a:prstGeom>
          <a:noFill/>
        </p:spPr>
        <p:txBody>
          <a:bodyPr wrap="square" lIns="0" tIns="0" rIns="0" bIns="0" anchor="ctr"/>
          <a:lstStyle/>
          <a:p>
            <a:pPr marL="0" indent="0">
              <a:buNone/>
            </a:pPr>
            <a:r>
              <a:rPr sz="1100" b="1">
                <a:solidFill>
                  <a:srgbClr val="9AA3AF"/>
                </a:solidFill>
                <a:latin typeface="Calibri"/>
                <a:ea typeface="Calibri"/>
                <a:cs typeface="Calibri"/>
              </a:rPr>
              <a:t>DIE DREI ARTEN</a:t>
            </a:r>
          </a:p>
        </p:txBody>
      </p:sp>
      <p:sp>
        <p:nvSpPr>
          <p:cNvPr id="7" name="Text 5">
            <a:extLst>
              <a:ext uri="{FF2B5EF4-FFF2-40B4-BE49-F238E27FC236}">
                <a16:creationId xmlns:a16="http://schemas.microsoft.com/office/drawing/2014/main" id="{1E658AE0-E6C3-4D3C-9055-289C7B506ACA}"/>
              </a:ext>
            </a:extLst>
          </p:cNvPr>
          <p:cNvSpPr>
            <a:spLocks noGrp="1"/>
          </p:cNvSpPr>
          <p:nvPr/>
        </p:nvSpPr>
        <p:spPr>
          <a:xfrm>
            <a:off x="868680" y="3474720"/>
            <a:ext cx="2926080" cy="320040"/>
          </a:xfrm>
          <a:prstGeom prst="rect">
            <a:avLst/>
          </a:prstGeom>
          <a:noFill/>
        </p:spPr>
        <p:txBody>
          <a:bodyPr wrap="square" lIns="0" tIns="0" rIns="0" bIns="0" anchor="ctr"/>
          <a:lstStyle/>
          <a:p>
            <a:pPr marL="0" indent="0">
              <a:buNone/>
            </a:pPr>
            <a:r>
              <a:rPr sz="1300">
                <a:solidFill>
                  <a:srgbClr val="9AA3AF"/>
                </a:solidFill>
                <a:latin typeface="Calibri"/>
                <a:ea typeface="Calibri"/>
                <a:cs typeface="Calibri"/>
              </a:rPr>
              <a:t>Stored XSS</a:t>
            </a:r>
          </a:p>
        </p:txBody>
      </p:sp>
      <p:sp>
        <p:nvSpPr>
          <p:cNvPr id="8" name="Text 6">
            <a:extLst>
              <a:ext uri="{FF2B5EF4-FFF2-40B4-BE49-F238E27FC236}">
                <a16:creationId xmlns:a16="http://schemas.microsoft.com/office/drawing/2014/main" id="{8BE5973D-4652-483C-9A38-77E49817E2B9}"/>
              </a:ext>
            </a:extLst>
          </p:cNvPr>
          <p:cNvSpPr>
            <a:spLocks noGrp="1"/>
          </p:cNvSpPr>
          <p:nvPr/>
        </p:nvSpPr>
        <p:spPr>
          <a:xfrm>
            <a:off x="868680" y="3767328"/>
            <a:ext cx="2926080" cy="548640"/>
          </a:xfrm>
          <a:prstGeom prst="rect">
            <a:avLst/>
          </a:prstGeom>
          <a:noFill/>
        </p:spPr>
        <p:txBody>
          <a:bodyPr wrap="square" lIns="0" tIns="0" rIns="0" bIns="0" anchor="ctr"/>
          <a:lstStyle/>
          <a:p>
            <a:pPr marL="0" indent="0">
              <a:buNone/>
            </a:pPr>
            <a:r>
              <a:rPr sz="3000" b="1">
                <a:solidFill>
                  <a:srgbClr val="16181D"/>
                </a:solidFill>
                <a:latin typeface="Consolas"/>
                <a:ea typeface="Consolas"/>
                <a:cs typeface="Consolas"/>
              </a:rPr>
              <a:t>gespeichert</a:t>
            </a:r>
          </a:p>
        </p:txBody>
      </p:sp>
      <p:sp>
        <p:nvSpPr>
          <p:cNvPr id="9" name="Shape 7">
            <a:extLst>
              <a:ext uri="{FF2B5EF4-FFF2-40B4-BE49-F238E27FC236}">
                <a16:creationId xmlns:a16="http://schemas.microsoft.com/office/drawing/2014/main" id="{5897FD2B-C080-4C86-8BD0-C9131E2B7687}"/>
              </a:ext>
            </a:extLst>
          </p:cNvPr>
          <p:cNvSpPr>
            <a:spLocks noGrp="1"/>
          </p:cNvSpPr>
          <p:nvPr/>
        </p:nvSpPr>
        <p:spPr>
          <a:xfrm>
            <a:off x="3749040" y="3520440"/>
            <a:ext cx="0" cy="685800"/>
          </a:xfrm>
          <a:prstGeom prst="line">
            <a:avLst/>
          </a:prstGeom>
          <a:noFill/>
          <a:ln w="12700">
            <a:solidFill>
              <a:srgbClr val="E4E7EC"/>
            </a:solidFill>
            <a:prstDash val="solid"/>
          </a:ln>
        </p:spPr>
      </p:sp>
      <p:sp>
        <p:nvSpPr>
          <p:cNvPr id="10" name="Text 8">
            <a:extLst>
              <a:ext uri="{FF2B5EF4-FFF2-40B4-BE49-F238E27FC236}">
                <a16:creationId xmlns:a16="http://schemas.microsoft.com/office/drawing/2014/main" id="{1C6B439C-F782-4D6A-AF21-F5220AB8EE5F}"/>
              </a:ext>
            </a:extLst>
          </p:cNvPr>
          <p:cNvSpPr>
            <a:spLocks noGrp="1"/>
          </p:cNvSpPr>
          <p:nvPr/>
        </p:nvSpPr>
        <p:spPr>
          <a:xfrm>
            <a:off x="3794760" y="3474720"/>
            <a:ext cx="2926080" cy="320040"/>
          </a:xfrm>
          <a:prstGeom prst="rect">
            <a:avLst/>
          </a:prstGeom>
          <a:noFill/>
        </p:spPr>
        <p:txBody>
          <a:bodyPr wrap="square" lIns="0" tIns="0" rIns="0" bIns="0" anchor="ctr"/>
          <a:lstStyle/>
          <a:p>
            <a:pPr marL="0" indent="0">
              <a:buNone/>
            </a:pPr>
            <a:r>
              <a:rPr sz="1300">
                <a:solidFill>
                  <a:srgbClr val="9AA3AF"/>
                </a:solidFill>
                <a:latin typeface="Calibri"/>
                <a:ea typeface="Calibri"/>
                <a:cs typeface="Calibri"/>
              </a:rPr>
              <a:t>Reflected XSS</a:t>
            </a:r>
          </a:p>
        </p:txBody>
      </p:sp>
      <p:sp>
        <p:nvSpPr>
          <p:cNvPr id="11" name="Text 9">
            <a:extLst>
              <a:ext uri="{FF2B5EF4-FFF2-40B4-BE49-F238E27FC236}">
                <a16:creationId xmlns:a16="http://schemas.microsoft.com/office/drawing/2014/main" id="{4E871371-98BF-442E-8AEB-FBEC23F7C643}"/>
              </a:ext>
            </a:extLst>
          </p:cNvPr>
          <p:cNvSpPr>
            <a:spLocks noGrp="1"/>
          </p:cNvSpPr>
          <p:nvPr/>
        </p:nvSpPr>
        <p:spPr>
          <a:xfrm>
            <a:off x="3794760" y="3767328"/>
            <a:ext cx="2926080" cy="548640"/>
          </a:xfrm>
          <a:prstGeom prst="rect">
            <a:avLst/>
          </a:prstGeom>
          <a:noFill/>
        </p:spPr>
        <p:txBody>
          <a:bodyPr wrap="square" lIns="0" tIns="0" rIns="0" bIns="0" anchor="ctr"/>
          <a:lstStyle/>
          <a:p>
            <a:pPr marL="0" indent="0">
              <a:buNone/>
            </a:pPr>
            <a:r>
              <a:rPr sz="3000" b="1">
                <a:solidFill>
                  <a:srgbClr val="16181D"/>
                </a:solidFill>
                <a:latin typeface="Consolas"/>
                <a:ea typeface="Consolas"/>
                <a:cs typeface="Consolas"/>
              </a:rPr>
              <a:t>Anfrage</a:t>
            </a:r>
          </a:p>
        </p:txBody>
      </p:sp>
      <p:sp>
        <p:nvSpPr>
          <p:cNvPr id="12" name="Shape 10">
            <a:extLst>
              <a:ext uri="{FF2B5EF4-FFF2-40B4-BE49-F238E27FC236}">
                <a16:creationId xmlns:a16="http://schemas.microsoft.com/office/drawing/2014/main" id="{29DBA76E-8A52-42F1-99E2-7A9F945E74BC}"/>
              </a:ext>
            </a:extLst>
          </p:cNvPr>
          <p:cNvSpPr>
            <a:spLocks noGrp="1"/>
          </p:cNvSpPr>
          <p:nvPr/>
        </p:nvSpPr>
        <p:spPr>
          <a:xfrm>
            <a:off x="6675120" y="3520440"/>
            <a:ext cx="0" cy="685800"/>
          </a:xfrm>
          <a:prstGeom prst="line">
            <a:avLst/>
          </a:prstGeom>
          <a:noFill/>
          <a:ln w="12700">
            <a:solidFill>
              <a:srgbClr val="E4E7EC"/>
            </a:solidFill>
            <a:prstDash val="solid"/>
          </a:ln>
        </p:spPr>
      </p:sp>
      <p:sp>
        <p:nvSpPr>
          <p:cNvPr id="13" name="Text 11">
            <a:extLst>
              <a:ext uri="{FF2B5EF4-FFF2-40B4-BE49-F238E27FC236}">
                <a16:creationId xmlns:a16="http://schemas.microsoft.com/office/drawing/2014/main" id="{93CBA382-695B-4C33-9819-3235851281A7}"/>
              </a:ext>
            </a:extLst>
          </p:cNvPr>
          <p:cNvSpPr>
            <a:spLocks noGrp="1"/>
          </p:cNvSpPr>
          <p:nvPr/>
        </p:nvSpPr>
        <p:spPr>
          <a:xfrm>
            <a:off x="6720840" y="3474720"/>
            <a:ext cx="2926080" cy="320040"/>
          </a:xfrm>
          <a:prstGeom prst="rect">
            <a:avLst/>
          </a:prstGeom>
          <a:noFill/>
        </p:spPr>
        <p:txBody>
          <a:bodyPr wrap="square" lIns="0" tIns="0" rIns="0" bIns="0" anchor="ctr"/>
          <a:lstStyle/>
          <a:p>
            <a:pPr marL="0" indent="0">
              <a:buNone/>
            </a:pPr>
            <a:r>
              <a:rPr sz="1300">
                <a:solidFill>
                  <a:srgbClr val="9AA3AF"/>
                </a:solidFill>
                <a:latin typeface="Calibri"/>
                <a:ea typeface="Calibri"/>
                <a:cs typeface="Calibri"/>
              </a:rPr>
              <a:t>DOM XSS</a:t>
            </a:r>
          </a:p>
        </p:txBody>
      </p:sp>
      <p:sp>
        <p:nvSpPr>
          <p:cNvPr id="14" name="Text 12">
            <a:extLst>
              <a:ext uri="{FF2B5EF4-FFF2-40B4-BE49-F238E27FC236}">
                <a16:creationId xmlns:a16="http://schemas.microsoft.com/office/drawing/2014/main" id="{D0A4CDE0-7F8C-421C-8867-6C2C3172BEAD}"/>
              </a:ext>
            </a:extLst>
          </p:cNvPr>
          <p:cNvSpPr>
            <a:spLocks noGrp="1"/>
          </p:cNvSpPr>
          <p:nvPr/>
        </p:nvSpPr>
        <p:spPr>
          <a:xfrm>
            <a:off x="6720840" y="3767328"/>
            <a:ext cx="2926080" cy="548640"/>
          </a:xfrm>
          <a:prstGeom prst="rect">
            <a:avLst/>
          </a:prstGeom>
          <a:noFill/>
        </p:spPr>
        <p:txBody>
          <a:bodyPr wrap="square" lIns="0" tIns="0" rIns="0" bIns="0" anchor="ctr"/>
          <a:lstStyle/>
          <a:p>
            <a:pPr marL="0" indent="0">
              <a:buNone/>
            </a:pPr>
            <a:r>
              <a:rPr sz="3000" b="1">
                <a:solidFill>
                  <a:srgbClr val="16181D"/>
                </a:solidFill>
                <a:latin typeface="Consolas"/>
                <a:ea typeface="Consolas"/>
                <a:cs typeface="Consolas"/>
              </a:rPr>
              <a:t>Browser</a:t>
            </a:r>
          </a:p>
        </p:txBody>
      </p:sp>
      <p:sp>
        <p:nvSpPr>
          <p:cNvPr id="15" name="Shape 13">
            <a:extLst>
              <a:ext uri="{FF2B5EF4-FFF2-40B4-BE49-F238E27FC236}">
                <a16:creationId xmlns:a16="http://schemas.microsoft.com/office/drawing/2014/main" id="{791309A0-BCB1-40B3-9663-F2F2BFB1CFA9}"/>
              </a:ext>
            </a:extLst>
          </p:cNvPr>
          <p:cNvSpPr>
            <a:spLocks noGrp="1"/>
          </p:cNvSpPr>
          <p:nvPr/>
        </p:nvSpPr>
        <p:spPr>
          <a:xfrm>
            <a:off x="868680" y="4892040"/>
            <a:ext cx="10454335" cy="0"/>
          </a:xfrm>
          <a:prstGeom prst="line">
            <a:avLst/>
          </a:prstGeom>
          <a:noFill/>
          <a:ln w="12700">
            <a:solidFill>
              <a:srgbClr val="E4E7EC"/>
            </a:solidFill>
            <a:prstDash val="solid"/>
          </a:ln>
        </p:spPr>
      </p:sp>
      <p:sp>
        <p:nvSpPr>
          <p:cNvPr id="16" name="Text 14">
            <a:extLst>
              <a:ext uri="{FF2B5EF4-FFF2-40B4-BE49-F238E27FC236}">
                <a16:creationId xmlns:a16="http://schemas.microsoft.com/office/drawing/2014/main" id="{F30095E8-2148-4819-914E-700293DA5DF9}"/>
              </a:ext>
            </a:extLst>
          </p:cNvPr>
          <p:cNvSpPr>
            <a:spLocks noGrp="1"/>
          </p:cNvSpPr>
          <p:nvPr/>
        </p:nvSpPr>
        <p:spPr>
          <a:xfrm>
            <a:off x="868680" y="5166360"/>
            <a:ext cx="10058400" cy="365760"/>
          </a:xfrm>
          <a:prstGeom prst="rect">
            <a:avLst/>
          </a:prstGeom>
          <a:noFill/>
        </p:spPr>
        <p:txBody>
          <a:bodyPr wrap="square" lIns="0" tIns="0" rIns="0" bIns="0" anchor="ctr"/>
          <a:lstStyle/>
          <a:p>
            <a:pPr marL="0" indent="0">
              <a:buNone/>
            </a:pPr>
            <a:r>
              <a:rPr sz="1900" b="1">
                <a:solidFill>
                  <a:srgbClr val="16181D"/>
                </a:solidFill>
                <a:latin typeface="Trebuchet MS"/>
                <a:ea typeface="Trebuchet MS"/>
                <a:cs typeface="Trebuchet MS"/>
              </a:rPr>
              <a:t>FOKUS UNSERER DEMO</a:t>
            </a:r>
          </a:p>
        </p:txBody>
      </p:sp>
      <p:sp>
        <p:nvSpPr>
          <p:cNvPr id="17" name="Text 15">
            <a:extLst>
              <a:ext uri="{FF2B5EF4-FFF2-40B4-BE49-F238E27FC236}">
                <a16:creationId xmlns:a16="http://schemas.microsoft.com/office/drawing/2014/main" id="{48721FF5-1478-4637-84E6-D34829A54E91}"/>
              </a:ext>
            </a:extLst>
          </p:cNvPr>
          <p:cNvSpPr>
            <a:spLocks noGrp="1"/>
          </p:cNvSpPr>
          <p:nvPr/>
        </p:nvSpPr>
        <p:spPr>
          <a:xfrm>
            <a:off x="868680" y="5669280"/>
            <a:ext cx="10058400" cy="457200"/>
          </a:xfrm>
          <a:prstGeom prst="rect">
            <a:avLst/>
          </a:prstGeom>
          <a:noFill/>
        </p:spPr>
        <p:txBody>
          <a:bodyPr wrap="square" lIns="0" tIns="0" rIns="0" bIns="0" anchor="ctr"/>
          <a:lstStyle/>
          <a:p>
            <a:pPr marL="0" indent="0">
              <a:buNone/>
            </a:pPr>
            <a:r>
              <a:rPr sz="1800" b="1">
                <a:solidFill>
                  <a:srgbClr val="16181D"/>
                </a:solidFill>
                <a:latin typeface="Consolas"/>
                <a:ea typeface="Consolas"/>
                <a:cs typeface="Consolas"/>
              </a:rPr>
              <a:t>Stored DOM XSS: Gespeicherte Scheduler Daten werden durch die Kalenderbibliothek als HTML gerendert.</a:t>
            </a:r>
          </a:p>
        </p:txBody>
      </p:sp>
      <p:sp>
        <p:nvSpPr>
          <p:cNvPr id="18" name="Text 1">
            <a:extLst>
              <a:ext uri="{FF2B5EF4-FFF2-40B4-BE49-F238E27FC236}">
                <a16:creationId xmlns:a16="http://schemas.microsoft.com/office/drawing/2014/main" id="{1CBD98DA-A7EE-9695-EA78-D1E20FEADF23}"/>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r>
              <a:rPr lang="en-US" sz="1050" b="1" kern="0" spc="100" dirty="0">
                <a:solidFill>
                  <a:srgbClr val="9AA3AF"/>
                </a:solidFill>
                <a:latin typeface="Calibri" pitchFamily="34" charset="0"/>
                <a:ea typeface="Calibri" pitchFamily="34" charset="-122"/>
                <a:cs typeface="Calibri" pitchFamily="34" charset="-120"/>
              </a:rPr>
              <a:t>0</a:t>
            </a: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4</a:t>
            </a:fld>
            <a:endParaRPr lang="en-US" sz="1050" dirty="0"/>
          </a:p>
        </p:txBody>
      </p:sp>
    </p:spTree>
    <p:extLst>
      <p:ext uri="{BB962C8B-B14F-4D97-AF65-F5344CB8AC3E}">
        <p14:creationId xmlns:p14="http://schemas.microsoft.com/office/powerpoint/2010/main" val="66136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0022C8-D9AA-4F49-BC42-2B1F2337DAD7}"/>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GRUNDLAGE 03</a:t>
            </a:r>
          </a:p>
        </p:txBody>
      </p:sp>
      <p:sp>
        <p:nvSpPr>
          <p:cNvPr id="4" name="Text 2">
            <a:extLst>
              <a:ext uri="{FF2B5EF4-FFF2-40B4-BE49-F238E27FC236}">
                <a16:creationId xmlns:a16="http://schemas.microsoft.com/office/drawing/2014/main" id="{5A721529-E6AD-4D51-8A7D-4F2EBE4C9E7C}"/>
              </a:ext>
            </a:extLst>
          </p:cNvPr>
          <p:cNvSpPr>
            <a:spLocks noGrp="1"/>
          </p:cNvSpPr>
          <p:nvPr/>
        </p:nvSpPr>
        <p:spPr>
          <a:xfrm>
            <a:off x="868680" y="1051560"/>
            <a:ext cx="10424160" cy="777240"/>
          </a:xfrm>
          <a:prstGeom prst="rect">
            <a:avLst/>
          </a:prstGeom>
          <a:noFill/>
        </p:spPr>
        <p:txBody>
          <a:bodyPr wrap="square" lIns="0" tIns="0" rIns="0" bIns="0" anchor="ctr"/>
          <a:lstStyle/>
          <a:p>
            <a:pPr marL="0" indent="0">
              <a:buNone/>
            </a:pPr>
            <a:r>
              <a:rPr sz="4000" b="1">
                <a:solidFill>
                  <a:srgbClr val="16181D"/>
                </a:solidFill>
                <a:latin typeface="Trebuchet MS"/>
                <a:ea typeface="Trebuchet MS"/>
                <a:cs typeface="Trebuchet MS"/>
              </a:rPr>
              <a:t>Unsichere Senke trifft Nutzerdaten</a:t>
            </a:r>
          </a:p>
        </p:txBody>
      </p:sp>
      <p:sp>
        <p:nvSpPr>
          <p:cNvPr id="5" name="Text 3">
            <a:extLst>
              <a:ext uri="{FF2B5EF4-FFF2-40B4-BE49-F238E27FC236}">
                <a16:creationId xmlns:a16="http://schemas.microsoft.com/office/drawing/2014/main" id="{DA3294EB-5FC9-4DBE-9954-022CB814A373}"/>
              </a:ext>
            </a:extLst>
          </p:cNvPr>
          <p:cNvSpPr>
            <a:spLocks noGrp="1"/>
          </p:cNvSpPr>
          <p:nvPr/>
        </p:nvSpPr>
        <p:spPr>
          <a:xfrm>
            <a:off x="868680" y="1920240"/>
            <a:ext cx="10332720" cy="640080"/>
          </a:xfrm>
          <a:prstGeom prst="rect">
            <a:avLst/>
          </a:prstGeom>
          <a:noFill/>
        </p:spPr>
        <p:txBody>
          <a:bodyPr wrap="square" lIns="0" tIns="0" rIns="0" bIns="0" anchor="ctr"/>
          <a:lstStyle/>
          <a:p>
            <a:pPr marL="0" indent="0">
              <a:buNone/>
            </a:pPr>
            <a:r>
              <a:rPr sz="1700">
                <a:solidFill>
                  <a:srgbClr val="55606E"/>
                </a:solidFill>
                <a:latin typeface="Calibri"/>
                <a:ea typeface="Calibri"/>
                <a:cs typeface="Calibri"/>
              </a:rPr>
              <a:t>XSS entsteht, wenn ein kontrollierbarer Wert eine Ausgabestelle erreicht, die HTML interpretiert.</a:t>
            </a:r>
          </a:p>
        </p:txBody>
      </p:sp>
      <p:sp>
        <p:nvSpPr>
          <p:cNvPr id="6" name="Shape 4">
            <a:extLst>
              <a:ext uri="{FF2B5EF4-FFF2-40B4-BE49-F238E27FC236}">
                <a16:creationId xmlns:a16="http://schemas.microsoft.com/office/drawing/2014/main" id="{35CC8568-A092-44D8-BF1C-AC3202FC2A48}"/>
              </a:ext>
            </a:extLst>
          </p:cNvPr>
          <p:cNvSpPr>
            <a:spLocks noGrp="1"/>
          </p:cNvSpPr>
          <p:nvPr/>
        </p:nvSpPr>
        <p:spPr>
          <a:xfrm>
            <a:off x="6172200" y="2971800"/>
            <a:ext cx="0" cy="2834640"/>
          </a:xfrm>
          <a:prstGeom prst="line">
            <a:avLst/>
          </a:prstGeom>
          <a:noFill/>
          <a:ln w="12700">
            <a:solidFill>
              <a:srgbClr val="E4E7EC"/>
            </a:solidFill>
            <a:prstDash val="solid"/>
          </a:ln>
        </p:spPr>
      </p:sp>
      <p:sp>
        <p:nvSpPr>
          <p:cNvPr id="7" name="Text 5">
            <a:extLst>
              <a:ext uri="{FF2B5EF4-FFF2-40B4-BE49-F238E27FC236}">
                <a16:creationId xmlns:a16="http://schemas.microsoft.com/office/drawing/2014/main" id="{2E954620-EAB1-47E4-83F4-35AD6B11F02F}"/>
              </a:ext>
            </a:extLst>
          </p:cNvPr>
          <p:cNvSpPr>
            <a:spLocks noGrp="1"/>
          </p:cNvSpPr>
          <p:nvPr/>
        </p:nvSpPr>
        <p:spPr>
          <a:xfrm>
            <a:off x="868680" y="2971800"/>
            <a:ext cx="914400" cy="457200"/>
          </a:xfrm>
          <a:prstGeom prst="rect">
            <a:avLst/>
          </a:prstGeom>
          <a:noFill/>
        </p:spPr>
        <p:txBody>
          <a:bodyPr wrap="square" lIns="0" tIns="0" rIns="0" bIns="0" anchor="ctr"/>
          <a:lstStyle/>
          <a:p>
            <a:pPr marL="0" indent="0">
              <a:buNone/>
            </a:pPr>
            <a:r>
              <a:rPr sz="2200" b="1">
                <a:solidFill>
                  <a:srgbClr val="9AA3AF"/>
                </a:solidFill>
                <a:latin typeface="Trebuchet MS"/>
                <a:ea typeface="Trebuchet MS"/>
                <a:cs typeface="Trebuchet MS"/>
              </a:rPr>
              <a:t>01</a:t>
            </a:r>
          </a:p>
        </p:txBody>
      </p:sp>
      <p:sp>
        <p:nvSpPr>
          <p:cNvPr id="8" name="Text 6">
            <a:extLst>
              <a:ext uri="{FF2B5EF4-FFF2-40B4-BE49-F238E27FC236}">
                <a16:creationId xmlns:a16="http://schemas.microsoft.com/office/drawing/2014/main" id="{EDE8088B-FE9F-4D2B-9299-FE4FB2CCAA1A}"/>
              </a:ext>
            </a:extLst>
          </p:cNvPr>
          <p:cNvSpPr>
            <a:spLocks noGrp="1"/>
          </p:cNvSpPr>
          <p:nvPr/>
        </p:nvSpPr>
        <p:spPr>
          <a:xfrm>
            <a:off x="1508760" y="2990088"/>
            <a:ext cx="4297680" cy="457200"/>
          </a:xfrm>
          <a:prstGeom prst="rect">
            <a:avLst/>
          </a:prstGeom>
          <a:noFill/>
        </p:spPr>
        <p:txBody>
          <a:bodyPr wrap="square" lIns="0" tIns="0" rIns="0" bIns="0" anchor="ctr"/>
          <a:lstStyle/>
          <a:p>
            <a:pPr marL="0" indent="0">
              <a:buNone/>
            </a:pPr>
            <a:r>
              <a:rPr sz="2200" b="1">
                <a:solidFill>
                  <a:srgbClr val="16181D"/>
                </a:solidFill>
                <a:latin typeface="Trebuchet MS"/>
                <a:ea typeface="Trebuchet MS"/>
                <a:cs typeface="Trebuchet MS"/>
              </a:rPr>
              <a:t>TYPISCHE URSACHEN</a:t>
            </a:r>
          </a:p>
        </p:txBody>
      </p:sp>
      <p:sp>
        <p:nvSpPr>
          <p:cNvPr id="9" name="Text 7">
            <a:extLst>
              <a:ext uri="{FF2B5EF4-FFF2-40B4-BE49-F238E27FC236}">
                <a16:creationId xmlns:a16="http://schemas.microsoft.com/office/drawing/2014/main" id="{FD9FD98D-F4AA-41B0-9050-F0A4D15667A3}"/>
              </a:ext>
            </a:extLst>
          </p:cNvPr>
          <p:cNvSpPr>
            <a:spLocks noGrp="1"/>
          </p:cNvSpPr>
          <p:nvPr/>
        </p:nvSpPr>
        <p:spPr>
          <a:xfrm>
            <a:off x="868680" y="3611880"/>
            <a:ext cx="4937760" cy="82296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Direktes HTML Rendering und fehlendes Escaping.</a:t>
            </a:r>
          </a:p>
        </p:txBody>
      </p:sp>
      <p:sp>
        <p:nvSpPr>
          <p:cNvPr id="10" name="Text 8">
            <a:extLst>
              <a:ext uri="{FF2B5EF4-FFF2-40B4-BE49-F238E27FC236}">
                <a16:creationId xmlns:a16="http://schemas.microsoft.com/office/drawing/2014/main" id="{6A21CCA7-D51F-4EA3-B69E-45E922B4987A}"/>
              </a:ext>
            </a:extLst>
          </p:cNvPr>
          <p:cNvSpPr>
            <a:spLocks noGrp="1"/>
          </p:cNvSpPr>
          <p:nvPr/>
        </p:nvSpPr>
        <p:spPr>
          <a:xfrm>
            <a:off x="868680" y="4480560"/>
            <a:ext cx="4937760" cy="365760"/>
          </a:xfrm>
          <a:prstGeom prst="rect">
            <a:avLst/>
          </a:prstGeom>
          <a:noFill/>
        </p:spPr>
        <p:txBody>
          <a:bodyPr wrap="square" lIns="0" tIns="0" rIns="0" bIns="0" anchor="ctr"/>
          <a:lstStyle/>
          <a:p>
            <a:pPr marL="0" indent="0">
              <a:buNone/>
            </a:pPr>
            <a:r>
              <a:rPr sz="1300">
                <a:solidFill>
                  <a:srgbClr val="16181D"/>
                </a:solidFill>
                <a:latin typeface="Consolas"/>
                <a:ea typeface="Consolas"/>
                <a:cs typeface="Consolas"/>
              </a:rPr>
              <a:t>innerHTML · v html · HTML Templates</a:t>
            </a:r>
          </a:p>
        </p:txBody>
      </p:sp>
      <p:sp>
        <p:nvSpPr>
          <p:cNvPr id="11" name="Text 9">
            <a:extLst>
              <a:ext uri="{FF2B5EF4-FFF2-40B4-BE49-F238E27FC236}">
                <a16:creationId xmlns:a16="http://schemas.microsoft.com/office/drawing/2014/main" id="{E13CAE18-3B54-4F9F-9885-96165EA4B92C}"/>
              </a:ext>
            </a:extLst>
          </p:cNvPr>
          <p:cNvSpPr>
            <a:spLocks noGrp="1"/>
          </p:cNvSpPr>
          <p:nvPr/>
        </p:nvSpPr>
        <p:spPr>
          <a:xfrm>
            <a:off x="868680" y="4983480"/>
            <a:ext cx="4937760" cy="640080"/>
          </a:xfrm>
          <a:prstGeom prst="rect">
            <a:avLst/>
          </a:prstGeom>
          <a:noFill/>
        </p:spPr>
        <p:txBody>
          <a:bodyPr wrap="square" lIns="0" tIns="0" rIns="0" bIns="0" anchor="ctr"/>
          <a:lstStyle/>
          <a:p>
            <a:pPr marL="0" indent="0">
              <a:buNone/>
            </a:pPr>
            <a:r>
              <a:rPr sz="1250" i="1">
                <a:solidFill>
                  <a:srgbClr val="55606E"/>
                </a:solidFill>
                <a:latin typeface="Calibri"/>
                <a:ea typeface="Calibri"/>
                <a:cs typeface="Calibri"/>
              </a:rPr>
              <a:t>Auch Bibliotheken können unsichere Standardrenderer besitzen.</a:t>
            </a:r>
          </a:p>
        </p:txBody>
      </p:sp>
      <p:sp>
        <p:nvSpPr>
          <p:cNvPr id="12" name="Text 10">
            <a:extLst>
              <a:ext uri="{FF2B5EF4-FFF2-40B4-BE49-F238E27FC236}">
                <a16:creationId xmlns:a16="http://schemas.microsoft.com/office/drawing/2014/main" id="{1CF1865D-5627-4085-9715-548E2F408F90}"/>
              </a:ext>
            </a:extLst>
          </p:cNvPr>
          <p:cNvSpPr>
            <a:spLocks noGrp="1"/>
          </p:cNvSpPr>
          <p:nvPr/>
        </p:nvSpPr>
        <p:spPr>
          <a:xfrm>
            <a:off x="868680" y="5623560"/>
            <a:ext cx="4937760" cy="274320"/>
          </a:xfrm>
          <a:prstGeom prst="rect">
            <a:avLst/>
          </a:prstGeom>
          <a:noFill/>
        </p:spPr>
        <p:txBody>
          <a:bodyPr wrap="square" lIns="0" tIns="0" rIns="0" bIns="0" anchor="ctr"/>
          <a:lstStyle/>
          <a:p>
            <a:pPr marL="0" indent="0">
              <a:buNone/>
            </a:pPr>
            <a:r>
              <a:rPr sz="1050">
                <a:solidFill>
                  <a:srgbClr val="9AA3AF"/>
                </a:solidFill>
                <a:latin typeface="Consolas"/>
                <a:ea typeface="Consolas"/>
                <a:cs typeface="Consolas"/>
              </a:rPr>
              <a:t>HTML Senken</a:t>
            </a:r>
          </a:p>
        </p:txBody>
      </p:sp>
      <p:sp>
        <p:nvSpPr>
          <p:cNvPr id="13" name="Text 11">
            <a:extLst>
              <a:ext uri="{FF2B5EF4-FFF2-40B4-BE49-F238E27FC236}">
                <a16:creationId xmlns:a16="http://schemas.microsoft.com/office/drawing/2014/main" id="{E807B7E2-C0CF-45F7-AE39-271D03D0F91C}"/>
              </a:ext>
            </a:extLst>
          </p:cNvPr>
          <p:cNvSpPr>
            <a:spLocks noGrp="1"/>
          </p:cNvSpPr>
          <p:nvPr/>
        </p:nvSpPr>
        <p:spPr>
          <a:xfrm>
            <a:off x="6446520" y="2971800"/>
            <a:ext cx="914400" cy="457200"/>
          </a:xfrm>
          <a:prstGeom prst="rect">
            <a:avLst/>
          </a:prstGeom>
          <a:noFill/>
        </p:spPr>
        <p:txBody>
          <a:bodyPr wrap="square" lIns="0" tIns="0" rIns="0" bIns="0" anchor="ctr"/>
          <a:lstStyle/>
          <a:p>
            <a:pPr marL="0" indent="0">
              <a:buNone/>
            </a:pPr>
            <a:r>
              <a:rPr sz="2200" b="1">
                <a:solidFill>
                  <a:srgbClr val="9AA3AF"/>
                </a:solidFill>
                <a:latin typeface="Trebuchet MS"/>
                <a:ea typeface="Trebuchet MS"/>
                <a:cs typeface="Trebuchet MS"/>
              </a:rPr>
              <a:t>02</a:t>
            </a:r>
          </a:p>
        </p:txBody>
      </p:sp>
      <p:sp>
        <p:nvSpPr>
          <p:cNvPr id="14" name="Text 12">
            <a:extLst>
              <a:ext uri="{FF2B5EF4-FFF2-40B4-BE49-F238E27FC236}">
                <a16:creationId xmlns:a16="http://schemas.microsoft.com/office/drawing/2014/main" id="{0F0510F5-569A-4889-9BB4-C3FC1A0DB3EC}"/>
              </a:ext>
            </a:extLst>
          </p:cNvPr>
          <p:cNvSpPr>
            <a:spLocks noGrp="1"/>
          </p:cNvSpPr>
          <p:nvPr/>
        </p:nvSpPr>
        <p:spPr>
          <a:xfrm>
            <a:off x="7086600" y="2990088"/>
            <a:ext cx="4297680" cy="457200"/>
          </a:xfrm>
          <a:prstGeom prst="rect">
            <a:avLst/>
          </a:prstGeom>
          <a:noFill/>
        </p:spPr>
        <p:txBody>
          <a:bodyPr wrap="square" lIns="0" tIns="0" rIns="0" bIns="0" anchor="ctr"/>
          <a:lstStyle/>
          <a:p>
            <a:pPr marL="0" indent="0">
              <a:buNone/>
            </a:pPr>
            <a:r>
              <a:rPr sz="2200" b="1">
                <a:solidFill>
                  <a:srgbClr val="16181D"/>
                </a:solidFill>
                <a:latin typeface="Trebuchet MS"/>
                <a:ea typeface="Trebuchet MS"/>
                <a:cs typeface="Trebuchet MS"/>
              </a:rPr>
              <a:t>SICHERE GRENZE</a:t>
            </a:r>
          </a:p>
        </p:txBody>
      </p:sp>
      <p:sp>
        <p:nvSpPr>
          <p:cNvPr id="15" name="Text 13">
            <a:extLst>
              <a:ext uri="{FF2B5EF4-FFF2-40B4-BE49-F238E27FC236}">
                <a16:creationId xmlns:a16="http://schemas.microsoft.com/office/drawing/2014/main" id="{1A943C59-EF01-4459-B15E-3A946AE37520}"/>
              </a:ext>
            </a:extLst>
          </p:cNvPr>
          <p:cNvSpPr>
            <a:spLocks noGrp="1"/>
          </p:cNvSpPr>
          <p:nvPr/>
        </p:nvSpPr>
        <p:spPr>
          <a:xfrm>
            <a:off x="6446520" y="3611880"/>
            <a:ext cx="4937760" cy="64008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Nutzerdaten bleiben Text und werden kontextgerecht escaped.</a:t>
            </a:r>
          </a:p>
        </p:txBody>
      </p:sp>
      <p:sp>
        <p:nvSpPr>
          <p:cNvPr id="16" name="Text 14">
            <a:extLst>
              <a:ext uri="{FF2B5EF4-FFF2-40B4-BE49-F238E27FC236}">
                <a16:creationId xmlns:a16="http://schemas.microsoft.com/office/drawing/2014/main" id="{D8AE147B-555C-4CE1-BBF3-26A60718F958}"/>
              </a:ext>
            </a:extLst>
          </p:cNvPr>
          <p:cNvSpPr>
            <a:spLocks noGrp="1"/>
          </p:cNvSpPr>
          <p:nvPr/>
        </p:nvSpPr>
        <p:spPr>
          <a:xfrm>
            <a:off x="6446520" y="437083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Vue Interpolation</a:t>
            </a:r>
          </a:p>
        </p:txBody>
      </p:sp>
      <p:sp>
        <p:nvSpPr>
          <p:cNvPr id="17" name="Text 15">
            <a:extLst>
              <a:ext uri="{FF2B5EF4-FFF2-40B4-BE49-F238E27FC236}">
                <a16:creationId xmlns:a16="http://schemas.microsoft.com/office/drawing/2014/main" id="{441CAD51-1904-41F0-B93C-F9E91B00D6A5}"/>
              </a:ext>
            </a:extLst>
          </p:cNvPr>
          <p:cNvSpPr>
            <a:spLocks noGrp="1"/>
          </p:cNvSpPr>
          <p:nvPr/>
        </p:nvSpPr>
        <p:spPr>
          <a:xfrm>
            <a:off x="9464040" y="437083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Textausgabe</a:t>
            </a:r>
          </a:p>
        </p:txBody>
      </p:sp>
      <p:sp>
        <p:nvSpPr>
          <p:cNvPr id="18" name="Text 16">
            <a:extLst>
              <a:ext uri="{FF2B5EF4-FFF2-40B4-BE49-F238E27FC236}">
                <a16:creationId xmlns:a16="http://schemas.microsoft.com/office/drawing/2014/main" id="{030DC8A2-C23C-480A-82E6-111FBF03444F}"/>
              </a:ext>
            </a:extLst>
          </p:cNvPr>
          <p:cNvSpPr>
            <a:spLocks noGrp="1"/>
          </p:cNvSpPr>
          <p:nvPr/>
        </p:nvSpPr>
        <p:spPr>
          <a:xfrm>
            <a:off x="6446520" y="478231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Eigene Slots</a:t>
            </a:r>
          </a:p>
        </p:txBody>
      </p:sp>
      <p:sp>
        <p:nvSpPr>
          <p:cNvPr id="19" name="Text 17">
            <a:extLst>
              <a:ext uri="{FF2B5EF4-FFF2-40B4-BE49-F238E27FC236}">
                <a16:creationId xmlns:a16="http://schemas.microsoft.com/office/drawing/2014/main" id="{68B27804-D89B-47C9-A881-B07F98D02BF7}"/>
              </a:ext>
            </a:extLst>
          </p:cNvPr>
          <p:cNvSpPr>
            <a:spLocks noGrp="1"/>
          </p:cNvSpPr>
          <p:nvPr/>
        </p:nvSpPr>
        <p:spPr>
          <a:xfrm>
            <a:off x="9464040" y="478231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kontrolliertes Rendering</a:t>
            </a:r>
          </a:p>
        </p:txBody>
      </p:sp>
      <p:sp>
        <p:nvSpPr>
          <p:cNvPr id="20" name="Text 18">
            <a:extLst>
              <a:ext uri="{FF2B5EF4-FFF2-40B4-BE49-F238E27FC236}">
                <a16:creationId xmlns:a16="http://schemas.microsoft.com/office/drawing/2014/main" id="{9F5BCFF2-50DB-433A-B52F-9BECB837A4E0}"/>
              </a:ext>
            </a:extLst>
          </p:cNvPr>
          <p:cNvSpPr>
            <a:spLocks noGrp="1"/>
          </p:cNvSpPr>
          <p:nvPr/>
        </p:nvSpPr>
        <p:spPr>
          <a:xfrm>
            <a:off x="6446520" y="519379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Sanitizer</a:t>
            </a:r>
          </a:p>
        </p:txBody>
      </p:sp>
      <p:sp>
        <p:nvSpPr>
          <p:cNvPr id="21" name="Text 19">
            <a:extLst>
              <a:ext uri="{FF2B5EF4-FFF2-40B4-BE49-F238E27FC236}">
                <a16:creationId xmlns:a16="http://schemas.microsoft.com/office/drawing/2014/main" id="{97DC8436-6B9E-4ACA-8DCB-610FD3084EE3}"/>
              </a:ext>
            </a:extLst>
          </p:cNvPr>
          <p:cNvSpPr>
            <a:spLocks noGrp="1"/>
          </p:cNvSpPr>
          <p:nvPr/>
        </p:nvSpPr>
        <p:spPr>
          <a:xfrm>
            <a:off x="9464040" y="519379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nur falls HTML nötig ist</a:t>
            </a:r>
          </a:p>
        </p:txBody>
      </p:sp>
      <p:sp>
        <p:nvSpPr>
          <p:cNvPr id="22" name="Text 20">
            <a:extLst>
              <a:ext uri="{FF2B5EF4-FFF2-40B4-BE49-F238E27FC236}">
                <a16:creationId xmlns:a16="http://schemas.microsoft.com/office/drawing/2014/main" id="{731FC50C-567F-4B1F-BDC7-CD198D0E5691}"/>
              </a:ext>
            </a:extLst>
          </p:cNvPr>
          <p:cNvSpPr>
            <a:spLocks noGrp="1"/>
          </p:cNvSpPr>
          <p:nvPr/>
        </p:nvSpPr>
        <p:spPr>
          <a:xfrm>
            <a:off x="6446520" y="5623560"/>
            <a:ext cx="4937760" cy="274320"/>
          </a:xfrm>
          <a:prstGeom prst="rect">
            <a:avLst/>
          </a:prstGeom>
          <a:noFill/>
        </p:spPr>
        <p:txBody>
          <a:bodyPr wrap="square" lIns="0" tIns="0" rIns="0" bIns="0" anchor="ctr"/>
          <a:lstStyle/>
          <a:p>
            <a:pPr marL="0" indent="0">
              <a:buNone/>
            </a:pPr>
            <a:r>
              <a:rPr sz="1050">
                <a:solidFill>
                  <a:srgbClr val="9AA3AF"/>
                </a:solidFill>
                <a:latin typeface="Consolas"/>
                <a:ea typeface="Consolas"/>
                <a:cs typeface="Consolas"/>
              </a:rPr>
              <a:t>Output Encoding</a:t>
            </a:r>
          </a:p>
        </p:txBody>
      </p:sp>
      <p:sp>
        <p:nvSpPr>
          <p:cNvPr id="23" name="Text 1">
            <a:extLst>
              <a:ext uri="{FF2B5EF4-FFF2-40B4-BE49-F238E27FC236}">
                <a16:creationId xmlns:a16="http://schemas.microsoft.com/office/drawing/2014/main" id="{A734CD51-9D0C-1406-192A-442785C69D02}"/>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r>
              <a:rPr lang="en-US" sz="1050" b="1" kern="0" spc="100" dirty="0">
                <a:solidFill>
                  <a:srgbClr val="9AA3AF"/>
                </a:solidFill>
                <a:latin typeface="Calibri" pitchFamily="34" charset="0"/>
                <a:ea typeface="Calibri" pitchFamily="34" charset="-122"/>
                <a:cs typeface="Calibri" pitchFamily="34" charset="-120"/>
              </a:rPr>
              <a:t>0</a:t>
            </a: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5</a:t>
            </a:fld>
            <a:endParaRPr lang="en-US" sz="1050" dirty="0"/>
          </a:p>
        </p:txBody>
      </p:sp>
    </p:spTree>
    <p:extLst>
      <p:ext uri="{BB962C8B-B14F-4D97-AF65-F5344CB8AC3E}">
        <p14:creationId xmlns:p14="http://schemas.microsoft.com/office/powerpoint/2010/main" val="197823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0022C8-D9AA-4F49-BC42-2B1F2337DAD7}"/>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PROBLEM IM PROJEKT · SCHEDULER</a:t>
            </a:r>
          </a:p>
        </p:txBody>
      </p:sp>
      <p:sp>
        <p:nvSpPr>
          <p:cNvPr id="4" name="Text 2">
            <a:extLst>
              <a:ext uri="{FF2B5EF4-FFF2-40B4-BE49-F238E27FC236}">
                <a16:creationId xmlns:a16="http://schemas.microsoft.com/office/drawing/2014/main" id="{5A721529-E6AD-4D51-8A7D-4F2EBE4C9E7C}"/>
              </a:ext>
            </a:extLst>
          </p:cNvPr>
          <p:cNvSpPr>
            <a:spLocks noGrp="1"/>
          </p:cNvSpPr>
          <p:nvPr/>
        </p:nvSpPr>
        <p:spPr>
          <a:xfrm>
            <a:off x="868680" y="1051560"/>
            <a:ext cx="10424160" cy="777240"/>
          </a:xfrm>
          <a:prstGeom prst="rect">
            <a:avLst/>
          </a:prstGeom>
          <a:noFill/>
        </p:spPr>
        <p:txBody>
          <a:bodyPr wrap="square" lIns="0" tIns="0" rIns="0" bIns="0" anchor="ctr"/>
          <a:lstStyle/>
          <a:p>
            <a:pPr marL="0" indent="0">
              <a:buNone/>
            </a:pPr>
            <a:r>
              <a:rPr sz="4000" b="1">
                <a:solidFill>
                  <a:srgbClr val="16181D"/>
                </a:solidFill>
                <a:latin typeface="Trebuchet MS"/>
                <a:ea typeface="Trebuchet MS"/>
                <a:cs typeface="Trebuchet MS"/>
              </a:rPr>
              <a:t>Die reale Schwachstelle liegt in vue cal</a:t>
            </a:r>
          </a:p>
        </p:txBody>
      </p:sp>
      <p:sp>
        <p:nvSpPr>
          <p:cNvPr id="5" name="Text 3">
            <a:extLst>
              <a:ext uri="{FF2B5EF4-FFF2-40B4-BE49-F238E27FC236}">
                <a16:creationId xmlns:a16="http://schemas.microsoft.com/office/drawing/2014/main" id="{DA3294EB-5FC9-4DBE-9954-022CB814A373}"/>
              </a:ext>
            </a:extLst>
          </p:cNvPr>
          <p:cNvSpPr>
            <a:spLocks noGrp="1"/>
          </p:cNvSpPr>
          <p:nvPr/>
        </p:nvSpPr>
        <p:spPr>
          <a:xfrm>
            <a:off x="868680" y="1920240"/>
            <a:ext cx="10332720" cy="640080"/>
          </a:xfrm>
          <a:prstGeom prst="rect">
            <a:avLst/>
          </a:prstGeom>
          <a:noFill/>
        </p:spPr>
        <p:txBody>
          <a:bodyPr wrap="square" lIns="0" tIns="0" rIns="0" bIns="0" anchor="ctr"/>
          <a:lstStyle/>
          <a:p>
            <a:pPr marL="0" indent="0">
              <a:buNone/>
            </a:pPr>
            <a:r>
              <a:rPr sz="1700">
                <a:solidFill>
                  <a:srgbClr val="55606E"/>
                </a:solidFill>
                <a:latin typeface="Calibri"/>
                <a:ea typeface="Calibri"/>
                <a:cs typeface="Calibri"/>
              </a:rPr>
              <a:t>Im eigenen Vue Code wurde keine direkte unsichere HTML Ausgabe gefunden. Der Standardrenderer der Kalenderbibliothek verwendet jedoch innerHTML.</a:t>
            </a:r>
          </a:p>
        </p:txBody>
      </p:sp>
      <p:sp>
        <p:nvSpPr>
          <p:cNvPr id="6" name="Shape 4">
            <a:extLst>
              <a:ext uri="{FF2B5EF4-FFF2-40B4-BE49-F238E27FC236}">
                <a16:creationId xmlns:a16="http://schemas.microsoft.com/office/drawing/2014/main" id="{35CC8568-A092-44D8-BF1C-AC3202FC2A48}"/>
              </a:ext>
            </a:extLst>
          </p:cNvPr>
          <p:cNvSpPr>
            <a:spLocks noGrp="1"/>
          </p:cNvSpPr>
          <p:nvPr/>
        </p:nvSpPr>
        <p:spPr>
          <a:xfrm>
            <a:off x="6172200" y="2971800"/>
            <a:ext cx="0" cy="2834640"/>
          </a:xfrm>
          <a:prstGeom prst="line">
            <a:avLst/>
          </a:prstGeom>
          <a:noFill/>
          <a:ln w="12700">
            <a:solidFill>
              <a:srgbClr val="E4E7EC"/>
            </a:solidFill>
            <a:prstDash val="solid"/>
          </a:ln>
        </p:spPr>
      </p:sp>
      <p:sp>
        <p:nvSpPr>
          <p:cNvPr id="7" name="Text 5">
            <a:extLst>
              <a:ext uri="{FF2B5EF4-FFF2-40B4-BE49-F238E27FC236}">
                <a16:creationId xmlns:a16="http://schemas.microsoft.com/office/drawing/2014/main" id="{2E954620-EAB1-47E4-83F4-35AD6B11F02F}"/>
              </a:ext>
            </a:extLst>
          </p:cNvPr>
          <p:cNvSpPr>
            <a:spLocks noGrp="1"/>
          </p:cNvSpPr>
          <p:nvPr/>
        </p:nvSpPr>
        <p:spPr>
          <a:xfrm>
            <a:off x="868680" y="2971800"/>
            <a:ext cx="914400" cy="457200"/>
          </a:xfrm>
          <a:prstGeom prst="rect">
            <a:avLst/>
          </a:prstGeom>
          <a:noFill/>
        </p:spPr>
        <p:txBody>
          <a:bodyPr wrap="square" lIns="0" tIns="0" rIns="0" bIns="0" anchor="ctr"/>
          <a:lstStyle/>
          <a:p>
            <a:pPr marL="0" indent="0">
              <a:buNone/>
            </a:pPr>
            <a:r>
              <a:rPr sz="2200" b="1">
                <a:solidFill>
                  <a:srgbClr val="9AA3AF"/>
                </a:solidFill>
                <a:latin typeface="Trebuchet MS"/>
                <a:ea typeface="Trebuchet MS"/>
                <a:cs typeface="Trebuchet MS"/>
              </a:rPr>
              <a:t>01</a:t>
            </a:r>
          </a:p>
        </p:txBody>
      </p:sp>
      <p:sp>
        <p:nvSpPr>
          <p:cNvPr id="8" name="Text 6">
            <a:extLst>
              <a:ext uri="{FF2B5EF4-FFF2-40B4-BE49-F238E27FC236}">
                <a16:creationId xmlns:a16="http://schemas.microsoft.com/office/drawing/2014/main" id="{EDE8088B-FE9F-4D2B-9299-FE4FB2CCAA1A}"/>
              </a:ext>
            </a:extLst>
          </p:cNvPr>
          <p:cNvSpPr>
            <a:spLocks noGrp="1"/>
          </p:cNvSpPr>
          <p:nvPr/>
        </p:nvSpPr>
        <p:spPr>
          <a:xfrm>
            <a:off x="1508760" y="2990088"/>
            <a:ext cx="4297680" cy="457200"/>
          </a:xfrm>
          <a:prstGeom prst="rect">
            <a:avLst/>
          </a:prstGeom>
          <a:noFill/>
        </p:spPr>
        <p:txBody>
          <a:bodyPr wrap="square" lIns="0" tIns="0" rIns="0" bIns="0" anchor="ctr"/>
          <a:lstStyle/>
          <a:p>
            <a:pPr marL="0" indent="0">
              <a:buNone/>
            </a:pPr>
            <a:r>
              <a:rPr sz="2200" b="1">
                <a:solidFill>
                  <a:srgbClr val="16181D"/>
                </a:solidFill>
                <a:latin typeface="Trebuchet MS"/>
                <a:ea typeface="Trebuchet MS"/>
                <a:cs typeface="Trebuchet MS"/>
              </a:rPr>
              <a:t>DATENFLUSS</a:t>
            </a:r>
          </a:p>
        </p:txBody>
      </p:sp>
      <p:sp>
        <p:nvSpPr>
          <p:cNvPr id="9" name="Text 7">
            <a:extLst>
              <a:ext uri="{FF2B5EF4-FFF2-40B4-BE49-F238E27FC236}">
                <a16:creationId xmlns:a16="http://schemas.microsoft.com/office/drawing/2014/main" id="{FD9FD98D-F4AA-41B0-9050-F0A4D15667A3}"/>
              </a:ext>
            </a:extLst>
          </p:cNvPr>
          <p:cNvSpPr>
            <a:spLocks noGrp="1"/>
          </p:cNvSpPr>
          <p:nvPr/>
        </p:nvSpPr>
        <p:spPr>
          <a:xfrm>
            <a:off x="868680" y="3611880"/>
            <a:ext cx="4937760" cy="82296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Reservierungslabel und Veranstaltungsnamen werden als Event Titel übergeben.</a:t>
            </a:r>
          </a:p>
        </p:txBody>
      </p:sp>
      <p:sp>
        <p:nvSpPr>
          <p:cNvPr id="10" name="Text 8">
            <a:extLst>
              <a:ext uri="{FF2B5EF4-FFF2-40B4-BE49-F238E27FC236}">
                <a16:creationId xmlns:a16="http://schemas.microsoft.com/office/drawing/2014/main" id="{6A21CCA7-D51F-4EA3-B69E-45E922B4987A}"/>
              </a:ext>
            </a:extLst>
          </p:cNvPr>
          <p:cNvSpPr>
            <a:spLocks noGrp="1"/>
          </p:cNvSpPr>
          <p:nvPr/>
        </p:nvSpPr>
        <p:spPr>
          <a:xfrm>
            <a:off x="868680" y="4480560"/>
            <a:ext cx="4937760" cy="365760"/>
          </a:xfrm>
          <a:prstGeom prst="rect">
            <a:avLst/>
          </a:prstGeom>
          <a:noFill/>
        </p:spPr>
        <p:txBody>
          <a:bodyPr wrap="square" lIns="0" tIns="0" rIns="0" bIns="0" anchor="ctr"/>
          <a:lstStyle/>
          <a:p>
            <a:pPr marL="0" indent="0">
              <a:buNone/>
            </a:pPr>
            <a:r>
              <a:rPr sz="1300">
                <a:solidFill>
                  <a:srgbClr val="16181D"/>
                </a:solidFill>
                <a:latin typeface="Consolas"/>
                <a:ea typeface="Consolas"/>
                <a:cs typeface="Consolas"/>
              </a:rPr>
              <a:t>DB → API → event.title → VueCal</a:t>
            </a:r>
          </a:p>
        </p:txBody>
      </p:sp>
      <p:sp>
        <p:nvSpPr>
          <p:cNvPr id="11" name="Text 9">
            <a:extLst>
              <a:ext uri="{FF2B5EF4-FFF2-40B4-BE49-F238E27FC236}">
                <a16:creationId xmlns:a16="http://schemas.microsoft.com/office/drawing/2014/main" id="{E13CAE18-3B54-4F9F-9885-96165EA4B92C}"/>
              </a:ext>
            </a:extLst>
          </p:cNvPr>
          <p:cNvSpPr>
            <a:spLocks noGrp="1"/>
          </p:cNvSpPr>
          <p:nvPr/>
        </p:nvSpPr>
        <p:spPr>
          <a:xfrm>
            <a:off x="868680" y="4983480"/>
            <a:ext cx="4937760" cy="640080"/>
          </a:xfrm>
          <a:prstGeom prst="rect">
            <a:avLst/>
          </a:prstGeom>
          <a:noFill/>
        </p:spPr>
        <p:txBody>
          <a:bodyPr wrap="square" lIns="0" tIns="0" rIns="0" bIns="0" anchor="ctr"/>
          <a:lstStyle/>
          <a:p>
            <a:pPr marL="0" indent="0">
              <a:buNone/>
            </a:pPr>
            <a:r>
              <a:rPr sz="1250" i="1">
                <a:solidFill>
                  <a:srgbClr val="55606E"/>
                </a:solidFill>
                <a:latin typeface="Calibri"/>
                <a:ea typeface="Calibri"/>
                <a:cs typeface="Calibri"/>
              </a:rPr>
              <a:t>Der gespeicherte Payload erreicht die Kalenderansicht.</a:t>
            </a:r>
          </a:p>
        </p:txBody>
      </p:sp>
      <p:sp>
        <p:nvSpPr>
          <p:cNvPr id="12" name="Text 10">
            <a:extLst>
              <a:ext uri="{FF2B5EF4-FFF2-40B4-BE49-F238E27FC236}">
                <a16:creationId xmlns:a16="http://schemas.microsoft.com/office/drawing/2014/main" id="{1CF1865D-5627-4085-9715-548E2F408F90}"/>
              </a:ext>
            </a:extLst>
          </p:cNvPr>
          <p:cNvSpPr>
            <a:spLocks noGrp="1"/>
          </p:cNvSpPr>
          <p:nvPr/>
        </p:nvSpPr>
        <p:spPr>
          <a:xfrm>
            <a:off x="868680" y="5623560"/>
            <a:ext cx="4937760" cy="274320"/>
          </a:xfrm>
          <a:prstGeom prst="rect">
            <a:avLst/>
          </a:prstGeom>
          <a:noFill/>
        </p:spPr>
        <p:txBody>
          <a:bodyPr wrap="square" lIns="0" tIns="0" rIns="0" bIns="0" anchor="ctr"/>
          <a:lstStyle/>
          <a:p>
            <a:pPr marL="0" indent="0">
              <a:buNone/>
            </a:pPr>
            <a:r>
              <a:rPr sz="1050">
                <a:solidFill>
                  <a:srgbClr val="9AA3AF"/>
                </a:solidFill>
                <a:latin typeface="Consolas"/>
                <a:ea typeface="Consolas"/>
                <a:cs typeface="Consolas"/>
              </a:rPr>
              <a:t>ReserveTimeslot.vue</a:t>
            </a:r>
          </a:p>
        </p:txBody>
      </p:sp>
      <p:sp>
        <p:nvSpPr>
          <p:cNvPr id="13" name="Text 11">
            <a:extLst>
              <a:ext uri="{FF2B5EF4-FFF2-40B4-BE49-F238E27FC236}">
                <a16:creationId xmlns:a16="http://schemas.microsoft.com/office/drawing/2014/main" id="{E807B7E2-C0CF-45F7-AE39-271D03D0F91C}"/>
              </a:ext>
            </a:extLst>
          </p:cNvPr>
          <p:cNvSpPr>
            <a:spLocks noGrp="1"/>
          </p:cNvSpPr>
          <p:nvPr/>
        </p:nvSpPr>
        <p:spPr>
          <a:xfrm>
            <a:off x="6446520" y="2971800"/>
            <a:ext cx="914400" cy="457200"/>
          </a:xfrm>
          <a:prstGeom prst="rect">
            <a:avLst/>
          </a:prstGeom>
          <a:noFill/>
        </p:spPr>
        <p:txBody>
          <a:bodyPr wrap="square" lIns="0" tIns="0" rIns="0" bIns="0" anchor="ctr"/>
          <a:lstStyle/>
          <a:p>
            <a:pPr marL="0" indent="0">
              <a:buNone/>
            </a:pPr>
            <a:r>
              <a:rPr sz="2200" b="1">
                <a:solidFill>
                  <a:srgbClr val="9AA3AF"/>
                </a:solidFill>
                <a:latin typeface="Trebuchet MS"/>
                <a:ea typeface="Trebuchet MS"/>
                <a:cs typeface="Trebuchet MS"/>
              </a:rPr>
              <a:t>02</a:t>
            </a:r>
          </a:p>
        </p:txBody>
      </p:sp>
      <p:sp>
        <p:nvSpPr>
          <p:cNvPr id="14" name="Text 12">
            <a:extLst>
              <a:ext uri="{FF2B5EF4-FFF2-40B4-BE49-F238E27FC236}">
                <a16:creationId xmlns:a16="http://schemas.microsoft.com/office/drawing/2014/main" id="{0F0510F5-569A-4889-9BB4-C3FC1A0DB3EC}"/>
              </a:ext>
            </a:extLst>
          </p:cNvPr>
          <p:cNvSpPr>
            <a:spLocks noGrp="1"/>
          </p:cNvSpPr>
          <p:nvPr/>
        </p:nvSpPr>
        <p:spPr>
          <a:xfrm>
            <a:off x="7086600" y="2990088"/>
            <a:ext cx="4297680" cy="457200"/>
          </a:xfrm>
          <a:prstGeom prst="rect">
            <a:avLst/>
          </a:prstGeom>
          <a:noFill/>
        </p:spPr>
        <p:txBody>
          <a:bodyPr wrap="square" lIns="0" tIns="0" rIns="0" bIns="0" anchor="ctr"/>
          <a:lstStyle/>
          <a:p>
            <a:pPr marL="0" indent="0">
              <a:buNone/>
            </a:pPr>
            <a:r>
              <a:rPr sz="2200" b="1">
                <a:solidFill>
                  <a:srgbClr val="16181D"/>
                </a:solidFill>
                <a:latin typeface="Trebuchet MS"/>
                <a:ea typeface="Trebuchet MS"/>
                <a:cs typeface="Trebuchet MS"/>
              </a:rPr>
              <a:t>UNSICHERE AUSGABE</a:t>
            </a:r>
          </a:p>
        </p:txBody>
      </p:sp>
      <p:sp>
        <p:nvSpPr>
          <p:cNvPr id="15" name="Text 13">
            <a:extLst>
              <a:ext uri="{FF2B5EF4-FFF2-40B4-BE49-F238E27FC236}">
                <a16:creationId xmlns:a16="http://schemas.microsoft.com/office/drawing/2014/main" id="{1A943C59-EF01-4459-B15E-3A946AE37520}"/>
              </a:ext>
            </a:extLst>
          </p:cNvPr>
          <p:cNvSpPr>
            <a:spLocks noGrp="1"/>
          </p:cNvSpPr>
          <p:nvPr/>
        </p:nvSpPr>
        <p:spPr>
          <a:xfrm>
            <a:off x="6446520" y="3611880"/>
            <a:ext cx="4937760" cy="64008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VueCal interpretiert Event Titel und Inhalte im Standardrenderer als HTML.</a:t>
            </a:r>
          </a:p>
        </p:txBody>
      </p:sp>
      <p:sp>
        <p:nvSpPr>
          <p:cNvPr id="16" name="Text 14">
            <a:extLst>
              <a:ext uri="{FF2B5EF4-FFF2-40B4-BE49-F238E27FC236}">
                <a16:creationId xmlns:a16="http://schemas.microsoft.com/office/drawing/2014/main" id="{D8AE147B-555C-4CE1-BBF3-26A60718F958}"/>
              </a:ext>
            </a:extLst>
          </p:cNvPr>
          <p:cNvSpPr>
            <a:spLocks noGrp="1"/>
          </p:cNvSpPr>
          <p:nvPr/>
        </p:nvSpPr>
        <p:spPr>
          <a:xfrm>
            <a:off x="6446520" y="437083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innerHTML</a:t>
            </a:r>
          </a:p>
        </p:txBody>
      </p:sp>
      <p:sp>
        <p:nvSpPr>
          <p:cNvPr id="17" name="Text 15">
            <a:extLst>
              <a:ext uri="{FF2B5EF4-FFF2-40B4-BE49-F238E27FC236}">
                <a16:creationId xmlns:a16="http://schemas.microsoft.com/office/drawing/2014/main" id="{441CAD51-1904-41F0-B93C-F9E91B00D6A5}"/>
              </a:ext>
            </a:extLst>
          </p:cNvPr>
          <p:cNvSpPr>
            <a:spLocks noGrp="1"/>
          </p:cNvSpPr>
          <p:nvPr/>
        </p:nvSpPr>
        <p:spPr>
          <a:xfrm>
            <a:off x="9464040" y="437083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HTML Interpretation</a:t>
            </a:r>
          </a:p>
        </p:txBody>
      </p:sp>
      <p:sp>
        <p:nvSpPr>
          <p:cNvPr id="18" name="Text 16">
            <a:extLst>
              <a:ext uri="{FF2B5EF4-FFF2-40B4-BE49-F238E27FC236}">
                <a16:creationId xmlns:a16="http://schemas.microsoft.com/office/drawing/2014/main" id="{030DC8A2-C23C-480A-82E6-111FBF03444F}"/>
              </a:ext>
            </a:extLst>
          </p:cNvPr>
          <p:cNvSpPr>
            <a:spLocks noGrp="1"/>
          </p:cNvSpPr>
          <p:nvPr/>
        </p:nvSpPr>
        <p:spPr>
          <a:xfrm>
            <a:off x="6446520" y="478231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Stored DOM XSS</a:t>
            </a:r>
          </a:p>
        </p:txBody>
      </p:sp>
      <p:sp>
        <p:nvSpPr>
          <p:cNvPr id="19" name="Text 17">
            <a:extLst>
              <a:ext uri="{FF2B5EF4-FFF2-40B4-BE49-F238E27FC236}">
                <a16:creationId xmlns:a16="http://schemas.microsoft.com/office/drawing/2014/main" id="{68B27804-D89B-47C9-A881-B07F98D02BF7}"/>
              </a:ext>
            </a:extLst>
          </p:cNvPr>
          <p:cNvSpPr>
            <a:spLocks noGrp="1"/>
          </p:cNvSpPr>
          <p:nvPr/>
        </p:nvSpPr>
        <p:spPr>
          <a:xfrm>
            <a:off x="9464040" y="478231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wiederholte Ausführung</a:t>
            </a:r>
          </a:p>
        </p:txBody>
      </p:sp>
      <p:sp>
        <p:nvSpPr>
          <p:cNvPr id="20" name="Text 18">
            <a:extLst>
              <a:ext uri="{FF2B5EF4-FFF2-40B4-BE49-F238E27FC236}">
                <a16:creationId xmlns:a16="http://schemas.microsoft.com/office/drawing/2014/main" id="{9F5BCFF2-50DB-433A-B52F-9BECB837A4E0}"/>
              </a:ext>
            </a:extLst>
          </p:cNvPr>
          <p:cNvSpPr>
            <a:spLocks noGrp="1"/>
          </p:cNvSpPr>
          <p:nvPr/>
        </p:nvSpPr>
        <p:spPr>
          <a:xfrm>
            <a:off x="6446520" y="519379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Sicheres Gegenbeispiel</a:t>
            </a:r>
          </a:p>
        </p:txBody>
      </p:sp>
      <p:sp>
        <p:nvSpPr>
          <p:cNvPr id="21" name="Text 19">
            <a:extLst>
              <a:ext uri="{FF2B5EF4-FFF2-40B4-BE49-F238E27FC236}">
                <a16:creationId xmlns:a16="http://schemas.microsoft.com/office/drawing/2014/main" id="{97DC8436-6B9E-4ACA-8DCB-610FD3084EE3}"/>
              </a:ext>
            </a:extLst>
          </p:cNvPr>
          <p:cNvSpPr>
            <a:spLocks noGrp="1"/>
          </p:cNvSpPr>
          <p:nvPr/>
        </p:nvSpPr>
        <p:spPr>
          <a:xfrm>
            <a:off x="9464040" y="519379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eigener Event Slot</a:t>
            </a:r>
          </a:p>
        </p:txBody>
      </p:sp>
      <p:sp>
        <p:nvSpPr>
          <p:cNvPr id="22" name="Text 20">
            <a:extLst>
              <a:ext uri="{FF2B5EF4-FFF2-40B4-BE49-F238E27FC236}">
                <a16:creationId xmlns:a16="http://schemas.microsoft.com/office/drawing/2014/main" id="{731FC50C-567F-4B1F-BDC7-CD198D0E5691}"/>
              </a:ext>
            </a:extLst>
          </p:cNvPr>
          <p:cNvSpPr>
            <a:spLocks noGrp="1"/>
          </p:cNvSpPr>
          <p:nvPr/>
        </p:nvSpPr>
        <p:spPr>
          <a:xfrm>
            <a:off x="6446520" y="5623560"/>
            <a:ext cx="4937760" cy="274320"/>
          </a:xfrm>
          <a:prstGeom prst="rect">
            <a:avLst/>
          </a:prstGeom>
          <a:noFill/>
        </p:spPr>
        <p:txBody>
          <a:bodyPr wrap="square" lIns="0" tIns="0" rIns="0" bIns="0" anchor="ctr"/>
          <a:lstStyle/>
          <a:p>
            <a:pPr marL="0" indent="0">
              <a:buNone/>
            </a:pPr>
            <a:r>
              <a:rPr sz="1050">
                <a:solidFill>
                  <a:srgbClr val="9AA3AF"/>
                </a:solidFill>
                <a:latin typeface="Consolas"/>
                <a:ea typeface="Consolas"/>
                <a:cs typeface="Consolas"/>
              </a:rPr>
              <a:t>vue cal Standardrenderer</a:t>
            </a:r>
          </a:p>
        </p:txBody>
      </p:sp>
      <p:sp>
        <p:nvSpPr>
          <p:cNvPr id="23" name="Text 1">
            <a:extLst>
              <a:ext uri="{FF2B5EF4-FFF2-40B4-BE49-F238E27FC236}">
                <a16:creationId xmlns:a16="http://schemas.microsoft.com/office/drawing/2014/main" id="{85309647-F8CA-35EF-2118-4FBC3ECEBCE8}"/>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r>
              <a:rPr lang="en-US" sz="1050" b="1" kern="0" spc="100" dirty="0">
                <a:solidFill>
                  <a:srgbClr val="9AA3AF"/>
                </a:solidFill>
                <a:latin typeface="Calibri" pitchFamily="34" charset="0"/>
                <a:ea typeface="Calibri" pitchFamily="34" charset="-122"/>
                <a:cs typeface="Calibri" pitchFamily="34" charset="-120"/>
              </a:rPr>
              <a:t>0</a:t>
            </a: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6</a:t>
            </a:fld>
            <a:endParaRPr lang="en-US" sz="1050" dirty="0"/>
          </a:p>
        </p:txBody>
      </p:sp>
    </p:spTree>
    <p:extLst>
      <p:ext uri="{BB962C8B-B14F-4D97-AF65-F5344CB8AC3E}">
        <p14:creationId xmlns:p14="http://schemas.microsoft.com/office/powerpoint/2010/main" val="197823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05B925-20F2-478D-ABE4-CF63D19317D7}"/>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DEMO · AUFBAU</a:t>
            </a:r>
          </a:p>
        </p:txBody>
      </p:sp>
      <p:sp>
        <p:nvSpPr>
          <p:cNvPr id="4" name="Text 2">
            <a:extLst>
              <a:ext uri="{FF2B5EF4-FFF2-40B4-BE49-F238E27FC236}">
                <a16:creationId xmlns:a16="http://schemas.microsoft.com/office/drawing/2014/main" id="{0CA56D71-8EDE-4C16-B422-C390CBED320E}"/>
              </a:ext>
            </a:extLst>
          </p:cNvPr>
          <p:cNvSpPr>
            <a:spLocks noGrp="1"/>
          </p:cNvSpPr>
          <p:nvPr/>
        </p:nvSpPr>
        <p:spPr>
          <a:xfrm>
            <a:off x="868680" y="1051560"/>
            <a:ext cx="10058400" cy="777240"/>
          </a:xfrm>
          <a:prstGeom prst="rect">
            <a:avLst/>
          </a:prstGeom>
          <a:noFill/>
        </p:spPr>
        <p:txBody>
          <a:bodyPr wrap="square" lIns="0" tIns="0" rIns="0" bIns="0" anchor="ctr"/>
          <a:lstStyle/>
          <a:p>
            <a:pPr marL="0" indent="0">
              <a:buNone/>
            </a:pPr>
            <a:r>
              <a:rPr sz="4000" b="1">
                <a:solidFill>
                  <a:srgbClr val="16181D"/>
                </a:solidFill>
                <a:latin typeface="Trebuchet MS"/>
                <a:ea typeface="Trebuchet MS"/>
                <a:cs typeface="Trebuchet MS"/>
              </a:rPr>
              <a:t>Setup</a:t>
            </a:r>
          </a:p>
        </p:txBody>
      </p:sp>
      <p:sp>
        <p:nvSpPr>
          <p:cNvPr id="5" name="Text 3">
            <a:extLst>
              <a:ext uri="{FF2B5EF4-FFF2-40B4-BE49-F238E27FC236}">
                <a16:creationId xmlns:a16="http://schemas.microsoft.com/office/drawing/2014/main" id="{1D91B4D8-43A2-49F5-AE0D-56AA8530603C}"/>
              </a:ext>
            </a:extLst>
          </p:cNvPr>
          <p:cNvSpPr>
            <a:spLocks noGrp="1"/>
          </p:cNvSpPr>
          <p:nvPr/>
        </p:nvSpPr>
        <p:spPr>
          <a:xfrm>
            <a:off x="868680" y="1920240"/>
            <a:ext cx="8778240" cy="640080"/>
          </a:xfrm>
          <a:prstGeom prst="rect">
            <a:avLst/>
          </a:prstGeom>
          <a:noFill/>
        </p:spPr>
        <p:txBody>
          <a:bodyPr wrap="square" lIns="0" tIns="0" rIns="0" bIns="0" anchor="ctr"/>
          <a:lstStyle/>
          <a:p>
            <a:pPr marL="0" indent="0">
              <a:buNone/>
            </a:pPr>
            <a:r>
              <a:rPr sz="1700">
                <a:solidFill>
                  <a:srgbClr val="55606E"/>
                </a:solidFill>
                <a:latin typeface="Calibri"/>
                <a:ea typeface="Calibri"/>
                <a:cs typeface="Calibri"/>
              </a:rPr>
              <a:t>Der direkte Vergleich verwendet dieselben gespeicherten Daten.</a:t>
            </a:r>
          </a:p>
        </p:txBody>
      </p:sp>
      <p:sp>
        <p:nvSpPr>
          <p:cNvPr id="6" name="Text 4">
            <a:extLst>
              <a:ext uri="{FF2B5EF4-FFF2-40B4-BE49-F238E27FC236}">
                <a16:creationId xmlns:a16="http://schemas.microsoft.com/office/drawing/2014/main" id="{3BD51F4C-3C9E-470A-8612-D1DD25BD43BE}"/>
              </a:ext>
            </a:extLst>
          </p:cNvPr>
          <p:cNvSpPr>
            <a:spLocks noGrp="1"/>
          </p:cNvSpPr>
          <p:nvPr/>
        </p:nvSpPr>
        <p:spPr>
          <a:xfrm>
            <a:off x="868680" y="3063240"/>
            <a:ext cx="7315200" cy="274320"/>
          </a:xfrm>
          <a:prstGeom prst="rect">
            <a:avLst/>
          </a:prstGeom>
          <a:noFill/>
        </p:spPr>
        <p:txBody>
          <a:bodyPr wrap="square" lIns="0" tIns="0" rIns="0" bIns="0" anchor="ctr"/>
          <a:lstStyle/>
          <a:p>
            <a:pPr marL="0" indent="0">
              <a:buNone/>
            </a:pPr>
            <a:r>
              <a:rPr sz="1100" b="1">
                <a:solidFill>
                  <a:srgbClr val="9AA3AF"/>
                </a:solidFill>
                <a:latin typeface="Calibri"/>
                <a:ea typeface="Calibri"/>
                <a:cs typeface="Calibri"/>
              </a:rPr>
              <a:t>DEMO BESTEHT AUS</a:t>
            </a:r>
          </a:p>
        </p:txBody>
      </p:sp>
      <p:sp>
        <p:nvSpPr>
          <p:cNvPr id="7" name="Text 5">
            <a:extLst>
              <a:ext uri="{FF2B5EF4-FFF2-40B4-BE49-F238E27FC236}">
                <a16:creationId xmlns:a16="http://schemas.microsoft.com/office/drawing/2014/main" id="{1E658AE0-E6C3-4D3C-9055-289C7B506ACA}"/>
              </a:ext>
            </a:extLst>
          </p:cNvPr>
          <p:cNvSpPr>
            <a:spLocks noGrp="1"/>
          </p:cNvSpPr>
          <p:nvPr/>
        </p:nvSpPr>
        <p:spPr>
          <a:xfrm>
            <a:off x="868680" y="3474720"/>
            <a:ext cx="2926080" cy="320040"/>
          </a:xfrm>
          <a:prstGeom prst="rect">
            <a:avLst/>
          </a:prstGeom>
          <a:noFill/>
        </p:spPr>
        <p:txBody>
          <a:bodyPr wrap="square" lIns="0" tIns="0" rIns="0" bIns="0" anchor="ctr"/>
          <a:lstStyle/>
          <a:p>
            <a:pPr marL="0" indent="0">
              <a:buNone/>
            </a:pPr>
            <a:r>
              <a:rPr sz="1300">
                <a:solidFill>
                  <a:srgbClr val="9AA3AF"/>
                </a:solidFill>
                <a:latin typeface="Calibri"/>
                <a:ea typeface="Calibri"/>
                <a:cs typeface="Calibri"/>
              </a:rPr>
              <a:t>TESTDATEN</a:t>
            </a:r>
          </a:p>
        </p:txBody>
      </p:sp>
      <p:sp>
        <p:nvSpPr>
          <p:cNvPr id="8" name="Text 6">
            <a:extLst>
              <a:ext uri="{FF2B5EF4-FFF2-40B4-BE49-F238E27FC236}">
                <a16:creationId xmlns:a16="http://schemas.microsoft.com/office/drawing/2014/main" id="{8BE5973D-4652-483C-9A38-77E49817E2B9}"/>
              </a:ext>
            </a:extLst>
          </p:cNvPr>
          <p:cNvSpPr>
            <a:spLocks noGrp="1"/>
          </p:cNvSpPr>
          <p:nvPr/>
        </p:nvSpPr>
        <p:spPr>
          <a:xfrm>
            <a:off x="868680" y="3767328"/>
            <a:ext cx="2926080" cy="548640"/>
          </a:xfrm>
          <a:prstGeom prst="rect">
            <a:avLst/>
          </a:prstGeom>
          <a:noFill/>
        </p:spPr>
        <p:txBody>
          <a:bodyPr wrap="square" lIns="0" tIns="0" rIns="0" bIns="0" anchor="ctr"/>
          <a:lstStyle/>
          <a:p>
            <a:pPr marL="0" indent="0">
              <a:buNone/>
            </a:pPr>
            <a:r>
              <a:rPr sz="3000" b="1">
                <a:solidFill>
                  <a:srgbClr val="16181D"/>
                </a:solidFill>
                <a:latin typeface="Consolas"/>
                <a:ea typeface="Consolas"/>
                <a:cs typeface="Consolas"/>
              </a:rPr>
              <a:t>Setup</a:t>
            </a:r>
          </a:p>
        </p:txBody>
      </p:sp>
      <p:sp>
        <p:nvSpPr>
          <p:cNvPr id="9" name="Shape 7">
            <a:extLst>
              <a:ext uri="{FF2B5EF4-FFF2-40B4-BE49-F238E27FC236}">
                <a16:creationId xmlns:a16="http://schemas.microsoft.com/office/drawing/2014/main" id="{5897FD2B-C080-4C86-8BD0-C9131E2B7687}"/>
              </a:ext>
            </a:extLst>
          </p:cNvPr>
          <p:cNvSpPr>
            <a:spLocks noGrp="1"/>
          </p:cNvSpPr>
          <p:nvPr/>
        </p:nvSpPr>
        <p:spPr>
          <a:xfrm>
            <a:off x="3749040" y="3520440"/>
            <a:ext cx="0" cy="685800"/>
          </a:xfrm>
          <a:prstGeom prst="line">
            <a:avLst/>
          </a:prstGeom>
          <a:noFill/>
          <a:ln w="12700">
            <a:solidFill>
              <a:srgbClr val="E4E7EC"/>
            </a:solidFill>
            <a:prstDash val="solid"/>
          </a:ln>
        </p:spPr>
      </p:sp>
      <p:sp>
        <p:nvSpPr>
          <p:cNvPr id="10" name="Text 8">
            <a:extLst>
              <a:ext uri="{FF2B5EF4-FFF2-40B4-BE49-F238E27FC236}">
                <a16:creationId xmlns:a16="http://schemas.microsoft.com/office/drawing/2014/main" id="{1C6B439C-F782-4D6A-AF21-F5220AB8EE5F}"/>
              </a:ext>
            </a:extLst>
          </p:cNvPr>
          <p:cNvSpPr>
            <a:spLocks noGrp="1"/>
          </p:cNvSpPr>
          <p:nvPr/>
        </p:nvSpPr>
        <p:spPr>
          <a:xfrm>
            <a:off x="3794760" y="3474720"/>
            <a:ext cx="2926080" cy="320040"/>
          </a:xfrm>
          <a:prstGeom prst="rect">
            <a:avLst/>
          </a:prstGeom>
          <a:noFill/>
        </p:spPr>
        <p:txBody>
          <a:bodyPr wrap="square" lIns="0" tIns="0" rIns="0" bIns="0" anchor="ctr"/>
          <a:lstStyle/>
          <a:p>
            <a:pPr marL="0" indent="0">
              <a:buNone/>
            </a:pPr>
            <a:r>
              <a:rPr sz="1300">
                <a:solidFill>
                  <a:srgbClr val="9AA3AF"/>
                </a:solidFill>
                <a:latin typeface="Calibri"/>
                <a:ea typeface="Calibri"/>
                <a:cs typeface="Calibri"/>
              </a:rPr>
              <a:t>UNSICHER</a:t>
            </a:r>
          </a:p>
        </p:txBody>
      </p:sp>
      <p:sp>
        <p:nvSpPr>
          <p:cNvPr id="11" name="Text 9">
            <a:extLst>
              <a:ext uri="{FF2B5EF4-FFF2-40B4-BE49-F238E27FC236}">
                <a16:creationId xmlns:a16="http://schemas.microsoft.com/office/drawing/2014/main" id="{4E871371-98BF-442E-8AEB-FBEC23F7C643}"/>
              </a:ext>
            </a:extLst>
          </p:cNvPr>
          <p:cNvSpPr>
            <a:spLocks noGrp="1"/>
          </p:cNvSpPr>
          <p:nvPr/>
        </p:nvSpPr>
        <p:spPr>
          <a:xfrm>
            <a:off x="3794760" y="3767328"/>
            <a:ext cx="2926080" cy="548640"/>
          </a:xfrm>
          <a:prstGeom prst="rect">
            <a:avLst/>
          </a:prstGeom>
          <a:noFill/>
        </p:spPr>
        <p:txBody>
          <a:bodyPr wrap="square" lIns="0" tIns="0" rIns="0" bIns="0" anchor="ctr"/>
          <a:lstStyle/>
          <a:p>
            <a:pPr marL="0" indent="0">
              <a:buNone/>
            </a:pPr>
            <a:r>
              <a:rPr sz="3000" b="1">
                <a:solidFill>
                  <a:srgbClr val="16181D"/>
                </a:solidFill>
                <a:latin typeface="Consolas"/>
                <a:ea typeface="Consolas"/>
                <a:cs typeface="Consolas"/>
              </a:rPr>
              <a:t>VueCal</a:t>
            </a:r>
          </a:p>
        </p:txBody>
      </p:sp>
      <p:sp>
        <p:nvSpPr>
          <p:cNvPr id="12" name="Shape 10">
            <a:extLst>
              <a:ext uri="{FF2B5EF4-FFF2-40B4-BE49-F238E27FC236}">
                <a16:creationId xmlns:a16="http://schemas.microsoft.com/office/drawing/2014/main" id="{29DBA76E-8A52-42F1-99E2-7A9F945E74BC}"/>
              </a:ext>
            </a:extLst>
          </p:cNvPr>
          <p:cNvSpPr>
            <a:spLocks noGrp="1"/>
          </p:cNvSpPr>
          <p:nvPr/>
        </p:nvSpPr>
        <p:spPr>
          <a:xfrm>
            <a:off x="6675120" y="3520440"/>
            <a:ext cx="0" cy="685800"/>
          </a:xfrm>
          <a:prstGeom prst="line">
            <a:avLst/>
          </a:prstGeom>
          <a:noFill/>
          <a:ln w="12700">
            <a:solidFill>
              <a:srgbClr val="E4E7EC"/>
            </a:solidFill>
            <a:prstDash val="solid"/>
          </a:ln>
        </p:spPr>
      </p:sp>
      <p:sp>
        <p:nvSpPr>
          <p:cNvPr id="13" name="Text 11">
            <a:extLst>
              <a:ext uri="{FF2B5EF4-FFF2-40B4-BE49-F238E27FC236}">
                <a16:creationId xmlns:a16="http://schemas.microsoft.com/office/drawing/2014/main" id="{93CBA382-695B-4C33-9819-3235851281A7}"/>
              </a:ext>
            </a:extLst>
          </p:cNvPr>
          <p:cNvSpPr>
            <a:spLocks noGrp="1"/>
          </p:cNvSpPr>
          <p:nvPr/>
        </p:nvSpPr>
        <p:spPr>
          <a:xfrm>
            <a:off x="6720840" y="3474720"/>
            <a:ext cx="2926080" cy="320040"/>
          </a:xfrm>
          <a:prstGeom prst="rect">
            <a:avLst/>
          </a:prstGeom>
          <a:noFill/>
        </p:spPr>
        <p:txBody>
          <a:bodyPr wrap="square" lIns="0" tIns="0" rIns="0" bIns="0" anchor="ctr"/>
          <a:lstStyle/>
          <a:p>
            <a:pPr marL="0" indent="0">
              <a:buNone/>
            </a:pPr>
            <a:r>
              <a:rPr sz="1300">
                <a:solidFill>
                  <a:srgbClr val="9AA3AF"/>
                </a:solidFill>
                <a:latin typeface="Calibri"/>
                <a:ea typeface="Calibri"/>
                <a:cs typeface="Calibri"/>
              </a:rPr>
              <a:t>SICHER</a:t>
            </a:r>
          </a:p>
        </p:txBody>
      </p:sp>
      <p:sp>
        <p:nvSpPr>
          <p:cNvPr id="14" name="Text 12">
            <a:extLst>
              <a:ext uri="{FF2B5EF4-FFF2-40B4-BE49-F238E27FC236}">
                <a16:creationId xmlns:a16="http://schemas.microsoft.com/office/drawing/2014/main" id="{D0A4CDE0-7F8C-421C-8867-6C2C3172BEAD}"/>
              </a:ext>
            </a:extLst>
          </p:cNvPr>
          <p:cNvSpPr>
            <a:spLocks noGrp="1"/>
          </p:cNvSpPr>
          <p:nvPr/>
        </p:nvSpPr>
        <p:spPr>
          <a:xfrm>
            <a:off x="6720840" y="3767328"/>
            <a:ext cx="2926080" cy="548640"/>
          </a:xfrm>
          <a:prstGeom prst="rect">
            <a:avLst/>
          </a:prstGeom>
          <a:noFill/>
        </p:spPr>
        <p:txBody>
          <a:bodyPr wrap="square" lIns="0" tIns="0" rIns="0" bIns="0" anchor="ctr"/>
          <a:lstStyle/>
          <a:p>
            <a:pPr marL="0" indent="0">
              <a:buNone/>
            </a:pPr>
            <a:r>
              <a:rPr sz="3000" b="1">
                <a:solidFill>
                  <a:srgbClr val="16181D"/>
                </a:solidFill>
                <a:latin typeface="Consolas"/>
                <a:ea typeface="Consolas"/>
                <a:cs typeface="Consolas"/>
              </a:rPr>
              <a:t>Event Slot</a:t>
            </a:r>
          </a:p>
        </p:txBody>
      </p:sp>
      <p:sp>
        <p:nvSpPr>
          <p:cNvPr id="15" name="Shape 13">
            <a:extLst>
              <a:ext uri="{FF2B5EF4-FFF2-40B4-BE49-F238E27FC236}">
                <a16:creationId xmlns:a16="http://schemas.microsoft.com/office/drawing/2014/main" id="{791309A0-BCB1-40B3-9663-F2F2BFB1CFA9}"/>
              </a:ext>
            </a:extLst>
          </p:cNvPr>
          <p:cNvSpPr>
            <a:spLocks noGrp="1"/>
          </p:cNvSpPr>
          <p:nvPr/>
        </p:nvSpPr>
        <p:spPr>
          <a:xfrm>
            <a:off x="868680" y="4892040"/>
            <a:ext cx="10454335" cy="0"/>
          </a:xfrm>
          <a:prstGeom prst="line">
            <a:avLst/>
          </a:prstGeom>
          <a:noFill/>
          <a:ln w="12700">
            <a:solidFill>
              <a:srgbClr val="E4E7EC"/>
            </a:solidFill>
            <a:prstDash val="solid"/>
          </a:ln>
        </p:spPr>
      </p:sp>
      <p:sp>
        <p:nvSpPr>
          <p:cNvPr id="16" name="Text 14">
            <a:extLst>
              <a:ext uri="{FF2B5EF4-FFF2-40B4-BE49-F238E27FC236}">
                <a16:creationId xmlns:a16="http://schemas.microsoft.com/office/drawing/2014/main" id="{F30095E8-2148-4819-914E-700293DA5DF9}"/>
              </a:ext>
            </a:extLst>
          </p:cNvPr>
          <p:cNvSpPr>
            <a:spLocks noGrp="1"/>
          </p:cNvSpPr>
          <p:nvPr/>
        </p:nvSpPr>
        <p:spPr>
          <a:xfrm>
            <a:off x="868680" y="5166360"/>
            <a:ext cx="10058400" cy="365760"/>
          </a:xfrm>
          <a:prstGeom prst="rect">
            <a:avLst/>
          </a:prstGeom>
          <a:noFill/>
        </p:spPr>
        <p:txBody>
          <a:bodyPr wrap="square" lIns="0" tIns="0" rIns="0" bIns="0" anchor="ctr"/>
          <a:lstStyle/>
          <a:p>
            <a:pPr marL="0" indent="0">
              <a:buNone/>
            </a:pPr>
            <a:r>
              <a:rPr sz="1900" b="1">
                <a:solidFill>
                  <a:srgbClr val="16181D"/>
                </a:solidFill>
                <a:latin typeface="Trebuchet MS"/>
                <a:ea typeface="Trebuchet MS"/>
                <a:cs typeface="Trebuchet MS"/>
              </a:rPr>
              <a:t>UMSCHALTUNG</a:t>
            </a:r>
          </a:p>
        </p:txBody>
      </p:sp>
      <p:sp>
        <p:nvSpPr>
          <p:cNvPr id="17" name="Text 15">
            <a:extLst>
              <a:ext uri="{FF2B5EF4-FFF2-40B4-BE49-F238E27FC236}">
                <a16:creationId xmlns:a16="http://schemas.microsoft.com/office/drawing/2014/main" id="{48721FF5-1478-4637-84E6-D34829A54E91}"/>
              </a:ext>
            </a:extLst>
          </p:cNvPr>
          <p:cNvSpPr>
            <a:spLocks noGrp="1"/>
          </p:cNvSpPr>
          <p:nvPr/>
        </p:nvSpPr>
        <p:spPr>
          <a:xfrm>
            <a:off x="868680" y="5669280"/>
            <a:ext cx="10058400" cy="457200"/>
          </a:xfrm>
          <a:prstGeom prst="rect">
            <a:avLst/>
          </a:prstGeom>
          <a:noFill/>
        </p:spPr>
        <p:txBody>
          <a:bodyPr wrap="square" lIns="0" tIns="0" rIns="0" bIns="0" anchor="ctr"/>
          <a:lstStyle/>
          <a:p>
            <a:pPr marL="0" indent="0">
              <a:buNone/>
            </a:pPr>
            <a:r>
              <a:rPr sz="1800" b="1">
                <a:solidFill>
                  <a:srgbClr val="16181D"/>
                </a:solidFill>
                <a:latin typeface="Consolas"/>
                <a:ea typeface="Consolas"/>
                <a:cs typeface="Consolas"/>
              </a:rPr>
              <a:t>router.js und die sichere Env Konfiguration wählen die Variante.</a:t>
            </a:r>
          </a:p>
        </p:txBody>
      </p:sp>
      <p:sp>
        <p:nvSpPr>
          <p:cNvPr id="18" name="Text 1">
            <a:extLst>
              <a:ext uri="{FF2B5EF4-FFF2-40B4-BE49-F238E27FC236}">
                <a16:creationId xmlns:a16="http://schemas.microsoft.com/office/drawing/2014/main" id="{793D2100-7CF1-9397-D5CF-9C64A9EEB2DE}"/>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r>
              <a:rPr lang="en-US" sz="1050" b="1" kern="0" spc="100" dirty="0">
                <a:solidFill>
                  <a:srgbClr val="9AA3AF"/>
                </a:solidFill>
                <a:latin typeface="Calibri" pitchFamily="34" charset="0"/>
                <a:ea typeface="Calibri" pitchFamily="34" charset="-122"/>
                <a:cs typeface="Calibri" pitchFamily="34" charset="-120"/>
              </a:rPr>
              <a:t>0</a:t>
            </a: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7</a:t>
            </a:fld>
            <a:endParaRPr lang="en-US" sz="1050" dirty="0"/>
          </a:p>
        </p:txBody>
      </p:sp>
    </p:spTree>
    <p:extLst>
      <p:ext uri="{BB962C8B-B14F-4D97-AF65-F5344CB8AC3E}">
        <p14:creationId xmlns:p14="http://schemas.microsoft.com/office/powerpoint/2010/main" val="66136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B95CA36-7AD5-4CED-959F-F065EF9A96F2}"/>
              </a:ext>
            </a:extLst>
          </p:cNvPr>
          <p:cNvSpPr>
            <a:spLocks noGrp="1"/>
          </p:cNvSpPr>
          <p:nvPr/>
        </p:nvSpPr>
        <p:spPr>
          <a:xfrm>
            <a:off x="868680" y="1874520"/>
            <a:ext cx="7315200" cy="320040"/>
          </a:xfrm>
          <a:prstGeom prst="rect">
            <a:avLst/>
          </a:prstGeom>
          <a:noFill/>
        </p:spPr>
        <p:txBody>
          <a:bodyPr wrap="square" lIns="0" tIns="0" rIns="0" bIns="0" anchor="ctr"/>
          <a:lstStyle/>
          <a:p>
            <a:pPr marL="0" indent="0">
              <a:buNone/>
            </a:pPr>
            <a:r>
              <a:rPr sz="1200" b="1">
                <a:solidFill>
                  <a:srgbClr val="1463FF"/>
                </a:solidFill>
                <a:latin typeface="Calibri"/>
                <a:ea typeface="Calibri"/>
                <a:cs typeface="Calibri"/>
              </a:rPr>
              <a:t>LIVE DEMO · XSS</a:t>
            </a:r>
          </a:p>
        </p:txBody>
      </p:sp>
      <p:sp>
        <p:nvSpPr>
          <p:cNvPr id="3" name="Text 1">
            <a:extLst>
              <a:ext uri="{FF2B5EF4-FFF2-40B4-BE49-F238E27FC236}">
                <a16:creationId xmlns:a16="http://schemas.microsoft.com/office/drawing/2014/main" id="{FD8DA67A-FD81-4D52-AB3E-0B0E93F9DAB5}"/>
              </a:ext>
            </a:extLst>
          </p:cNvPr>
          <p:cNvSpPr>
            <a:spLocks noGrp="1"/>
          </p:cNvSpPr>
          <p:nvPr/>
        </p:nvSpPr>
        <p:spPr>
          <a:xfrm>
            <a:off x="822960" y="2194560"/>
            <a:ext cx="10058400" cy="1463040"/>
          </a:xfrm>
          <a:prstGeom prst="rect">
            <a:avLst/>
          </a:prstGeom>
          <a:noFill/>
        </p:spPr>
        <p:txBody>
          <a:bodyPr wrap="square" lIns="0" tIns="0" rIns="0" bIns="0" anchor="ctr"/>
          <a:lstStyle/>
          <a:p>
            <a:pPr marL="0" indent="0">
              <a:buNone/>
            </a:pPr>
            <a:r>
              <a:rPr sz="11000" b="1">
                <a:solidFill>
                  <a:srgbClr val="16181D"/>
                </a:solidFill>
                <a:latin typeface="Trebuchet MS"/>
                <a:ea typeface="Trebuchet MS"/>
                <a:cs typeface="Trebuchet MS"/>
              </a:rPr>
              <a:t>Zur Live Demo</a:t>
            </a:r>
          </a:p>
        </p:txBody>
      </p:sp>
      <p:sp>
        <p:nvSpPr>
          <p:cNvPr id="4" name="Text 2">
            <a:extLst>
              <a:ext uri="{FF2B5EF4-FFF2-40B4-BE49-F238E27FC236}">
                <a16:creationId xmlns:a16="http://schemas.microsoft.com/office/drawing/2014/main" id="{17D4FDB8-F8F0-4D96-95F0-9B90E32AF337}"/>
              </a:ext>
            </a:extLst>
          </p:cNvPr>
          <p:cNvSpPr>
            <a:spLocks noGrp="1"/>
          </p:cNvSpPr>
          <p:nvPr/>
        </p:nvSpPr>
        <p:spPr>
          <a:xfrm>
            <a:off x="868680" y="3703320"/>
            <a:ext cx="10058400" cy="502920"/>
          </a:xfrm>
          <a:prstGeom prst="rect">
            <a:avLst/>
          </a:prstGeom>
          <a:noFill/>
        </p:spPr>
        <p:txBody>
          <a:bodyPr wrap="square" lIns="0" tIns="0" rIns="0" bIns="0" anchor="ctr"/>
          <a:lstStyle/>
          <a:p>
            <a:pPr marL="0" indent="0">
              <a:buNone/>
            </a:pPr>
            <a:endParaRPr/>
          </a:p>
        </p:txBody>
      </p:sp>
      <p:sp>
        <p:nvSpPr>
          <p:cNvPr id="5" name="Shape 3">
            <a:extLst>
              <a:ext uri="{FF2B5EF4-FFF2-40B4-BE49-F238E27FC236}">
                <a16:creationId xmlns:a16="http://schemas.microsoft.com/office/drawing/2014/main" id="{42345276-9CC1-4302-B204-8758E42AE5A8}"/>
              </a:ext>
            </a:extLst>
          </p:cNvPr>
          <p:cNvSpPr>
            <a:spLocks noGrp="1"/>
          </p:cNvSpPr>
          <p:nvPr/>
        </p:nvSpPr>
        <p:spPr>
          <a:xfrm>
            <a:off x="868680" y="4526280"/>
            <a:ext cx="1828800" cy="0"/>
          </a:xfrm>
          <a:prstGeom prst="line">
            <a:avLst/>
          </a:prstGeom>
          <a:noFill/>
          <a:ln w="28575">
            <a:solidFill>
              <a:srgbClr val="16181D"/>
            </a:solidFill>
            <a:prstDash val="solid"/>
          </a:ln>
        </p:spPr>
      </p:sp>
      <p:sp>
        <p:nvSpPr>
          <p:cNvPr id="6" name="Text 4">
            <a:extLst>
              <a:ext uri="{FF2B5EF4-FFF2-40B4-BE49-F238E27FC236}">
                <a16:creationId xmlns:a16="http://schemas.microsoft.com/office/drawing/2014/main" id="{468481FB-4609-481A-89AB-8748CC339F06}"/>
              </a:ext>
            </a:extLst>
          </p:cNvPr>
          <p:cNvSpPr>
            <a:spLocks noGrp="1"/>
          </p:cNvSpPr>
          <p:nvPr/>
        </p:nvSpPr>
        <p:spPr>
          <a:xfrm>
            <a:off x="868680" y="4754880"/>
            <a:ext cx="8686800" cy="457200"/>
          </a:xfrm>
          <a:prstGeom prst="rect">
            <a:avLst/>
          </a:prstGeom>
          <a:noFill/>
        </p:spPr>
        <p:txBody>
          <a:bodyPr wrap="square" lIns="0" tIns="0" rIns="0" bIns="0" anchor="ctr"/>
          <a:lstStyle/>
          <a:p>
            <a:pPr marL="0" indent="0">
              <a:buNone/>
            </a:pPr>
            <a:r>
              <a:rPr sz="1600">
                <a:solidFill>
                  <a:srgbClr val="55606E"/>
                </a:solidFill>
                <a:latin typeface="Calibri"/>
                <a:ea typeface="Calibri"/>
                <a:cs typeface="Calibri"/>
              </a:rPr>
              <a:t>Derselbe gespeicherte Wert wird zuerst als HTML ausgeführt und bleibt danach in der sicheren Ansicht sichtbarer Text.</a:t>
            </a:r>
          </a:p>
        </p:txBody>
      </p:sp>
      <p:sp>
        <p:nvSpPr>
          <p:cNvPr id="7" name="Text 5">
            <a:extLst>
              <a:ext uri="{FF2B5EF4-FFF2-40B4-BE49-F238E27FC236}">
                <a16:creationId xmlns:a16="http://schemas.microsoft.com/office/drawing/2014/main" id="{94A987EA-ED23-44AA-ABC1-DB16DB020FDD}"/>
              </a:ext>
            </a:extLst>
          </p:cNvPr>
          <p:cNvSpPr>
            <a:spLocks noGrp="1"/>
          </p:cNvSpPr>
          <p:nvPr/>
        </p:nvSpPr>
        <p:spPr>
          <a:xfrm>
            <a:off x="9448495" y="6080760"/>
            <a:ext cx="1874520" cy="320040"/>
          </a:xfrm>
          <a:prstGeom prst="rect">
            <a:avLst/>
          </a:prstGeom>
          <a:noFill/>
        </p:spPr>
        <p:txBody>
          <a:bodyPr wrap="square" lIns="0" tIns="0" rIns="0" bIns="0" anchor="ctr"/>
          <a:lstStyle/>
          <a:p>
            <a:pPr marL="0" indent="0" algn="r">
              <a:buNone/>
            </a:pPr>
            <a:r>
              <a:rPr sz="1200" i="1">
                <a:solidFill>
                  <a:srgbClr val="9AA3AF"/>
                </a:solidFill>
                <a:latin typeface="Calibri"/>
                <a:ea typeface="Calibri"/>
                <a:cs typeface="Calibri"/>
              </a:rPr>
              <a:t>Linus &amp; Arvid</a:t>
            </a:r>
          </a:p>
        </p:txBody>
      </p:sp>
    </p:spTree>
    <p:extLst>
      <p:ext uri="{BB962C8B-B14F-4D97-AF65-F5344CB8AC3E}">
        <p14:creationId xmlns:p14="http://schemas.microsoft.com/office/powerpoint/2010/main" val="144883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BB7AA5D-3470-4C6E-A95C-97BF34A9C9C8}"/>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KRITISCHES RISIKO · SCHEDULER</a:t>
            </a:r>
          </a:p>
        </p:txBody>
      </p:sp>
      <p:sp>
        <p:nvSpPr>
          <p:cNvPr id="4" name="Text 2">
            <a:extLst>
              <a:ext uri="{FF2B5EF4-FFF2-40B4-BE49-F238E27FC236}">
                <a16:creationId xmlns:a16="http://schemas.microsoft.com/office/drawing/2014/main" id="{A08E6FF8-3FF4-4AF4-87A4-1B1301369BC7}"/>
              </a:ext>
            </a:extLst>
          </p:cNvPr>
          <p:cNvSpPr>
            <a:spLocks noGrp="1"/>
          </p:cNvSpPr>
          <p:nvPr/>
        </p:nvSpPr>
        <p:spPr>
          <a:xfrm>
            <a:off x="868680" y="1051560"/>
            <a:ext cx="10424160" cy="777240"/>
          </a:xfrm>
          <a:prstGeom prst="rect">
            <a:avLst/>
          </a:prstGeom>
          <a:noFill/>
        </p:spPr>
        <p:txBody>
          <a:bodyPr wrap="square" lIns="0" tIns="0" rIns="0" bIns="0" anchor="ctr"/>
          <a:lstStyle/>
          <a:p>
            <a:pPr marL="0" indent="0">
              <a:buNone/>
            </a:pPr>
            <a:r>
              <a:rPr sz="4000" b="1">
                <a:solidFill>
                  <a:srgbClr val="16181D"/>
                </a:solidFill>
                <a:latin typeface="Trebuchet MS"/>
                <a:ea typeface="Trebuchet MS"/>
                <a:cs typeface="Trebuchet MS"/>
              </a:rPr>
              <a:t>Das eigentliche Risiko</a:t>
            </a:r>
          </a:p>
        </p:txBody>
      </p:sp>
      <p:sp>
        <p:nvSpPr>
          <p:cNvPr id="5" name="Text 3">
            <a:extLst>
              <a:ext uri="{FF2B5EF4-FFF2-40B4-BE49-F238E27FC236}">
                <a16:creationId xmlns:a16="http://schemas.microsoft.com/office/drawing/2014/main" id="{73388B0A-0119-4C41-85DF-2C9EC566263D}"/>
              </a:ext>
            </a:extLst>
          </p:cNvPr>
          <p:cNvSpPr>
            <a:spLocks noGrp="1"/>
          </p:cNvSpPr>
          <p:nvPr/>
        </p:nvSpPr>
        <p:spPr>
          <a:xfrm>
            <a:off x="868680" y="1920240"/>
            <a:ext cx="10241280" cy="640080"/>
          </a:xfrm>
          <a:prstGeom prst="rect">
            <a:avLst/>
          </a:prstGeom>
          <a:noFill/>
        </p:spPr>
        <p:txBody>
          <a:bodyPr wrap="square" lIns="0" tIns="0" rIns="0" bIns="0" anchor="ctr"/>
          <a:lstStyle/>
          <a:p>
            <a:pPr marL="0" indent="0">
              <a:buNone/>
            </a:pPr>
            <a:r>
              <a:rPr sz="1700">
                <a:solidFill>
                  <a:srgbClr val="55606E"/>
                </a:solidFill>
                <a:latin typeface="Calibri"/>
                <a:ea typeface="Calibri"/>
                <a:cs typeface="Calibri"/>
              </a:rPr>
              <a:t>Ein Alert ist nur der sichtbare Beweis. Der eingeschleuste Code läuft im Browser eines eingeloggten Scheduler Nutzers.</a:t>
            </a:r>
          </a:p>
        </p:txBody>
      </p:sp>
      <p:sp>
        <p:nvSpPr>
          <p:cNvPr id="6" name="Text 4">
            <a:extLst>
              <a:ext uri="{FF2B5EF4-FFF2-40B4-BE49-F238E27FC236}">
                <a16:creationId xmlns:a16="http://schemas.microsoft.com/office/drawing/2014/main" id="{142EFDBB-E9F9-4742-B225-1229ACD1B3B9}"/>
              </a:ext>
            </a:extLst>
          </p:cNvPr>
          <p:cNvSpPr>
            <a:spLocks noGrp="1"/>
          </p:cNvSpPr>
          <p:nvPr/>
        </p:nvSpPr>
        <p:spPr>
          <a:xfrm>
            <a:off x="868680" y="3063240"/>
            <a:ext cx="9144000" cy="292608"/>
          </a:xfrm>
          <a:prstGeom prst="rect">
            <a:avLst/>
          </a:prstGeom>
          <a:noFill/>
        </p:spPr>
        <p:txBody>
          <a:bodyPr wrap="square" lIns="0" tIns="0" rIns="0" bIns="0" anchor="ctr"/>
          <a:lstStyle/>
          <a:p>
            <a:pPr marL="0" indent="0">
              <a:buNone/>
            </a:pPr>
            <a:r>
              <a:rPr sz="1150" b="1">
                <a:solidFill>
                  <a:srgbClr val="1463FF"/>
                </a:solidFill>
                <a:latin typeface="Calibri"/>
                <a:ea typeface="Calibri"/>
                <a:cs typeface="Calibri"/>
              </a:rPr>
              <a:t>AUSLÖSER</a:t>
            </a:r>
          </a:p>
        </p:txBody>
      </p:sp>
      <p:sp>
        <p:nvSpPr>
          <p:cNvPr id="7" name="Text 5">
            <a:extLst>
              <a:ext uri="{FF2B5EF4-FFF2-40B4-BE49-F238E27FC236}">
                <a16:creationId xmlns:a16="http://schemas.microsoft.com/office/drawing/2014/main" id="{0BF06041-94F2-410B-8AF8-5DBCCF29886E}"/>
              </a:ext>
            </a:extLst>
          </p:cNvPr>
          <p:cNvSpPr>
            <a:spLocks noGrp="1"/>
          </p:cNvSpPr>
          <p:nvPr/>
        </p:nvSpPr>
        <p:spPr>
          <a:xfrm>
            <a:off x="868680" y="3429000"/>
            <a:ext cx="2880360" cy="411480"/>
          </a:xfrm>
          <a:prstGeom prst="rect">
            <a:avLst/>
          </a:prstGeom>
          <a:noFill/>
        </p:spPr>
        <p:txBody>
          <a:bodyPr wrap="square" lIns="0" tIns="0" rIns="0" bIns="0" anchor="ctr"/>
          <a:lstStyle/>
          <a:p>
            <a:pPr marL="0" indent="0">
              <a:buNone/>
            </a:pPr>
            <a:r>
              <a:rPr sz="1700" b="1">
                <a:solidFill>
                  <a:srgbClr val="16181D"/>
                </a:solidFill>
                <a:latin typeface="Trebuchet MS"/>
                <a:ea typeface="Trebuchet MS"/>
                <a:cs typeface="Trebuchet MS"/>
              </a:rPr>
              <a:t>Gespeicherter Payload</a:t>
            </a:r>
          </a:p>
        </p:txBody>
      </p:sp>
      <p:sp>
        <p:nvSpPr>
          <p:cNvPr id="8" name="Text 6">
            <a:extLst>
              <a:ext uri="{FF2B5EF4-FFF2-40B4-BE49-F238E27FC236}">
                <a16:creationId xmlns:a16="http://schemas.microsoft.com/office/drawing/2014/main" id="{CD9997F8-D549-4239-9DD9-0385F5DBCEEB}"/>
              </a:ext>
            </a:extLst>
          </p:cNvPr>
          <p:cNvSpPr>
            <a:spLocks noGrp="1"/>
          </p:cNvSpPr>
          <p:nvPr/>
        </p:nvSpPr>
        <p:spPr>
          <a:xfrm>
            <a:off x="868680" y="3813048"/>
            <a:ext cx="2880360" cy="457200"/>
          </a:xfrm>
          <a:prstGeom prst="rect">
            <a:avLst/>
          </a:prstGeom>
          <a:noFill/>
        </p:spPr>
        <p:txBody>
          <a:bodyPr wrap="square" lIns="0" tIns="0" rIns="0" bIns="0" anchor="ctr"/>
          <a:lstStyle/>
          <a:p>
            <a:pPr marL="0" indent="0">
              <a:buNone/>
            </a:pPr>
            <a:r>
              <a:rPr sz="1250">
                <a:solidFill>
                  <a:srgbClr val="55606E"/>
                </a:solidFill>
                <a:latin typeface="Calibri"/>
                <a:ea typeface="Calibri"/>
                <a:cs typeface="Calibri"/>
              </a:rPr>
              <a:t>wird im Kalender geöffnet</a:t>
            </a:r>
          </a:p>
        </p:txBody>
      </p:sp>
      <p:sp>
        <p:nvSpPr>
          <p:cNvPr id="9" name="Text 7">
            <a:extLst>
              <a:ext uri="{FF2B5EF4-FFF2-40B4-BE49-F238E27FC236}">
                <a16:creationId xmlns:a16="http://schemas.microsoft.com/office/drawing/2014/main" id="{B8626B6E-A7FA-4FE6-BFA1-771B8586B8A7}"/>
              </a:ext>
            </a:extLst>
          </p:cNvPr>
          <p:cNvSpPr>
            <a:spLocks noGrp="1"/>
          </p:cNvSpPr>
          <p:nvPr/>
        </p:nvSpPr>
        <p:spPr>
          <a:xfrm>
            <a:off x="3611880" y="3429000"/>
            <a:ext cx="457200" cy="411480"/>
          </a:xfrm>
          <a:prstGeom prst="rect">
            <a:avLst/>
          </a:prstGeom>
          <a:noFill/>
        </p:spPr>
        <p:txBody>
          <a:bodyPr wrap="square" lIns="0" tIns="0" rIns="0" bIns="0" anchor="ctr"/>
          <a:lstStyle/>
          <a:p>
            <a:pPr marL="0" indent="0" algn="ctr">
              <a:buNone/>
            </a:pPr>
            <a:r>
              <a:rPr sz="2000">
                <a:solidFill>
                  <a:srgbClr val="9AA3AF"/>
                </a:solidFill>
                <a:latin typeface="Calibri"/>
                <a:ea typeface="Calibri"/>
                <a:cs typeface="Calibri"/>
              </a:rPr>
              <a:t>→</a:t>
            </a:r>
          </a:p>
        </p:txBody>
      </p:sp>
      <p:sp>
        <p:nvSpPr>
          <p:cNvPr id="10" name="Text 8">
            <a:extLst>
              <a:ext uri="{FF2B5EF4-FFF2-40B4-BE49-F238E27FC236}">
                <a16:creationId xmlns:a16="http://schemas.microsoft.com/office/drawing/2014/main" id="{C5CB29F0-5857-4E95-8E83-ADD5DEC41D7D}"/>
              </a:ext>
            </a:extLst>
          </p:cNvPr>
          <p:cNvSpPr>
            <a:spLocks noGrp="1"/>
          </p:cNvSpPr>
          <p:nvPr/>
        </p:nvSpPr>
        <p:spPr>
          <a:xfrm>
            <a:off x="4114800" y="3429000"/>
            <a:ext cx="2880360" cy="411480"/>
          </a:xfrm>
          <a:prstGeom prst="rect">
            <a:avLst/>
          </a:prstGeom>
          <a:noFill/>
        </p:spPr>
        <p:txBody>
          <a:bodyPr wrap="square" lIns="0" tIns="0" rIns="0" bIns="0" anchor="ctr"/>
          <a:lstStyle/>
          <a:p>
            <a:pPr marL="0" indent="0">
              <a:buNone/>
            </a:pPr>
            <a:r>
              <a:rPr sz="1700" b="1">
                <a:solidFill>
                  <a:srgbClr val="16181D"/>
                </a:solidFill>
                <a:latin typeface="Trebuchet MS"/>
                <a:ea typeface="Trebuchet MS"/>
                <a:cs typeface="Trebuchet MS"/>
              </a:rPr>
              <a:t>Browserkontext</a:t>
            </a:r>
          </a:p>
        </p:txBody>
      </p:sp>
      <p:sp>
        <p:nvSpPr>
          <p:cNvPr id="11" name="Text 9">
            <a:extLst>
              <a:ext uri="{FF2B5EF4-FFF2-40B4-BE49-F238E27FC236}">
                <a16:creationId xmlns:a16="http://schemas.microsoft.com/office/drawing/2014/main" id="{0DC55A0F-11AD-4E66-B497-3B0E59484AC6}"/>
              </a:ext>
            </a:extLst>
          </p:cNvPr>
          <p:cNvSpPr>
            <a:spLocks noGrp="1"/>
          </p:cNvSpPr>
          <p:nvPr/>
        </p:nvSpPr>
        <p:spPr>
          <a:xfrm>
            <a:off x="4114800" y="3813048"/>
            <a:ext cx="2880360" cy="457200"/>
          </a:xfrm>
          <a:prstGeom prst="rect">
            <a:avLst/>
          </a:prstGeom>
          <a:noFill/>
        </p:spPr>
        <p:txBody>
          <a:bodyPr wrap="square" lIns="0" tIns="0" rIns="0" bIns="0" anchor="ctr"/>
          <a:lstStyle/>
          <a:p>
            <a:pPr marL="0" indent="0">
              <a:buNone/>
            </a:pPr>
            <a:r>
              <a:rPr sz="1250">
                <a:solidFill>
                  <a:srgbClr val="55606E"/>
                </a:solidFill>
                <a:latin typeface="Calibri"/>
                <a:ea typeface="Calibri"/>
                <a:cs typeface="Calibri"/>
              </a:rPr>
              <a:t>Scheduler Oberfläche</a:t>
            </a:r>
          </a:p>
        </p:txBody>
      </p:sp>
      <p:sp>
        <p:nvSpPr>
          <p:cNvPr id="12" name="Shape 10">
            <a:extLst>
              <a:ext uri="{FF2B5EF4-FFF2-40B4-BE49-F238E27FC236}">
                <a16:creationId xmlns:a16="http://schemas.microsoft.com/office/drawing/2014/main" id="{F90C256D-5E14-4FA9-BDC4-06BD082E67F5}"/>
              </a:ext>
            </a:extLst>
          </p:cNvPr>
          <p:cNvSpPr>
            <a:spLocks noGrp="1"/>
          </p:cNvSpPr>
          <p:nvPr/>
        </p:nvSpPr>
        <p:spPr>
          <a:xfrm>
            <a:off x="868680" y="4526280"/>
            <a:ext cx="10454335" cy="0"/>
          </a:xfrm>
          <a:prstGeom prst="line">
            <a:avLst/>
          </a:prstGeom>
          <a:noFill/>
          <a:ln w="12700">
            <a:solidFill>
              <a:srgbClr val="E4E7EC"/>
            </a:solidFill>
            <a:prstDash val="solid"/>
          </a:ln>
        </p:spPr>
      </p:sp>
      <p:sp>
        <p:nvSpPr>
          <p:cNvPr id="13" name="Text 11">
            <a:extLst>
              <a:ext uri="{FF2B5EF4-FFF2-40B4-BE49-F238E27FC236}">
                <a16:creationId xmlns:a16="http://schemas.microsoft.com/office/drawing/2014/main" id="{EAE1B4B8-ECCC-498F-B560-F417BFE7F52A}"/>
              </a:ext>
            </a:extLst>
          </p:cNvPr>
          <p:cNvSpPr>
            <a:spLocks noGrp="1"/>
          </p:cNvSpPr>
          <p:nvPr/>
        </p:nvSpPr>
        <p:spPr>
          <a:xfrm>
            <a:off x="868680" y="4846320"/>
            <a:ext cx="9144000" cy="292608"/>
          </a:xfrm>
          <a:prstGeom prst="rect">
            <a:avLst/>
          </a:prstGeom>
          <a:noFill/>
        </p:spPr>
        <p:txBody>
          <a:bodyPr wrap="square" lIns="0" tIns="0" rIns="0" bIns="0" anchor="ctr"/>
          <a:lstStyle/>
          <a:p>
            <a:pPr marL="0" indent="0">
              <a:buNone/>
            </a:pPr>
            <a:r>
              <a:rPr sz="1150" b="1">
                <a:solidFill>
                  <a:srgbClr val="D23B4E"/>
                </a:solidFill>
                <a:latin typeface="Calibri"/>
                <a:ea typeface="Calibri"/>
                <a:cs typeface="Calibri"/>
              </a:rPr>
              <a:t>MÖGLICHE FOLGEN</a:t>
            </a:r>
          </a:p>
        </p:txBody>
      </p:sp>
      <p:sp>
        <p:nvSpPr>
          <p:cNvPr id="14" name="Text 12">
            <a:extLst>
              <a:ext uri="{FF2B5EF4-FFF2-40B4-BE49-F238E27FC236}">
                <a16:creationId xmlns:a16="http://schemas.microsoft.com/office/drawing/2014/main" id="{70747B67-D473-4779-9378-C3F4E97A1ECE}"/>
              </a:ext>
            </a:extLst>
          </p:cNvPr>
          <p:cNvSpPr>
            <a:spLocks noGrp="1"/>
          </p:cNvSpPr>
          <p:nvPr/>
        </p:nvSpPr>
        <p:spPr>
          <a:xfrm>
            <a:off x="868680" y="5212080"/>
            <a:ext cx="2880360" cy="411480"/>
          </a:xfrm>
          <a:prstGeom prst="rect">
            <a:avLst/>
          </a:prstGeom>
          <a:noFill/>
        </p:spPr>
        <p:txBody>
          <a:bodyPr wrap="square" lIns="0" tIns="0" rIns="0" bIns="0" anchor="ctr"/>
          <a:lstStyle/>
          <a:p>
            <a:pPr marL="0" indent="0">
              <a:buNone/>
            </a:pPr>
            <a:r>
              <a:rPr sz="1700" b="1">
                <a:solidFill>
                  <a:srgbClr val="16181D"/>
                </a:solidFill>
                <a:latin typeface="Trebuchet MS"/>
                <a:ea typeface="Trebuchet MS"/>
                <a:cs typeface="Trebuchet MS"/>
              </a:rPr>
              <a:t>Sichtbare Daten lesen</a:t>
            </a:r>
          </a:p>
        </p:txBody>
      </p:sp>
      <p:sp>
        <p:nvSpPr>
          <p:cNvPr id="15" name="Text 13">
            <a:extLst>
              <a:ext uri="{FF2B5EF4-FFF2-40B4-BE49-F238E27FC236}">
                <a16:creationId xmlns:a16="http://schemas.microsoft.com/office/drawing/2014/main" id="{CA0483C5-6E45-4D0E-95CA-281566E37CB4}"/>
              </a:ext>
            </a:extLst>
          </p:cNvPr>
          <p:cNvSpPr>
            <a:spLocks noGrp="1"/>
          </p:cNvSpPr>
          <p:nvPr/>
        </p:nvSpPr>
        <p:spPr>
          <a:xfrm>
            <a:off x="868680" y="5596128"/>
            <a:ext cx="2880360" cy="457200"/>
          </a:xfrm>
          <a:prstGeom prst="rect">
            <a:avLst/>
          </a:prstGeom>
          <a:noFill/>
        </p:spPr>
        <p:txBody>
          <a:bodyPr wrap="square" lIns="0" tIns="0" rIns="0" bIns="0" anchor="ctr"/>
          <a:lstStyle/>
          <a:p>
            <a:pPr marL="0" indent="0">
              <a:buNone/>
            </a:pPr>
            <a:r>
              <a:rPr sz="1250">
                <a:solidFill>
                  <a:srgbClr val="55606E"/>
                </a:solidFill>
                <a:latin typeface="Calibri"/>
                <a:ea typeface="Calibri"/>
                <a:cs typeface="Calibri"/>
              </a:rPr>
              <a:t>Planungsdaten</a:t>
            </a:r>
          </a:p>
        </p:txBody>
      </p:sp>
      <p:sp>
        <p:nvSpPr>
          <p:cNvPr id="16" name="Text 14">
            <a:extLst>
              <a:ext uri="{FF2B5EF4-FFF2-40B4-BE49-F238E27FC236}">
                <a16:creationId xmlns:a16="http://schemas.microsoft.com/office/drawing/2014/main" id="{39561BDA-AAA0-4F4D-800A-5FAE47B1DBC0}"/>
              </a:ext>
            </a:extLst>
          </p:cNvPr>
          <p:cNvSpPr>
            <a:spLocks noGrp="1"/>
          </p:cNvSpPr>
          <p:nvPr/>
        </p:nvSpPr>
        <p:spPr>
          <a:xfrm>
            <a:off x="3611880" y="5212080"/>
            <a:ext cx="457200" cy="411480"/>
          </a:xfrm>
          <a:prstGeom prst="rect">
            <a:avLst/>
          </a:prstGeom>
          <a:noFill/>
        </p:spPr>
        <p:txBody>
          <a:bodyPr wrap="square" lIns="0" tIns="0" rIns="0" bIns="0" anchor="ctr"/>
          <a:lstStyle/>
          <a:p>
            <a:pPr marL="0" indent="0" algn="ctr">
              <a:buNone/>
            </a:pPr>
            <a:r>
              <a:rPr sz="2000">
                <a:solidFill>
                  <a:srgbClr val="9AA3AF"/>
                </a:solidFill>
                <a:latin typeface="Calibri"/>
                <a:ea typeface="Calibri"/>
                <a:cs typeface="Calibri"/>
              </a:rPr>
              <a:t>→</a:t>
            </a:r>
          </a:p>
        </p:txBody>
      </p:sp>
      <p:sp>
        <p:nvSpPr>
          <p:cNvPr id="17" name="Text 15">
            <a:extLst>
              <a:ext uri="{FF2B5EF4-FFF2-40B4-BE49-F238E27FC236}">
                <a16:creationId xmlns:a16="http://schemas.microsoft.com/office/drawing/2014/main" id="{BDBC130B-2B31-45D2-B879-36DF0C4278AB}"/>
              </a:ext>
            </a:extLst>
          </p:cNvPr>
          <p:cNvSpPr>
            <a:spLocks noGrp="1"/>
          </p:cNvSpPr>
          <p:nvPr/>
        </p:nvSpPr>
        <p:spPr>
          <a:xfrm>
            <a:off x="4114800" y="5212080"/>
            <a:ext cx="2880360" cy="411480"/>
          </a:xfrm>
          <a:prstGeom prst="rect">
            <a:avLst/>
          </a:prstGeom>
          <a:noFill/>
        </p:spPr>
        <p:txBody>
          <a:bodyPr wrap="square" lIns="0" tIns="0" rIns="0" bIns="0" anchor="ctr"/>
          <a:lstStyle/>
          <a:p>
            <a:pPr marL="0" indent="0">
              <a:buNone/>
            </a:pPr>
            <a:r>
              <a:rPr sz="1700" b="1">
                <a:solidFill>
                  <a:srgbClr val="16181D"/>
                </a:solidFill>
                <a:latin typeface="Trebuchet MS"/>
                <a:ea typeface="Trebuchet MS"/>
                <a:cs typeface="Trebuchet MS"/>
              </a:rPr>
              <a:t>API Aktionen auslösen</a:t>
            </a:r>
          </a:p>
        </p:txBody>
      </p:sp>
      <p:sp>
        <p:nvSpPr>
          <p:cNvPr id="18" name="Text 16">
            <a:extLst>
              <a:ext uri="{FF2B5EF4-FFF2-40B4-BE49-F238E27FC236}">
                <a16:creationId xmlns:a16="http://schemas.microsoft.com/office/drawing/2014/main" id="{6666696C-18E9-46F1-A6A0-CBAECB612E00}"/>
              </a:ext>
            </a:extLst>
          </p:cNvPr>
          <p:cNvSpPr>
            <a:spLocks noGrp="1"/>
          </p:cNvSpPr>
          <p:nvPr/>
        </p:nvSpPr>
        <p:spPr>
          <a:xfrm>
            <a:off x="4114800" y="5596128"/>
            <a:ext cx="2880360" cy="457200"/>
          </a:xfrm>
          <a:prstGeom prst="rect">
            <a:avLst/>
          </a:prstGeom>
          <a:noFill/>
        </p:spPr>
        <p:txBody>
          <a:bodyPr wrap="square" lIns="0" tIns="0" rIns="0" bIns="0" anchor="ctr"/>
          <a:lstStyle/>
          <a:p>
            <a:pPr marL="0" indent="0">
              <a:buNone/>
            </a:pPr>
            <a:r>
              <a:rPr sz="1250">
                <a:solidFill>
                  <a:srgbClr val="55606E"/>
                </a:solidFill>
                <a:latin typeface="Calibri"/>
                <a:ea typeface="Calibri"/>
                <a:cs typeface="Calibri"/>
              </a:rPr>
              <a:t>mit aktiver Sitzung</a:t>
            </a:r>
          </a:p>
        </p:txBody>
      </p:sp>
      <p:sp>
        <p:nvSpPr>
          <p:cNvPr id="19" name="Text 17">
            <a:extLst>
              <a:ext uri="{FF2B5EF4-FFF2-40B4-BE49-F238E27FC236}">
                <a16:creationId xmlns:a16="http://schemas.microsoft.com/office/drawing/2014/main" id="{E72764EA-ABB2-4A98-9FA7-058BF2394BA6}"/>
              </a:ext>
            </a:extLst>
          </p:cNvPr>
          <p:cNvSpPr>
            <a:spLocks noGrp="1"/>
          </p:cNvSpPr>
          <p:nvPr/>
        </p:nvSpPr>
        <p:spPr>
          <a:xfrm>
            <a:off x="6858000" y="5212080"/>
            <a:ext cx="457200" cy="411480"/>
          </a:xfrm>
          <a:prstGeom prst="rect">
            <a:avLst/>
          </a:prstGeom>
          <a:noFill/>
        </p:spPr>
        <p:txBody>
          <a:bodyPr wrap="square" lIns="0" tIns="0" rIns="0" bIns="0" anchor="ctr"/>
          <a:lstStyle/>
          <a:p>
            <a:pPr marL="0" indent="0" algn="ctr">
              <a:buNone/>
            </a:pPr>
            <a:r>
              <a:rPr sz="2000">
                <a:solidFill>
                  <a:srgbClr val="9AA3AF"/>
                </a:solidFill>
                <a:latin typeface="Calibri"/>
                <a:ea typeface="Calibri"/>
                <a:cs typeface="Calibri"/>
              </a:rPr>
              <a:t>→</a:t>
            </a:r>
          </a:p>
        </p:txBody>
      </p:sp>
      <p:sp>
        <p:nvSpPr>
          <p:cNvPr id="20" name="Text 18">
            <a:extLst>
              <a:ext uri="{FF2B5EF4-FFF2-40B4-BE49-F238E27FC236}">
                <a16:creationId xmlns:a16="http://schemas.microsoft.com/office/drawing/2014/main" id="{FABDE965-8434-4C18-A0E7-29974E86BB2F}"/>
              </a:ext>
            </a:extLst>
          </p:cNvPr>
          <p:cNvSpPr>
            <a:spLocks noGrp="1"/>
          </p:cNvSpPr>
          <p:nvPr/>
        </p:nvSpPr>
        <p:spPr>
          <a:xfrm>
            <a:off x="7360920" y="5212080"/>
            <a:ext cx="2880360" cy="411480"/>
          </a:xfrm>
          <a:prstGeom prst="rect">
            <a:avLst/>
          </a:prstGeom>
          <a:noFill/>
        </p:spPr>
        <p:txBody>
          <a:bodyPr wrap="square" lIns="0" tIns="0" rIns="0" bIns="0" anchor="ctr"/>
          <a:lstStyle/>
          <a:p>
            <a:pPr marL="0" indent="0">
              <a:buNone/>
            </a:pPr>
            <a:r>
              <a:rPr sz="1700" b="1">
                <a:solidFill>
                  <a:srgbClr val="16181D"/>
                </a:solidFill>
                <a:latin typeface="Trebuchet MS"/>
                <a:ea typeface="Trebuchet MS"/>
                <a:cs typeface="Trebuchet MS"/>
              </a:rPr>
              <a:t>Token angreifen</a:t>
            </a:r>
          </a:p>
        </p:txBody>
      </p:sp>
      <p:sp>
        <p:nvSpPr>
          <p:cNvPr id="21" name="Text 19">
            <a:extLst>
              <a:ext uri="{FF2B5EF4-FFF2-40B4-BE49-F238E27FC236}">
                <a16:creationId xmlns:a16="http://schemas.microsoft.com/office/drawing/2014/main" id="{999A6B09-108B-49D2-9330-9B118FAC4155}"/>
              </a:ext>
            </a:extLst>
          </p:cNvPr>
          <p:cNvSpPr>
            <a:spLocks noGrp="1"/>
          </p:cNvSpPr>
          <p:nvPr/>
        </p:nvSpPr>
        <p:spPr>
          <a:xfrm>
            <a:off x="7360920" y="5596128"/>
            <a:ext cx="2880360" cy="457200"/>
          </a:xfrm>
          <a:prstGeom prst="rect">
            <a:avLst/>
          </a:prstGeom>
          <a:noFill/>
        </p:spPr>
        <p:txBody>
          <a:bodyPr wrap="square" lIns="0" tIns="0" rIns="0" bIns="0" anchor="ctr"/>
          <a:lstStyle/>
          <a:p>
            <a:pPr marL="0" indent="0">
              <a:buNone/>
            </a:pPr>
            <a:r>
              <a:rPr sz="1250">
                <a:solidFill>
                  <a:srgbClr val="55606E"/>
                </a:solidFill>
                <a:latin typeface="Calibri"/>
                <a:ea typeface="Calibri"/>
                <a:cs typeface="Calibri"/>
              </a:rPr>
              <a:t>im JavaScript Kontext</a:t>
            </a:r>
          </a:p>
        </p:txBody>
      </p:sp>
      <p:sp>
        <p:nvSpPr>
          <p:cNvPr id="25" name="Text 1">
            <a:extLst>
              <a:ext uri="{FF2B5EF4-FFF2-40B4-BE49-F238E27FC236}">
                <a16:creationId xmlns:a16="http://schemas.microsoft.com/office/drawing/2014/main" id="{275F2E3C-1561-777B-3603-6DA2F01E7600}"/>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r>
              <a:rPr lang="en-US" sz="1050" b="1" kern="0" spc="100" dirty="0">
                <a:solidFill>
                  <a:srgbClr val="9AA3AF"/>
                </a:solidFill>
                <a:latin typeface="Calibri" pitchFamily="34" charset="0"/>
                <a:ea typeface="Calibri" pitchFamily="34" charset="-122"/>
                <a:cs typeface="Calibri" pitchFamily="34" charset="-120"/>
              </a:rPr>
              <a:t>0</a:t>
            </a: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9</a:t>
            </a:fld>
            <a:endParaRPr lang="en-US" sz="1050" dirty="0"/>
          </a:p>
        </p:txBody>
      </p:sp>
    </p:spTree>
    <p:extLst>
      <p:ext uri="{BB962C8B-B14F-4D97-AF65-F5344CB8AC3E}">
        <p14:creationId xmlns:p14="http://schemas.microsoft.com/office/powerpoint/2010/main" val="487830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0022C8-D9AA-4F49-BC42-2B1F2337DAD7}"/>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BEHEBUNG · SCHEDULER</a:t>
            </a:r>
          </a:p>
        </p:txBody>
      </p:sp>
      <p:sp>
        <p:nvSpPr>
          <p:cNvPr id="4" name="Text 2">
            <a:extLst>
              <a:ext uri="{FF2B5EF4-FFF2-40B4-BE49-F238E27FC236}">
                <a16:creationId xmlns:a16="http://schemas.microsoft.com/office/drawing/2014/main" id="{5A721529-E6AD-4D51-8A7D-4F2EBE4C9E7C}"/>
              </a:ext>
            </a:extLst>
          </p:cNvPr>
          <p:cNvSpPr>
            <a:spLocks noGrp="1"/>
          </p:cNvSpPr>
          <p:nvPr/>
        </p:nvSpPr>
        <p:spPr>
          <a:xfrm>
            <a:off x="868680" y="1051560"/>
            <a:ext cx="10424160" cy="777240"/>
          </a:xfrm>
          <a:prstGeom prst="rect">
            <a:avLst/>
          </a:prstGeom>
          <a:noFill/>
        </p:spPr>
        <p:txBody>
          <a:bodyPr wrap="square" lIns="0" tIns="0" rIns="0" bIns="0" anchor="ctr"/>
          <a:lstStyle/>
          <a:p>
            <a:pPr marL="0" indent="0">
              <a:buNone/>
            </a:pPr>
            <a:r>
              <a:rPr sz="4000" b="1">
                <a:solidFill>
                  <a:srgbClr val="16181D"/>
                </a:solidFill>
                <a:latin typeface="Trebuchet MS"/>
                <a:ea typeface="Trebuchet MS"/>
                <a:cs typeface="Trebuchet MS"/>
              </a:rPr>
              <a:t>Ein eigener Event Slot erzwingt Text</a:t>
            </a:r>
          </a:p>
        </p:txBody>
      </p:sp>
      <p:sp>
        <p:nvSpPr>
          <p:cNvPr id="5" name="Text 3">
            <a:extLst>
              <a:ext uri="{FF2B5EF4-FFF2-40B4-BE49-F238E27FC236}">
                <a16:creationId xmlns:a16="http://schemas.microsoft.com/office/drawing/2014/main" id="{DA3294EB-5FC9-4DBE-9954-022CB814A373}"/>
              </a:ext>
            </a:extLst>
          </p:cNvPr>
          <p:cNvSpPr>
            <a:spLocks noGrp="1"/>
          </p:cNvSpPr>
          <p:nvPr/>
        </p:nvSpPr>
        <p:spPr>
          <a:xfrm>
            <a:off x="868680" y="1920240"/>
            <a:ext cx="10332720" cy="640080"/>
          </a:xfrm>
          <a:prstGeom prst="rect">
            <a:avLst/>
          </a:prstGeom>
          <a:noFill/>
        </p:spPr>
        <p:txBody>
          <a:bodyPr wrap="square" lIns="0" tIns="0" rIns="0" bIns="0" anchor="ctr"/>
          <a:lstStyle/>
          <a:p>
            <a:pPr marL="0" indent="0">
              <a:buNone/>
            </a:pPr>
            <a:r>
              <a:rPr sz="1700">
                <a:solidFill>
                  <a:srgbClr val="55606E"/>
                </a:solidFill>
                <a:latin typeface="Calibri"/>
                <a:ea typeface="Calibri"/>
                <a:cs typeface="Calibri"/>
              </a:rPr>
              <a:t>Die sichere Variante übernimmt die Ausgabe selbst und rendert den Event Titel mit Vue Interpolation.</a:t>
            </a:r>
          </a:p>
        </p:txBody>
      </p:sp>
      <p:sp>
        <p:nvSpPr>
          <p:cNvPr id="6" name="Shape 4">
            <a:extLst>
              <a:ext uri="{FF2B5EF4-FFF2-40B4-BE49-F238E27FC236}">
                <a16:creationId xmlns:a16="http://schemas.microsoft.com/office/drawing/2014/main" id="{35CC8568-A092-44D8-BF1C-AC3202FC2A48}"/>
              </a:ext>
            </a:extLst>
          </p:cNvPr>
          <p:cNvSpPr>
            <a:spLocks noGrp="1"/>
          </p:cNvSpPr>
          <p:nvPr/>
        </p:nvSpPr>
        <p:spPr>
          <a:xfrm>
            <a:off x="6172200" y="2971800"/>
            <a:ext cx="0" cy="2834640"/>
          </a:xfrm>
          <a:prstGeom prst="line">
            <a:avLst/>
          </a:prstGeom>
          <a:noFill/>
          <a:ln w="12700">
            <a:solidFill>
              <a:srgbClr val="E4E7EC"/>
            </a:solidFill>
            <a:prstDash val="solid"/>
          </a:ln>
        </p:spPr>
      </p:sp>
      <p:sp>
        <p:nvSpPr>
          <p:cNvPr id="7" name="Text 5">
            <a:extLst>
              <a:ext uri="{FF2B5EF4-FFF2-40B4-BE49-F238E27FC236}">
                <a16:creationId xmlns:a16="http://schemas.microsoft.com/office/drawing/2014/main" id="{2E954620-EAB1-47E4-83F4-35AD6B11F02F}"/>
              </a:ext>
            </a:extLst>
          </p:cNvPr>
          <p:cNvSpPr>
            <a:spLocks noGrp="1"/>
          </p:cNvSpPr>
          <p:nvPr/>
        </p:nvSpPr>
        <p:spPr>
          <a:xfrm>
            <a:off x="868680" y="2971800"/>
            <a:ext cx="914400" cy="457200"/>
          </a:xfrm>
          <a:prstGeom prst="rect">
            <a:avLst/>
          </a:prstGeom>
          <a:noFill/>
        </p:spPr>
        <p:txBody>
          <a:bodyPr wrap="square" lIns="0" tIns="0" rIns="0" bIns="0" anchor="ctr"/>
          <a:lstStyle/>
          <a:p>
            <a:pPr marL="0" indent="0">
              <a:buNone/>
            </a:pPr>
            <a:r>
              <a:rPr sz="2200" b="1">
                <a:solidFill>
                  <a:srgbClr val="9AA3AF"/>
                </a:solidFill>
                <a:latin typeface="Trebuchet MS"/>
                <a:ea typeface="Trebuchet MS"/>
                <a:cs typeface="Trebuchet MS"/>
              </a:rPr>
              <a:t>01</a:t>
            </a:r>
          </a:p>
        </p:txBody>
      </p:sp>
      <p:sp>
        <p:nvSpPr>
          <p:cNvPr id="8" name="Text 6">
            <a:extLst>
              <a:ext uri="{FF2B5EF4-FFF2-40B4-BE49-F238E27FC236}">
                <a16:creationId xmlns:a16="http://schemas.microsoft.com/office/drawing/2014/main" id="{EDE8088B-FE9F-4D2B-9299-FE4FB2CCAA1A}"/>
              </a:ext>
            </a:extLst>
          </p:cNvPr>
          <p:cNvSpPr>
            <a:spLocks noGrp="1"/>
          </p:cNvSpPr>
          <p:nvPr/>
        </p:nvSpPr>
        <p:spPr>
          <a:xfrm>
            <a:off x="1508760" y="2990088"/>
            <a:ext cx="4297680" cy="457200"/>
          </a:xfrm>
          <a:prstGeom prst="rect">
            <a:avLst/>
          </a:prstGeom>
          <a:noFill/>
        </p:spPr>
        <p:txBody>
          <a:bodyPr wrap="square" lIns="0" tIns="0" rIns="0" bIns="0" anchor="ctr"/>
          <a:lstStyle/>
          <a:p>
            <a:pPr marL="0" indent="0">
              <a:buNone/>
            </a:pPr>
            <a:r>
              <a:rPr sz="2200" b="1">
                <a:solidFill>
                  <a:srgbClr val="16181D"/>
                </a:solidFill>
                <a:latin typeface="Trebuchet MS"/>
                <a:ea typeface="Trebuchet MS"/>
                <a:cs typeface="Trebuchet MS"/>
              </a:rPr>
              <a:t>UNSICHER</a:t>
            </a:r>
          </a:p>
        </p:txBody>
      </p:sp>
      <p:sp>
        <p:nvSpPr>
          <p:cNvPr id="9" name="Text 7">
            <a:extLst>
              <a:ext uri="{FF2B5EF4-FFF2-40B4-BE49-F238E27FC236}">
                <a16:creationId xmlns:a16="http://schemas.microsoft.com/office/drawing/2014/main" id="{FD9FD98D-F4AA-41B0-9050-F0A4D15667A3}"/>
              </a:ext>
            </a:extLst>
          </p:cNvPr>
          <p:cNvSpPr>
            <a:spLocks noGrp="1"/>
          </p:cNvSpPr>
          <p:nvPr/>
        </p:nvSpPr>
        <p:spPr>
          <a:xfrm>
            <a:off x="868680" y="3611880"/>
            <a:ext cx="4937760" cy="82296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Der Standardrenderer entscheidet über die Ausgabe.</a:t>
            </a:r>
          </a:p>
        </p:txBody>
      </p:sp>
      <p:sp>
        <p:nvSpPr>
          <p:cNvPr id="10" name="Text 8">
            <a:extLst>
              <a:ext uri="{FF2B5EF4-FFF2-40B4-BE49-F238E27FC236}">
                <a16:creationId xmlns:a16="http://schemas.microsoft.com/office/drawing/2014/main" id="{6A21CCA7-D51F-4EA3-B69E-45E922B4987A}"/>
              </a:ext>
            </a:extLst>
          </p:cNvPr>
          <p:cNvSpPr>
            <a:spLocks noGrp="1"/>
          </p:cNvSpPr>
          <p:nvPr/>
        </p:nvSpPr>
        <p:spPr>
          <a:xfrm>
            <a:off x="868680" y="4480560"/>
            <a:ext cx="4937760" cy="365760"/>
          </a:xfrm>
          <a:prstGeom prst="rect">
            <a:avLst/>
          </a:prstGeom>
          <a:noFill/>
        </p:spPr>
        <p:txBody>
          <a:bodyPr wrap="square" lIns="0" tIns="0" rIns="0" bIns="0" anchor="ctr"/>
          <a:lstStyle/>
          <a:p>
            <a:pPr marL="0" indent="0">
              <a:buNone/>
            </a:pPr>
            <a:r>
              <a:rPr sz="1300">
                <a:solidFill>
                  <a:srgbClr val="16181D"/>
                </a:solidFill>
                <a:latin typeface="Consolas"/>
                <a:ea typeface="Consolas"/>
                <a:cs typeface="Consolas"/>
              </a:rPr>
              <a:t>&lt;VueCal :events="events" /&gt;</a:t>
            </a:r>
          </a:p>
        </p:txBody>
      </p:sp>
      <p:sp>
        <p:nvSpPr>
          <p:cNvPr id="11" name="Text 9">
            <a:extLst>
              <a:ext uri="{FF2B5EF4-FFF2-40B4-BE49-F238E27FC236}">
                <a16:creationId xmlns:a16="http://schemas.microsoft.com/office/drawing/2014/main" id="{E13CAE18-3B54-4F9F-9885-96165EA4B92C}"/>
              </a:ext>
            </a:extLst>
          </p:cNvPr>
          <p:cNvSpPr>
            <a:spLocks noGrp="1"/>
          </p:cNvSpPr>
          <p:nvPr/>
        </p:nvSpPr>
        <p:spPr>
          <a:xfrm>
            <a:off x="868680" y="4983480"/>
            <a:ext cx="4937760" cy="640080"/>
          </a:xfrm>
          <a:prstGeom prst="rect">
            <a:avLst/>
          </a:prstGeom>
          <a:noFill/>
        </p:spPr>
        <p:txBody>
          <a:bodyPr wrap="square" lIns="0" tIns="0" rIns="0" bIns="0" anchor="ctr"/>
          <a:lstStyle/>
          <a:p>
            <a:pPr marL="0" indent="0">
              <a:buNone/>
            </a:pPr>
            <a:r>
              <a:rPr sz="1250" i="1">
                <a:solidFill>
                  <a:srgbClr val="55606E"/>
                </a:solidFill>
                <a:latin typeface="Calibri"/>
                <a:ea typeface="Calibri"/>
                <a:cs typeface="Calibri"/>
              </a:rPr>
              <a:t>Event Titel wird als HTML interpretiert.</a:t>
            </a:r>
          </a:p>
        </p:txBody>
      </p:sp>
      <p:sp>
        <p:nvSpPr>
          <p:cNvPr id="12" name="Text 10">
            <a:extLst>
              <a:ext uri="{FF2B5EF4-FFF2-40B4-BE49-F238E27FC236}">
                <a16:creationId xmlns:a16="http://schemas.microsoft.com/office/drawing/2014/main" id="{1CF1865D-5627-4085-9715-548E2F408F90}"/>
              </a:ext>
            </a:extLst>
          </p:cNvPr>
          <p:cNvSpPr>
            <a:spLocks noGrp="1"/>
          </p:cNvSpPr>
          <p:nvPr/>
        </p:nvSpPr>
        <p:spPr>
          <a:xfrm>
            <a:off x="868680" y="5623560"/>
            <a:ext cx="4937760" cy="274320"/>
          </a:xfrm>
          <a:prstGeom prst="rect">
            <a:avLst/>
          </a:prstGeom>
          <a:noFill/>
        </p:spPr>
        <p:txBody>
          <a:bodyPr wrap="square" lIns="0" tIns="0" rIns="0" bIns="0" anchor="ctr"/>
          <a:lstStyle/>
          <a:p>
            <a:pPr marL="0" indent="0">
              <a:buNone/>
            </a:pPr>
            <a:r>
              <a:rPr sz="1050">
                <a:solidFill>
                  <a:srgbClr val="9AA3AF"/>
                </a:solidFill>
                <a:latin typeface="Consolas"/>
                <a:ea typeface="Consolas"/>
                <a:cs typeface="Consolas"/>
              </a:rPr>
              <a:t>ReserveTimeslot.vue</a:t>
            </a:r>
          </a:p>
        </p:txBody>
      </p:sp>
      <p:sp>
        <p:nvSpPr>
          <p:cNvPr id="13" name="Text 11">
            <a:extLst>
              <a:ext uri="{FF2B5EF4-FFF2-40B4-BE49-F238E27FC236}">
                <a16:creationId xmlns:a16="http://schemas.microsoft.com/office/drawing/2014/main" id="{E807B7E2-C0CF-45F7-AE39-271D03D0F91C}"/>
              </a:ext>
            </a:extLst>
          </p:cNvPr>
          <p:cNvSpPr>
            <a:spLocks noGrp="1"/>
          </p:cNvSpPr>
          <p:nvPr/>
        </p:nvSpPr>
        <p:spPr>
          <a:xfrm>
            <a:off x="6446520" y="2971800"/>
            <a:ext cx="914400" cy="457200"/>
          </a:xfrm>
          <a:prstGeom prst="rect">
            <a:avLst/>
          </a:prstGeom>
          <a:noFill/>
        </p:spPr>
        <p:txBody>
          <a:bodyPr wrap="square" lIns="0" tIns="0" rIns="0" bIns="0" anchor="ctr"/>
          <a:lstStyle/>
          <a:p>
            <a:pPr marL="0" indent="0">
              <a:buNone/>
            </a:pPr>
            <a:r>
              <a:rPr sz="2200" b="1">
                <a:solidFill>
                  <a:srgbClr val="9AA3AF"/>
                </a:solidFill>
                <a:latin typeface="Trebuchet MS"/>
                <a:ea typeface="Trebuchet MS"/>
                <a:cs typeface="Trebuchet MS"/>
              </a:rPr>
              <a:t>02</a:t>
            </a:r>
          </a:p>
        </p:txBody>
      </p:sp>
      <p:sp>
        <p:nvSpPr>
          <p:cNvPr id="14" name="Text 12">
            <a:extLst>
              <a:ext uri="{FF2B5EF4-FFF2-40B4-BE49-F238E27FC236}">
                <a16:creationId xmlns:a16="http://schemas.microsoft.com/office/drawing/2014/main" id="{0F0510F5-569A-4889-9BB4-C3FC1A0DB3EC}"/>
              </a:ext>
            </a:extLst>
          </p:cNvPr>
          <p:cNvSpPr>
            <a:spLocks noGrp="1"/>
          </p:cNvSpPr>
          <p:nvPr/>
        </p:nvSpPr>
        <p:spPr>
          <a:xfrm>
            <a:off x="7086600" y="2990088"/>
            <a:ext cx="4297680" cy="457200"/>
          </a:xfrm>
          <a:prstGeom prst="rect">
            <a:avLst/>
          </a:prstGeom>
          <a:noFill/>
        </p:spPr>
        <p:txBody>
          <a:bodyPr wrap="square" lIns="0" tIns="0" rIns="0" bIns="0" anchor="ctr"/>
          <a:lstStyle/>
          <a:p>
            <a:pPr marL="0" indent="0">
              <a:buNone/>
            </a:pPr>
            <a:r>
              <a:rPr sz="2200" b="1">
                <a:solidFill>
                  <a:srgbClr val="16181D"/>
                </a:solidFill>
                <a:latin typeface="Trebuchet MS"/>
                <a:ea typeface="Trebuchet MS"/>
                <a:cs typeface="Trebuchet MS"/>
              </a:rPr>
              <a:t>SICHER</a:t>
            </a:r>
          </a:p>
        </p:txBody>
      </p:sp>
      <p:sp>
        <p:nvSpPr>
          <p:cNvPr id="15" name="Text 13">
            <a:extLst>
              <a:ext uri="{FF2B5EF4-FFF2-40B4-BE49-F238E27FC236}">
                <a16:creationId xmlns:a16="http://schemas.microsoft.com/office/drawing/2014/main" id="{1A943C59-EF01-4459-B15E-3A946AE37520}"/>
              </a:ext>
            </a:extLst>
          </p:cNvPr>
          <p:cNvSpPr>
            <a:spLocks noGrp="1"/>
          </p:cNvSpPr>
          <p:nvPr/>
        </p:nvSpPr>
        <p:spPr>
          <a:xfrm>
            <a:off x="6446520" y="3611880"/>
            <a:ext cx="4937760" cy="64008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Ein eigener Event Slot kontrolliert die Ausgabe.</a:t>
            </a:r>
          </a:p>
        </p:txBody>
      </p:sp>
      <p:sp>
        <p:nvSpPr>
          <p:cNvPr id="16" name="Text 14">
            <a:extLst>
              <a:ext uri="{FF2B5EF4-FFF2-40B4-BE49-F238E27FC236}">
                <a16:creationId xmlns:a16="http://schemas.microsoft.com/office/drawing/2014/main" id="{D8AE147B-555C-4CE1-BBF3-26A60718F958}"/>
              </a:ext>
            </a:extLst>
          </p:cNvPr>
          <p:cNvSpPr>
            <a:spLocks noGrp="1"/>
          </p:cNvSpPr>
          <p:nvPr/>
        </p:nvSpPr>
        <p:spPr>
          <a:xfrm>
            <a:off x="6446520" y="437083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&lt;template #event&gt;</a:t>
            </a:r>
          </a:p>
        </p:txBody>
      </p:sp>
      <p:sp>
        <p:nvSpPr>
          <p:cNvPr id="17" name="Text 15">
            <a:extLst>
              <a:ext uri="{FF2B5EF4-FFF2-40B4-BE49-F238E27FC236}">
                <a16:creationId xmlns:a16="http://schemas.microsoft.com/office/drawing/2014/main" id="{441CAD51-1904-41F0-B93C-F9E91B00D6A5}"/>
              </a:ext>
            </a:extLst>
          </p:cNvPr>
          <p:cNvSpPr>
            <a:spLocks noGrp="1"/>
          </p:cNvSpPr>
          <p:nvPr/>
        </p:nvSpPr>
        <p:spPr>
          <a:xfrm>
            <a:off x="9464040" y="437083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eigener Slot</a:t>
            </a:r>
          </a:p>
        </p:txBody>
      </p:sp>
      <p:sp>
        <p:nvSpPr>
          <p:cNvPr id="18" name="Text 16">
            <a:extLst>
              <a:ext uri="{FF2B5EF4-FFF2-40B4-BE49-F238E27FC236}">
                <a16:creationId xmlns:a16="http://schemas.microsoft.com/office/drawing/2014/main" id="{030DC8A2-C23C-480A-82E6-111FBF03444F}"/>
              </a:ext>
            </a:extLst>
          </p:cNvPr>
          <p:cNvSpPr>
            <a:spLocks noGrp="1"/>
          </p:cNvSpPr>
          <p:nvPr/>
        </p:nvSpPr>
        <p:spPr>
          <a:xfrm>
            <a:off x="6446520" y="478231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 event.title }}</a:t>
            </a:r>
          </a:p>
        </p:txBody>
      </p:sp>
      <p:sp>
        <p:nvSpPr>
          <p:cNvPr id="19" name="Text 17">
            <a:extLst>
              <a:ext uri="{FF2B5EF4-FFF2-40B4-BE49-F238E27FC236}">
                <a16:creationId xmlns:a16="http://schemas.microsoft.com/office/drawing/2014/main" id="{68B27804-D89B-47C9-A881-B07F98D02BF7}"/>
              </a:ext>
            </a:extLst>
          </p:cNvPr>
          <p:cNvSpPr>
            <a:spLocks noGrp="1"/>
          </p:cNvSpPr>
          <p:nvPr/>
        </p:nvSpPr>
        <p:spPr>
          <a:xfrm>
            <a:off x="9464040" y="478231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Vue Interpolation</a:t>
            </a:r>
          </a:p>
        </p:txBody>
      </p:sp>
      <p:sp>
        <p:nvSpPr>
          <p:cNvPr id="20" name="Text 18">
            <a:extLst>
              <a:ext uri="{FF2B5EF4-FFF2-40B4-BE49-F238E27FC236}">
                <a16:creationId xmlns:a16="http://schemas.microsoft.com/office/drawing/2014/main" id="{9F5BCFF2-50DB-433A-B52F-9BECB837A4E0}"/>
              </a:ext>
            </a:extLst>
          </p:cNvPr>
          <p:cNvSpPr>
            <a:spLocks noGrp="1"/>
          </p:cNvSpPr>
          <p:nvPr/>
        </p:nvSpPr>
        <p:spPr>
          <a:xfrm>
            <a:off x="6446520" y="5193792"/>
            <a:ext cx="3017520" cy="365760"/>
          </a:xfrm>
          <a:prstGeom prst="rect">
            <a:avLst/>
          </a:prstGeom>
          <a:noFill/>
        </p:spPr>
        <p:txBody>
          <a:bodyPr wrap="square" lIns="0" tIns="0" rIns="0" bIns="0" anchor="ctr"/>
          <a:lstStyle/>
          <a:p>
            <a:pPr marL="0" indent="0">
              <a:buNone/>
            </a:pPr>
            <a:r>
              <a:rPr sz="1300" b="1">
                <a:solidFill>
                  <a:srgbClr val="16181D"/>
                </a:solidFill>
                <a:latin typeface="Consolas"/>
                <a:ea typeface="Consolas"/>
                <a:cs typeface="Consolas"/>
              </a:rPr>
              <a:t>Ergebnis</a:t>
            </a:r>
          </a:p>
        </p:txBody>
      </p:sp>
      <p:sp>
        <p:nvSpPr>
          <p:cNvPr id="21" name="Text 19">
            <a:extLst>
              <a:ext uri="{FF2B5EF4-FFF2-40B4-BE49-F238E27FC236}">
                <a16:creationId xmlns:a16="http://schemas.microsoft.com/office/drawing/2014/main" id="{97DC8436-6B9E-4ACA-8DCB-610FD3084EE3}"/>
              </a:ext>
            </a:extLst>
          </p:cNvPr>
          <p:cNvSpPr>
            <a:spLocks noGrp="1"/>
          </p:cNvSpPr>
          <p:nvPr/>
        </p:nvSpPr>
        <p:spPr>
          <a:xfrm>
            <a:off x="9464040" y="5193792"/>
            <a:ext cx="1920240" cy="365760"/>
          </a:xfrm>
          <a:prstGeom prst="rect">
            <a:avLst/>
          </a:prstGeom>
          <a:noFill/>
        </p:spPr>
        <p:txBody>
          <a:bodyPr wrap="square" lIns="0" tIns="0" rIns="0" bIns="0" anchor="ctr"/>
          <a:lstStyle/>
          <a:p>
            <a:pPr marL="0" indent="0" algn="r">
              <a:buNone/>
            </a:pPr>
            <a:r>
              <a:rPr sz="1200" i="1">
                <a:solidFill>
                  <a:srgbClr val="D23B4E"/>
                </a:solidFill>
                <a:latin typeface="Calibri"/>
                <a:ea typeface="Calibri"/>
                <a:cs typeface="Calibri"/>
              </a:rPr>
              <a:t>Text statt Code</a:t>
            </a:r>
          </a:p>
        </p:txBody>
      </p:sp>
      <p:sp>
        <p:nvSpPr>
          <p:cNvPr id="22" name="Text 20">
            <a:extLst>
              <a:ext uri="{FF2B5EF4-FFF2-40B4-BE49-F238E27FC236}">
                <a16:creationId xmlns:a16="http://schemas.microsoft.com/office/drawing/2014/main" id="{731FC50C-567F-4B1F-BDC7-CD198D0E5691}"/>
              </a:ext>
            </a:extLst>
          </p:cNvPr>
          <p:cNvSpPr>
            <a:spLocks noGrp="1"/>
          </p:cNvSpPr>
          <p:nvPr/>
        </p:nvSpPr>
        <p:spPr>
          <a:xfrm>
            <a:off x="6446520" y="5623560"/>
            <a:ext cx="4937760" cy="274320"/>
          </a:xfrm>
          <a:prstGeom prst="rect">
            <a:avLst/>
          </a:prstGeom>
          <a:noFill/>
        </p:spPr>
        <p:txBody>
          <a:bodyPr wrap="square" lIns="0" tIns="0" rIns="0" bIns="0" anchor="ctr"/>
          <a:lstStyle/>
          <a:p>
            <a:pPr marL="0" indent="0">
              <a:buNone/>
            </a:pPr>
            <a:r>
              <a:rPr sz="1050">
                <a:solidFill>
                  <a:srgbClr val="9AA3AF"/>
                </a:solidFill>
                <a:latin typeface="Consolas"/>
                <a:ea typeface="Consolas"/>
                <a:cs typeface="Consolas"/>
              </a:rPr>
              <a:t>ReserveTimeslotSafe.vue</a:t>
            </a:r>
          </a:p>
        </p:txBody>
      </p:sp>
      <p:sp>
        <p:nvSpPr>
          <p:cNvPr id="24" name="Text 1">
            <a:extLst>
              <a:ext uri="{FF2B5EF4-FFF2-40B4-BE49-F238E27FC236}">
                <a16:creationId xmlns:a16="http://schemas.microsoft.com/office/drawing/2014/main" id="{47F29759-E576-9D9E-FE8A-752923102F90}"/>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10</a:t>
            </a:fld>
            <a:endParaRPr lang="en-US" sz="1050" dirty="0"/>
          </a:p>
        </p:txBody>
      </p:sp>
    </p:spTree>
    <p:extLst>
      <p:ext uri="{BB962C8B-B14F-4D97-AF65-F5344CB8AC3E}">
        <p14:creationId xmlns:p14="http://schemas.microsoft.com/office/powerpoint/2010/main" val="1978230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14438A8-86E6-40A6-8F29-4F1D64CC14CD}"/>
              </a:ext>
            </a:extLst>
          </p:cNvPr>
          <p:cNvSpPr>
            <a:spLocks noGrp="1"/>
          </p:cNvSpPr>
          <p:nvPr/>
        </p:nvSpPr>
        <p:spPr>
          <a:xfrm>
            <a:off x="868680" y="502920"/>
            <a:ext cx="7315200" cy="274320"/>
          </a:xfrm>
          <a:prstGeom prst="rect">
            <a:avLst/>
          </a:prstGeom>
          <a:noFill/>
        </p:spPr>
        <p:txBody>
          <a:bodyPr wrap="square" lIns="0" tIns="0" rIns="0" bIns="0" anchor="ctr"/>
          <a:lstStyle/>
          <a:p>
            <a:pPr marL="0" indent="0">
              <a:buNone/>
            </a:pPr>
            <a:r>
              <a:rPr sz="1050" b="1">
                <a:solidFill>
                  <a:srgbClr val="9AA3AF"/>
                </a:solidFill>
                <a:latin typeface="Calibri"/>
                <a:ea typeface="Calibri"/>
                <a:cs typeface="Calibri"/>
              </a:rPr>
              <a:t>FAZIT · XSS</a:t>
            </a:r>
          </a:p>
        </p:txBody>
      </p:sp>
      <p:sp>
        <p:nvSpPr>
          <p:cNvPr id="4" name="Text 2">
            <a:extLst>
              <a:ext uri="{FF2B5EF4-FFF2-40B4-BE49-F238E27FC236}">
                <a16:creationId xmlns:a16="http://schemas.microsoft.com/office/drawing/2014/main" id="{8C2A5EC1-0471-4723-B1A6-5E24B15C811C}"/>
              </a:ext>
            </a:extLst>
          </p:cNvPr>
          <p:cNvSpPr>
            <a:spLocks noGrp="1"/>
          </p:cNvSpPr>
          <p:nvPr/>
        </p:nvSpPr>
        <p:spPr>
          <a:xfrm>
            <a:off x="868680" y="1600200"/>
            <a:ext cx="10424160" cy="1554480"/>
          </a:xfrm>
          <a:prstGeom prst="rect">
            <a:avLst/>
          </a:prstGeom>
          <a:noFill/>
        </p:spPr>
        <p:txBody>
          <a:bodyPr wrap="square" lIns="0" tIns="0" rIns="0" bIns="0" anchor="ctr"/>
          <a:lstStyle/>
          <a:p>
            <a:pPr marL="0" indent="0">
              <a:buNone/>
            </a:pPr>
            <a:r>
              <a:rPr sz="4800" b="1">
                <a:solidFill>
                  <a:srgbClr val="16181D"/>
                </a:solidFill>
                <a:latin typeface="Trebuchet MS"/>
                <a:ea typeface="Trebuchet MS"/>
                <a:cs typeface="Trebuchet MS"/>
              </a:rPr>
              <a:t>Die Ausgabe ist die Sicherheitsgrenze.</a:t>
            </a:r>
          </a:p>
        </p:txBody>
      </p:sp>
      <p:sp>
        <p:nvSpPr>
          <p:cNvPr id="5" name="Text 3">
            <a:extLst>
              <a:ext uri="{FF2B5EF4-FFF2-40B4-BE49-F238E27FC236}">
                <a16:creationId xmlns:a16="http://schemas.microsoft.com/office/drawing/2014/main" id="{05091A4B-9D74-4647-B741-E814B8C393B1}"/>
              </a:ext>
            </a:extLst>
          </p:cNvPr>
          <p:cNvSpPr>
            <a:spLocks noGrp="1"/>
          </p:cNvSpPr>
          <p:nvPr/>
        </p:nvSpPr>
        <p:spPr>
          <a:xfrm>
            <a:off x="868680" y="3337560"/>
            <a:ext cx="9875520" cy="731520"/>
          </a:xfrm>
          <a:prstGeom prst="rect">
            <a:avLst/>
          </a:prstGeom>
          <a:noFill/>
        </p:spPr>
        <p:txBody>
          <a:bodyPr wrap="square" lIns="0" tIns="0" rIns="0" bIns="0" anchor="ctr"/>
          <a:lstStyle/>
          <a:p>
            <a:pPr marL="0" indent="0">
              <a:buNone/>
            </a:pPr>
            <a:r>
              <a:rPr sz="1900">
                <a:solidFill>
                  <a:srgbClr val="55606E"/>
                </a:solidFill>
                <a:latin typeface="Calibri"/>
                <a:ea typeface="Calibri"/>
                <a:cs typeface="Calibri"/>
              </a:rPr>
              <a:t>Stored DOM XSS entsteht hier, weil eine Bibliothek gespeicherte Daten als HTML rendert. Sichere Textausgabe beseitigt die Ursache.</a:t>
            </a:r>
          </a:p>
        </p:txBody>
      </p:sp>
      <p:sp>
        <p:nvSpPr>
          <p:cNvPr id="6" name="Shape 4">
            <a:extLst>
              <a:ext uri="{FF2B5EF4-FFF2-40B4-BE49-F238E27FC236}">
                <a16:creationId xmlns:a16="http://schemas.microsoft.com/office/drawing/2014/main" id="{463ACFA2-6607-478F-881D-1441DB8A61EA}"/>
              </a:ext>
            </a:extLst>
          </p:cNvPr>
          <p:cNvSpPr>
            <a:spLocks noGrp="1"/>
          </p:cNvSpPr>
          <p:nvPr/>
        </p:nvSpPr>
        <p:spPr>
          <a:xfrm>
            <a:off x="868680" y="4572000"/>
            <a:ext cx="10454335" cy="0"/>
          </a:xfrm>
          <a:prstGeom prst="line">
            <a:avLst/>
          </a:prstGeom>
          <a:noFill/>
          <a:ln w="12700">
            <a:solidFill>
              <a:srgbClr val="E4E7EC"/>
            </a:solidFill>
            <a:prstDash val="solid"/>
          </a:ln>
        </p:spPr>
      </p:sp>
      <p:sp>
        <p:nvSpPr>
          <p:cNvPr id="7" name="Text 5">
            <a:extLst>
              <a:ext uri="{FF2B5EF4-FFF2-40B4-BE49-F238E27FC236}">
                <a16:creationId xmlns:a16="http://schemas.microsoft.com/office/drawing/2014/main" id="{FB4026A1-996C-4904-B237-913D0AFC1C7E}"/>
              </a:ext>
            </a:extLst>
          </p:cNvPr>
          <p:cNvSpPr>
            <a:spLocks noGrp="1"/>
          </p:cNvSpPr>
          <p:nvPr/>
        </p:nvSpPr>
        <p:spPr>
          <a:xfrm>
            <a:off x="868680" y="4846320"/>
            <a:ext cx="4937760" cy="292608"/>
          </a:xfrm>
          <a:prstGeom prst="rect">
            <a:avLst/>
          </a:prstGeom>
          <a:noFill/>
        </p:spPr>
        <p:txBody>
          <a:bodyPr wrap="square" lIns="0" tIns="0" rIns="0" bIns="0" anchor="ctr"/>
          <a:lstStyle/>
          <a:p>
            <a:pPr marL="0" indent="0">
              <a:buNone/>
            </a:pPr>
            <a:r>
              <a:rPr sz="1150" b="1">
                <a:solidFill>
                  <a:srgbClr val="16181D"/>
                </a:solidFill>
                <a:latin typeface="Calibri"/>
                <a:ea typeface="Calibri"/>
                <a:cs typeface="Calibri"/>
              </a:rPr>
              <a:t>PRIMÄRER FIX</a:t>
            </a:r>
          </a:p>
        </p:txBody>
      </p:sp>
      <p:sp>
        <p:nvSpPr>
          <p:cNvPr id="8" name="Text 6">
            <a:extLst>
              <a:ext uri="{FF2B5EF4-FFF2-40B4-BE49-F238E27FC236}">
                <a16:creationId xmlns:a16="http://schemas.microsoft.com/office/drawing/2014/main" id="{0E4D9612-EDAB-4332-A7DB-FEFDEDC65C58}"/>
              </a:ext>
            </a:extLst>
          </p:cNvPr>
          <p:cNvSpPr>
            <a:spLocks noGrp="1"/>
          </p:cNvSpPr>
          <p:nvPr/>
        </p:nvSpPr>
        <p:spPr>
          <a:xfrm>
            <a:off x="868680" y="5212080"/>
            <a:ext cx="4754880" cy="73152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Eigene VueCal Event Slots verwenden und nutzerkontrollierte Werte mit Vue Interpolation rendern.</a:t>
            </a:r>
          </a:p>
        </p:txBody>
      </p:sp>
      <p:sp>
        <p:nvSpPr>
          <p:cNvPr id="9" name="Shape 7">
            <a:extLst>
              <a:ext uri="{FF2B5EF4-FFF2-40B4-BE49-F238E27FC236}">
                <a16:creationId xmlns:a16="http://schemas.microsoft.com/office/drawing/2014/main" id="{8710A285-2F57-4A43-B787-63EB729D85F5}"/>
              </a:ext>
            </a:extLst>
          </p:cNvPr>
          <p:cNvSpPr>
            <a:spLocks noGrp="1"/>
          </p:cNvSpPr>
          <p:nvPr/>
        </p:nvSpPr>
        <p:spPr>
          <a:xfrm>
            <a:off x="6172200" y="4864608"/>
            <a:ext cx="0" cy="914400"/>
          </a:xfrm>
          <a:prstGeom prst="line">
            <a:avLst/>
          </a:prstGeom>
          <a:noFill/>
          <a:ln w="12700">
            <a:solidFill>
              <a:srgbClr val="E4E7EC"/>
            </a:solidFill>
            <a:prstDash val="solid"/>
          </a:ln>
        </p:spPr>
      </p:sp>
      <p:sp>
        <p:nvSpPr>
          <p:cNvPr id="10" name="Text 8">
            <a:extLst>
              <a:ext uri="{FF2B5EF4-FFF2-40B4-BE49-F238E27FC236}">
                <a16:creationId xmlns:a16="http://schemas.microsoft.com/office/drawing/2014/main" id="{E1DC6AC7-F546-4546-BB72-38525E3A8824}"/>
              </a:ext>
            </a:extLst>
          </p:cNvPr>
          <p:cNvSpPr>
            <a:spLocks noGrp="1"/>
          </p:cNvSpPr>
          <p:nvPr/>
        </p:nvSpPr>
        <p:spPr>
          <a:xfrm>
            <a:off x="6446520" y="4846320"/>
            <a:ext cx="4937760" cy="292608"/>
          </a:xfrm>
          <a:prstGeom prst="rect">
            <a:avLst/>
          </a:prstGeom>
          <a:noFill/>
        </p:spPr>
        <p:txBody>
          <a:bodyPr wrap="square" lIns="0" tIns="0" rIns="0" bIns="0" anchor="ctr"/>
          <a:lstStyle/>
          <a:p>
            <a:pPr marL="0" indent="0">
              <a:buNone/>
            </a:pPr>
            <a:r>
              <a:rPr sz="1150" b="1">
                <a:solidFill>
                  <a:srgbClr val="16181D"/>
                </a:solidFill>
                <a:latin typeface="Calibri"/>
                <a:ea typeface="Calibri"/>
                <a:cs typeface="Calibri"/>
              </a:rPr>
              <a:t>ZUSATZSCHUTZ</a:t>
            </a:r>
          </a:p>
        </p:txBody>
      </p:sp>
      <p:sp>
        <p:nvSpPr>
          <p:cNvPr id="11" name="Text 9">
            <a:extLst>
              <a:ext uri="{FF2B5EF4-FFF2-40B4-BE49-F238E27FC236}">
                <a16:creationId xmlns:a16="http://schemas.microsoft.com/office/drawing/2014/main" id="{7DFA6E6B-4509-4421-BFE8-F8AFF7228670}"/>
              </a:ext>
            </a:extLst>
          </p:cNvPr>
          <p:cNvSpPr>
            <a:spLocks noGrp="1"/>
          </p:cNvSpPr>
          <p:nvPr/>
        </p:nvSpPr>
        <p:spPr>
          <a:xfrm>
            <a:off x="6446520" y="5212080"/>
            <a:ext cx="4754880" cy="731520"/>
          </a:xfrm>
          <a:prstGeom prst="rect">
            <a:avLst/>
          </a:prstGeom>
          <a:noFill/>
        </p:spPr>
        <p:txBody>
          <a:bodyPr wrap="square" lIns="0" tIns="0" rIns="0" bIns="0" anchor="ctr"/>
          <a:lstStyle/>
          <a:p>
            <a:pPr marL="0" indent="0">
              <a:buNone/>
            </a:pPr>
            <a:r>
              <a:rPr sz="1400">
                <a:solidFill>
                  <a:srgbClr val="55606E"/>
                </a:solidFill>
                <a:latin typeface="Calibri"/>
                <a:ea typeface="Calibri"/>
                <a:cs typeface="Calibri"/>
              </a:rPr>
              <a:t>Weitere HTML Senken prüfen, serverseitige Längenregeln ergänzen und Content Security Policy einsetzen.</a:t>
            </a:r>
          </a:p>
        </p:txBody>
      </p:sp>
      <p:sp>
        <p:nvSpPr>
          <p:cNvPr id="12" name="Text 1">
            <a:extLst>
              <a:ext uri="{FF2B5EF4-FFF2-40B4-BE49-F238E27FC236}">
                <a16:creationId xmlns:a16="http://schemas.microsoft.com/office/drawing/2014/main" id="{EE088A71-32ED-B075-D75B-39A34473C0C6}"/>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11</a:t>
            </a:fld>
            <a:endParaRPr lang="en-US" sz="1050" dirty="0"/>
          </a:p>
        </p:txBody>
      </p:sp>
    </p:spTree>
    <p:extLst>
      <p:ext uri="{BB962C8B-B14F-4D97-AF65-F5344CB8AC3E}">
        <p14:creationId xmlns:p14="http://schemas.microsoft.com/office/powerpoint/2010/main" val="1572903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22960" y="2194560"/>
            <a:ext cx="10058400" cy="1463040"/>
          </a:xfrm>
          <a:prstGeom prst="rect">
            <a:avLst/>
          </a:prstGeom>
          <a:noFill/>
          <a:ln/>
        </p:spPr>
        <p:txBody>
          <a:bodyPr wrap="square" lIns="0" tIns="0" rIns="0" bIns="0" rtlCol="0" anchor="ctr"/>
          <a:lstStyle/>
          <a:p>
            <a:pPr marL="0" indent="0">
              <a:buNone/>
            </a:pPr>
            <a:r>
              <a:rPr lang="en-US" sz="11000" b="1" kern="0" spc="100" dirty="0">
                <a:solidFill>
                  <a:srgbClr val="16181D"/>
                </a:solidFill>
                <a:latin typeface="Trebuchet MS" pitchFamily="34" charset="0"/>
                <a:ea typeface="Trebuchet MS" pitchFamily="34" charset="-122"/>
                <a:cs typeface="Trebuchet MS" pitchFamily="34" charset="-120"/>
              </a:rPr>
              <a:t>CORS</a:t>
            </a:r>
            <a:endParaRPr lang="en-US" sz="11000" dirty="0"/>
          </a:p>
        </p:txBody>
      </p:sp>
      <p:sp>
        <p:nvSpPr>
          <p:cNvPr id="4" name="Text 2"/>
          <p:cNvSpPr/>
          <p:nvPr/>
        </p:nvSpPr>
        <p:spPr>
          <a:xfrm>
            <a:off x="868680" y="3703320"/>
            <a:ext cx="10058400" cy="502920"/>
          </a:xfrm>
          <a:prstGeom prst="rect">
            <a:avLst/>
          </a:prstGeom>
          <a:noFill/>
          <a:ln/>
        </p:spPr>
        <p:txBody>
          <a:bodyPr wrap="square" lIns="0" tIns="0" rIns="0" bIns="0" rtlCol="0" anchor="ctr"/>
          <a:lstStyle/>
          <a:p>
            <a:pPr marL="0" indent="0">
              <a:buNone/>
            </a:pPr>
            <a:r>
              <a:rPr lang="en-US" sz="2600" dirty="0">
                <a:solidFill>
                  <a:srgbClr val="55606E"/>
                </a:solidFill>
                <a:latin typeface="Trebuchet MS" pitchFamily="34" charset="0"/>
                <a:ea typeface="Trebuchet MS" pitchFamily="34" charset="-122"/>
                <a:cs typeface="Trebuchet MS" pitchFamily="34" charset="-120"/>
              </a:rPr>
              <a:t>Cross-Origin Resource Sharing</a:t>
            </a:r>
            <a:endParaRPr lang="en-US" sz="2600" dirty="0"/>
          </a:p>
        </p:txBody>
      </p:sp>
      <p:sp>
        <p:nvSpPr>
          <p:cNvPr id="5" name="Shape 3"/>
          <p:cNvSpPr/>
          <p:nvPr/>
        </p:nvSpPr>
        <p:spPr>
          <a:xfrm>
            <a:off x="868680" y="4526280"/>
            <a:ext cx="1828800" cy="0"/>
          </a:xfrm>
          <a:prstGeom prst="line">
            <a:avLst/>
          </a:prstGeom>
          <a:noFill/>
          <a:ln w="28575">
            <a:solidFill>
              <a:srgbClr val="16181D"/>
            </a:solidFill>
            <a:prstDash val="solid"/>
          </a:ln>
        </p:spPr>
      </p:sp>
      <p:sp>
        <p:nvSpPr>
          <p:cNvPr id="6" name="Text 4"/>
          <p:cNvSpPr/>
          <p:nvPr/>
        </p:nvSpPr>
        <p:spPr>
          <a:xfrm>
            <a:off x="868680" y="4754880"/>
            <a:ext cx="8686800" cy="457200"/>
          </a:xfrm>
          <a:prstGeom prst="rect">
            <a:avLst/>
          </a:prstGeom>
          <a:noFill/>
          <a:ln/>
        </p:spPr>
        <p:txBody>
          <a:bodyPr wrap="square" lIns="0" tIns="0" rIns="0" bIns="0" rtlCol="0" anchor="ctr"/>
          <a:lstStyle/>
          <a:p>
            <a:pPr marL="0" indent="0">
              <a:buNone/>
            </a:pPr>
            <a:r>
              <a:rPr lang="en-US" sz="1600" dirty="0">
                <a:solidFill>
                  <a:srgbClr val="55606E"/>
                </a:solidFill>
                <a:latin typeface="Calibri" pitchFamily="34" charset="0"/>
                <a:ea typeface="Calibri" pitchFamily="34" charset="-122"/>
                <a:cs typeface="Calibri" pitchFamily="34" charset="-120"/>
              </a:rPr>
              <a:t>Was der Browser </a:t>
            </a:r>
            <a:r>
              <a:rPr lang="en-US" sz="1600" dirty="0" err="1">
                <a:solidFill>
                  <a:srgbClr val="55606E"/>
                </a:solidFill>
                <a:latin typeface="Calibri" pitchFamily="34" charset="0"/>
                <a:ea typeface="Calibri" pitchFamily="34" charset="-122"/>
                <a:cs typeface="Calibri" pitchFamily="34" charset="-120"/>
              </a:rPr>
              <a:t>blockiert</a:t>
            </a:r>
            <a:r>
              <a:rPr lang="en-US" sz="1600" dirty="0">
                <a:solidFill>
                  <a:srgbClr val="55606E"/>
                </a:solidFill>
                <a:latin typeface="Calibri" pitchFamily="34" charset="0"/>
                <a:ea typeface="Calibri" pitchFamily="34" charset="-122"/>
                <a:cs typeface="Calibri" pitchFamily="34" charset="-120"/>
              </a:rPr>
              <a:t> - </a:t>
            </a:r>
            <a:r>
              <a:rPr lang="en-US" sz="1600" dirty="0" err="1">
                <a:solidFill>
                  <a:srgbClr val="55606E"/>
                </a:solidFill>
                <a:latin typeface="Calibri" pitchFamily="34" charset="0"/>
                <a:ea typeface="Calibri" pitchFamily="34" charset="-122"/>
                <a:cs typeface="Calibri" pitchFamily="34" charset="-120"/>
              </a:rPr>
              <a:t>warum</a:t>
            </a:r>
            <a:r>
              <a:rPr lang="en-US" sz="1600" dirty="0">
                <a:solidFill>
                  <a:srgbClr val="55606E"/>
                </a:solidFill>
                <a:latin typeface="Calibri" pitchFamily="34" charset="0"/>
                <a:ea typeface="Calibri" pitchFamily="34" charset="-122"/>
                <a:cs typeface="Calibri" pitchFamily="34" charset="-120"/>
              </a:rPr>
              <a:t> und </a:t>
            </a:r>
            <a:r>
              <a:rPr lang="en-US" sz="1600" dirty="0" err="1">
                <a:solidFill>
                  <a:srgbClr val="55606E"/>
                </a:solidFill>
                <a:latin typeface="Calibri" pitchFamily="34" charset="0"/>
                <a:ea typeface="Calibri" pitchFamily="34" charset="-122"/>
                <a:cs typeface="Calibri" pitchFamily="34" charset="-120"/>
              </a:rPr>
              <a:t>wie</a:t>
            </a:r>
            <a:r>
              <a:rPr lang="en-US" sz="1600" dirty="0">
                <a:solidFill>
                  <a:srgbClr val="55606E"/>
                </a:solidFill>
                <a:latin typeface="Calibri" pitchFamily="34" charset="0"/>
                <a:ea typeface="Calibri" pitchFamily="34" charset="-122"/>
                <a:cs typeface="Calibri" pitchFamily="34" charset="-120"/>
              </a:rPr>
              <a:t> die scheduler-API davon betroffen ist.</a:t>
            </a:r>
            <a:endParaRPr lang="en-US" sz="1600" dirty="0"/>
          </a:p>
        </p:txBody>
      </p:sp>
      <p:sp>
        <p:nvSpPr>
          <p:cNvPr id="8" name="Text 5">
            <a:extLst>
              <a:ext uri="{FF2B5EF4-FFF2-40B4-BE49-F238E27FC236}">
                <a16:creationId xmlns:a16="http://schemas.microsoft.com/office/drawing/2014/main" id="{5FDC3C88-357D-D86F-95D0-27F8EFCA191B}"/>
              </a:ext>
            </a:extLst>
          </p:cNvPr>
          <p:cNvSpPr>
            <a:spLocks noGrp="1"/>
          </p:cNvSpPr>
          <p:nvPr/>
        </p:nvSpPr>
        <p:spPr>
          <a:xfrm>
            <a:off x="9448495" y="6080760"/>
            <a:ext cx="1874520" cy="320040"/>
          </a:xfrm>
          <a:prstGeom prst="rect">
            <a:avLst/>
          </a:prstGeom>
          <a:noFill/>
        </p:spPr>
        <p:txBody>
          <a:bodyPr wrap="square" lIns="0" tIns="0" rIns="0" bIns="0" anchor="ctr"/>
          <a:lstStyle/>
          <a:p>
            <a:pPr marL="0" indent="0" algn="r">
              <a:buNone/>
            </a:pPr>
            <a:r>
              <a:rPr sz="1200" i="1" dirty="0" err="1">
                <a:solidFill>
                  <a:srgbClr val="9AA3AF"/>
                </a:solidFill>
                <a:latin typeface="Calibri"/>
                <a:ea typeface="Calibri"/>
                <a:cs typeface="Calibri"/>
              </a:rPr>
              <a:t>Vortrag</a:t>
            </a:r>
            <a:r>
              <a:rPr sz="1200" i="1" dirty="0">
                <a:solidFill>
                  <a:srgbClr val="9AA3AF"/>
                </a:solidFill>
                <a:latin typeface="Calibri"/>
                <a:ea typeface="Calibri"/>
                <a:cs typeface="Calibri"/>
              </a:rPr>
              <a:t>: </a:t>
            </a:r>
            <a:r>
              <a:rPr lang="de-DE" sz="1200" i="1" dirty="0">
                <a:solidFill>
                  <a:srgbClr val="9AA3AF"/>
                </a:solidFill>
                <a:latin typeface="Calibri"/>
                <a:ea typeface="Calibri"/>
                <a:cs typeface="Calibri"/>
              </a:rPr>
              <a:t>Ole</a:t>
            </a:r>
            <a:r>
              <a:rPr sz="1200" i="1" dirty="0">
                <a:solidFill>
                  <a:srgbClr val="9AA3AF"/>
                </a:solidFill>
                <a:latin typeface="Calibri"/>
                <a:ea typeface="Calibri"/>
                <a:cs typeface="Calibri"/>
              </a:rPr>
              <a:t> &amp;</a:t>
            </a:r>
            <a:r>
              <a:rPr lang="de-DE" sz="1200" i="1" dirty="0">
                <a:solidFill>
                  <a:srgbClr val="9AA3AF"/>
                </a:solidFill>
                <a:latin typeface="Calibri"/>
                <a:ea typeface="Calibri"/>
                <a:cs typeface="Calibri"/>
              </a:rPr>
              <a:t> Tom</a:t>
            </a:r>
            <a:endParaRPr sz="1200" i="1" dirty="0">
              <a:solidFill>
                <a:srgbClr val="9AA3AF"/>
              </a:solidFill>
              <a:latin typeface="Calibri"/>
              <a:ea typeface="Calibri"/>
              <a:cs typeface="Calibri"/>
            </a:endParaRPr>
          </a:p>
        </p:txBody>
      </p:sp>
      <p:sp>
        <p:nvSpPr>
          <p:cNvPr id="9" name="Text 0">
            <a:extLst>
              <a:ext uri="{FF2B5EF4-FFF2-40B4-BE49-F238E27FC236}">
                <a16:creationId xmlns:a16="http://schemas.microsoft.com/office/drawing/2014/main" id="{7CB978CC-B92F-47A9-E291-692F319275C4}"/>
              </a:ext>
            </a:extLst>
          </p:cNvPr>
          <p:cNvSpPr>
            <a:spLocks noGrp="1"/>
          </p:cNvSpPr>
          <p:nvPr/>
        </p:nvSpPr>
        <p:spPr>
          <a:xfrm>
            <a:off x="868680" y="1874520"/>
            <a:ext cx="7315200" cy="320040"/>
          </a:xfrm>
          <a:prstGeom prst="rect">
            <a:avLst/>
          </a:prstGeom>
          <a:noFill/>
        </p:spPr>
        <p:txBody>
          <a:bodyPr wrap="square" lIns="0" tIns="0" rIns="0" bIns="0" anchor="ctr"/>
          <a:lstStyle/>
          <a:p>
            <a:pPr marL="0" indent="0">
              <a:buNone/>
            </a:pPr>
            <a:r>
              <a:rPr sz="1200" b="1" dirty="0">
                <a:solidFill>
                  <a:srgbClr val="1463FF"/>
                </a:solidFill>
                <a:latin typeface="Calibri"/>
                <a:ea typeface="Calibri"/>
                <a:cs typeface="Calibri"/>
              </a:rPr>
              <a:t>IT SECURITY · SCHEDULER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GRUNDLAGE 01</a:t>
            </a:r>
            <a:endParaRPr lang="en-US" sz="1050" dirty="0"/>
          </a:p>
        </p:txBody>
      </p:sp>
      <p:sp>
        <p:nvSpPr>
          <p:cNvPr id="4" name="Text 2"/>
          <p:cNvSpPr/>
          <p:nvPr/>
        </p:nvSpPr>
        <p:spPr>
          <a:xfrm>
            <a:off x="868680" y="1051560"/>
            <a:ext cx="10058400" cy="777240"/>
          </a:xfrm>
          <a:prstGeom prst="rect">
            <a:avLst/>
          </a:prstGeom>
          <a:noFill/>
          <a:ln/>
        </p:spPr>
        <p:txBody>
          <a:bodyPr wrap="square" lIns="0" tIns="0" rIns="0" bIns="0" rtlCol="0" anchor="ctr"/>
          <a:lstStyle/>
          <a:p>
            <a:pPr marL="0" indent="0">
              <a:buNone/>
            </a:pPr>
            <a:r>
              <a:rPr lang="en-US" sz="4000" b="1" dirty="0">
                <a:solidFill>
                  <a:srgbClr val="16181D"/>
                </a:solidFill>
                <a:latin typeface="Trebuchet MS" pitchFamily="34" charset="0"/>
                <a:ea typeface="Trebuchet MS" pitchFamily="34" charset="-122"/>
                <a:cs typeface="Trebuchet MS" pitchFamily="34" charset="-120"/>
              </a:rPr>
              <a:t>Same-Origin Policy</a:t>
            </a:r>
            <a:endParaRPr lang="en-US" sz="4000" dirty="0"/>
          </a:p>
        </p:txBody>
      </p:sp>
      <p:sp>
        <p:nvSpPr>
          <p:cNvPr id="5" name="Text 3"/>
          <p:cNvSpPr/>
          <p:nvPr/>
        </p:nvSpPr>
        <p:spPr>
          <a:xfrm>
            <a:off x="868680" y="1920240"/>
            <a:ext cx="8778240" cy="64008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Ein Skript darf einen Request an eine fremde Origin </a:t>
            </a:r>
            <a:r>
              <a:rPr lang="en-US" sz="1700" dirty="0" err="1">
                <a:solidFill>
                  <a:srgbClr val="55606E"/>
                </a:solidFill>
                <a:latin typeface="Calibri" pitchFamily="34" charset="0"/>
                <a:ea typeface="Calibri" pitchFamily="34" charset="-122"/>
                <a:cs typeface="Calibri" pitchFamily="34" charset="-120"/>
              </a:rPr>
              <a:t>senden</a:t>
            </a:r>
            <a:r>
              <a:rPr lang="en-US" sz="1700" dirty="0">
                <a:solidFill>
                  <a:srgbClr val="55606E"/>
                </a:solidFill>
                <a:latin typeface="Calibri" pitchFamily="34" charset="0"/>
                <a:ea typeface="Calibri" pitchFamily="34" charset="-122"/>
                <a:cs typeface="Calibri" pitchFamily="34" charset="-120"/>
              </a:rPr>
              <a:t>, </a:t>
            </a:r>
            <a:r>
              <a:rPr lang="en-US" sz="1700" dirty="0" err="1">
                <a:solidFill>
                  <a:srgbClr val="55606E"/>
                </a:solidFill>
                <a:latin typeface="Calibri" pitchFamily="34" charset="0"/>
                <a:ea typeface="Calibri" pitchFamily="34" charset="-122"/>
                <a:cs typeface="Calibri" pitchFamily="34" charset="-120"/>
              </a:rPr>
              <a:t>aber</a:t>
            </a:r>
            <a:r>
              <a:rPr lang="en-US" sz="1700" dirty="0">
                <a:solidFill>
                  <a:srgbClr val="55606E"/>
                </a:solidFill>
                <a:latin typeface="Calibri" pitchFamily="34" charset="0"/>
                <a:ea typeface="Calibri" pitchFamily="34" charset="-122"/>
                <a:cs typeface="Calibri" pitchFamily="34" charset="-120"/>
              </a:rPr>
              <a:t> die Antwort nicht lesen, wenn die Zielseite das nicht erlaubt.</a:t>
            </a:r>
            <a:endParaRPr lang="en-US" sz="1700" dirty="0"/>
          </a:p>
        </p:txBody>
      </p:sp>
      <p:sp>
        <p:nvSpPr>
          <p:cNvPr id="6" name="Text 4"/>
          <p:cNvSpPr/>
          <p:nvPr/>
        </p:nvSpPr>
        <p:spPr>
          <a:xfrm>
            <a:off x="868680" y="3063240"/>
            <a:ext cx="7315200" cy="274320"/>
          </a:xfrm>
          <a:prstGeom prst="rect">
            <a:avLst/>
          </a:prstGeom>
          <a:noFill/>
          <a:ln/>
        </p:spPr>
        <p:txBody>
          <a:bodyPr wrap="square" lIns="0" tIns="0" rIns="0" bIns="0" rtlCol="0" anchor="ctr"/>
          <a:lstStyle/>
          <a:p>
            <a:pPr marL="0" indent="0">
              <a:buNone/>
            </a:pPr>
            <a:r>
              <a:rPr lang="en-US" sz="1100" b="1" kern="0" spc="250" dirty="0">
                <a:solidFill>
                  <a:srgbClr val="9AA3AF"/>
                </a:solidFill>
                <a:latin typeface="Calibri" pitchFamily="34" charset="0"/>
                <a:ea typeface="Calibri" pitchFamily="34" charset="-122"/>
                <a:cs typeface="Calibri" pitchFamily="34" charset="-120"/>
              </a:rPr>
              <a:t>EINE ORIGIN BESTEHT AUS</a:t>
            </a:r>
            <a:endParaRPr lang="en-US" sz="1100" dirty="0"/>
          </a:p>
        </p:txBody>
      </p:sp>
      <p:sp>
        <p:nvSpPr>
          <p:cNvPr id="7" name="Text 5"/>
          <p:cNvSpPr/>
          <p:nvPr/>
        </p:nvSpPr>
        <p:spPr>
          <a:xfrm>
            <a:off x="868680" y="3474720"/>
            <a:ext cx="2926080" cy="320040"/>
          </a:xfrm>
          <a:prstGeom prst="rect">
            <a:avLst/>
          </a:prstGeom>
          <a:noFill/>
          <a:ln/>
        </p:spPr>
        <p:txBody>
          <a:bodyPr wrap="square" lIns="0" tIns="0" rIns="0" bIns="0" rtlCol="0" anchor="ctr"/>
          <a:lstStyle/>
          <a:p>
            <a:pPr marL="0" indent="0">
              <a:buNone/>
            </a:pPr>
            <a:r>
              <a:rPr lang="en-US" sz="1300" dirty="0">
                <a:solidFill>
                  <a:srgbClr val="9AA3AF"/>
                </a:solidFill>
                <a:latin typeface="Calibri" pitchFamily="34" charset="0"/>
                <a:ea typeface="Calibri" pitchFamily="34" charset="-122"/>
                <a:cs typeface="Calibri" pitchFamily="34" charset="-120"/>
              </a:rPr>
              <a:t>Schema</a:t>
            </a:r>
            <a:endParaRPr lang="en-US" sz="1300" dirty="0"/>
          </a:p>
        </p:txBody>
      </p:sp>
      <p:sp>
        <p:nvSpPr>
          <p:cNvPr id="8" name="Text 6"/>
          <p:cNvSpPr/>
          <p:nvPr/>
        </p:nvSpPr>
        <p:spPr>
          <a:xfrm>
            <a:off x="868680" y="3767328"/>
            <a:ext cx="2926080" cy="548640"/>
          </a:xfrm>
          <a:prstGeom prst="rect">
            <a:avLst/>
          </a:prstGeom>
          <a:noFill/>
          <a:ln/>
        </p:spPr>
        <p:txBody>
          <a:bodyPr wrap="square" lIns="0" tIns="0" rIns="0" bIns="0" rtlCol="0" anchor="ctr"/>
          <a:lstStyle/>
          <a:p>
            <a:pPr marL="0" indent="0">
              <a:buNone/>
            </a:pPr>
            <a:r>
              <a:rPr lang="en-US" sz="3000" b="1" dirty="0">
                <a:solidFill>
                  <a:srgbClr val="16181D"/>
                </a:solidFill>
                <a:latin typeface="Consolas" pitchFamily="34" charset="0"/>
                <a:ea typeface="Consolas" pitchFamily="34" charset="-122"/>
                <a:cs typeface="Consolas" pitchFamily="34" charset="-120"/>
              </a:rPr>
              <a:t>http</a:t>
            </a:r>
            <a:endParaRPr lang="en-US" sz="3000" dirty="0"/>
          </a:p>
        </p:txBody>
      </p:sp>
      <p:sp>
        <p:nvSpPr>
          <p:cNvPr id="9" name="Shape 7"/>
          <p:cNvSpPr/>
          <p:nvPr/>
        </p:nvSpPr>
        <p:spPr>
          <a:xfrm>
            <a:off x="3749040" y="3520440"/>
            <a:ext cx="0" cy="685800"/>
          </a:xfrm>
          <a:prstGeom prst="line">
            <a:avLst/>
          </a:prstGeom>
          <a:noFill/>
          <a:ln w="12700">
            <a:solidFill>
              <a:srgbClr val="E4E7EC"/>
            </a:solidFill>
            <a:prstDash val="solid"/>
          </a:ln>
        </p:spPr>
      </p:sp>
      <p:sp>
        <p:nvSpPr>
          <p:cNvPr id="10" name="Text 8"/>
          <p:cNvSpPr/>
          <p:nvPr/>
        </p:nvSpPr>
        <p:spPr>
          <a:xfrm>
            <a:off x="3794760" y="3474720"/>
            <a:ext cx="2926080" cy="320040"/>
          </a:xfrm>
          <a:prstGeom prst="rect">
            <a:avLst/>
          </a:prstGeom>
          <a:noFill/>
          <a:ln/>
        </p:spPr>
        <p:txBody>
          <a:bodyPr wrap="square" lIns="0" tIns="0" rIns="0" bIns="0" rtlCol="0" anchor="ctr"/>
          <a:lstStyle/>
          <a:p>
            <a:pPr marL="0" indent="0">
              <a:buNone/>
            </a:pPr>
            <a:r>
              <a:rPr lang="en-US" sz="1300" dirty="0">
                <a:solidFill>
                  <a:srgbClr val="9AA3AF"/>
                </a:solidFill>
                <a:latin typeface="Calibri" pitchFamily="34" charset="0"/>
                <a:ea typeface="Calibri" pitchFamily="34" charset="-122"/>
                <a:cs typeface="Calibri" pitchFamily="34" charset="-120"/>
              </a:rPr>
              <a:t>Host</a:t>
            </a:r>
            <a:endParaRPr lang="en-US" sz="1300" dirty="0"/>
          </a:p>
        </p:txBody>
      </p:sp>
      <p:sp>
        <p:nvSpPr>
          <p:cNvPr id="11" name="Text 9"/>
          <p:cNvSpPr/>
          <p:nvPr/>
        </p:nvSpPr>
        <p:spPr>
          <a:xfrm>
            <a:off x="3794760" y="3767328"/>
            <a:ext cx="2926080" cy="548640"/>
          </a:xfrm>
          <a:prstGeom prst="rect">
            <a:avLst/>
          </a:prstGeom>
          <a:noFill/>
          <a:ln/>
        </p:spPr>
        <p:txBody>
          <a:bodyPr wrap="square" lIns="0" tIns="0" rIns="0" bIns="0" rtlCol="0" anchor="ctr"/>
          <a:lstStyle/>
          <a:p>
            <a:pPr marL="0" indent="0">
              <a:buNone/>
            </a:pPr>
            <a:r>
              <a:rPr lang="en-US" sz="3000" b="1" dirty="0">
                <a:solidFill>
                  <a:srgbClr val="16181D"/>
                </a:solidFill>
                <a:latin typeface="Consolas" pitchFamily="34" charset="0"/>
                <a:ea typeface="Consolas" pitchFamily="34" charset="-122"/>
                <a:cs typeface="Consolas" pitchFamily="34" charset="-120"/>
              </a:rPr>
              <a:t>localhost</a:t>
            </a:r>
            <a:endParaRPr lang="en-US" sz="3000" dirty="0"/>
          </a:p>
        </p:txBody>
      </p:sp>
      <p:sp>
        <p:nvSpPr>
          <p:cNvPr id="12" name="Shape 10"/>
          <p:cNvSpPr/>
          <p:nvPr/>
        </p:nvSpPr>
        <p:spPr>
          <a:xfrm>
            <a:off x="6675120" y="3520440"/>
            <a:ext cx="0" cy="685800"/>
          </a:xfrm>
          <a:prstGeom prst="line">
            <a:avLst/>
          </a:prstGeom>
          <a:noFill/>
          <a:ln w="12700">
            <a:solidFill>
              <a:srgbClr val="E4E7EC"/>
            </a:solidFill>
            <a:prstDash val="solid"/>
          </a:ln>
        </p:spPr>
      </p:sp>
      <p:sp>
        <p:nvSpPr>
          <p:cNvPr id="13" name="Text 11"/>
          <p:cNvSpPr/>
          <p:nvPr/>
        </p:nvSpPr>
        <p:spPr>
          <a:xfrm>
            <a:off x="6720840" y="3474720"/>
            <a:ext cx="2926080" cy="320040"/>
          </a:xfrm>
          <a:prstGeom prst="rect">
            <a:avLst/>
          </a:prstGeom>
          <a:noFill/>
          <a:ln/>
        </p:spPr>
        <p:txBody>
          <a:bodyPr wrap="square" lIns="0" tIns="0" rIns="0" bIns="0" rtlCol="0" anchor="ctr"/>
          <a:lstStyle/>
          <a:p>
            <a:pPr marL="0" indent="0">
              <a:buNone/>
            </a:pPr>
            <a:r>
              <a:rPr lang="en-US" sz="1300" dirty="0">
                <a:solidFill>
                  <a:srgbClr val="9AA3AF"/>
                </a:solidFill>
                <a:latin typeface="Calibri" pitchFamily="34" charset="0"/>
                <a:ea typeface="Calibri" pitchFamily="34" charset="-122"/>
                <a:cs typeface="Calibri" pitchFamily="34" charset="-120"/>
              </a:rPr>
              <a:t>Port</a:t>
            </a:r>
            <a:endParaRPr lang="en-US" sz="1300" dirty="0"/>
          </a:p>
        </p:txBody>
      </p:sp>
      <p:sp>
        <p:nvSpPr>
          <p:cNvPr id="14" name="Text 12"/>
          <p:cNvSpPr/>
          <p:nvPr/>
        </p:nvSpPr>
        <p:spPr>
          <a:xfrm>
            <a:off x="6720840" y="3767328"/>
            <a:ext cx="2926080" cy="548640"/>
          </a:xfrm>
          <a:prstGeom prst="rect">
            <a:avLst/>
          </a:prstGeom>
          <a:noFill/>
          <a:ln/>
        </p:spPr>
        <p:txBody>
          <a:bodyPr wrap="square" lIns="0" tIns="0" rIns="0" bIns="0" rtlCol="0" anchor="ctr"/>
          <a:lstStyle/>
          <a:p>
            <a:pPr marL="0" indent="0">
              <a:buNone/>
            </a:pPr>
            <a:r>
              <a:rPr lang="en-US" sz="3000" b="1" dirty="0">
                <a:solidFill>
                  <a:srgbClr val="16181D"/>
                </a:solidFill>
                <a:latin typeface="Consolas" pitchFamily="34" charset="0"/>
                <a:ea typeface="Consolas" pitchFamily="34" charset="-122"/>
                <a:cs typeface="Consolas" pitchFamily="34" charset="-120"/>
              </a:rPr>
              <a:t>8079</a:t>
            </a:r>
            <a:endParaRPr lang="en-US" sz="3000" dirty="0"/>
          </a:p>
        </p:txBody>
      </p:sp>
      <p:sp>
        <p:nvSpPr>
          <p:cNvPr id="15" name="Shape 13"/>
          <p:cNvSpPr/>
          <p:nvPr/>
        </p:nvSpPr>
        <p:spPr>
          <a:xfrm>
            <a:off x="868680" y="4892040"/>
            <a:ext cx="10454335" cy="0"/>
          </a:xfrm>
          <a:prstGeom prst="line">
            <a:avLst/>
          </a:prstGeom>
          <a:noFill/>
          <a:ln w="12700">
            <a:solidFill>
              <a:srgbClr val="E4E7EC"/>
            </a:solidFill>
            <a:prstDash val="solid"/>
          </a:ln>
        </p:spPr>
      </p:sp>
      <p:sp>
        <p:nvSpPr>
          <p:cNvPr id="16" name="Text 14"/>
          <p:cNvSpPr/>
          <p:nvPr/>
        </p:nvSpPr>
        <p:spPr>
          <a:xfrm>
            <a:off x="868680" y="5166360"/>
            <a:ext cx="10058400" cy="365760"/>
          </a:xfrm>
          <a:prstGeom prst="rect">
            <a:avLst/>
          </a:prstGeom>
          <a:noFill/>
          <a:ln/>
        </p:spPr>
        <p:txBody>
          <a:bodyPr wrap="square" lIns="0" tIns="0" rIns="0" bIns="0" rtlCol="0" anchor="ctr"/>
          <a:lstStyle/>
          <a:p>
            <a:pPr marL="0" indent="0">
              <a:buNone/>
            </a:pPr>
            <a:r>
              <a:rPr lang="en-US" sz="1900" b="1" dirty="0">
                <a:solidFill>
                  <a:srgbClr val="16181D"/>
                </a:solidFill>
                <a:latin typeface="Trebuchet MS" pitchFamily="34" charset="0"/>
                <a:ea typeface="Trebuchet MS" pitchFamily="34" charset="-122"/>
                <a:cs typeface="Trebuchet MS" pitchFamily="34" charset="-120"/>
              </a:rPr>
              <a:t>Verschiedene Ports = verschiedene Origins</a:t>
            </a:r>
            <a:endParaRPr lang="en-US" sz="1900" dirty="0"/>
          </a:p>
        </p:txBody>
      </p:sp>
      <p:sp>
        <p:nvSpPr>
          <p:cNvPr id="17" name="Text 15"/>
          <p:cNvSpPr/>
          <p:nvPr/>
        </p:nvSpPr>
        <p:spPr>
          <a:xfrm>
            <a:off x="868680" y="5669280"/>
            <a:ext cx="10058400" cy="457200"/>
          </a:xfrm>
          <a:prstGeom prst="rect">
            <a:avLst/>
          </a:prstGeom>
          <a:noFill/>
          <a:ln/>
        </p:spPr>
        <p:txBody>
          <a:bodyPr wrap="square" lIns="0" tIns="0" rIns="0" bIns="0" rtlCol="0" anchor="ctr"/>
          <a:lstStyle/>
          <a:p>
            <a:pPr marL="0" indent="0">
              <a:buNone/>
            </a:pPr>
            <a:r>
              <a:rPr lang="en-US" sz="1800" b="1" dirty="0">
                <a:solidFill>
                  <a:srgbClr val="16181D"/>
                </a:solidFill>
                <a:latin typeface="Consolas" pitchFamily="34" charset="0"/>
                <a:ea typeface="Consolas" pitchFamily="34" charset="-122"/>
                <a:cs typeface="Consolas" pitchFamily="34" charset="-120"/>
              </a:rPr>
              <a:t>localhost:8078</a:t>
            </a:r>
            <a:r>
              <a:rPr lang="en-US" sz="1800" b="1" dirty="0">
                <a:solidFill>
                  <a:srgbClr val="D23B4E"/>
                </a:solidFill>
                <a:latin typeface="Calibri" pitchFamily="34" charset="0"/>
                <a:ea typeface="Calibri" pitchFamily="34" charset="-122"/>
                <a:cs typeface="Calibri" pitchFamily="34" charset="-120"/>
              </a:rPr>
              <a:t>      ≠      </a:t>
            </a:r>
            <a:r>
              <a:rPr lang="en-US" sz="1800" b="1" dirty="0">
                <a:solidFill>
                  <a:srgbClr val="16181D"/>
                </a:solidFill>
                <a:latin typeface="Consolas" pitchFamily="34" charset="0"/>
                <a:ea typeface="Consolas" pitchFamily="34" charset="-122"/>
                <a:cs typeface="Consolas" pitchFamily="34" charset="-120"/>
              </a:rPr>
              <a:t>localhost:8079</a:t>
            </a:r>
            <a:endParaRPr lang="en-US" sz="1800" dirty="0"/>
          </a:p>
        </p:txBody>
      </p:sp>
      <p:sp>
        <p:nvSpPr>
          <p:cNvPr id="18" name="Text 1">
            <a:extLst>
              <a:ext uri="{FF2B5EF4-FFF2-40B4-BE49-F238E27FC236}">
                <a16:creationId xmlns:a16="http://schemas.microsoft.com/office/drawing/2014/main" id="{B82697F0-3065-5914-362C-C44E1249A843}"/>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13</a:t>
            </a:fld>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GRUNDLAGE 02</a:t>
            </a:r>
            <a:endParaRPr lang="en-US" sz="1050" dirty="0"/>
          </a:p>
        </p:txBody>
      </p:sp>
      <p:sp>
        <p:nvSpPr>
          <p:cNvPr id="4" name="Text 2"/>
          <p:cNvSpPr/>
          <p:nvPr/>
        </p:nvSpPr>
        <p:spPr>
          <a:xfrm>
            <a:off x="868680" y="1051560"/>
            <a:ext cx="10424160" cy="777240"/>
          </a:xfrm>
          <a:prstGeom prst="rect">
            <a:avLst/>
          </a:prstGeom>
          <a:noFill/>
          <a:ln/>
        </p:spPr>
        <p:txBody>
          <a:bodyPr wrap="square" lIns="0" tIns="0" rIns="0" bIns="0" rtlCol="0" anchor="ctr"/>
          <a:lstStyle/>
          <a:p>
            <a:pPr marL="0" indent="0">
              <a:buNone/>
            </a:pPr>
            <a:r>
              <a:rPr lang="en-US" sz="3800" b="1" dirty="0">
                <a:solidFill>
                  <a:srgbClr val="16181D"/>
                </a:solidFill>
                <a:latin typeface="Trebuchet MS" pitchFamily="34" charset="0"/>
                <a:ea typeface="Trebuchet MS" pitchFamily="34" charset="-122"/>
                <a:cs typeface="Trebuchet MS" pitchFamily="34" charset="-120"/>
              </a:rPr>
              <a:t>CORS = ausdrückliche Lesefreigabe</a:t>
            </a:r>
            <a:endParaRPr lang="en-US" sz="3800" dirty="0"/>
          </a:p>
        </p:txBody>
      </p:sp>
      <p:sp>
        <p:nvSpPr>
          <p:cNvPr id="5" name="Text 3"/>
          <p:cNvSpPr/>
          <p:nvPr/>
        </p:nvSpPr>
        <p:spPr>
          <a:xfrm>
            <a:off x="868680" y="1874520"/>
            <a:ext cx="10058400" cy="45720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Der Server sagt per Header, welche fremden Origins seine Antworten im Browser lesen dürfen.</a:t>
            </a:r>
            <a:endParaRPr lang="en-US" sz="1700" dirty="0"/>
          </a:p>
        </p:txBody>
      </p:sp>
      <p:sp>
        <p:nvSpPr>
          <p:cNvPr id="6" name="Shape 4"/>
          <p:cNvSpPr/>
          <p:nvPr/>
        </p:nvSpPr>
        <p:spPr>
          <a:xfrm>
            <a:off x="868680" y="2743200"/>
            <a:ext cx="4892040" cy="0"/>
          </a:xfrm>
          <a:prstGeom prst="line">
            <a:avLst/>
          </a:prstGeom>
          <a:noFill/>
          <a:ln w="12700">
            <a:solidFill>
              <a:srgbClr val="E4E7EC"/>
            </a:solidFill>
            <a:prstDash val="solid"/>
          </a:ln>
        </p:spPr>
      </p:sp>
      <p:sp>
        <p:nvSpPr>
          <p:cNvPr id="7" name="Text 5"/>
          <p:cNvSpPr/>
          <p:nvPr/>
        </p:nvSpPr>
        <p:spPr>
          <a:xfrm>
            <a:off x="868680" y="2889504"/>
            <a:ext cx="4892040" cy="365760"/>
          </a:xfrm>
          <a:prstGeom prst="rect">
            <a:avLst/>
          </a:prstGeom>
          <a:noFill/>
          <a:ln/>
        </p:spPr>
        <p:txBody>
          <a:bodyPr wrap="square" lIns="0" tIns="0" rIns="0" bIns="0" rtlCol="0" anchor="ctr"/>
          <a:lstStyle/>
          <a:p>
            <a:pPr marL="0" indent="0">
              <a:buNone/>
            </a:pPr>
            <a:r>
              <a:rPr lang="en-US" sz="1450" b="1" dirty="0">
                <a:solidFill>
                  <a:srgbClr val="16181D"/>
                </a:solidFill>
                <a:latin typeface="Consolas" pitchFamily="34" charset="0"/>
                <a:ea typeface="Consolas" pitchFamily="34" charset="-122"/>
                <a:cs typeface="Consolas" pitchFamily="34" charset="-120"/>
              </a:rPr>
              <a:t>Access-Control-Allow-Origin</a:t>
            </a:r>
            <a:endParaRPr lang="en-US" sz="1450" dirty="0"/>
          </a:p>
        </p:txBody>
      </p:sp>
      <p:sp>
        <p:nvSpPr>
          <p:cNvPr id="8" name="Text 6"/>
          <p:cNvSpPr/>
          <p:nvPr/>
        </p:nvSpPr>
        <p:spPr>
          <a:xfrm>
            <a:off x="868680" y="3273552"/>
            <a:ext cx="489204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Welche Origin darf die Antwort lesen? Sicher = feste Allowlist.</a:t>
            </a:r>
            <a:endParaRPr lang="en-US" sz="1250" dirty="0"/>
          </a:p>
        </p:txBody>
      </p:sp>
      <p:sp>
        <p:nvSpPr>
          <p:cNvPr id="9" name="Shape 7"/>
          <p:cNvSpPr/>
          <p:nvPr/>
        </p:nvSpPr>
        <p:spPr>
          <a:xfrm>
            <a:off x="6446520" y="2743200"/>
            <a:ext cx="4892040" cy="0"/>
          </a:xfrm>
          <a:prstGeom prst="line">
            <a:avLst/>
          </a:prstGeom>
          <a:noFill/>
          <a:ln w="12700">
            <a:solidFill>
              <a:srgbClr val="E4E7EC"/>
            </a:solidFill>
            <a:prstDash val="solid"/>
          </a:ln>
        </p:spPr>
      </p:sp>
      <p:sp>
        <p:nvSpPr>
          <p:cNvPr id="10" name="Text 8"/>
          <p:cNvSpPr/>
          <p:nvPr/>
        </p:nvSpPr>
        <p:spPr>
          <a:xfrm>
            <a:off x="6446520" y="2889504"/>
            <a:ext cx="4892040" cy="365760"/>
          </a:xfrm>
          <a:prstGeom prst="rect">
            <a:avLst/>
          </a:prstGeom>
          <a:noFill/>
          <a:ln/>
        </p:spPr>
        <p:txBody>
          <a:bodyPr wrap="square" lIns="0" tIns="0" rIns="0" bIns="0" rtlCol="0" anchor="ctr"/>
          <a:lstStyle/>
          <a:p>
            <a:pPr marL="0" indent="0">
              <a:buNone/>
            </a:pPr>
            <a:r>
              <a:rPr lang="en-US" sz="1450" b="1" dirty="0">
                <a:solidFill>
                  <a:srgbClr val="16181D"/>
                </a:solidFill>
                <a:latin typeface="Consolas" pitchFamily="34" charset="0"/>
                <a:ea typeface="Consolas" pitchFamily="34" charset="-122"/>
                <a:cs typeface="Consolas" pitchFamily="34" charset="-120"/>
              </a:rPr>
              <a:t>Access-Control-Allow-Credentials</a:t>
            </a:r>
            <a:endParaRPr lang="en-US" sz="1450" dirty="0"/>
          </a:p>
        </p:txBody>
      </p:sp>
      <p:sp>
        <p:nvSpPr>
          <p:cNvPr id="11" name="Text 9"/>
          <p:cNvSpPr/>
          <p:nvPr/>
        </p:nvSpPr>
        <p:spPr>
          <a:xfrm>
            <a:off x="6446520" y="3273552"/>
            <a:ext cx="489204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Dürfen Cookies / Auth mitgesendet werden? Nur wenn nötig.</a:t>
            </a:r>
            <a:endParaRPr lang="en-US" sz="1250" dirty="0"/>
          </a:p>
        </p:txBody>
      </p:sp>
      <p:sp>
        <p:nvSpPr>
          <p:cNvPr id="12" name="Shape 10"/>
          <p:cNvSpPr/>
          <p:nvPr/>
        </p:nvSpPr>
        <p:spPr>
          <a:xfrm>
            <a:off x="868680" y="3822192"/>
            <a:ext cx="4892040" cy="0"/>
          </a:xfrm>
          <a:prstGeom prst="line">
            <a:avLst/>
          </a:prstGeom>
          <a:noFill/>
          <a:ln w="12700">
            <a:solidFill>
              <a:srgbClr val="E4E7EC"/>
            </a:solidFill>
            <a:prstDash val="solid"/>
          </a:ln>
        </p:spPr>
      </p:sp>
      <p:sp>
        <p:nvSpPr>
          <p:cNvPr id="13" name="Text 11"/>
          <p:cNvSpPr/>
          <p:nvPr/>
        </p:nvSpPr>
        <p:spPr>
          <a:xfrm>
            <a:off x="868680" y="3968496"/>
            <a:ext cx="4892040" cy="365760"/>
          </a:xfrm>
          <a:prstGeom prst="rect">
            <a:avLst/>
          </a:prstGeom>
          <a:noFill/>
          <a:ln/>
        </p:spPr>
        <p:txBody>
          <a:bodyPr wrap="square" lIns="0" tIns="0" rIns="0" bIns="0" rtlCol="0" anchor="ctr"/>
          <a:lstStyle/>
          <a:p>
            <a:pPr marL="0" indent="0">
              <a:buNone/>
            </a:pPr>
            <a:r>
              <a:rPr lang="en-US" sz="1450" b="1" dirty="0">
                <a:solidFill>
                  <a:srgbClr val="16181D"/>
                </a:solidFill>
                <a:latin typeface="Consolas" pitchFamily="34" charset="0"/>
                <a:ea typeface="Consolas" pitchFamily="34" charset="-122"/>
                <a:cs typeface="Consolas" pitchFamily="34" charset="-120"/>
              </a:rPr>
              <a:t>Access-Control-Allow-Methods</a:t>
            </a:r>
            <a:endParaRPr lang="en-US" sz="1450" dirty="0"/>
          </a:p>
        </p:txBody>
      </p:sp>
      <p:sp>
        <p:nvSpPr>
          <p:cNvPr id="14" name="Text 12"/>
          <p:cNvSpPr/>
          <p:nvPr/>
        </p:nvSpPr>
        <p:spPr>
          <a:xfrm>
            <a:off x="868680" y="4352544"/>
            <a:ext cx="489204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Erlaubte Methoden, z. B. GET, POST, PUT, DELETE.</a:t>
            </a:r>
            <a:endParaRPr lang="en-US" sz="1250" dirty="0"/>
          </a:p>
        </p:txBody>
      </p:sp>
      <p:sp>
        <p:nvSpPr>
          <p:cNvPr id="15" name="Shape 13"/>
          <p:cNvSpPr/>
          <p:nvPr/>
        </p:nvSpPr>
        <p:spPr>
          <a:xfrm>
            <a:off x="6446520" y="3822192"/>
            <a:ext cx="4892040" cy="0"/>
          </a:xfrm>
          <a:prstGeom prst="line">
            <a:avLst/>
          </a:prstGeom>
          <a:noFill/>
          <a:ln w="12700">
            <a:solidFill>
              <a:srgbClr val="E4E7EC"/>
            </a:solidFill>
            <a:prstDash val="solid"/>
          </a:ln>
        </p:spPr>
      </p:sp>
      <p:sp>
        <p:nvSpPr>
          <p:cNvPr id="16" name="Text 14"/>
          <p:cNvSpPr/>
          <p:nvPr/>
        </p:nvSpPr>
        <p:spPr>
          <a:xfrm>
            <a:off x="6446520" y="3968496"/>
            <a:ext cx="4892040" cy="365760"/>
          </a:xfrm>
          <a:prstGeom prst="rect">
            <a:avLst/>
          </a:prstGeom>
          <a:noFill/>
          <a:ln/>
        </p:spPr>
        <p:txBody>
          <a:bodyPr wrap="square" lIns="0" tIns="0" rIns="0" bIns="0" rtlCol="0" anchor="ctr"/>
          <a:lstStyle/>
          <a:p>
            <a:pPr marL="0" indent="0">
              <a:buNone/>
            </a:pPr>
            <a:r>
              <a:rPr lang="en-US" sz="1450" b="1" dirty="0">
                <a:solidFill>
                  <a:srgbClr val="16181D"/>
                </a:solidFill>
                <a:latin typeface="Consolas" pitchFamily="34" charset="0"/>
                <a:ea typeface="Consolas" pitchFamily="34" charset="-122"/>
                <a:cs typeface="Consolas" pitchFamily="34" charset="-120"/>
              </a:rPr>
              <a:t>Access-Control-Allow-Headers</a:t>
            </a:r>
            <a:endParaRPr lang="en-US" sz="1450" dirty="0"/>
          </a:p>
        </p:txBody>
      </p:sp>
      <p:sp>
        <p:nvSpPr>
          <p:cNvPr id="17" name="Text 15"/>
          <p:cNvSpPr/>
          <p:nvPr/>
        </p:nvSpPr>
        <p:spPr>
          <a:xfrm>
            <a:off x="6446520" y="4352544"/>
            <a:ext cx="489204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Erlaubte Request-Header, z. B. Authorization, Content-Type.</a:t>
            </a:r>
            <a:endParaRPr lang="en-US" sz="1250" dirty="0"/>
          </a:p>
        </p:txBody>
      </p:sp>
      <p:sp>
        <p:nvSpPr>
          <p:cNvPr id="18" name="Shape 16"/>
          <p:cNvSpPr/>
          <p:nvPr/>
        </p:nvSpPr>
        <p:spPr>
          <a:xfrm>
            <a:off x="868680" y="4901184"/>
            <a:ext cx="4892040" cy="0"/>
          </a:xfrm>
          <a:prstGeom prst="line">
            <a:avLst/>
          </a:prstGeom>
          <a:noFill/>
          <a:ln w="12700">
            <a:solidFill>
              <a:srgbClr val="E4E7EC"/>
            </a:solidFill>
            <a:prstDash val="solid"/>
          </a:ln>
        </p:spPr>
      </p:sp>
      <p:sp>
        <p:nvSpPr>
          <p:cNvPr id="19" name="Text 17"/>
          <p:cNvSpPr/>
          <p:nvPr/>
        </p:nvSpPr>
        <p:spPr>
          <a:xfrm>
            <a:off x="868680" y="5047488"/>
            <a:ext cx="4892040" cy="365760"/>
          </a:xfrm>
          <a:prstGeom prst="rect">
            <a:avLst/>
          </a:prstGeom>
          <a:noFill/>
          <a:ln/>
        </p:spPr>
        <p:txBody>
          <a:bodyPr wrap="square" lIns="0" tIns="0" rIns="0" bIns="0" rtlCol="0" anchor="ctr"/>
          <a:lstStyle/>
          <a:p>
            <a:pPr marL="0" indent="0">
              <a:buNone/>
            </a:pPr>
            <a:r>
              <a:rPr lang="en-US" sz="1450" b="1" dirty="0">
                <a:solidFill>
                  <a:srgbClr val="16181D"/>
                </a:solidFill>
                <a:latin typeface="Consolas" pitchFamily="34" charset="0"/>
                <a:ea typeface="Consolas" pitchFamily="34" charset="-122"/>
                <a:cs typeface="Consolas" pitchFamily="34" charset="-120"/>
              </a:rPr>
              <a:t>Access-Control-Expose-Headers</a:t>
            </a:r>
            <a:endParaRPr lang="en-US" sz="1450" dirty="0"/>
          </a:p>
        </p:txBody>
      </p:sp>
      <p:sp>
        <p:nvSpPr>
          <p:cNvPr id="20" name="Text 18"/>
          <p:cNvSpPr/>
          <p:nvPr/>
        </p:nvSpPr>
        <p:spPr>
          <a:xfrm>
            <a:off x="868680" y="5431536"/>
            <a:ext cx="489204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Welche Response-Header darf JavaScript lesen, z. B. Content-Disposition.</a:t>
            </a:r>
            <a:endParaRPr lang="en-US" sz="1250" dirty="0"/>
          </a:p>
        </p:txBody>
      </p:sp>
      <p:sp>
        <p:nvSpPr>
          <p:cNvPr id="21" name="Shape 19"/>
          <p:cNvSpPr/>
          <p:nvPr/>
        </p:nvSpPr>
        <p:spPr>
          <a:xfrm>
            <a:off x="6446520" y="4901184"/>
            <a:ext cx="4892040" cy="0"/>
          </a:xfrm>
          <a:prstGeom prst="line">
            <a:avLst/>
          </a:prstGeom>
          <a:noFill/>
          <a:ln w="12700">
            <a:solidFill>
              <a:srgbClr val="E4E7EC"/>
            </a:solidFill>
            <a:prstDash val="solid"/>
          </a:ln>
        </p:spPr>
      </p:sp>
      <p:sp>
        <p:nvSpPr>
          <p:cNvPr id="22" name="Text 20"/>
          <p:cNvSpPr/>
          <p:nvPr/>
        </p:nvSpPr>
        <p:spPr>
          <a:xfrm>
            <a:off x="6446520" y="5047488"/>
            <a:ext cx="4892040" cy="365760"/>
          </a:xfrm>
          <a:prstGeom prst="rect">
            <a:avLst/>
          </a:prstGeom>
          <a:noFill/>
          <a:ln/>
        </p:spPr>
        <p:txBody>
          <a:bodyPr wrap="square" lIns="0" tIns="0" rIns="0" bIns="0" rtlCol="0" anchor="ctr"/>
          <a:lstStyle/>
          <a:p>
            <a:pPr marL="0" indent="0">
              <a:buNone/>
            </a:pPr>
            <a:r>
              <a:rPr lang="en-US" sz="1450" b="1" dirty="0">
                <a:solidFill>
                  <a:srgbClr val="16181D"/>
                </a:solidFill>
                <a:latin typeface="Consolas" pitchFamily="34" charset="0"/>
                <a:ea typeface="Consolas" pitchFamily="34" charset="-122"/>
                <a:cs typeface="Consolas" pitchFamily="34" charset="-120"/>
              </a:rPr>
              <a:t>Vary: Origin</a:t>
            </a:r>
            <a:endParaRPr lang="en-US" sz="1450" dirty="0"/>
          </a:p>
        </p:txBody>
      </p:sp>
      <p:sp>
        <p:nvSpPr>
          <p:cNvPr id="23" name="Text 21"/>
          <p:cNvSpPr/>
          <p:nvPr/>
        </p:nvSpPr>
        <p:spPr>
          <a:xfrm>
            <a:off x="6446520" y="5431536"/>
            <a:ext cx="489204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Bei dynamischer Origin-Wahl nötig, damit Caches nicht mischen.</a:t>
            </a:r>
            <a:endParaRPr lang="en-US" sz="1250" dirty="0"/>
          </a:p>
        </p:txBody>
      </p:sp>
      <p:sp>
        <p:nvSpPr>
          <p:cNvPr id="24" name="Text 1">
            <a:extLst>
              <a:ext uri="{FF2B5EF4-FFF2-40B4-BE49-F238E27FC236}">
                <a16:creationId xmlns:a16="http://schemas.microsoft.com/office/drawing/2014/main" id="{A0CD3329-904B-F767-63E6-5D2A9FE92EC6}"/>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14</a:t>
            </a:fld>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GRUNDLAGE 03</a:t>
            </a:r>
            <a:endParaRPr lang="en-US" sz="1050" dirty="0"/>
          </a:p>
        </p:txBody>
      </p:sp>
      <p:sp>
        <p:nvSpPr>
          <p:cNvPr id="4" name="Text 2"/>
          <p:cNvSpPr/>
          <p:nvPr/>
        </p:nvSpPr>
        <p:spPr>
          <a:xfrm>
            <a:off x="868680" y="1051560"/>
            <a:ext cx="10424160" cy="777240"/>
          </a:xfrm>
          <a:prstGeom prst="rect">
            <a:avLst/>
          </a:prstGeom>
          <a:noFill/>
          <a:ln/>
        </p:spPr>
        <p:txBody>
          <a:bodyPr wrap="square" lIns="0" tIns="0" rIns="0" bIns="0" rtlCol="0" anchor="ctr"/>
          <a:lstStyle/>
          <a:p>
            <a:pPr marL="0" indent="0">
              <a:buNone/>
            </a:pPr>
            <a:r>
              <a:rPr lang="en-US" sz="4000" b="1" dirty="0">
                <a:solidFill>
                  <a:srgbClr val="16181D"/>
                </a:solidFill>
                <a:latin typeface="Trebuchet MS" pitchFamily="34" charset="0"/>
                <a:ea typeface="Trebuchet MS" pitchFamily="34" charset="-122"/>
                <a:cs typeface="Trebuchet MS" pitchFamily="34" charset="-120"/>
              </a:rPr>
              <a:t>Preflight: die Vorab-Anfrage</a:t>
            </a:r>
            <a:endParaRPr lang="en-US" sz="4000" dirty="0"/>
          </a:p>
        </p:txBody>
      </p:sp>
      <p:sp>
        <p:nvSpPr>
          <p:cNvPr id="5" name="Text 3"/>
          <p:cNvSpPr/>
          <p:nvPr/>
        </p:nvSpPr>
        <p:spPr>
          <a:xfrm>
            <a:off x="868680" y="1920240"/>
            <a:ext cx="10241280" cy="64008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Sobald ein Request Authorization oder Content-Type: application/json nutzt, schickt der Browser zuerst ein OPTIONS. Antwortet der Server falsch, blockiert er die </a:t>
            </a:r>
            <a:r>
              <a:rPr lang="en-US" sz="1700" dirty="0" err="1">
                <a:solidFill>
                  <a:srgbClr val="55606E"/>
                </a:solidFill>
                <a:latin typeface="Calibri" pitchFamily="34" charset="0"/>
                <a:ea typeface="Calibri" pitchFamily="34" charset="-122"/>
                <a:cs typeface="Calibri" pitchFamily="34" charset="-120"/>
              </a:rPr>
              <a:t>echte</a:t>
            </a:r>
            <a:r>
              <a:rPr lang="en-US" sz="1700" dirty="0">
                <a:solidFill>
                  <a:srgbClr val="55606E"/>
                </a:solidFill>
                <a:latin typeface="Calibri" pitchFamily="34" charset="0"/>
                <a:ea typeface="Calibri" pitchFamily="34" charset="-122"/>
                <a:cs typeface="Calibri" pitchFamily="34" charset="-120"/>
              </a:rPr>
              <a:t> Request.</a:t>
            </a:r>
            <a:endParaRPr lang="en-US" sz="1700" dirty="0"/>
          </a:p>
        </p:txBody>
      </p:sp>
      <p:sp>
        <p:nvSpPr>
          <p:cNvPr id="6" name="Text 4"/>
          <p:cNvSpPr/>
          <p:nvPr/>
        </p:nvSpPr>
        <p:spPr>
          <a:xfrm>
            <a:off x="868680" y="3063240"/>
            <a:ext cx="9144000" cy="292608"/>
          </a:xfrm>
          <a:prstGeom prst="rect">
            <a:avLst/>
          </a:prstGeom>
          <a:noFill/>
          <a:ln/>
        </p:spPr>
        <p:txBody>
          <a:bodyPr wrap="square" lIns="0" tIns="0" rIns="0" bIns="0" rtlCol="0" anchor="ctr"/>
          <a:lstStyle/>
          <a:p>
            <a:pPr marL="0" indent="0">
              <a:buNone/>
            </a:pPr>
            <a:r>
              <a:rPr lang="en-US" sz="1150" b="1" kern="0" spc="250" dirty="0">
                <a:solidFill>
                  <a:srgbClr val="1463FF"/>
                </a:solidFill>
                <a:latin typeface="Calibri" pitchFamily="34" charset="0"/>
                <a:ea typeface="Calibri" pitchFamily="34" charset="-122"/>
                <a:cs typeface="Calibri" pitchFamily="34" charset="-120"/>
              </a:rPr>
              <a:t>EINFACHER REQUEST</a:t>
            </a:r>
            <a:endParaRPr lang="en-US" sz="1150" dirty="0"/>
          </a:p>
        </p:txBody>
      </p:sp>
      <p:sp>
        <p:nvSpPr>
          <p:cNvPr id="7" name="Text 5"/>
          <p:cNvSpPr/>
          <p:nvPr/>
        </p:nvSpPr>
        <p:spPr>
          <a:xfrm>
            <a:off x="868680" y="3429000"/>
            <a:ext cx="2880360" cy="411480"/>
          </a:xfrm>
          <a:prstGeom prst="rect">
            <a:avLst/>
          </a:prstGeom>
          <a:noFill/>
          <a:ln/>
        </p:spPr>
        <p:txBody>
          <a:bodyPr wrap="square" lIns="0" tIns="0" rIns="0" bIns="0" rtlCol="0" anchor="ctr"/>
          <a:lstStyle/>
          <a:p>
            <a:pPr marL="0" indent="0">
              <a:buNone/>
            </a:pPr>
            <a:r>
              <a:rPr lang="en-US" sz="1700" b="1" dirty="0">
                <a:solidFill>
                  <a:srgbClr val="16181D"/>
                </a:solidFill>
                <a:latin typeface="Trebuchet MS" pitchFamily="34" charset="0"/>
                <a:ea typeface="Trebuchet MS" pitchFamily="34" charset="-122"/>
                <a:cs typeface="Trebuchet MS" pitchFamily="34" charset="-120"/>
              </a:rPr>
              <a:t>Browser</a:t>
            </a:r>
            <a:endParaRPr lang="en-US" sz="1700" dirty="0"/>
          </a:p>
        </p:txBody>
      </p:sp>
      <p:sp>
        <p:nvSpPr>
          <p:cNvPr id="8" name="Text 6"/>
          <p:cNvSpPr/>
          <p:nvPr/>
        </p:nvSpPr>
        <p:spPr>
          <a:xfrm>
            <a:off x="868680" y="3813048"/>
            <a:ext cx="288036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sendet direkt</a:t>
            </a:r>
            <a:endParaRPr lang="en-US" sz="1250" dirty="0"/>
          </a:p>
        </p:txBody>
      </p:sp>
      <p:sp>
        <p:nvSpPr>
          <p:cNvPr id="9" name="Text 7"/>
          <p:cNvSpPr/>
          <p:nvPr/>
        </p:nvSpPr>
        <p:spPr>
          <a:xfrm>
            <a:off x="3611880" y="3429000"/>
            <a:ext cx="457200" cy="411480"/>
          </a:xfrm>
          <a:prstGeom prst="rect">
            <a:avLst/>
          </a:prstGeom>
          <a:noFill/>
          <a:ln/>
        </p:spPr>
        <p:txBody>
          <a:bodyPr wrap="square" lIns="0" tIns="0" rIns="0" bIns="0" rtlCol="0" anchor="ctr"/>
          <a:lstStyle/>
          <a:p>
            <a:pPr marL="0" indent="0" algn="ctr">
              <a:buNone/>
            </a:pPr>
            <a:r>
              <a:rPr lang="en-US" sz="2000" dirty="0">
                <a:solidFill>
                  <a:srgbClr val="9AA3AF"/>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4114800" y="3429000"/>
            <a:ext cx="2880360" cy="411480"/>
          </a:xfrm>
          <a:prstGeom prst="rect">
            <a:avLst/>
          </a:prstGeom>
          <a:noFill/>
          <a:ln/>
        </p:spPr>
        <p:txBody>
          <a:bodyPr wrap="square" lIns="0" tIns="0" rIns="0" bIns="0" rtlCol="0" anchor="ctr"/>
          <a:lstStyle/>
          <a:p>
            <a:pPr marL="0" indent="0">
              <a:buNone/>
            </a:pPr>
            <a:r>
              <a:rPr lang="en-US" sz="1700" b="1" dirty="0">
                <a:solidFill>
                  <a:srgbClr val="16181D"/>
                </a:solidFill>
                <a:latin typeface="Trebuchet MS" pitchFamily="34" charset="0"/>
                <a:ea typeface="Trebuchet MS" pitchFamily="34" charset="-122"/>
                <a:cs typeface="Trebuchet MS" pitchFamily="34" charset="-120"/>
              </a:rPr>
              <a:t>API antwortet</a:t>
            </a:r>
            <a:endParaRPr lang="en-US" sz="1700" dirty="0"/>
          </a:p>
        </p:txBody>
      </p:sp>
      <p:sp>
        <p:nvSpPr>
          <p:cNvPr id="11" name="Text 9"/>
          <p:cNvSpPr/>
          <p:nvPr/>
        </p:nvSpPr>
        <p:spPr>
          <a:xfrm>
            <a:off x="4114800" y="3813048"/>
            <a:ext cx="288036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mit Allow-Origin</a:t>
            </a:r>
            <a:endParaRPr lang="en-US" sz="1250" dirty="0"/>
          </a:p>
        </p:txBody>
      </p:sp>
      <p:sp>
        <p:nvSpPr>
          <p:cNvPr id="12" name="Shape 10"/>
          <p:cNvSpPr/>
          <p:nvPr/>
        </p:nvSpPr>
        <p:spPr>
          <a:xfrm>
            <a:off x="868680" y="4526280"/>
            <a:ext cx="10454335" cy="0"/>
          </a:xfrm>
          <a:prstGeom prst="line">
            <a:avLst/>
          </a:prstGeom>
          <a:noFill/>
          <a:ln w="12700">
            <a:solidFill>
              <a:srgbClr val="E4E7EC"/>
            </a:solidFill>
            <a:prstDash val="solid"/>
          </a:ln>
        </p:spPr>
      </p:sp>
      <p:sp>
        <p:nvSpPr>
          <p:cNvPr id="13" name="Text 11"/>
          <p:cNvSpPr/>
          <p:nvPr/>
        </p:nvSpPr>
        <p:spPr>
          <a:xfrm>
            <a:off x="868680" y="4846320"/>
            <a:ext cx="9144000" cy="292608"/>
          </a:xfrm>
          <a:prstGeom prst="rect">
            <a:avLst/>
          </a:prstGeom>
          <a:noFill/>
          <a:ln/>
        </p:spPr>
        <p:txBody>
          <a:bodyPr wrap="square" lIns="0" tIns="0" rIns="0" bIns="0" rtlCol="0" anchor="ctr"/>
          <a:lstStyle/>
          <a:p>
            <a:pPr marL="0" indent="0">
              <a:buNone/>
            </a:pPr>
            <a:r>
              <a:rPr lang="en-US" sz="1150" b="1" kern="0" spc="250" dirty="0">
                <a:solidFill>
                  <a:srgbClr val="D23B4E"/>
                </a:solidFill>
                <a:latin typeface="Calibri" pitchFamily="34" charset="0"/>
                <a:ea typeface="Calibri" pitchFamily="34" charset="-122"/>
                <a:cs typeface="Calibri" pitchFamily="34" charset="-120"/>
              </a:rPr>
              <a:t>MIT PREFLIGHT</a:t>
            </a:r>
            <a:endParaRPr lang="en-US" sz="1150" dirty="0"/>
          </a:p>
        </p:txBody>
      </p:sp>
      <p:sp>
        <p:nvSpPr>
          <p:cNvPr id="14" name="Text 12"/>
          <p:cNvSpPr/>
          <p:nvPr/>
        </p:nvSpPr>
        <p:spPr>
          <a:xfrm>
            <a:off x="868680" y="5212080"/>
            <a:ext cx="2880360" cy="411480"/>
          </a:xfrm>
          <a:prstGeom prst="rect">
            <a:avLst/>
          </a:prstGeom>
          <a:noFill/>
          <a:ln/>
        </p:spPr>
        <p:txBody>
          <a:bodyPr wrap="square" lIns="0" tIns="0" rIns="0" bIns="0" rtlCol="0" anchor="ctr"/>
          <a:lstStyle/>
          <a:p>
            <a:pPr marL="0" indent="0">
              <a:buNone/>
            </a:pPr>
            <a:r>
              <a:rPr lang="en-US" sz="1700" b="1" dirty="0">
                <a:solidFill>
                  <a:srgbClr val="16181D"/>
                </a:solidFill>
                <a:latin typeface="Trebuchet MS" pitchFamily="34" charset="0"/>
                <a:ea typeface="Trebuchet MS" pitchFamily="34" charset="-122"/>
                <a:cs typeface="Trebuchet MS" pitchFamily="34" charset="-120"/>
              </a:rPr>
              <a:t>OPTIONS</a:t>
            </a:r>
            <a:endParaRPr lang="en-US" sz="1700" dirty="0"/>
          </a:p>
        </p:txBody>
      </p:sp>
      <p:sp>
        <p:nvSpPr>
          <p:cNvPr id="15" name="Text 13"/>
          <p:cNvSpPr/>
          <p:nvPr/>
        </p:nvSpPr>
        <p:spPr>
          <a:xfrm>
            <a:off x="868680" y="5596128"/>
            <a:ext cx="288036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Vorab-Anfrage</a:t>
            </a:r>
            <a:endParaRPr lang="en-US" sz="1250" dirty="0"/>
          </a:p>
        </p:txBody>
      </p:sp>
      <p:sp>
        <p:nvSpPr>
          <p:cNvPr id="16" name="Text 14"/>
          <p:cNvSpPr/>
          <p:nvPr/>
        </p:nvSpPr>
        <p:spPr>
          <a:xfrm>
            <a:off x="3611880" y="5212080"/>
            <a:ext cx="457200" cy="411480"/>
          </a:xfrm>
          <a:prstGeom prst="rect">
            <a:avLst/>
          </a:prstGeom>
          <a:noFill/>
          <a:ln/>
        </p:spPr>
        <p:txBody>
          <a:bodyPr wrap="square" lIns="0" tIns="0" rIns="0" bIns="0" rtlCol="0" anchor="ctr"/>
          <a:lstStyle/>
          <a:p>
            <a:pPr marL="0" indent="0" algn="ctr">
              <a:buNone/>
            </a:pPr>
            <a:r>
              <a:rPr lang="en-US" sz="2000" dirty="0">
                <a:solidFill>
                  <a:srgbClr val="9AA3A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4114800" y="5212080"/>
            <a:ext cx="2880360" cy="411480"/>
          </a:xfrm>
          <a:prstGeom prst="rect">
            <a:avLst/>
          </a:prstGeom>
          <a:noFill/>
          <a:ln/>
        </p:spPr>
        <p:txBody>
          <a:bodyPr wrap="square" lIns="0" tIns="0" rIns="0" bIns="0" rtlCol="0" anchor="ctr"/>
          <a:lstStyle/>
          <a:p>
            <a:pPr marL="0" indent="0">
              <a:buNone/>
            </a:pPr>
            <a:r>
              <a:rPr lang="en-US" sz="1700" b="1" dirty="0">
                <a:solidFill>
                  <a:srgbClr val="16181D"/>
                </a:solidFill>
                <a:latin typeface="Trebuchet MS" pitchFamily="34" charset="0"/>
                <a:ea typeface="Trebuchet MS" pitchFamily="34" charset="-122"/>
                <a:cs typeface="Trebuchet MS" pitchFamily="34" charset="-120"/>
              </a:rPr>
              <a:t>Server-OK?</a:t>
            </a:r>
            <a:endParaRPr lang="en-US" sz="1700" dirty="0"/>
          </a:p>
        </p:txBody>
      </p:sp>
      <p:sp>
        <p:nvSpPr>
          <p:cNvPr id="18" name="Text 16"/>
          <p:cNvSpPr/>
          <p:nvPr/>
        </p:nvSpPr>
        <p:spPr>
          <a:xfrm>
            <a:off x="4114800" y="5596128"/>
            <a:ext cx="288036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CORS-Header prüfen</a:t>
            </a:r>
            <a:endParaRPr lang="en-US" sz="1250" dirty="0"/>
          </a:p>
        </p:txBody>
      </p:sp>
      <p:sp>
        <p:nvSpPr>
          <p:cNvPr id="19" name="Text 17"/>
          <p:cNvSpPr/>
          <p:nvPr/>
        </p:nvSpPr>
        <p:spPr>
          <a:xfrm>
            <a:off x="6858000" y="5212080"/>
            <a:ext cx="457200" cy="411480"/>
          </a:xfrm>
          <a:prstGeom prst="rect">
            <a:avLst/>
          </a:prstGeom>
          <a:noFill/>
          <a:ln/>
        </p:spPr>
        <p:txBody>
          <a:bodyPr wrap="square" lIns="0" tIns="0" rIns="0" bIns="0" rtlCol="0" anchor="ctr"/>
          <a:lstStyle/>
          <a:p>
            <a:pPr marL="0" indent="0" algn="ctr">
              <a:buNone/>
            </a:pPr>
            <a:r>
              <a:rPr lang="en-US" sz="2000" dirty="0">
                <a:solidFill>
                  <a:srgbClr val="9AA3AF"/>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360920" y="5212080"/>
            <a:ext cx="2880360" cy="411480"/>
          </a:xfrm>
          <a:prstGeom prst="rect">
            <a:avLst/>
          </a:prstGeom>
          <a:noFill/>
          <a:ln/>
        </p:spPr>
        <p:txBody>
          <a:bodyPr wrap="square" lIns="0" tIns="0" rIns="0" bIns="0" rtlCol="0" anchor="ctr"/>
          <a:lstStyle/>
          <a:p>
            <a:pPr marL="0" indent="0">
              <a:buNone/>
            </a:pPr>
            <a:r>
              <a:rPr lang="en-US" sz="1700" b="1" dirty="0">
                <a:solidFill>
                  <a:srgbClr val="16181D"/>
                </a:solidFill>
                <a:latin typeface="Trebuchet MS" pitchFamily="34" charset="0"/>
                <a:ea typeface="Trebuchet MS" pitchFamily="34" charset="-122"/>
                <a:cs typeface="Trebuchet MS" pitchFamily="34" charset="-120"/>
              </a:rPr>
              <a:t>Echter Request</a:t>
            </a:r>
            <a:endParaRPr lang="en-US" sz="1700" dirty="0"/>
          </a:p>
        </p:txBody>
      </p:sp>
      <p:sp>
        <p:nvSpPr>
          <p:cNvPr id="21" name="Text 19"/>
          <p:cNvSpPr/>
          <p:nvPr/>
        </p:nvSpPr>
        <p:spPr>
          <a:xfrm>
            <a:off x="7360920" y="5596128"/>
            <a:ext cx="2880360" cy="457200"/>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sonst blockiert</a:t>
            </a:r>
            <a:endParaRPr lang="en-US" sz="1250" dirty="0"/>
          </a:p>
        </p:txBody>
      </p:sp>
      <p:sp>
        <p:nvSpPr>
          <p:cNvPr id="22" name="Text 1">
            <a:extLst>
              <a:ext uri="{FF2B5EF4-FFF2-40B4-BE49-F238E27FC236}">
                <a16:creationId xmlns:a16="http://schemas.microsoft.com/office/drawing/2014/main" id="{7C3E0901-68F3-2283-9EEA-5B73A90B6010}"/>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15</a:t>
            </a:fld>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WICHTIGSTE BOTSCHAFT</a:t>
            </a:r>
            <a:endParaRPr lang="en-US" sz="1050" dirty="0"/>
          </a:p>
        </p:txBody>
      </p:sp>
      <p:sp>
        <p:nvSpPr>
          <p:cNvPr id="4" name="Text 2"/>
          <p:cNvSpPr/>
          <p:nvPr/>
        </p:nvSpPr>
        <p:spPr>
          <a:xfrm>
            <a:off x="868680" y="1600200"/>
            <a:ext cx="10424160" cy="1554480"/>
          </a:xfrm>
          <a:prstGeom prst="rect">
            <a:avLst/>
          </a:prstGeom>
          <a:noFill/>
          <a:ln/>
        </p:spPr>
        <p:txBody>
          <a:bodyPr wrap="square" lIns="0" tIns="0" rIns="0" bIns="0" rtlCol="0" anchor="ctr"/>
          <a:lstStyle/>
          <a:p>
            <a:pPr marL="0" indent="0">
              <a:buNone/>
            </a:pPr>
            <a:r>
              <a:rPr lang="en-US" sz="4800" b="1" dirty="0">
                <a:solidFill>
                  <a:srgbClr val="16181D"/>
                </a:solidFill>
                <a:latin typeface="Trebuchet MS" pitchFamily="34" charset="0"/>
                <a:ea typeface="Trebuchet MS" pitchFamily="34" charset="-122"/>
                <a:cs typeface="Trebuchet MS" pitchFamily="34" charset="-120"/>
              </a:rPr>
              <a:t>CORS ist </a:t>
            </a:r>
            <a:r>
              <a:rPr lang="en-US" sz="4800" b="1" dirty="0">
                <a:solidFill>
                  <a:srgbClr val="D23B4E"/>
                </a:solidFill>
                <a:latin typeface="Trebuchet MS" pitchFamily="34" charset="0"/>
                <a:ea typeface="Trebuchet MS" pitchFamily="34" charset="-122"/>
                <a:cs typeface="Trebuchet MS" pitchFamily="34" charset="-120"/>
              </a:rPr>
              <a:t>keine</a:t>
            </a:r>
            <a:r>
              <a:rPr lang="en-US" sz="4800" b="1" dirty="0">
                <a:solidFill>
                  <a:srgbClr val="16181D"/>
                </a:solidFill>
                <a:latin typeface="Trebuchet MS" pitchFamily="34" charset="0"/>
                <a:ea typeface="Trebuchet MS" pitchFamily="34" charset="-122"/>
                <a:cs typeface="Trebuchet MS" pitchFamily="34" charset="-120"/>
              </a:rPr>
              <a:t> Authentifizierung.</a:t>
            </a:r>
            <a:endParaRPr lang="en-US" sz="4800" dirty="0"/>
          </a:p>
        </p:txBody>
      </p:sp>
      <p:sp>
        <p:nvSpPr>
          <p:cNvPr id="5" name="Text 3"/>
          <p:cNvSpPr/>
          <p:nvPr/>
        </p:nvSpPr>
        <p:spPr>
          <a:xfrm>
            <a:off x="868680" y="3337560"/>
            <a:ext cx="9875520" cy="731520"/>
          </a:xfrm>
          <a:prstGeom prst="rect">
            <a:avLst/>
          </a:prstGeom>
          <a:noFill/>
          <a:ln/>
        </p:spPr>
        <p:txBody>
          <a:bodyPr wrap="square" lIns="0" tIns="0" rIns="0" bIns="0" rtlCol="0" anchor="ctr"/>
          <a:lstStyle/>
          <a:p>
            <a:pPr marL="0" indent="0">
              <a:buNone/>
            </a:pPr>
            <a:r>
              <a:rPr lang="en-US" sz="1900" dirty="0">
                <a:solidFill>
                  <a:srgbClr val="55606E"/>
                </a:solidFill>
                <a:latin typeface="Calibri" pitchFamily="34" charset="0"/>
                <a:ea typeface="Calibri" pitchFamily="34" charset="-122"/>
                <a:cs typeface="Calibri" pitchFamily="34" charset="-120"/>
              </a:rPr>
              <a:t>Es regelt nur, ob fremdes JavaScript die Antwort lesen darf. Wer der Nutzer ist und was er darf, muss der Server weiterhin selbst prüfen.</a:t>
            </a:r>
            <a:endParaRPr lang="en-US" sz="1900" dirty="0"/>
          </a:p>
        </p:txBody>
      </p:sp>
      <p:sp>
        <p:nvSpPr>
          <p:cNvPr id="6" name="Shape 4"/>
          <p:cNvSpPr/>
          <p:nvPr/>
        </p:nvSpPr>
        <p:spPr>
          <a:xfrm>
            <a:off x="868680" y="4572000"/>
            <a:ext cx="10454335" cy="0"/>
          </a:xfrm>
          <a:prstGeom prst="line">
            <a:avLst/>
          </a:prstGeom>
          <a:noFill/>
          <a:ln w="12700">
            <a:solidFill>
              <a:srgbClr val="E4E7EC"/>
            </a:solidFill>
            <a:prstDash val="solid"/>
          </a:ln>
        </p:spPr>
      </p:sp>
      <p:sp>
        <p:nvSpPr>
          <p:cNvPr id="7" name="Text 5"/>
          <p:cNvSpPr/>
          <p:nvPr/>
        </p:nvSpPr>
        <p:spPr>
          <a:xfrm>
            <a:off x="868680" y="4846320"/>
            <a:ext cx="4937760" cy="292608"/>
          </a:xfrm>
          <a:prstGeom prst="rect">
            <a:avLst/>
          </a:prstGeom>
          <a:noFill/>
          <a:ln/>
        </p:spPr>
        <p:txBody>
          <a:bodyPr wrap="square" lIns="0" tIns="0" rIns="0" bIns="0" rtlCol="0" anchor="ctr"/>
          <a:lstStyle/>
          <a:p>
            <a:pPr marL="0" indent="0">
              <a:buNone/>
            </a:pPr>
            <a:r>
              <a:rPr lang="en-US" sz="1150" b="1" kern="0" spc="150" dirty="0">
                <a:solidFill>
                  <a:srgbClr val="16181D"/>
                </a:solidFill>
                <a:latin typeface="Calibri" pitchFamily="34" charset="0"/>
                <a:ea typeface="Calibri" pitchFamily="34" charset="-122"/>
                <a:cs typeface="Calibri" pitchFamily="34" charset="-120"/>
              </a:rPr>
              <a:t>AUTHENTIFIZIERUNG &amp; RECHTE</a:t>
            </a:r>
            <a:endParaRPr lang="en-US" sz="1150" dirty="0"/>
          </a:p>
        </p:txBody>
      </p:sp>
      <p:sp>
        <p:nvSpPr>
          <p:cNvPr id="8" name="Text 6"/>
          <p:cNvSpPr/>
          <p:nvPr/>
        </p:nvSpPr>
        <p:spPr>
          <a:xfrm>
            <a:off x="868680" y="5212080"/>
            <a:ext cx="4754880" cy="73152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Prüft serverseitig, wer der Nutzer ist und was er sehen darf. Schützt die Daten selbst.</a:t>
            </a:r>
            <a:endParaRPr lang="en-US" sz="1400" dirty="0"/>
          </a:p>
        </p:txBody>
      </p:sp>
      <p:sp>
        <p:nvSpPr>
          <p:cNvPr id="9" name="Shape 7"/>
          <p:cNvSpPr/>
          <p:nvPr/>
        </p:nvSpPr>
        <p:spPr>
          <a:xfrm>
            <a:off x="6172200" y="4864608"/>
            <a:ext cx="0" cy="914400"/>
          </a:xfrm>
          <a:prstGeom prst="line">
            <a:avLst/>
          </a:prstGeom>
          <a:noFill/>
          <a:ln w="12700">
            <a:solidFill>
              <a:srgbClr val="E4E7EC"/>
            </a:solidFill>
            <a:prstDash val="solid"/>
          </a:ln>
        </p:spPr>
      </p:sp>
      <p:sp>
        <p:nvSpPr>
          <p:cNvPr id="10" name="Text 8"/>
          <p:cNvSpPr/>
          <p:nvPr/>
        </p:nvSpPr>
        <p:spPr>
          <a:xfrm>
            <a:off x="6446520" y="4846320"/>
            <a:ext cx="4937760" cy="292608"/>
          </a:xfrm>
          <a:prstGeom prst="rect">
            <a:avLst/>
          </a:prstGeom>
          <a:noFill/>
          <a:ln/>
        </p:spPr>
        <p:txBody>
          <a:bodyPr wrap="square" lIns="0" tIns="0" rIns="0" bIns="0" rtlCol="0" anchor="ctr"/>
          <a:lstStyle/>
          <a:p>
            <a:pPr marL="0" indent="0">
              <a:buNone/>
            </a:pPr>
            <a:r>
              <a:rPr lang="en-US" sz="1150" b="1" kern="0" spc="150" dirty="0">
                <a:solidFill>
                  <a:srgbClr val="16181D"/>
                </a:solidFill>
                <a:latin typeface="Calibri" pitchFamily="34" charset="0"/>
                <a:ea typeface="Calibri" pitchFamily="34" charset="-122"/>
                <a:cs typeface="Calibri" pitchFamily="34" charset="-120"/>
              </a:rPr>
              <a:t>CORS</a:t>
            </a:r>
            <a:endParaRPr lang="en-US" sz="1150" dirty="0"/>
          </a:p>
        </p:txBody>
      </p:sp>
      <p:sp>
        <p:nvSpPr>
          <p:cNvPr id="11" name="Text 9"/>
          <p:cNvSpPr/>
          <p:nvPr/>
        </p:nvSpPr>
        <p:spPr>
          <a:xfrm>
            <a:off x="6446520" y="5212080"/>
            <a:ext cx="4754880" cy="73152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Hebt nur die Browser-Lesesperre für bestimmte Origins auf. Gibt keinerlei Rechte.</a:t>
            </a:r>
            <a:endParaRPr lang="en-US" sz="1400" dirty="0"/>
          </a:p>
        </p:txBody>
      </p:sp>
      <p:sp>
        <p:nvSpPr>
          <p:cNvPr id="12" name="Text 1">
            <a:extLst>
              <a:ext uri="{FF2B5EF4-FFF2-40B4-BE49-F238E27FC236}">
                <a16:creationId xmlns:a16="http://schemas.microsoft.com/office/drawing/2014/main" id="{0C71B1E1-2398-7F62-FF71-2E1DB31641C5}"/>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16</a:t>
            </a:fld>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PROBLEM IM PROJEKT · SCHEDULER</a:t>
            </a:r>
            <a:endParaRPr lang="en-US" sz="1050" dirty="0"/>
          </a:p>
        </p:txBody>
      </p:sp>
      <p:sp>
        <p:nvSpPr>
          <p:cNvPr id="4" name="Text 2"/>
          <p:cNvSpPr/>
          <p:nvPr/>
        </p:nvSpPr>
        <p:spPr>
          <a:xfrm>
            <a:off x="868680" y="1051560"/>
            <a:ext cx="10424160" cy="777240"/>
          </a:xfrm>
          <a:prstGeom prst="rect">
            <a:avLst/>
          </a:prstGeom>
          <a:noFill/>
          <a:ln/>
        </p:spPr>
        <p:txBody>
          <a:bodyPr wrap="square" lIns="0" tIns="0" rIns="0" bIns="0" rtlCol="0" anchor="ctr"/>
          <a:lstStyle/>
          <a:p>
            <a:pPr marL="0" indent="0">
              <a:buNone/>
            </a:pPr>
            <a:r>
              <a:rPr lang="en-US" sz="4000" b="1" dirty="0">
                <a:solidFill>
                  <a:srgbClr val="16181D"/>
                </a:solidFill>
                <a:latin typeface="Trebuchet MS" pitchFamily="34" charset="0"/>
                <a:ea typeface="Trebuchet MS" pitchFamily="34" charset="-122"/>
                <a:cs typeface="Trebuchet MS" pitchFamily="34" charset="-120"/>
              </a:rPr>
              <a:t>Im Alltag sieht man kein CORS</a:t>
            </a:r>
            <a:endParaRPr lang="en-US" sz="4000" dirty="0"/>
          </a:p>
        </p:txBody>
      </p:sp>
      <p:sp>
        <p:nvSpPr>
          <p:cNvPr id="5" name="Text 3"/>
          <p:cNvSpPr/>
          <p:nvPr/>
        </p:nvSpPr>
        <p:spPr>
          <a:xfrm>
            <a:off x="868680" y="1920240"/>
            <a:ext cx="10332720" cy="64008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Das Vue-Frontend ruft nicht localhost:8079 auf, sondern relativ /api/… . Vite leitet das an die API weiter – für den Browser ist alles same-origin zu localhost:8078.</a:t>
            </a:r>
            <a:endParaRPr lang="en-US" sz="1700" dirty="0"/>
          </a:p>
        </p:txBody>
      </p:sp>
      <p:sp>
        <p:nvSpPr>
          <p:cNvPr id="6" name="Text 4"/>
          <p:cNvSpPr/>
          <p:nvPr/>
        </p:nvSpPr>
        <p:spPr>
          <a:xfrm>
            <a:off x="868680" y="3063240"/>
            <a:ext cx="7315200" cy="274320"/>
          </a:xfrm>
          <a:prstGeom prst="rect">
            <a:avLst/>
          </a:prstGeom>
          <a:noFill/>
          <a:ln/>
        </p:spPr>
        <p:txBody>
          <a:bodyPr wrap="square" lIns="0" tIns="0" rIns="0" bIns="0" rtlCol="0" anchor="ctr"/>
          <a:lstStyle/>
          <a:p>
            <a:pPr marL="0" indent="0">
              <a:buNone/>
            </a:pPr>
            <a:r>
              <a:rPr lang="en-US" sz="1150" b="1" kern="0" spc="250" dirty="0">
                <a:solidFill>
                  <a:srgbClr val="1463FF"/>
                </a:solidFill>
                <a:latin typeface="Calibri" pitchFamily="34" charset="0"/>
                <a:ea typeface="Calibri" pitchFamily="34" charset="-122"/>
                <a:cs typeface="Calibri" pitchFamily="34" charset="-120"/>
              </a:rPr>
              <a:t>NORMALER FRONTEND-AUFRUF</a:t>
            </a:r>
            <a:endParaRPr lang="en-US" sz="1150" dirty="0"/>
          </a:p>
        </p:txBody>
      </p:sp>
      <p:sp>
        <p:nvSpPr>
          <p:cNvPr id="7" name="Text 5"/>
          <p:cNvSpPr/>
          <p:nvPr/>
        </p:nvSpPr>
        <p:spPr>
          <a:xfrm>
            <a:off x="868680" y="3401568"/>
            <a:ext cx="10424160" cy="502920"/>
          </a:xfrm>
          <a:prstGeom prst="rect">
            <a:avLst/>
          </a:prstGeom>
          <a:noFill/>
          <a:ln/>
        </p:spPr>
        <p:txBody>
          <a:bodyPr wrap="square" lIns="0" tIns="0" rIns="0" bIns="0" rtlCol="0" anchor="ctr"/>
          <a:lstStyle/>
          <a:p>
            <a:pPr marL="0" indent="0">
              <a:buNone/>
            </a:pPr>
            <a:r>
              <a:rPr lang="en-US" sz="1900" b="1" dirty="0">
                <a:solidFill>
                  <a:srgbClr val="16181D"/>
                </a:solidFill>
                <a:latin typeface="Consolas" pitchFamily="34" charset="0"/>
                <a:ea typeface="Consolas" pitchFamily="34" charset="-122"/>
                <a:cs typeface="Consolas" pitchFamily="34" charset="-120"/>
              </a:rPr>
              <a:t>Browser :8078</a:t>
            </a:r>
            <a:r>
              <a:rPr lang="en-US" sz="1900" dirty="0">
                <a:solidFill>
                  <a:srgbClr val="9AA3AF"/>
                </a:solidFill>
                <a:latin typeface="Calibri" pitchFamily="34" charset="0"/>
                <a:ea typeface="Calibri" pitchFamily="34" charset="-122"/>
                <a:cs typeface="Calibri" pitchFamily="34" charset="-120"/>
              </a:rPr>
              <a:t>   →   </a:t>
            </a:r>
            <a:r>
              <a:rPr lang="en-US" sz="1900" b="1" dirty="0">
                <a:solidFill>
                  <a:srgbClr val="16181D"/>
                </a:solidFill>
                <a:latin typeface="Consolas" pitchFamily="34" charset="0"/>
                <a:ea typeface="Consolas" pitchFamily="34" charset="-122"/>
                <a:cs typeface="Consolas" pitchFamily="34" charset="-120"/>
              </a:rPr>
              <a:t>Vite-Proxy /api</a:t>
            </a:r>
            <a:r>
              <a:rPr lang="en-US" sz="1900" dirty="0">
                <a:solidFill>
                  <a:srgbClr val="9AA3AF"/>
                </a:solidFill>
                <a:latin typeface="Calibri" pitchFamily="34" charset="0"/>
                <a:ea typeface="Calibri" pitchFamily="34" charset="-122"/>
                <a:cs typeface="Calibri" pitchFamily="34" charset="-120"/>
              </a:rPr>
              <a:t>   →   </a:t>
            </a:r>
            <a:r>
              <a:rPr lang="en-US" sz="1900" b="1" dirty="0">
                <a:solidFill>
                  <a:srgbClr val="16181D"/>
                </a:solidFill>
                <a:latin typeface="Consolas" pitchFamily="34" charset="0"/>
                <a:ea typeface="Consolas" pitchFamily="34" charset="-122"/>
                <a:cs typeface="Consolas" pitchFamily="34" charset="-120"/>
              </a:rPr>
              <a:t>API :8079</a:t>
            </a:r>
            <a:endParaRPr lang="en-US" sz="1900" dirty="0"/>
          </a:p>
        </p:txBody>
      </p:sp>
      <p:sp>
        <p:nvSpPr>
          <p:cNvPr id="8" name="Text 6"/>
          <p:cNvSpPr/>
          <p:nvPr/>
        </p:nvSpPr>
        <p:spPr>
          <a:xfrm>
            <a:off x="868680" y="3931920"/>
            <a:ext cx="7315200" cy="320040"/>
          </a:xfrm>
          <a:prstGeom prst="rect">
            <a:avLst/>
          </a:prstGeom>
          <a:noFill/>
          <a:ln/>
        </p:spPr>
        <p:txBody>
          <a:bodyPr wrap="square" lIns="0" tIns="0" rIns="0" bIns="0" rtlCol="0" anchor="ctr"/>
          <a:lstStyle/>
          <a:p>
            <a:pPr marL="0" indent="0">
              <a:buNone/>
            </a:pPr>
            <a:r>
              <a:rPr lang="en-US" sz="1300" i="1" dirty="0">
                <a:solidFill>
                  <a:srgbClr val="55606E"/>
                </a:solidFill>
                <a:latin typeface="Calibri" pitchFamily="34" charset="0"/>
                <a:ea typeface="Calibri" pitchFamily="34" charset="-122"/>
                <a:cs typeface="Calibri" pitchFamily="34" charset="-120"/>
              </a:rPr>
              <a:t>same-origin - kein CORS-Fehler</a:t>
            </a:r>
            <a:endParaRPr lang="en-US" sz="1300" dirty="0"/>
          </a:p>
        </p:txBody>
      </p:sp>
      <p:sp>
        <p:nvSpPr>
          <p:cNvPr id="9" name="Shape 7"/>
          <p:cNvSpPr/>
          <p:nvPr/>
        </p:nvSpPr>
        <p:spPr>
          <a:xfrm>
            <a:off x="868680" y="4526280"/>
            <a:ext cx="10454335" cy="0"/>
          </a:xfrm>
          <a:prstGeom prst="line">
            <a:avLst/>
          </a:prstGeom>
          <a:noFill/>
          <a:ln w="12700">
            <a:solidFill>
              <a:srgbClr val="E4E7EC"/>
            </a:solidFill>
            <a:prstDash val="solid"/>
          </a:ln>
        </p:spPr>
      </p:sp>
      <p:sp>
        <p:nvSpPr>
          <p:cNvPr id="10" name="Text 8"/>
          <p:cNvSpPr/>
          <p:nvPr/>
        </p:nvSpPr>
        <p:spPr>
          <a:xfrm>
            <a:off x="868680" y="4800600"/>
            <a:ext cx="7315200" cy="274320"/>
          </a:xfrm>
          <a:prstGeom prst="rect">
            <a:avLst/>
          </a:prstGeom>
          <a:noFill/>
          <a:ln/>
        </p:spPr>
        <p:txBody>
          <a:bodyPr wrap="square" lIns="0" tIns="0" rIns="0" bIns="0" rtlCol="0" anchor="ctr"/>
          <a:lstStyle/>
          <a:p>
            <a:pPr marL="0" indent="0">
              <a:buNone/>
            </a:pPr>
            <a:r>
              <a:rPr lang="en-US" sz="1150" b="1" kern="0" spc="250" dirty="0">
                <a:solidFill>
                  <a:srgbClr val="D23B4E"/>
                </a:solidFill>
                <a:latin typeface="Calibri" pitchFamily="34" charset="0"/>
                <a:ea typeface="Calibri" pitchFamily="34" charset="-122"/>
                <a:cs typeface="Calibri" pitchFamily="34" charset="-120"/>
              </a:rPr>
              <a:t>SEPARATE DEMO-SEITE</a:t>
            </a:r>
            <a:endParaRPr lang="en-US" sz="1150" dirty="0"/>
          </a:p>
        </p:txBody>
      </p:sp>
      <p:sp>
        <p:nvSpPr>
          <p:cNvPr id="11" name="Text 9"/>
          <p:cNvSpPr/>
          <p:nvPr/>
        </p:nvSpPr>
        <p:spPr>
          <a:xfrm>
            <a:off x="868680" y="5138928"/>
            <a:ext cx="10424160" cy="502920"/>
          </a:xfrm>
          <a:prstGeom prst="rect">
            <a:avLst/>
          </a:prstGeom>
          <a:noFill/>
          <a:ln/>
        </p:spPr>
        <p:txBody>
          <a:bodyPr wrap="square" lIns="0" tIns="0" rIns="0" bIns="0" rtlCol="0" anchor="ctr"/>
          <a:lstStyle/>
          <a:p>
            <a:pPr marL="0" indent="0">
              <a:buNone/>
            </a:pPr>
            <a:r>
              <a:rPr lang="en-US" sz="1900" b="1" dirty="0">
                <a:solidFill>
                  <a:srgbClr val="16181D"/>
                </a:solidFill>
                <a:latin typeface="Consolas" pitchFamily="34" charset="0"/>
                <a:ea typeface="Consolas" pitchFamily="34" charset="-122"/>
                <a:cs typeface="Consolas" pitchFamily="34" charset="-120"/>
              </a:rPr>
              <a:t>Demo-Client :5173</a:t>
            </a:r>
            <a:r>
              <a:rPr lang="en-US" sz="1900" dirty="0">
                <a:solidFill>
                  <a:srgbClr val="D23B4E"/>
                </a:solidFill>
                <a:latin typeface="Calibri" pitchFamily="34" charset="0"/>
                <a:ea typeface="Calibri" pitchFamily="34" charset="-122"/>
                <a:cs typeface="Calibri" pitchFamily="34" charset="-120"/>
              </a:rPr>
              <a:t>   ⇢   </a:t>
            </a:r>
            <a:r>
              <a:rPr lang="en-US" sz="1900" b="1" dirty="0">
                <a:solidFill>
                  <a:srgbClr val="16181D"/>
                </a:solidFill>
                <a:latin typeface="Consolas" pitchFamily="34" charset="0"/>
                <a:ea typeface="Consolas" pitchFamily="34" charset="-122"/>
                <a:cs typeface="Consolas" pitchFamily="34" charset="-120"/>
              </a:rPr>
              <a:t>direkt zur API :8079</a:t>
            </a:r>
            <a:endParaRPr lang="en-US" sz="1900" dirty="0"/>
          </a:p>
        </p:txBody>
      </p:sp>
      <p:sp>
        <p:nvSpPr>
          <p:cNvPr id="12" name="Text 10"/>
          <p:cNvSpPr/>
          <p:nvPr/>
        </p:nvSpPr>
        <p:spPr>
          <a:xfrm>
            <a:off x="868680" y="5669280"/>
            <a:ext cx="10058400" cy="365760"/>
          </a:xfrm>
          <a:prstGeom prst="rect">
            <a:avLst/>
          </a:prstGeom>
          <a:noFill/>
          <a:ln/>
        </p:spPr>
        <p:txBody>
          <a:bodyPr wrap="square" lIns="0" tIns="0" rIns="0" bIns="0" rtlCol="0" anchor="ctr"/>
          <a:lstStyle/>
          <a:p>
            <a:pPr marL="0" indent="0">
              <a:buNone/>
            </a:pPr>
            <a:r>
              <a:rPr lang="en-US" sz="1300" i="1" dirty="0">
                <a:solidFill>
                  <a:srgbClr val="55606E"/>
                </a:solidFill>
                <a:latin typeface="Calibri" pitchFamily="34" charset="0"/>
                <a:ea typeface="Calibri" pitchFamily="34" charset="-122"/>
                <a:cs typeface="Calibri" pitchFamily="34" charset="-120"/>
              </a:rPr>
              <a:t>cross-origin - nur dieser Weg erzeugt den CORS-Fehler – darum braucht die Demo eine eigene Origin.</a:t>
            </a:r>
            <a:endParaRPr lang="en-US" sz="1300" dirty="0"/>
          </a:p>
        </p:txBody>
      </p:sp>
      <p:sp>
        <p:nvSpPr>
          <p:cNvPr id="13" name="Text 11"/>
          <p:cNvSpPr/>
          <p:nvPr/>
        </p:nvSpPr>
        <p:spPr>
          <a:xfrm>
            <a:off x="868680" y="6355080"/>
            <a:ext cx="7315200" cy="274320"/>
          </a:xfrm>
          <a:prstGeom prst="rect">
            <a:avLst/>
          </a:prstGeom>
          <a:noFill/>
          <a:ln/>
        </p:spPr>
        <p:txBody>
          <a:bodyPr wrap="square" lIns="0" tIns="0" rIns="0" bIns="0" rtlCol="0" anchor="ctr"/>
          <a:lstStyle/>
          <a:p>
            <a:pPr marL="0" indent="0">
              <a:buNone/>
            </a:pPr>
            <a:r>
              <a:rPr lang="en-US" sz="1050" dirty="0">
                <a:solidFill>
                  <a:srgbClr val="9AA3AF"/>
                </a:solidFill>
                <a:latin typeface="Consolas" pitchFamily="34" charset="0"/>
                <a:ea typeface="Consolas" pitchFamily="34" charset="-122"/>
                <a:cs typeface="Consolas" pitchFamily="34" charset="-120"/>
              </a:rPr>
              <a:t>vite.config.js:9-17 · http-client.js:180</a:t>
            </a:r>
            <a:endParaRPr lang="en-US" sz="1050" dirty="0"/>
          </a:p>
        </p:txBody>
      </p:sp>
      <p:sp>
        <p:nvSpPr>
          <p:cNvPr id="14" name="Text 1">
            <a:extLst>
              <a:ext uri="{FF2B5EF4-FFF2-40B4-BE49-F238E27FC236}">
                <a16:creationId xmlns:a16="http://schemas.microsoft.com/office/drawing/2014/main" id="{BBFC8D69-0189-1876-604F-7C53A675CA0B}"/>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17</a:t>
            </a:fld>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PROBLEM IM PROJEKT · SCHEDULER</a:t>
            </a:r>
            <a:endParaRPr lang="en-US" sz="1050" dirty="0"/>
          </a:p>
        </p:txBody>
      </p:sp>
      <p:sp>
        <p:nvSpPr>
          <p:cNvPr id="4" name="Text 2"/>
          <p:cNvSpPr/>
          <p:nvPr/>
        </p:nvSpPr>
        <p:spPr>
          <a:xfrm>
            <a:off x="868680" y="1051560"/>
            <a:ext cx="10424160" cy="777240"/>
          </a:xfrm>
          <a:prstGeom prst="rect">
            <a:avLst/>
          </a:prstGeom>
          <a:noFill/>
          <a:ln/>
        </p:spPr>
        <p:txBody>
          <a:bodyPr wrap="square" lIns="0" tIns="0" rIns="0" bIns="0" rtlCol="0" anchor="ctr"/>
          <a:lstStyle/>
          <a:p>
            <a:pPr marL="0" indent="0">
              <a:buNone/>
            </a:pPr>
            <a:r>
              <a:rPr lang="en-US" sz="4000" b="1" dirty="0">
                <a:solidFill>
                  <a:srgbClr val="16181D"/>
                </a:solidFill>
                <a:latin typeface="Trebuchet MS" pitchFamily="34" charset="0"/>
                <a:ea typeface="Trebuchet MS" pitchFamily="34" charset="-122"/>
                <a:cs typeface="Trebuchet MS" pitchFamily="34" charset="-120"/>
              </a:rPr>
              <a:t>Zwei Punkte zum Prüfen</a:t>
            </a:r>
            <a:endParaRPr lang="en-US" sz="4000" dirty="0"/>
          </a:p>
        </p:txBody>
      </p:sp>
      <p:sp>
        <p:nvSpPr>
          <p:cNvPr id="5" name="Text 3"/>
          <p:cNvSpPr/>
          <p:nvPr/>
        </p:nvSpPr>
        <p:spPr>
          <a:xfrm>
            <a:off x="868680" y="1920240"/>
            <a:ext cx="10332720" cy="64008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CORS schützt nicht vor direktem Zugriff – nur vor dem Lesen durch fremdes JavaScript. Diese zwei Stellen sind unabhängig davon sicherheitsrelevant.</a:t>
            </a:r>
            <a:endParaRPr lang="en-US" sz="1700" dirty="0"/>
          </a:p>
        </p:txBody>
      </p:sp>
      <p:sp>
        <p:nvSpPr>
          <p:cNvPr id="6" name="Shape 4"/>
          <p:cNvSpPr/>
          <p:nvPr/>
        </p:nvSpPr>
        <p:spPr>
          <a:xfrm>
            <a:off x="6172200" y="2971800"/>
            <a:ext cx="0" cy="2834640"/>
          </a:xfrm>
          <a:prstGeom prst="line">
            <a:avLst/>
          </a:prstGeom>
          <a:noFill/>
          <a:ln w="12700">
            <a:solidFill>
              <a:srgbClr val="E4E7EC"/>
            </a:solidFill>
            <a:prstDash val="solid"/>
          </a:ln>
        </p:spPr>
      </p:sp>
      <p:sp>
        <p:nvSpPr>
          <p:cNvPr id="7" name="Text 5"/>
          <p:cNvSpPr/>
          <p:nvPr/>
        </p:nvSpPr>
        <p:spPr>
          <a:xfrm>
            <a:off x="868680" y="2971800"/>
            <a:ext cx="914400" cy="457200"/>
          </a:xfrm>
          <a:prstGeom prst="rect">
            <a:avLst/>
          </a:prstGeom>
          <a:noFill/>
          <a:ln/>
        </p:spPr>
        <p:txBody>
          <a:bodyPr wrap="square" lIns="0" tIns="0" rIns="0" bIns="0" rtlCol="0" anchor="ctr"/>
          <a:lstStyle/>
          <a:p>
            <a:pPr marL="0" indent="0">
              <a:buNone/>
            </a:pPr>
            <a:r>
              <a:rPr lang="en-US" sz="2200" b="1" dirty="0">
                <a:solidFill>
                  <a:srgbClr val="9AA3AF"/>
                </a:solidFill>
                <a:latin typeface="Trebuchet MS" pitchFamily="34" charset="0"/>
                <a:ea typeface="Trebuchet MS" pitchFamily="34" charset="-122"/>
                <a:cs typeface="Trebuchet MS" pitchFamily="34" charset="-120"/>
              </a:rPr>
              <a:t>01</a:t>
            </a:r>
            <a:endParaRPr lang="en-US" sz="2200" dirty="0"/>
          </a:p>
        </p:txBody>
      </p:sp>
      <p:sp>
        <p:nvSpPr>
          <p:cNvPr id="8" name="Text 6"/>
          <p:cNvSpPr/>
          <p:nvPr/>
        </p:nvSpPr>
        <p:spPr>
          <a:xfrm>
            <a:off x="1508760" y="2990088"/>
            <a:ext cx="4297680" cy="457200"/>
          </a:xfrm>
          <a:prstGeom prst="rect">
            <a:avLst/>
          </a:prstGeom>
          <a:noFill/>
          <a:ln/>
        </p:spPr>
        <p:txBody>
          <a:bodyPr wrap="square" lIns="0" tIns="0" rIns="0" bIns="0" rtlCol="0" anchor="ctr"/>
          <a:lstStyle/>
          <a:p>
            <a:pPr marL="0" indent="0">
              <a:buNone/>
            </a:pPr>
            <a:r>
              <a:rPr lang="en-US" sz="2200" b="1" dirty="0">
                <a:solidFill>
                  <a:srgbClr val="16181D"/>
                </a:solidFill>
                <a:latin typeface="Trebuchet MS" pitchFamily="34" charset="0"/>
                <a:ea typeface="Trebuchet MS" pitchFamily="34" charset="-122"/>
                <a:cs typeface="Trebuchet MS" pitchFamily="34" charset="-120"/>
              </a:rPr>
              <a:t>/files/** ist öffentlich</a:t>
            </a:r>
            <a:endParaRPr lang="en-US" sz="2200" dirty="0"/>
          </a:p>
        </p:txBody>
      </p:sp>
      <p:sp>
        <p:nvSpPr>
          <p:cNvPr id="9" name="Text 7"/>
          <p:cNvSpPr/>
          <p:nvPr/>
        </p:nvSpPr>
        <p:spPr>
          <a:xfrm>
            <a:off x="868680" y="3611880"/>
            <a:ext cx="4937760" cy="82296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Spring Security erlaubt alle Requests unter /files/** </a:t>
            </a:r>
            <a:r>
              <a:rPr lang="en-US" sz="1400" b="1" dirty="0">
                <a:solidFill>
                  <a:srgbClr val="D23B4E"/>
                </a:solidFill>
                <a:latin typeface="Calibri" pitchFamily="34" charset="0"/>
                <a:ea typeface="Calibri" pitchFamily="34" charset="-122"/>
                <a:cs typeface="Calibri" pitchFamily="34" charset="-120"/>
              </a:rPr>
              <a:t>ohne Authentifizierung</a:t>
            </a:r>
            <a:r>
              <a:rPr lang="en-US" sz="1400" dirty="0">
                <a:solidFill>
                  <a:srgbClr val="55606E"/>
                </a:solidFill>
                <a:latin typeface="Calibri" pitchFamily="34" charset="0"/>
                <a:ea typeface="Calibri" pitchFamily="34" charset="-122"/>
                <a:cs typeface="Calibri" pitchFamily="34" charset="-120"/>
              </a:rPr>
              <a:t> – u. a. Planungs- und ICS-Dateien.</a:t>
            </a:r>
            <a:endParaRPr lang="en-US" sz="1400" dirty="0"/>
          </a:p>
        </p:txBody>
      </p:sp>
      <p:sp>
        <p:nvSpPr>
          <p:cNvPr id="10" name="Text 8"/>
          <p:cNvSpPr/>
          <p:nvPr/>
        </p:nvSpPr>
        <p:spPr>
          <a:xfrm>
            <a:off x="868680" y="4480560"/>
            <a:ext cx="4937760" cy="365760"/>
          </a:xfrm>
          <a:prstGeom prst="rect">
            <a:avLst/>
          </a:prstGeom>
          <a:noFill/>
          <a:ln/>
        </p:spPr>
        <p:txBody>
          <a:bodyPr wrap="square" lIns="0" tIns="0" rIns="0" bIns="0" rtlCol="0" anchor="ctr"/>
          <a:lstStyle/>
          <a:p>
            <a:pPr marL="0" indent="0">
              <a:buNone/>
            </a:pPr>
            <a:r>
              <a:rPr lang="en-US" sz="1300" dirty="0">
                <a:solidFill>
                  <a:srgbClr val="16181D"/>
                </a:solidFill>
                <a:latin typeface="Consolas" pitchFamily="34" charset="0"/>
                <a:ea typeface="Consolas" pitchFamily="34" charset="-122"/>
                <a:cs typeface="Consolas" pitchFamily="34" charset="-120"/>
              </a:rPr>
              <a:t>GET /files/planningperiod/{id}/download</a:t>
            </a:r>
            <a:endParaRPr lang="en-US" sz="1300" dirty="0"/>
          </a:p>
        </p:txBody>
      </p:sp>
      <p:sp>
        <p:nvSpPr>
          <p:cNvPr id="11" name="Text 9"/>
          <p:cNvSpPr/>
          <p:nvPr/>
        </p:nvSpPr>
        <p:spPr>
          <a:xfrm>
            <a:off x="868680" y="4983480"/>
            <a:ext cx="4937760" cy="640080"/>
          </a:xfrm>
          <a:prstGeom prst="rect">
            <a:avLst/>
          </a:prstGeom>
          <a:noFill/>
          <a:ln/>
        </p:spPr>
        <p:txBody>
          <a:bodyPr wrap="square" lIns="0" tIns="0" rIns="0" bIns="0" rtlCol="0" anchor="ctr"/>
          <a:lstStyle/>
          <a:p>
            <a:pPr marL="0" indent="0">
              <a:buNone/>
            </a:pPr>
            <a:r>
              <a:rPr lang="en-US" sz="1250" i="1" dirty="0">
                <a:solidFill>
                  <a:srgbClr val="55606E"/>
                </a:solidFill>
                <a:latin typeface="Calibri" pitchFamily="34" charset="0"/>
                <a:ea typeface="Calibri" pitchFamily="34" charset="-122"/>
                <a:cs typeface="Calibri" pitchFamily="34" charset="-120"/>
              </a:rPr>
              <a:t>Guter Demo-Endpunkt – aber prüfen, ob wirklich alles öffentlich sein soll.</a:t>
            </a:r>
            <a:endParaRPr lang="en-US" sz="1250" dirty="0"/>
          </a:p>
        </p:txBody>
      </p:sp>
      <p:sp>
        <p:nvSpPr>
          <p:cNvPr id="12" name="Text 10"/>
          <p:cNvSpPr/>
          <p:nvPr/>
        </p:nvSpPr>
        <p:spPr>
          <a:xfrm>
            <a:off x="868680" y="5623560"/>
            <a:ext cx="4937760" cy="274320"/>
          </a:xfrm>
          <a:prstGeom prst="rect">
            <a:avLst/>
          </a:prstGeom>
          <a:noFill/>
          <a:ln/>
        </p:spPr>
        <p:txBody>
          <a:bodyPr wrap="square" lIns="0" tIns="0" rIns="0" bIns="0" rtlCol="0" anchor="ctr"/>
          <a:lstStyle/>
          <a:p>
            <a:pPr marL="0" indent="0">
              <a:buNone/>
            </a:pPr>
            <a:r>
              <a:rPr lang="en-US" sz="1050" dirty="0">
                <a:solidFill>
                  <a:srgbClr val="9AA3AF"/>
                </a:solidFill>
                <a:latin typeface="Consolas" pitchFamily="34" charset="0"/>
                <a:ea typeface="Consolas" pitchFamily="34" charset="-122"/>
                <a:cs typeface="Consolas" pitchFamily="34" charset="-120"/>
              </a:rPr>
              <a:t>SecurityConfiguration.java:48</a:t>
            </a:r>
            <a:endParaRPr lang="en-US" sz="1050" dirty="0"/>
          </a:p>
        </p:txBody>
      </p:sp>
      <p:sp>
        <p:nvSpPr>
          <p:cNvPr id="13" name="Text 11"/>
          <p:cNvSpPr/>
          <p:nvPr/>
        </p:nvSpPr>
        <p:spPr>
          <a:xfrm>
            <a:off x="6446520" y="2971800"/>
            <a:ext cx="914400" cy="457200"/>
          </a:xfrm>
          <a:prstGeom prst="rect">
            <a:avLst/>
          </a:prstGeom>
          <a:noFill/>
          <a:ln/>
        </p:spPr>
        <p:txBody>
          <a:bodyPr wrap="square" lIns="0" tIns="0" rIns="0" bIns="0" rtlCol="0" anchor="ctr"/>
          <a:lstStyle/>
          <a:p>
            <a:pPr marL="0" indent="0">
              <a:buNone/>
            </a:pPr>
            <a:r>
              <a:rPr lang="en-US" sz="2200" b="1" dirty="0">
                <a:solidFill>
                  <a:srgbClr val="9AA3AF"/>
                </a:solidFill>
                <a:latin typeface="Trebuchet MS" pitchFamily="34" charset="0"/>
                <a:ea typeface="Trebuchet MS" pitchFamily="34" charset="-122"/>
                <a:cs typeface="Trebuchet MS" pitchFamily="34" charset="-120"/>
              </a:rPr>
              <a:t>02</a:t>
            </a:r>
            <a:endParaRPr lang="en-US" sz="2200" dirty="0"/>
          </a:p>
        </p:txBody>
      </p:sp>
      <p:sp>
        <p:nvSpPr>
          <p:cNvPr id="14" name="Text 12"/>
          <p:cNvSpPr/>
          <p:nvPr/>
        </p:nvSpPr>
        <p:spPr>
          <a:xfrm>
            <a:off x="7086600" y="2990088"/>
            <a:ext cx="4297680" cy="457200"/>
          </a:xfrm>
          <a:prstGeom prst="rect">
            <a:avLst/>
          </a:prstGeom>
          <a:noFill/>
          <a:ln/>
        </p:spPr>
        <p:txBody>
          <a:bodyPr wrap="square" lIns="0" tIns="0" rIns="0" bIns="0" rtlCol="0" anchor="ctr"/>
          <a:lstStyle/>
          <a:p>
            <a:pPr marL="0" indent="0">
              <a:buNone/>
            </a:pPr>
            <a:r>
              <a:rPr lang="en-US" sz="2200" b="1" dirty="0">
                <a:solidFill>
                  <a:srgbClr val="16181D"/>
                </a:solidFill>
                <a:latin typeface="Trebuchet MS" pitchFamily="34" charset="0"/>
                <a:ea typeface="Trebuchet MS" pitchFamily="34" charset="-122"/>
                <a:cs typeface="Trebuchet MS" pitchFamily="34" charset="-120"/>
              </a:rPr>
              <a:t>Keycloak: webOrigins</a:t>
            </a:r>
            <a:endParaRPr lang="en-US" sz="2200" dirty="0"/>
          </a:p>
        </p:txBody>
      </p:sp>
      <p:sp>
        <p:nvSpPr>
          <p:cNvPr id="15" name="Text 13"/>
          <p:cNvSpPr/>
          <p:nvPr/>
        </p:nvSpPr>
        <p:spPr>
          <a:xfrm>
            <a:off x="6446520" y="3611880"/>
            <a:ext cx="4937760" cy="64008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Der Web-Client im Realm-Export nutzt eine Wildcard und unnötige OAuth-Flows – zu breit für einen SPA-Client.</a:t>
            </a:r>
            <a:endParaRPr lang="en-US" sz="1400" dirty="0"/>
          </a:p>
        </p:txBody>
      </p:sp>
      <p:sp>
        <p:nvSpPr>
          <p:cNvPr id="16" name="Text 14"/>
          <p:cNvSpPr/>
          <p:nvPr/>
        </p:nvSpPr>
        <p:spPr>
          <a:xfrm>
            <a:off x="6446520" y="4370832"/>
            <a:ext cx="3017520" cy="365760"/>
          </a:xfrm>
          <a:prstGeom prst="rect">
            <a:avLst/>
          </a:prstGeom>
          <a:noFill/>
          <a:ln/>
        </p:spPr>
        <p:txBody>
          <a:bodyPr wrap="square" lIns="0" tIns="0" rIns="0" bIns="0" rtlCol="0" anchor="ctr"/>
          <a:lstStyle/>
          <a:p>
            <a:pPr marL="0" indent="0">
              <a:buNone/>
            </a:pPr>
            <a:r>
              <a:rPr lang="en-US" sz="1300" b="1" dirty="0">
                <a:solidFill>
                  <a:srgbClr val="16181D"/>
                </a:solidFill>
                <a:latin typeface="Consolas" pitchFamily="34" charset="0"/>
                <a:ea typeface="Consolas" pitchFamily="34" charset="-122"/>
                <a:cs typeface="Consolas" pitchFamily="34" charset="-120"/>
              </a:rPr>
              <a:t>webOrigins: ["*"]</a:t>
            </a:r>
            <a:endParaRPr lang="en-US" sz="1300" dirty="0"/>
          </a:p>
        </p:txBody>
      </p:sp>
      <p:sp>
        <p:nvSpPr>
          <p:cNvPr id="17" name="Text 15"/>
          <p:cNvSpPr/>
          <p:nvPr/>
        </p:nvSpPr>
        <p:spPr>
          <a:xfrm>
            <a:off x="9464040" y="4370832"/>
            <a:ext cx="1920240" cy="365760"/>
          </a:xfrm>
          <a:prstGeom prst="rect">
            <a:avLst/>
          </a:prstGeom>
          <a:noFill/>
          <a:ln/>
        </p:spPr>
        <p:txBody>
          <a:bodyPr wrap="square" lIns="0" tIns="0" rIns="0" bIns="0" rtlCol="0" anchor="ctr"/>
          <a:lstStyle/>
          <a:p>
            <a:pPr marL="0" indent="0" algn="r">
              <a:buNone/>
            </a:pPr>
            <a:r>
              <a:rPr lang="en-US" sz="1200" i="1" dirty="0">
                <a:solidFill>
                  <a:srgbClr val="D23B4E"/>
                </a:solidFill>
                <a:latin typeface="Calibri" pitchFamily="34" charset="0"/>
                <a:ea typeface="Calibri" pitchFamily="34" charset="-122"/>
                <a:cs typeface="Calibri" pitchFamily="34" charset="-120"/>
              </a:rPr>
              <a:t>jede Origin</a:t>
            </a:r>
            <a:endParaRPr lang="en-US" sz="1200" dirty="0"/>
          </a:p>
        </p:txBody>
      </p:sp>
      <p:sp>
        <p:nvSpPr>
          <p:cNvPr id="18" name="Text 16"/>
          <p:cNvSpPr/>
          <p:nvPr/>
        </p:nvSpPr>
        <p:spPr>
          <a:xfrm>
            <a:off x="6446520" y="4782312"/>
            <a:ext cx="3017520" cy="365760"/>
          </a:xfrm>
          <a:prstGeom prst="rect">
            <a:avLst/>
          </a:prstGeom>
          <a:noFill/>
          <a:ln/>
        </p:spPr>
        <p:txBody>
          <a:bodyPr wrap="square" lIns="0" tIns="0" rIns="0" bIns="0" rtlCol="0" anchor="ctr"/>
          <a:lstStyle/>
          <a:p>
            <a:pPr marL="0" indent="0">
              <a:buNone/>
            </a:pPr>
            <a:r>
              <a:rPr lang="en-US" sz="1300" b="1" dirty="0">
                <a:solidFill>
                  <a:srgbClr val="16181D"/>
                </a:solidFill>
                <a:latin typeface="Consolas" pitchFamily="34" charset="0"/>
                <a:ea typeface="Consolas" pitchFamily="34" charset="-122"/>
                <a:cs typeface="Consolas" pitchFamily="34" charset="-120"/>
              </a:rPr>
              <a:t>implicitFlowEnabled</a:t>
            </a:r>
            <a:endParaRPr lang="en-US" sz="1300" dirty="0"/>
          </a:p>
        </p:txBody>
      </p:sp>
      <p:sp>
        <p:nvSpPr>
          <p:cNvPr id="19" name="Text 17"/>
          <p:cNvSpPr/>
          <p:nvPr/>
        </p:nvSpPr>
        <p:spPr>
          <a:xfrm>
            <a:off x="9464040" y="4782312"/>
            <a:ext cx="1920240" cy="365760"/>
          </a:xfrm>
          <a:prstGeom prst="rect">
            <a:avLst/>
          </a:prstGeom>
          <a:noFill/>
          <a:ln/>
        </p:spPr>
        <p:txBody>
          <a:bodyPr wrap="square" lIns="0" tIns="0" rIns="0" bIns="0" rtlCol="0" anchor="ctr"/>
          <a:lstStyle/>
          <a:p>
            <a:pPr marL="0" indent="0" algn="r">
              <a:buNone/>
            </a:pPr>
            <a:r>
              <a:rPr lang="en-US" sz="1200" i="1" dirty="0">
                <a:solidFill>
                  <a:srgbClr val="D23B4E"/>
                </a:solidFill>
                <a:latin typeface="Calibri" pitchFamily="34" charset="0"/>
                <a:ea typeface="Calibri" pitchFamily="34" charset="-122"/>
                <a:cs typeface="Calibri" pitchFamily="34" charset="-120"/>
              </a:rPr>
              <a:t>Token im Fragment</a:t>
            </a:r>
            <a:endParaRPr lang="en-US" sz="1200" dirty="0"/>
          </a:p>
        </p:txBody>
      </p:sp>
      <p:sp>
        <p:nvSpPr>
          <p:cNvPr id="20" name="Text 18"/>
          <p:cNvSpPr/>
          <p:nvPr/>
        </p:nvSpPr>
        <p:spPr>
          <a:xfrm>
            <a:off x="6446520" y="5193792"/>
            <a:ext cx="3017520" cy="365760"/>
          </a:xfrm>
          <a:prstGeom prst="rect">
            <a:avLst/>
          </a:prstGeom>
          <a:noFill/>
          <a:ln/>
        </p:spPr>
        <p:txBody>
          <a:bodyPr wrap="square" lIns="0" tIns="0" rIns="0" bIns="0" rtlCol="0" anchor="ctr"/>
          <a:lstStyle/>
          <a:p>
            <a:pPr marL="0" indent="0">
              <a:buNone/>
            </a:pPr>
            <a:r>
              <a:rPr lang="en-US" sz="1300" b="1" dirty="0">
                <a:solidFill>
                  <a:srgbClr val="16181D"/>
                </a:solidFill>
                <a:latin typeface="Consolas" pitchFamily="34" charset="0"/>
                <a:ea typeface="Consolas" pitchFamily="34" charset="-122"/>
                <a:cs typeface="Consolas" pitchFamily="34" charset="-120"/>
              </a:rPr>
              <a:t>directAccessGrants</a:t>
            </a:r>
            <a:endParaRPr lang="en-US" sz="1300" dirty="0"/>
          </a:p>
        </p:txBody>
      </p:sp>
      <p:sp>
        <p:nvSpPr>
          <p:cNvPr id="21" name="Text 19"/>
          <p:cNvSpPr/>
          <p:nvPr/>
        </p:nvSpPr>
        <p:spPr>
          <a:xfrm>
            <a:off x="9464040" y="5193792"/>
            <a:ext cx="1920240" cy="365760"/>
          </a:xfrm>
          <a:prstGeom prst="rect">
            <a:avLst/>
          </a:prstGeom>
          <a:noFill/>
          <a:ln/>
        </p:spPr>
        <p:txBody>
          <a:bodyPr wrap="square" lIns="0" tIns="0" rIns="0" bIns="0" rtlCol="0" anchor="ctr"/>
          <a:lstStyle/>
          <a:p>
            <a:pPr marL="0" indent="0" algn="r">
              <a:buNone/>
            </a:pPr>
            <a:r>
              <a:rPr lang="en-US" sz="1200" i="1" dirty="0">
                <a:solidFill>
                  <a:srgbClr val="D23B4E"/>
                </a:solidFill>
                <a:latin typeface="Calibri" pitchFamily="34" charset="0"/>
                <a:ea typeface="Calibri" pitchFamily="34" charset="-122"/>
                <a:cs typeface="Calibri" pitchFamily="34" charset="-120"/>
              </a:rPr>
              <a:t>Passwort-Grant</a:t>
            </a:r>
            <a:endParaRPr lang="en-US" sz="1200" dirty="0"/>
          </a:p>
        </p:txBody>
      </p:sp>
      <p:sp>
        <p:nvSpPr>
          <p:cNvPr id="22" name="Text 20"/>
          <p:cNvSpPr/>
          <p:nvPr/>
        </p:nvSpPr>
        <p:spPr>
          <a:xfrm>
            <a:off x="6446520" y="5623560"/>
            <a:ext cx="4937760" cy="274320"/>
          </a:xfrm>
          <a:prstGeom prst="rect">
            <a:avLst/>
          </a:prstGeom>
          <a:noFill/>
          <a:ln/>
        </p:spPr>
        <p:txBody>
          <a:bodyPr wrap="square" lIns="0" tIns="0" rIns="0" bIns="0" rtlCol="0" anchor="ctr"/>
          <a:lstStyle/>
          <a:p>
            <a:pPr marL="0" indent="0">
              <a:buNone/>
            </a:pPr>
            <a:r>
              <a:rPr lang="en-US" sz="1050" dirty="0">
                <a:solidFill>
                  <a:srgbClr val="9AA3AF"/>
                </a:solidFill>
                <a:latin typeface="Consolas" pitchFamily="34" charset="0"/>
                <a:ea typeface="Consolas" pitchFamily="34" charset="-122"/>
                <a:cs typeface="Consolas" pitchFamily="34" charset="-120"/>
              </a:rPr>
              <a:t>scheduler.json:859-867</a:t>
            </a:r>
            <a:endParaRPr lang="en-US" sz="1050" dirty="0"/>
          </a:p>
        </p:txBody>
      </p:sp>
      <p:sp>
        <p:nvSpPr>
          <p:cNvPr id="23" name="Text 1">
            <a:extLst>
              <a:ext uri="{FF2B5EF4-FFF2-40B4-BE49-F238E27FC236}">
                <a16:creationId xmlns:a16="http://schemas.microsoft.com/office/drawing/2014/main" id="{159D14D2-A691-AC5D-DD1D-60255DAD0117}"/>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18</a:t>
            </a:fld>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DEMO · AUFBAU</a:t>
            </a:r>
            <a:endParaRPr lang="en-US" sz="1050" dirty="0"/>
          </a:p>
        </p:txBody>
      </p:sp>
      <p:sp>
        <p:nvSpPr>
          <p:cNvPr id="3" name="Text 1"/>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19</a:t>
            </a:fld>
            <a:endParaRPr lang="en-US" sz="1050" dirty="0"/>
          </a:p>
        </p:txBody>
      </p:sp>
      <p:sp>
        <p:nvSpPr>
          <p:cNvPr id="4" name="Text 2"/>
          <p:cNvSpPr/>
          <p:nvPr/>
        </p:nvSpPr>
        <p:spPr>
          <a:xfrm>
            <a:off x="868680" y="1051560"/>
            <a:ext cx="10058400" cy="777240"/>
          </a:xfrm>
          <a:prstGeom prst="rect">
            <a:avLst/>
          </a:prstGeom>
          <a:noFill/>
          <a:ln/>
        </p:spPr>
        <p:txBody>
          <a:bodyPr wrap="square" lIns="0" tIns="0" rIns="0" bIns="0" rtlCol="0" anchor="ctr"/>
          <a:lstStyle/>
          <a:p>
            <a:pPr marL="0" indent="0">
              <a:buNone/>
            </a:pPr>
            <a:r>
              <a:rPr lang="en-US" sz="4000" b="1" dirty="0">
                <a:solidFill>
                  <a:srgbClr val="16181D"/>
                </a:solidFill>
                <a:latin typeface="Trebuchet MS" pitchFamily="34" charset="0"/>
                <a:ea typeface="Trebuchet MS" pitchFamily="34" charset="-122"/>
                <a:cs typeface="Trebuchet MS" pitchFamily="34" charset="-120"/>
              </a:rPr>
              <a:t>Setup</a:t>
            </a:r>
            <a:endParaRPr lang="en-US" sz="4000" dirty="0"/>
          </a:p>
        </p:txBody>
      </p:sp>
      <p:sp>
        <p:nvSpPr>
          <p:cNvPr id="5" name="Text 3"/>
          <p:cNvSpPr/>
          <p:nvPr/>
        </p:nvSpPr>
        <p:spPr>
          <a:xfrm>
            <a:off x="868680" y="1920240"/>
            <a:ext cx="10424160" cy="640080"/>
          </a:xfrm>
          <a:prstGeom prst="rect">
            <a:avLst/>
          </a:prstGeom>
          <a:noFill/>
          <a:ln/>
        </p:spPr>
        <p:txBody>
          <a:bodyPr wrap="square" lIns="0" tIns="0" rIns="0" bIns="0" rtlCol="0" anchor="ctr"/>
          <a:lstStyle/>
          <a:p>
            <a:r>
              <a:rPr lang="en-US" sz="1700" dirty="0">
                <a:solidFill>
                  <a:srgbClr val="55606E"/>
                </a:solidFill>
                <a:latin typeface="Calibri" pitchFamily="34" charset="0"/>
                <a:ea typeface="Calibri" pitchFamily="34" charset="-122"/>
                <a:cs typeface="Calibri" pitchFamily="34" charset="-120"/>
              </a:rPr>
              <a:t>Vier </a:t>
            </a:r>
            <a:r>
              <a:rPr lang="en-US" sz="1700" dirty="0" err="1">
                <a:solidFill>
                  <a:srgbClr val="55606E"/>
                </a:solidFill>
                <a:latin typeface="Calibri" pitchFamily="34" charset="0"/>
                <a:ea typeface="Calibri" pitchFamily="34" charset="-122"/>
                <a:cs typeface="Calibri" pitchFamily="34" charset="-120"/>
              </a:rPr>
              <a:t>lokale</a:t>
            </a:r>
            <a:r>
              <a:rPr lang="en-US" sz="1700" dirty="0">
                <a:solidFill>
                  <a:srgbClr val="55606E"/>
                </a:solidFill>
                <a:latin typeface="Calibri" pitchFamily="34" charset="0"/>
                <a:ea typeface="Calibri" pitchFamily="34" charset="-122"/>
                <a:cs typeface="Calibri" pitchFamily="34" charset="-120"/>
              </a:rPr>
              <a:t> </a:t>
            </a:r>
            <a:r>
              <a:rPr lang="en-US" sz="1700" dirty="0" err="1">
                <a:solidFill>
                  <a:srgbClr val="55606E"/>
                </a:solidFill>
                <a:latin typeface="Calibri" pitchFamily="34" charset="0"/>
                <a:ea typeface="Calibri" pitchFamily="34" charset="-122"/>
                <a:cs typeface="Calibri" pitchFamily="34" charset="-120"/>
              </a:rPr>
              <a:t>Komponenten</a:t>
            </a:r>
            <a:endParaRPr lang="en-US" sz="1700" dirty="0"/>
          </a:p>
        </p:txBody>
      </p:sp>
      <p:sp>
        <p:nvSpPr>
          <p:cNvPr id="6" name="Shape 4"/>
          <p:cNvSpPr/>
          <p:nvPr/>
        </p:nvSpPr>
        <p:spPr>
          <a:xfrm>
            <a:off x="868680" y="2788920"/>
            <a:ext cx="10454335" cy="0"/>
          </a:xfrm>
          <a:prstGeom prst="line">
            <a:avLst/>
          </a:prstGeom>
          <a:noFill/>
          <a:ln w="12700">
            <a:solidFill>
              <a:srgbClr val="E4E7EC"/>
            </a:solidFill>
            <a:prstDash val="solid"/>
          </a:ln>
        </p:spPr>
      </p:sp>
      <p:sp>
        <p:nvSpPr>
          <p:cNvPr id="7" name="Text 5"/>
          <p:cNvSpPr/>
          <p:nvPr/>
        </p:nvSpPr>
        <p:spPr>
          <a:xfrm>
            <a:off x="868680" y="2916936"/>
            <a:ext cx="5943600" cy="384048"/>
          </a:xfrm>
          <a:prstGeom prst="rect">
            <a:avLst/>
          </a:prstGeom>
          <a:noFill/>
          <a:ln/>
        </p:spPr>
        <p:txBody>
          <a:bodyPr wrap="square" lIns="0" tIns="0" rIns="0" bIns="0" rtlCol="0" anchor="ctr"/>
          <a:lstStyle/>
          <a:p>
            <a:pPr marL="0" indent="0">
              <a:buNone/>
            </a:pPr>
            <a:r>
              <a:rPr lang="en-US" sz="1500" b="1" dirty="0">
                <a:solidFill>
                  <a:srgbClr val="16181D"/>
                </a:solidFill>
                <a:latin typeface="Consolas" pitchFamily="34" charset="0"/>
                <a:ea typeface="Consolas" pitchFamily="34" charset="-122"/>
                <a:cs typeface="Consolas" pitchFamily="34" charset="-120"/>
              </a:rPr>
              <a:t>docker-compose up</a:t>
            </a:r>
            <a:endParaRPr lang="en-US" sz="1500" dirty="0"/>
          </a:p>
        </p:txBody>
      </p:sp>
      <p:sp>
        <p:nvSpPr>
          <p:cNvPr id="8" name="Text 6"/>
          <p:cNvSpPr/>
          <p:nvPr/>
        </p:nvSpPr>
        <p:spPr>
          <a:xfrm>
            <a:off x="868680" y="3246120"/>
            <a:ext cx="6400800" cy="329184"/>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Keycloak · Postgres</a:t>
            </a:r>
            <a:endParaRPr lang="en-US" sz="1250" dirty="0"/>
          </a:p>
        </p:txBody>
      </p:sp>
      <p:sp>
        <p:nvSpPr>
          <p:cNvPr id="9" name="Text 7"/>
          <p:cNvSpPr/>
          <p:nvPr/>
        </p:nvSpPr>
        <p:spPr>
          <a:xfrm>
            <a:off x="8579815" y="2916936"/>
            <a:ext cx="2743200" cy="548640"/>
          </a:xfrm>
          <a:prstGeom prst="rect">
            <a:avLst/>
          </a:prstGeom>
          <a:noFill/>
          <a:ln/>
        </p:spPr>
        <p:txBody>
          <a:bodyPr wrap="square" lIns="0" tIns="0" rIns="0" bIns="0" rtlCol="0" anchor="ctr"/>
          <a:lstStyle/>
          <a:p>
            <a:pPr marL="0" indent="0" algn="r">
              <a:buNone/>
            </a:pPr>
            <a:r>
              <a:rPr lang="en-US" sz="1500" b="1" dirty="0">
                <a:solidFill>
                  <a:srgbClr val="9AA3AF"/>
                </a:solidFill>
                <a:latin typeface="Consolas" pitchFamily="34" charset="0"/>
                <a:ea typeface="Consolas" pitchFamily="34" charset="-122"/>
                <a:cs typeface="Consolas" pitchFamily="34" charset="-120"/>
              </a:rPr>
              <a:t>:8080 / :5432</a:t>
            </a:r>
            <a:endParaRPr lang="en-US" sz="1500" dirty="0"/>
          </a:p>
        </p:txBody>
      </p:sp>
      <p:sp>
        <p:nvSpPr>
          <p:cNvPr id="10" name="Shape 8"/>
          <p:cNvSpPr/>
          <p:nvPr/>
        </p:nvSpPr>
        <p:spPr>
          <a:xfrm>
            <a:off x="868680" y="3630168"/>
            <a:ext cx="10454335" cy="0"/>
          </a:xfrm>
          <a:prstGeom prst="line">
            <a:avLst/>
          </a:prstGeom>
          <a:noFill/>
          <a:ln w="12700">
            <a:solidFill>
              <a:srgbClr val="E4E7EC"/>
            </a:solidFill>
            <a:prstDash val="solid"/>
          </a:ln>
        </p:spPr>
      </p:sp>
      <p:sp>
        <p:nvSpPr>
          <p:cNvPr id="11" name="Text 9"/>
          <p:cNvSpPr/>
          <p:nvPr/>
        </p:nvSpPr>
        <p:spPr>
          <a:xfrm>
            <a:off x="868680" y="3758184"/>
            <a:ext cx="5943600" cy="384048"/>
          </a:xfrm>
          <a:prstGeom prst="rect">
            <a:avLst/>
          </a:prstGeom>
          <a:noFill/>
          <a:ln/>
        </p:spPr>
        <p:txBody>
          <a:bodyPr wrap="square" lIns="0" tIns="0" rIns="0" bIns="0" rtlCol="0" anchor="ctr"/>
          <a:lstStyle/>
          <a:p>
            <a:pPr marL="0" indent="0">
              <a:buNone/>
            </a:pPr>
            <a:r>
              <a:rPr lang="en-US" sz="1500" b="1" dirty="0" err="1">
                <a:solidFill>
                  <a:srgbClr val="16181D"/>
                </a:solidFill>
                <a:latin typeface="Consolas" pitchFamily="34" charset="0"/>
                <a:ea typeface="Consolas" pitchFamily="34" charset="-122"/>
                <a:cs typeface="Consolas" pitchFamily="34" charset="-120"/>
              </a:rPr>
              <a:t>gradlew</a:t>
            </a:r>
            <a:r>
              <a:rPr lang="en-US" sz="1500" b="1" dirty="0">
                <a:solidFill>
                  <a:srgbClr val="16181D"/>
                </a:solidFill>
                <a:latin typeface="Consolas" pitchFamily="34" charset="0"/>
                <a:ea typeface="Consolas" pitchFamily="34" charset="-122"/>
                <a:cs typeface="Consolas" pitchFamily="34" charset="-120"/>
              </a:rPr>
              <a:t> </a:t>
            </a:r>
            <a:r>
              <a:rPr lang="en-US" sz="1500" b="1" dirty="0" err="1">
                <a:solidFill>
                  <a:srgbClr val="16181D"/>
                </a:solidFill>
                <a:latin typeface="Consolas" pitchFamily="34" charset="0"/>
                <a:ea typeface="Consolas" pitchFamily="34" charset="-122"/>
                <a:cs typeface="Consolas" pitchFamily="34" charset="-120"/>
              </a:rPr>
              <a:t>bootRun</a:t>
            </a:r>
            <a:endParaRPr lang="en-US" sz="1500" dirty="0"/>
          </a:p>
        </p:txBody>
      </p:sp>
      <p:sp>
        <p:nvSpPr>
          <p:cNvPr id="12" name="Text 10"/>
          <p:cNvSpPr/>
          <p:nvPr/>
        </p:nvSpPr>
        <p:spPr>
          <a:xfrm>
            <a:off x="868680" y="4087368"/>
            <a:ext cx="6400800" cy="329184"/>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Spring-Boot-API</a:t>
            </a:r>
            <a:endParaRPr lang="en-US" sz="1250" dirty="0"/>
          </a:p>
        </p:txBody>
      </p:sp>
      <p:sp>
        <p:nvSpPr>
          <p:cNvPr id="13" name="Text 11"/>
          <p:cNvSpPr/>
          <p:nvPr/>
        </p:nvSpPr>
        <p:spPr>
          <a:xfrm>
            <a:off x="8579815" y="3758184"/>
            <a:ext cx="2743200" cy="548640"/>
          </a:xfrm>
          <a:prstGeom prst="rect">
            <a:avLst/>
          </a:prstGeom>
          <a:noFill/>
          <a:ln/>
        </p:spPr>
        <p:txBody>
          <a:bodyPr wrap="square" lIns="0" tIns="0" rIns="0" bIns="0" rtlCol="0" anchor="ctr"/>
          <a:lstStyle/>
          <a:p>
            <a:pPr marL="0" indent="0" algn="r">
              <a:buNone/>
            </a:pPr>
            <a:r>
              <a:rPr lang="en-US" sz="1500" b="1" dirty="0">
                <a:solidFill>
                  <a:srgbClr val="9AA3AF"/>
                </a:solidFill>
                <a:latin typeface="Consolas" pitchFamily="34" charset="0"/>
                <a:ea typeface="Consolas" pitchFamily="34" charset="-122"/>
                <a:cs typeface="Consolas" pitchFamily="34" charset="-120"/>
              </a:rPr>
              <a:t>:8079</a:t>
            </a:r>
            <a:endParaRPr lang="en-US" sz="1500" dirty="0"/>
          </a:p>
        </p:txBody>
      </p:sp>
      <p:sp>
        <p:nvSpPr>
          <p:cNvPr id="14" name="Shape 12"/>
          <p:cNvSpPr/>
          <p:nvPr/>
        </p:nvSpPr>
        <p:spPr>
          <a:xfrm>
            <a:off x="868680" y="4471416"/>
            <a:ext cx="10454335" cy="0"/>
          </a:xfrm>
          <a:prstGeom prst="line">
            <a:avLst/>
          </a:prstGeom>
          <a:noFill/>
          <a:ln w="12700">
            <a:solidFill>
              <a:srgbClr val="E4E7EC"/>
            </a:solidFill>
            <a:prstDash val="solid"/>
          </a:ln>
        </p:spPr>
      </p:sp>
      <p:sp>
        <p:nvSpPr>
          <p:cNvPr id="15" name="Text 13"/>
          <p:cNvSpPr/>
          <p:nvPr/>
        </p:nvSpPr>
        <p:spPr>
          <a:xfrm>
            <a:off x="868680" y="4599432"/>
            <a:ext cx="5943600" cy="384048"/>
          </a:xfrm>
          <a:prstGeom prst="rect">
            <a:avLst/>
          </a:prstGeom>
          <a:noFill/>
          <a:ln/>
        </p:spPr>
        <p:txBody>
          <a:bodyPr wrap="square" lIns="0" tIns="0" rIns="0" bIns="0" rtlCol="0" anchor="ctr"/>
          <a:lstStyle/>
          <a:p>
            <a:pPr marL="0" indent="0">
              <a:buNone/>
            </a:pPr>
            <a:r>
              <a:rPr lang="en-US" sz="1500" b="1" dirty="0">
                <a:solidFill>
                  <a:srgbClr val="16181D"/>
                </a:solidFill>
                <a:latin typeface="Consolas" pitchFamily="34" charset="0"/>
                <a:ea typeface="Consolas" pitchFamily="34" charset="-122"/>
                <a:cs typeface="Consolas" pitchFamily="34" charset="-120"/>
              </a:rPr>
              <a:t>npm run dev</a:t>
            </a:r>
            <a:endParaRPr lang="en-US" sz="1500" dirty="0"/>
          </a:p>
        </p:txBody>
      </p:sp>
      <p:sp>
        <p:nvSpPr>
          <p:cNvPr id="16" name="Text 14"/>
          <p:cNvSpPr/>
          <p:nvPr/>
        </p:nvSpPr>
        <p:spPr>
          <a:xfrm>
            <a:off x="868680" y="4928616"/>
            <a:ext cx="6400800" cy="329184"/>
          </a:xfrm>
          <a:prstGeom prst="rect">
            <a:avLst/>
          </a:prstGeom>
          <a:noFill/>
          <a:ln/>
        </p:spPr>
        <p:txBody>
          <a:bodyPr wrap="square" lIns="0" tIns="0" rIns="0" bIns="0" rtlCol="0" anchor="ctr"/>
          <a:lstStyle/>
          <a:p>
            <a:pPr marL="0" indent="0">
              <a:buNone/>
            </a:pPr>
            <a:r>
              <a:rPr lang="en-US" sz="1250" dirty="0" err="1">
                <a:solidFill>
                  <a:srgbClr val="55606E"/>
                </a:solidFill>
                <a:latin typeface="Calibri" pitchFamily="34" charset="0"/>
                <a:ea typeface="Calibri" pitchFamily="34" charset="-122"/>
                <a:cs typeface="Calibri" pitchFamily="34" charset="-120"/>
              </a:rPr>
              <a:t>reguläres</a:t>
            </a:r>
            <a:r>
              <a:rPr lang="en-US" sz="1250" dirty="0">
                <a:solidFill>
                  <a:srgbClr val="55606E"/>
                </a:solidFill>
                <a:latin typeface="Calibri" pitchFamily="34" charset="0"/>
                <a:ea typeface="Calibri" pitchFamily="34" charset="-122"/>
                <a:cs typeface="Calibri" pitchFamily="34" charset="-120"/>
              </a:rPr>
              <a:t> Vue-Frontend</a:t>
            </a:r>
            <a:endParaRPr lang="en-US" sz="1250" dirty="0"/>
          </a:p>
        </p:txBody>
      </p:sp>
      <p:sp>
        <p:nvSpPr>
          <p:cNvPr id="17" name="Text 15"/>
          <p:cNvSpPr/>
          <p:nvPr/>
        </p:nvSpPr>
        <p:spPr>
          <a:xfrm>
            <a:off x="8579815" y="4599432"/>
            <a:ext cx="2743200" cy="548640"/>
          </a:xfrm>
          <a:prstGeom prst="rect">
            <a:avLst/>
          </a:prstGeom>
          <a:noFill/>
          <a:ln/>
        </p:spPr>
        <p:txBody>
          <a:bodyPr wrap="square" lIns="0" tIns="0" rIns="0" bIns="0" rtlCol="0" anchor="ctr"/>
          <a:lstStyle/>
          <a:p>
            <a:pPr marL="0" indent="0" algn="r">
              <a:buNone/>
            </a:pPr>
            <a:r>
              <a:rPr lang="en-US" sz="1500" b="1" dirty="0">
                <a:solidFill>
                  <a:srgbClr val="9AA3AF"/>
                </a:solidFill>
                <a:latin typeface="Consolas" pitchFamily="34" charset="0"/>
                <a:ea typeface="Consolas" pitchFamily="34" charset="-122"/>
                <a:cs typeface="Consolas" pitchFamily="34" charset="-120"/>
              </a:rPr>
              <a:t>:8078</a:t>
            </a:r>
            <a:endParaRPr lang="en-US" sz="1500" dirty="0"/>
          </a:p>
        </p:txBody>
      </p:sp>
      <p:sp>
        <p:nvSpPr>
          <p:cNvPr id="18" name="Shape 16"/>
          <p:cNvSpPr/>
          <p:nvPr/>
        </p:nvSpPr>
        <p:spPr>
          <a:xfrm>
            <a:off x="868680" y="5312664"/>
            <a:ext cx="10454335" cy="0"/>
          </a:xfrm>
          <a:prstGeom prst="line">
            <a:avLst/>
          </a:prstGeom>
          <a:noFill/>
          <a:ln w="12700">
            <a:solidFill>
              <a:srgbClr val="E4E7EC"/>
            </a:solidFill>
            <a:prstDash val="solid"/>
          </a:ln>
        </p:spPr>
      </p:sp>
      <p:sp>
        <p:nvSpPr>
          <p:cNvPr id="19" name="Text 17"/>
          <p:cNvSpPr/>
          <p:nvPr/>
        </p:nvSpPr>
        <p:spPr>
          <a:xfrm>
            <a:off x="868680" y="5440680"/>
            <a:ext cx="5943600" cy="384048"/>
          </a:xfrm>
          <a:prstGeom prst="rect">
            <a:avLst/>
          </a:prstGeom>
          <a:noFill/>
          <a:ln/>
        </p:spPr>
        <p:txBody>
          <a:bodyPr wrap="square" lIns="0" tIns="0" rIns="0" bIns="0" rtlCol="0" anchor="ctr"/>
          <a:lstStyle/>
          <a:p>
            <a:pPr marL="0" indent="0">
              <a:buNone/>
            </a:pPr>
            <a:r>
              <a:rPr lang="en-US" sz="1500" b="1" dirty="0">
                <a:solidFill>
                  <a:srgbClr val="16181D"/>
                </a:solidFill>
                <a:latin typeface="Consolas" pitchFamily="34" charset="0"/>
                <a:ea typeface="Consolas" pitchFamily="34" charset="-122"/>
                <a:cs typeface="Consolas" pitchFamily="34" charset="-120"/>
              </a:rPr>
              <a:t>python -m http.server 5173</a:t>
            </a:r>
            <a:endParaRPr lang="en-US" sz="1500" dirty="0"/>
          </a:p>
        </p:txBody>
      </p:sp>
      <p:sp>
        <p:nvSpPr>
          <p:cNvPr id="20" name="Text 18"/>
          <p:cNvSpPr/>
          <p:nvPr/>
        </p:nvSpPr>
        <p:spPr>
          <a:xfrm>
            <a:off x="868680" y="5769864"/>
            <a:ext cx="6400800" cy="329184"/>
          </a:xfrm>
          <a:prstGeom prst="rect">
            <a:avLst/>
          </a:prstGeom>
          <a:noFill/>
          <a:ln/>
        </p:spPr>
        <p:txBody>
          <a:bodyPr wrap="square" lIns="0" tIns="0" rIns="0" bIns="0" rtlCol="0" anchor="ctr"/>
          <a:lstStyle/>
          <a:p>
            <a:pPr marL="0" indent="0">
              <a:buNone/>
            </a:pPr>
            <a:r>
              <a:rPr lang="en-US" sz="1250" dirty="0">
                <a:solidFill>
                  <a:srgbClr val="55606E"/>
                </a:solidFill>
                <a:latin typeface="Calibri" pitchFamily="34" charset="0"/>
                <a:ea typeface="Calibri" pitchFamily="34" charset="-122"/>
                <a:cs typeface="Calibri" pitchFamily="34" charset="-120"/>
              </a:rPr>
              <a:t>exploit.html - die </a:t>
            </a:r>
            <a:r>
              <a:rPr lang="en-US" sz="1250" dirty="0" err="1">
                <a:solidFill>
                  <a:srgbClr val="55606E"/>
                </a:solidFill>
                <a:latin typeface="Calibri" pitchFamily="34" charset="0"/>
                <a:ea typeface="Calibri" pitchFamily="34" charset="-122"/>
                <a:cs typeface="Calibri" pitchFamily="34" charset="-120"/>
              </a:rPr>
              <a:t>Angreifer-Seite</a:t>
            </a:r>
            <a:r>
              <a:rPr lang="en-US" sz="1250" dirty="0">
                <a:solidFill>
                  <a:srgbClr val="55606E"/>
                </a:solidFill>
                <a:latin typeface="Calibri" pitchFamily="34" charset="0"/>
                <a:ea typeface="Calibri" pitchFamily="34" charset="-122"/>
                <a:cs typeface="Calibri" pitchFamily="34" charset="-120"/>
              </a:rPr>
              <a:t> auf </a:t>
            </a:r>
            <a:r>
              <a:rPr lang="en-US" sz="1250" dirty="0" err="1">
                <a:solidFill>
                  <a:srgbClr val="55606E"/>
                </a:solidFill>
                <a:latin typeface="Calibri" pitchFamily="34" charset="0"/>
                <a:ea typeface="Calibri" pitchFamily="34" charset="-122"/>
                <a:cs typeface="Calibri" pitchFamily="34" charset="-120"/>
              </a:rPr>
              <a:t>anderem</a:t>
            </a:r>
            <a:r>
              <a:rPr lang="en-US" sz="1250" dirty="0">
                <a:solidFill>
                  <a:srgbClr val="55606E"/>
                </a:solidFill>
                <a:latin typeface="Calibri" pitchFamily="34" charset="0"/>
                <a:ea typeface="Calibri" pitchFamily="34" charset="-122"/>
                <a:cs typeface="Calibri" pitchFamily="34" charset="-120"/>
              </a:rPr>
              <a:t> Port für CORS</a:t>
            </a:r>
            <a:endParaRPr lang="en-US" sz="1250" dirty="0"/>
          </a:p>
        </p:txBody>
      </p:sp>
      <p:sp>
        <p:nvSpPr>
          <p:cNvPr id="21" name="Text 19"/>
          <p:cNvSpPr/>
          <p:nvPr/>
        </p:nvSpPr>
        <p:spPr>
          <a:xfrm>
            <a:off x="8579815" y="5440680"/>
            <a:ext cx="2743200" cy="548640"/>
          </a:xfrm>
          <a:prstGeom prst="rect">
            <a:avLst/>
          </a:prstGeom>
          <a:noFill/>
          <a:ln/>
        </p:spPr>
        <p:txBody>
          <a:bodyPr wrap="square" lIns="0" tIns="0" rIns="0" bIns="0" rtlCol="0" anchor="ctr"/>
          <a:lstStyle/>
          <a:p>
            <a:pPr marL="0" indent="0" algn="r">
              <a:buNone/>
            </a:pPr>
            <a:r>
              <a:rPr lang="en-US" sz="1500" b="1" dirty="0">
                <a:solidFill>
                  <a:srgbClr val="D23B4E"/>
                </a:solidFill>
                <a:latin typeface="Consolas" pitchFamily="34" charset="0"/>
                <a:ea typeface="Consolas" pitchFamily="34" charset="-122"/>
                <a:cs typeface="Consolas" pitchFamily="34" charset="-120"/>
              </a:rPr>
              <a:t>:5173</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DEMO · ZUSTAND 1</a:t>
            </a:r>
            <a:endParaRPr lang="en-US" sz="1050" dirty="0"/>
          </a:p>
        </p:txBody>
      </p:sp>
      <p:sp>
        <p:nvSpPr>
          <p:cNvPr id="4" name="Text 2"/>
          <p:cNvSpPr/>
          <p:nvPr/>
        </p:nvSpPr>
        <p:spPr>
          <a:xfrm>
            <a:off x="868680" y="914400"/>
            <a:ext cx="6400800" cy="292608"/>
          </a:xfrm>
          <a:prstGeom prst="rect">
            <a:avLst/>
          </a:prstGeom>
          <a:noFill/>
          <a:ln/>
        </p:spPr>
        <p:txBody>
          <a:bodyPr wrap="square" lIns="0" tIns="0" rIns="0" bIns="0" rtlCol="0" anchor="ctr"/>
          <a:lstStyle/>
          <a:p>
            <a:pPr marL="0" indent="0">
              <a:buNone/>
            </a:pPr>
            <a:r>
              <a:rPr lang="en-US" sz="1150" b="1" kern="0" spc="250" dirty="0">
                <a:solidFill>
                  <a:srgbClr val="D23B4E"/>
                </a:solidFill>
                <a:latin typeface="Calibri" pitchFamily="34" charset="0"/>
                <a:ea typeface="Calibri" pitchFamily="34" charset="-122"/>
                <a:cs typeface="Calibri" pitchFamily="34" charset="-120"/>
              </a:rPr>
              <a:t>DER ERFOLGREICHE HACK · UNSICHERES CORS</a:t>
            </a:r>
            <a:endParaRPr lang="en-US" sz="1150" dirty="0"/>
          </a:p>
        </p:txBody>
      </p:sp>
      <p:sp>
        <p:nvSpPr>
          <p:cNvPr id="5" name="Text 3"/>
          <p:cNvSpPr/>
          <p:nvPr/>
        </p:nvSpPr>
        <p:spPr>
          <a:xfrm>
            <a:off x="868680" y="1234440"/>
            <a:ext cx="6583680" cy="731520"/>
          </a:xfrm>
          <a:prstGeom prst="rect">
            <a:avLst/>
          </a:prstGeom>
          <a:noFill/>
          <a:ln/>
        </p:spPr>
        <p:txBody>
          <a:bodyPr wrap="square" lIns="0" tIns="0" rIns="0" bIns="0" rtlCol="0" anchor="ctr"/>
          <a:lstStyle/>
          <a:p>
            <a:pPr marL="0" indent="0">
              <a:buNone/>
            </a:pPr>
            <a:r>
              <a:rPr lang="en-US" sz="3600" b="1" dirty="0">
                <a:solidFill>
                  <a:srgbClr val="16181D"/>
                </a:solidFill>
                <a:latin typeface="Trebuchet MS" pitchFamily="34" charset="0"/>
                <a:ea typeface="Trebuchet MS" pitchFamily="34" charset="-122"/>
                <a:cs typeface="Trebuchet MS" pitchFamily="34" charset="-120"/>
              </a:rPr>
              <a:t>Lautloser Download</a:t>
            </a:r>
            <a:endParaRPr lang="en-US" sz="3600" dirty="0"/>
          </a:p>
        </p:txBody>
      </p:sp>
      <p:sp>
        <p:nvSpPr>
          <p:cNvPr id="6" name="Text 4"/>
          <p:cNvSpPr/>
          <p:nvPr/>
        </p:nvSpPr>
        <p:spPr>
          <a:xfrm>
            <a:off x="868680" y="2011680"/>
            <a:ext cx="5122544" cy="822960"/>
          </a:xfrm>
          <a:prstGeom prst="rect">
            <a:avLst/>
          </a:prstGeom>
          <a:noFill/>
          <a:ln/>
        </p:spPr>
        <p:txBody>
          <a:bodyPr wrap="square" lIns="0" tIns="0" rIns="0" bIns="0" rtlCol="0" anchor="ctr"/>
          <a:lstStyle/>
          <a:p>
            <a:pPr marL="0" indent="0">
              <a:buNone/>
            </a:pPr>
            <a:r>
              <a:rPr lang="en-US" sz="1550" dirty="0" err="1">
                <a:solidFill>
                  <a:srgbClr val="55606E"/>
                </a:solidFill>
                <a:latin typeface="Calibri" pitchFamily="34" charset="0"/>
                <a:ea typeface="Calibri" pitchFamily="34" charset="-122"/>
                <a:cs typeface="Calibri" pitchFamily="34" charset="-120"/>
              </a:rPr>
              <a:t>Unsichere</a:t>
            </a:r>
            <a:r>
              <a:rPr lang="en-US" sz="1550" dirty="0">
                <a:solidFill>
                  <a:srgbClr val="55606E"/>
                </a:solidFill>
                <a:latin typeface="Calibri" pitchFamily="34" charset="0"/>
                <a:ea typeface="Calibri" pitchFamily="34" charset="-122"/>
                <a:cs typeface="Calibri" pitchFamily="34" charset="-120"/>
              </a:rPr>
              <a:t> CORS-</a:t>
            </a:r>
            <a:r>
              <a:rPr lang="en-US" sz="1550" dirty="0" err="1">
                <a:solidFill>
                  <a:srgbClr val="55606E"/>
                </a:solidFill>
                <a:latin typeface="Calibri" pitchFamily="34" charset="0"/>
                <a:ea typeface="Calibri" pitchFamily="34" charset="-122"/>
                <a:cs typeface="Calibri" pitchFamily="34" charset="-120"/>
              </a:rPr>
              <a:t>Konfiguration</a:t>
            </a:r>
            <a:r>
              <a:rPr lang="en-US" sz="1550" dirty="0">
                <a:solidFill>
                  <a:srgbClr val="55606E"/>
                </a:solidFill>
                <a:latin typeface="Calibri" pitchFamily="34" charset="0"/>
                <a:ea typeface="Calibri" pitchFamily="34" charset="-122"/>
                <a:cs typeface="Calibri" pitchFamily="34" charset="-120"/>
              </a:rPr>
              <a:t> </a:t>
            </a:r>
            <a:r>
              <a:rPr lang="en-US" sz="1550" dirty="0" err="1">
                <a:solidFill>
                  <a:srgbClr val="55606E"/>
                </a:solidFill>
                <a:latin typeface="Calibri" pitchFamily="34" charset="0"/>
                <a:ea typeface="Calibri" pitchFamily="34" charset="-122"/>
                <a:cs typeface="Calibri" pitchFamily="34" charset="-120"/>
              </a:rPr>
              <a:t>im</a:t>
            </a:r>
            <a:r>
              <a:rPr lang="en-US" sz="1550" dirty="0">
                <a:solidFill>
                  <a:srgbClr val="55606E"/>
                </a:solidFill>
                <a:latin typeface="Calibri" pitchFamily="34" charset="0"/>
                <a:ea typeface="Calibri" pitchFamily="34" charset="-122"/>
                <a:cs typeface="Calibri" pitchFamily="34" charset="-120"/>
              </a:rPr>
              <a:t> Spring-Backend</a:t>
            </a:r>
          </a:p>
          <a:p>
            <a:pPr marL="0" indent="0">
              <a:buNone/>
            </a:pPr>
            <a:endParaRPr lang="en-US" sz="1550" dirty="0"/>
          </a:p>
        </p:txBody>
      </p:sp>
      <p:sp>
        <p:nvSpPr>
          <p:cNvPr id="7" name="Text 5"/>
          <p:cNvSpPr/>
          <p:nvPr/>
        </p:nvSpPr>
        <p:spPr>
          <a:xfrm>
            <a:off x="868680" y="2995088"/>
            <a:ext cx="5486400" cy="274320"/>
          </a:xfrm>
          <a:prstGeom prst="rect">
            <a:avLst/>
          </a:prstGeom>
          <a:noFill/>
          <a:ln/>
        </p:spPr>
        <p:txBody>
          <a:bodyPr wrap="square" lIns="0" tIns="0" rIns="0" bIns="0" rtlCol="0" anchor="ctr"/>
          <a:lstStyle/>
          <a:p>
            <a:pPr marL="0" indent="0">
              <a:buNone/>
            </a:pPr>
            <a:r>
              <a:rPr lang="en-US" sz="1100" b="1" kern="0" spc="250" dirty="0">
                <a:solidFill>
                  <a:srgbClr val="9AA3AF"/>
                </a:solidFill>
                <a:latin typeface="Calibri" pitchFamily="34" charset="0"/>
                <a:ea typeface="Calibri" pitchFamily="34" charset="-122"/>
                <a:cs typeface="Calibri" pitchFamily="34" charset="-120"/>
              </a:rPr>
              <a:t>KONFIGURATION</a:t>
            </a:r>
            <a:endParaRPr lang="en-US" sz="1100" dirty="0"/>
          </a:p>
        </p:txBody>
      </p:sp>
      <p:sp>
        <p:nvSpPr>
          <p:cNvPr id="8" name="Text 6"/>
          <p:cNvSpPr/>
          <p:nvPr/>
        </p:nvSpPr>
        <p:spPr>
          <a:xfrm>
            <a:off x="868680" y="3269408"/>
            <a:ext cx="6126480" cy="365760"/>
          </a:xfrm>
          <a:prstGeom prst="rect">
            <a:avLst/>
          </a:prstGeom>
          <a:noFill/>
          <a:ln/>
        </p:spPr>
        <p:txBody>
          <a:bodyPr wrap="square" lIns="0" tIns="0" rIns="0" bIns="0" rtlCol="0" anchor="ctr"/>
          <a:lstStyle/>
          <a:p>
            <a:pPr marL="0" indent="0">
              <a:buNone/>
            </a:pPr>
            <a:r>
              <a:rPr lang="en-US" sz="1350" b="1" dirty="0">
                <a:solidFill>
                  <a:srgbClr val="16181D"/>
                </a:solidFill>
                <a:latin typeface="Consolas" pitchFamily="34" charset="0"/>
                <a:ea typeface="Consolas" pitchFamily="34" charset="-122"/>
                <a:cs typeface="Consolas" pitchFamily="34" charset="-120"/>
              </a:rPr>
              <a:t>allowedOriginPatterns("*")</a:t>
            </a:r>
            <a:endParaRPr lang="en-US" sz="1350" dirty="0"/>
          </a:p>
        </p:txBody>
      </p:sp>
      <p:sp>
        <p:nvSpPr>
          <p:cNvPr id="9" name="Text 7"/>
          <p:cNvSpPr/>
          <p:nvPr/>
        </p:nvSpPr>
        <p:spPr>
          <a:xfrm>
            <a:off x="868680" y="3653456"/>
            <a:ext cx="6126480" cy="365760"/>
          </a:xfrm>
          <a:prstGeom prst="rect">
            <a:avLst/>
          </a:prstGeom>
          <a:noFill/>
          <a:ln/>
        </p:spPr>
        <p:txBody>
          <a:bodyPr wrap="square" lIns="0" tIns="0" rIns="0" bIns="0" rtlCol="0" anchor="ctr"/>
          <a:lstStyle/>
          <a:p>
            <a:pPr marL="0" indent="0">
              <a:buNone/>
            </a:pPr>
            <a:r>
              <a:rPr lang="en-US" sz="1350" b="1" dirty="0">
                <a:solidFill>
                  <a:srgbClr val="16181D"/>
                </a:solidFill>
                <a:latin typeface="Consolas" pitchFamily="34" charset="0"/>
                <a:ea typeface="Consolas" pitchFamily="34" charset="-122"/>
                <a:cs typeface="Consolas" pitchFamily="34" charset="-120"/>
              </a:rPr>
              <a:t>allowCredentials(true)</a:t>
            </a:r>
            <a:endParaRPr lang="en-US" sz="1350" dirty="0"/>
          </a:p>
        </p:txBody>
      </p:sp>
      <p:sp>
        <p:nvSpPr>
          <p:cNvPr id="10" name="Text 8"/>
          <p:cNvSpPr/>
          <p:nvPr/>
        </p:nvSpPr>
        <p:spPr>
          <a:xfrm>
            <a:off x="868680" y="4298536"/>
            <a:ext cx="5486400" cy="274320"/>
          </a:xfrm>
          <a:prstGeom prst="rect">
            <a:avLst/>
          </a:prstGeom>
          <a:noFill/>
          <a:ln/>
        </p:spPr>
        <p:txBody>
          <a:bodyPr wrap="square" lIns="0" tIns="0" rIns="0" bIns="0" rtlCol="0" anchor="ctr"/>
          <a:lstStyle/>
          <a:p>
            <a:pPr marL="0" indent="0">
              <a:buNone/>
            </a:pPr>
            <a:r>
              <a:rPr lang="en-US" sz="1100" b="1" kern="0" spc="250" dirty="0">
                <a:solidFill>
                  <a:srgbClr val="D23B4E"/>
                </a:solidFill>
                <a:latin typeface="Calibri" pitchFamily="34" charset="0"/>
                <a:ea typeface="Calibri" pitchFamily="34" charset="-122"/>
                <a:cs typeface="Calibri" pitchFamily="34" charset="-120"/>
              </a:rPr>
              <a:t>EFFEKT</a:t>
            </a:r>
            <a:endParaRPr lang="en-US" sz="1100" dirty="0"/>
          </a:p>
        </p:txBody>
      </p:sp>
      <p:sp>
        <p:nvSpPr>
          <p:cNvPr id="11" name="Text 9"/>
          <p:cNvSpPr/>
          <p:nvPr/>
        </p:nvSpPr>
        <p:spPr>
          <a:xfrm>
            <a:off x="868680" y="4572856"/>
            <a:ext cx="4893944" cy="10972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Ein Klick </a:t>
            </a:r>
            <a:r>
              <a:rPr lang="en-US" sz="1400" dirty="0" err="1">
                <a:solidFill>
                  <a:srgbClr val="000000"/>
                </a:solidFill>
                <a:latin typeface="Calibri" pitchFamily="34" charset="0"/>
                <a:ea typeface="Calibri" pitchFamily="34" charset="-122"/>
                <a:cs typeface="Calibri" pitchFamily="34" charset="-120"/>
              </a:rPr>
              <a:t>triggert</a:t>
            </a:r>
            <a:r>
              <a:rPr lang="en-US" sz="1400" dirty="0">
                <a:solidFill>
                  <a:srgbClr val="000000"/>
                </a:solidFill>
                <a:latin typeface="Calibri" pitchFamily="34" charset="0"/>
                <a:ea typeface="Calibri" pitchFamily="34" charset="-122"/>
                <a:cs typeface="Calibri" pitchFamily="34" charset="-120"/>
              </a:rPr>
              <a:t> </a:t>
            </a:r>
            <a:r>
              <a:rPr lang="en-US" sz="1400" dirty="0" err="1">
                <a:solidFill>
                  <a:srgbClr val="000000"/>
                </a:solidFill>
                <a:latin typeface="Calibri" pitchFamily="34" charset="0"/>
                <a:ea typeface="Calibri" pitchFamily="34" charset="-122"/>
                <a:cs typeface="Calibri" pitchFamily="34" charset="-120"/>
              </a:rPr>
              <a:t>einen</a:t>
            </a:r>
            <a:r>
              <a:rPr lang="en-US" sz="1400" dirty="0">
                <a:solidFill>
                  <a:srgbClr val="000000"/>
                </a:solidFill>
                <a:latin typeface="Calibri" pitchFamily="34" charset="0"/>
                <a:ea typeface="Calibri" pitchFamily="34" charset="-122"/>
                <a:cs typeface="Calibri" pitchFamily="34" charset="-120"/>
              </a:rPr>
              <a:t> automatischen, lautlosen Download der echten Excel-Datei Stundenplan_Export.xlsx von der Scheduler-API</a:t>
            </a:r>
            <a:endParaRPr lang="en-US" sz="1400" dirty="0"/>
          </a:p>
        </p:txBody>
      </p:sp>
      <p:sp>
        <p:nvSpPr>
          <p:cNvPr id="14" name="Shape 4">
            <a:extLst>
              <a:ext uri="{FF2B5EF4-FFF2-40B4-BE49-F238E27FC236}">
                <a16:creationId xmlns:a16="http://schemas.microsoft.com/office/drawing/2014/main" id="{F74A304D-4C30-1941-E54D-816F2E12DCFD}"/>
              </a:ext>
            </a:extLst>
          </p:cNvPr>
          <p:cNvSpPr/>
          <p:nvPr/>
        </p:nvSpPr>
        <p:spPr>
          <a:xfrm rot="16200000" flipH="1">
            <a:off x="3169922" y="3429002"/>
            <a:ext cx="5852157" cy="0"/>
          </a:xfrm>
          <a:prstGeom prst="line">
            <a:avLst/>
          </a:prstGeom>
          <a:noFill/>
          <a:ln w="12700">
            <a:solidFill>
              <a:srgbClr val="E4E7EC"/>
            </a:solidFill>
            <a:prstDash val="solid"/>
          </a:ln>
        </p:spPr>
      </p:sp>
      <p:sp>
        <p:nvSpPr>
          <p:cNvPr id="15" name="Text 0">
            <a:extLst>
              <a:ext uri="{FF2B5EF4-FFF2-40B4-BE49-F238E27FC236}">
                <a16:creationId xmlns:a16="http://schemas.microsoft.com/office/drawing/2014/main" id="{0AD32B5F-4A91-871B-56E9-FF2D91F6C299}"/>
              </a:ext>
            </a:extLst>
          </p:cNvPr>
          <p:cNvSpPr/>
          <p:nvPr/>
        </p:nvSpPr>
        <p:spPr>
          <a:xfrm>
            <a:off x="63550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DEMO · ZUSTAND 2</a:t>
            </a:r>
            <a:endParaRPr lang="en-US" sz="1050" dirty="0"/>
          </a:p>
        </p:txBody>
      </p:sp>
      <p:sp>
        <p:nvSpPr>
          <p:cNvPr id="16" name="Text 2">
            <a:extLst>
              <a:ext uri="{FF2B5EF4-FFF2-40B4-BE49-F238E27FC236}">
                <a16:creationId xmlns:a16="http://schemas.microsoft.com/office/drawing/2014/main" id="{07971162-B37B-8A9D-D9B1-4A5EB8C332EF}"/>
              </a:ext>
            </a:extLst>
          </p:cNvPr>
          <p:cNvSpPr/>
          <p:nvPr/>
        </p:nvSpPr>
        <p:spPr>
          <a:xfrm>
            <a:off x="6355080" y="914400"/>
            <a:ext cx="6400800" cy="292608"/>
          </a:xfrm>
          <a:prstGeom prst="rect">
            <a:avLst/>
          </a:prstGeom>
          <a:noFill/>
          <a:ln/>
        </p:spPr>
        <p:txBody>
          <a:bodyPr wrap="square" lIns="0" tIns="0" rIns="0" bIns="0" rtlCol="0" anchor="ctr"/>
          <a:lstStyle/>
          <a:p>
            <a:pPr marL="0" indent="0">
              <a:buNone/>
            </a:pPr>
            <a:r>
              <a:rPr lang="en-US" sz="1150" b="1" kern="0" spc="250" dirty="0">
                <a:solidFill>
                  <a:srgbClr val="1E8F5E"/>
                </a:solidFill>
                <a:latin typeface="Calibri" pitchFamily="34" charset="0"/>
                <a:ea typeface="Calibri" pitchFamily="34" charset="-122"/>
                <a:cs typeface="Calibri" pitchFamily="34" charset="-120"/>
              </a:rPr>
              <a:t>DER SICHERE FIX · DIE ALLOWLIST</a:t>
            </a:r>
            <a:endParaRPr lang="en-US" sz="1150" dirty="0"/>
          </a:p>
        </p:txBody>
      </p:sp>
      <p:sp>
        <p:nvSpPr>
          <p:cNvPr id="17" name="Text 3">
            <a:extLst>
              <a:ext uri="{FF2B5EF4-FFF2-40B4-BE49-F238E27FC236}">
                <a16:creationId xmlns:a16="http://schemas.microsoft.com/office/drawing/2014/main" id="{80968698-DED7-F625-46E5-4E85083A0B26}"/>
              </a:ext>
            </a:extLst>
          </p:cNvPr>
          <p:cNvSpPr/>
          <p:nvPr/>
        </p:nvSpPr>
        <p:spPr>
          <a:xfrm>
            <a:off x="6355080" y="1234440"/>
            <a:ext cx="6583680" cy="731520"/>
          </a:xfrm>
          <a:prstGeom prst="rect">
            <a:avLst/>
          </a:prstGeom>
          <a:noFill/>
          <a:ln/>
        </p:spPr>
        <p:txBody>
          <a:bodyPr wrap="square" lIns="0" tIns="0" rIns="0" bIns="0" rtlCol="0" anchor="ctr"/>
          <a:lstStyle/>
          <a:p>
            <a:pPr marL="0" indent="0">
              <a:buNone/>
            </a:pPr>
            <a:r>
              <a:rPr lang="en-US" sz="3600" b="1" dirty="0">
                <a:solidFill>
                  <a:srgbClr val="16181D"/>
                </a:solidFill>
                <a:latin typeface="Trebuchet MS" pitchFamily="34" charset="0"/>
                <a:ea typeface="Trebuchet MS" pitchFamily="34" charset="-122"/>
                <a:cs typeface="Trebuchet MS" pitchFamily="34" charset="-120"/>
              </a:rPr>
              <a:t>Feste Allowlist</a:t>
            </a:r>
            <a:endParaRPr lang="en-US" sz="3600" dirty="0"/>
          </a:p>
        </p:txBody>
      </p:sp>
      <p:sp>
        <p:nvSpPr>
          <p:cNvPr id="18" name="Text 4">
            <a:extLst>
              <a:ext uri="{FF2B5EF4-FFF2-40B4-BE49-F238E27FC236}">
                <a16:creationId xmlns:a16="http://schemas.microsoft.com/office/drawing/2014/main" id="{31024434-F174-3604-AE84-1156CBF01313}"/>
              </a:ext>
            </a:extLst>
          </p:cNvPr>
          <p:cNvSpPr/>
          <p:nvPr/>
        </p:nvSpPr>
        <p:spPr>
          <a:xfrm>
            <a:off x="6355080" y="2011680"/>
            <a:ext cx="5486400" cy="822960"/>
          </a:xfrm>
          <a:prstGeom prst="rect">
            <a:avLst/>
          </a:prstGeom>
          <a:noFill/>
          <a:ln/>
        </p:spPr>
        <p:txBody>
          <a:bodyPr wrap="square" lIns="0" tIns="0" rIns="0" bIns="0" rtlCol="0" anchor="ctr"/>
          <a:lstStyle/>
          <a:p>
            <a:r>
              <a:rPr lang="en-US" sz="1550" dirty="0" err="1">
                <a:solidFill>
                  <a:srgbClr val="55606E"/>
                </a:solidFill>
                <a:latin typeface="Calibri" pitchFamily="34" charset="0"/>
                <a:ea typeface="Calibri" pitchFamily="34" charset="-122"/>
                <a:cs typeface="Calibri" pitchFamily="34" charset="-120"/>
              </a:rPr>
              <a:t>Sichere</a:t>
            </a:r>
            <a:r>
              <a:rPr lang="en-US" sz="1550" dirty="0">
                <a:solidFill>
                  <a:srgbClr val="55606E"/>
                </a:solidFill>
                <a:latin typeface="Calibri" pitchFamily="34" charset="0"/>
                <a:ea typeface="Calibri" pitchFamily="34" charset="-122"/>
                <a:cs typeface="Calibri" pitchFamily="34" charset="-120"/>
              </a:rPr>
              <a:t> CORS-</a:t>
            </a:r>
            <a:r>
              <a:rPr lang="en-US" sz="1550" dirty="0" err="1">
                <a:solidFill>
                  <a:srgbClr val="55606E"/>
                </a:solidFill>
                <a:latin typeface="Calibri" pitchFamily="34" charset="0"/>
                <a:ea typeface="Calibri" pitchFamily="34" charset="-122"/>
                <a:cs typeface="Calibri" pitchFamily="34" charset="-120"/>
              </a:rPr>
              <a:t>Konfiguration</a:t>
            </a:r>
            <a:r>
              <a:rPr lang="en-US" sz="1550" dirty="0">
                <a:solidFill>
                  <a:srgbClr val="55606E"/>
                </a:solidFill>
                <a:latin typeface="Calibri" pitchFamily="34" charset="0"/>
                <a:ea typeface="Calibri" pitchFamily="34" charset="-122"/>
                <a:cs typeface="Calibri" pitchFamily="34" charset="-120"/>
              </a:rPr>
              <a:t> </a:t>
            </a:r>
            <a:r>
              <a:rPr lang="en-US" sz="1550" dirty="0" err="1">
                <a:solidFill>
                  <a:srgbClr val="55606E"/>
                </a:solidFill>
                <a:latin typeface="Calibri" pitchFamily="34" charset="0"/>
                <a:ea typeface="Calibri" pitchFamily="34" charset="-122"/>
                <a:cs typeface="Calibri" pitchFamily="34" charset="-120"/>
              </a:rPr>
              <a:t>durch</a:t>
            </a:r>
            <a:r>
              <a:rPr lang="en-US" sz="1550" dirty="0">
                <a:solidFill>
                  <a:srgbClr val="55606E"/>
                </a:solidFill>
                <a:latin typeface="Calibri" pitchFamily="34" charset="0"/>
                <a:ea typeface="Calibri" pitchFamily="34" charset="-122"/>
                <a:cs typeface="Calibri" pitchFamily="34" charset="-120"/>
              </a:rPr>
              <a:t> feste, </a:t>
            </a:r>
            <a:r>
              <a:rPr lang="en-US" sz="1550" dirty="0" err="1">
                <a:solidFill>
                  <a:srgbClr val="55606E"/>
                </a:solidFill>
                <a:latin typeface="Calibri" pitchFamily="34" charset="0"/>
                <a:ea typeface="Calibri" pitchFamily="34" charset="-122"/>
                <a:cs typeface="Calibri" pitchFamily="34" charset="-120"/>
              </a:rPr>
              <a:t>restriktive</a:t>
            </a:r>
            <a:r>
              <a:rPr lang="en-US" sz="1550" dirty="0">
                <a:solidFill>
                  <a:srgbClr val="55606E"/>
                </a:solidFill>
                <a:latin typeface="Calibri" pitchFamily="34" charset="0"/>
                <a:ea typeface="Calibri" pitchFamily="34" charset="-122"/>
                <a:cs typeface="Calibri" pitchFamily="34" charset="-120"/>
              </a:rPr>
              <a:t> Allowlist</a:t>
            </a:r>
          </a:p>
        </p:txBody>
      </p:sp>
      <p:sp>
        <p:nvSpPr>
          <p:cNvPr id="19" name="Text 5">
            <a:extLst>
              <a:ext uri="{FF2B5EF4-FFF2-40B4-BE49-F238E27FC236}">
                <a16:creationId xmlns:a16="http://schemas.microsoft.com/office/drawing/2014/main" id="{2B154276-CA3F-BA90-796B-19D34E1D4906}"/>
              </a:ext>
            </a:extLst>
          </p:cNvPr>
          <p:cNvSpPr/>
          <p:nvPr/>
        </p:nvSpPr>
        <p:spPr>
          <a:xfrm>
            <a:off x="6355080" y="4298536"/>
            <a:ext cx="5486400" cy="274320"/>
          </a:xfrm>
          <a:prstGeom prst="rect">
            <a:avLst/>
          </a:prstGeom>
          <a:noFill/>
          <a:ln/>
        </p:spPr>
        <p:txBody>
          <a:bodyPr wrap="square" lIns="0" tIns="0" rIns="0" bIns="0" rtlCol="0" anchor="ctr"/>
          <a:lstStyle/>
          <a:p>
            <a:pPr marL="0" indent="0">
              <a:buNone/>
            </a:pPr>
            <a:r>
              <a:rPr lang="en-US" sz="1100" b="1" kern="0" spc="250" dirty="0">
                <a:solidFill>
                  <a:srgbClr val="1E8F5E"/>
                </a:solidFill>
                <a:latin typeface="Calibri" pitchFamily="34" charset="0"/>
                <a:ea typeface="Calibri" pitchFamily="34" charset="-122"/>
                <a:cs typeface="Calibri" pitchFamily="34" charset="-120"/>
              </a:rPr>
              <a:t>EFFEKT</a:t>
            </a:r>
            <a:endParaRPr lang="en-US" sz="1100" dirty="0"/>
          </a:p>
        </p:txBody>
      </p:sp>
      <p:sp>
        <p:nvSpPr>
          <p:cNvPr id="20" name="Text 6">
            <a:extLst>
              <a:ext uri="{FF2B5EF4-FFF2-40B4-BE49-F238E27FC236}">
                <a16:creationId xmlns:a16="http://schemas.microsoft.com/office/drawing/2014/main" id="{E4A428AB-491B-8447-BABC-BDBB61382490}"/>
              </a:ext>
            </a:extLst>
          </p:cNvPr>
          <p:cNvSpPr/>
          <p:nvPr/>
        </p:nvSpPr>
        <p:spPr>
          <a:xfrm>
            <a:off x="6355080" y="4572856"/>
            <a:ext cx="5486398" cy="10972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Das </a:t>
            </a:r>
            <a:r>
              <a:rPr lang="en-US" sz="1400" dirty="0" err="1">
                <a:solidFill>
                  <a:srgbClr val="000000"/>
                </a:solidFill>
                <a:latin typeface="Calibri" pitchFamily="34" charset="0"/>
                <a:ea typeface="Calibri" pitchFamily="34" charset="-122"/>
                <a:cs typeface="Calibri" pitchFamily="34" charset="-120"/>
              </a:rPr>
              <a:t>reguläre</a:t>
            </a:r>
            <a:r>
              <a:rPr lang="en-US" sz="1400" dirty="0">
                <a:solidFill>
                  <a:srgbClr val="000000"/>
                </a:solidFill>
                <a:latin typeface="Calibri" pitchFamily="34" charset="0"/>
                <a:ea typeface="Calibri" pitchFamily="34" charset="-122"/>
                <a:cs typeface="Calibri" pitchFamily="34" charset="-120"/>
              </a:rPr>
              <a:t> Frontend auf Port 8078 darf </a:t>
            </a:r>
            <a:r>
              <a:rPr lang="en-US" sz="1400" dirty="0" err="1">
                <a:solidFill>
                  <a:srgbClr val="000000"/>
                </a:solidFill>
                <a:latin typeface="Calibri" pitchFamily="34" charset="0"/>
                <a:ea typeface="Calibri" pitchFamily="34" charset="-122"/>
                <a:cs typeface="Calibri" pitchFamily="34" charset="-120"/>
              </a:rPr>
              <a:t>arbeiten</a:t>
            </a:r>
            <a:r>
              <a:rPr lang="en-US" sz="1400" dirty="0">
                <a:solidFill>
                  <a:srgbClr val="000000"/>
                </a:solidFill>
                <a:latin typeface="Calibri" pitchFamily="34" charset="0"/>
                <a:ea typeface="Calibri" pitchFamily="34" charset="-122"/>
                <a:cs typeface="Calibri" pitchFamily="34" charset="-120"/>
              </a:rPr>
              <a:t>.</a:t>
            </a:r>
          </a:p>
          <a:p>
            <a:r>
              <a:rPr lang="en-US" sz="1400" dirty="0">
                <a:solidFill>
                  <a:srgbClr val="000000"/>
                </a:solidFill>
                <a:latin typeface="Calibri" pitchFamily="34" charset="0"/>
                <a:ea typeface="Calibri" pitchFamily="34" charset="-122"/>
                <a:cs typeface="Calibri" pitchFamily="34" charset="-120"/>
              </a:rPr>
              <a:t>Die </a:t>
            </a:r>
            <a:r>
              <a:rPr lang="en-US" sz="1400" dirty="0" err="1">
                <a:solidFill>
                  <a:srgbClr val="000000"/>
                </a:solidFill>
                <a:latin typeface="Calibri" pitchFamily="34" charset="0"/>
                <a:ea typeface="Calibri" pitchFamily="34" charset="-122"/>
                <a:cs typeface="Calibri" pitchFamily="34" charset="-120"/>
              </a:rPr>
              <a:t>Angreifer</a:t>
            </a:r>
            <a:r>
              <a:rPr lang="en-US" sz="1400" dirty="0">
                <a:solidFill>
                  <a:srgbClr val="000000"/>
                </a:solidFill>
                <a:latin typeface="Calibri" pitchFamily="34" charset="0"/>
                <a:ea typeface="Calibri" pitchFamily="34" charset="-122"/>
                <a:cs typeface="Calibri" pitchFamily="34" charset="-120"/>
              </a:rPr>
              <a:t>-Origin - </a:t>
            </a:r>
            <a:r>
              <a:rPr lang="en-US" sz="1400" dirty="0" err="1">
                <a:solidFill>
                  <a:srgbClr val="000000"/>
                </a:solidFill>
                <a:latin typeface="Calibri" pitchFamily="34" charset="0"/>
                <a:ea typeface="Calibri" pitchFamily="34" charset="-122"/>
                <a:cs typeface="Calibri" pitchFamily="34" charset="-120"/>
              </a:rPr>
              <a:t>oder</a:t>
            </a:r>
            <a:r>
              <a:rPr lang="en-US" sz="1400" dirty="0">
                <a:solidFill>
                  <a:srgbClr val="000000"/>
                </a:solidFill>
                <a:latin typeface="Calibri" pitchFamily="34" charset="0"/>
                <a:ea typeface="Calibri" pitchFamily="34" charset="-122"/>
                <a:cs typeface="Calibri" pitchFamily="34" charset="-120"/>
              </a:rPr>
              <a:t> </a:t>
            </a:r>
            <a:r>
              <a:rPr lang="en-US" sz="1400" dirty="0" err="1">
                <a:solidFill>
                  <a:srgbClr val="000000"/>
                </a:solidFill>
                <a:latin typeface="Calibri" pitchFamily="34" charset="0"/>
                <a:ea typeface="Calibri" pitchFamily="34" charset="-122"/>
                <a:cs typeface="Calibri" pitchFamily="34" charset="-120"/>
              </a:rPr>
              <a:t>ein</a:t>
            </a:r>
            <a:r>
              <a:rPr lang="en-US" sz="1400" dirty="0">
                <a:solidFill>
                  <a:srgbClr val="000000"/>
                </a:solidFill>
                <a:latin typeface="Calibri" pitchFamily="34" charset="0"/>
                <a:ea typeface="Calibri" pitchFamily="34" charset="-122"/>
                <a:cs typeface="Calibri" pitchFamily="34" charset="-120"/>
              </a:rPr>
              <a:t> </a:t>
            </a:r>
            <a:r>
              <a:rPr lang="en-US" sz="1400" dirty="0" err="1">
                <a:solidFill>
                  <a:srgbClr val="000000"/>
                </a:solidFill>
                <a:latin typeface="Calibri" pitchFamily="34" charset="0"/>
                <a:ea typeface="Calibri" pitchFamily="34" charset="-122"/>
                <a:cs typeface="Calibri" pitchFamily="34" charset="-120"/>
              </a:rPr>
              <a:t>unbefugter</a:t>
            </a:r>
            <a:r>
              <a:rPr lang="en-US" sz="1400" dirty="0">
                <a:solidFill>
                  <a:srgbClr val="000000"/>
                </a:solidFill>
                <a:latin typeface="Calibri" pitchFamily="34" charset="0"/>
                <a:ea typeface="Calibri" pitchFamily="34" charset="-122"/>
                <a:cs typeface="Calibri" pitchFamily="34" charset="-120"/>
              </a:rPr>
              <a:t> Port - </a:t>
            </a:r>
            <a:r>
              <a:rPr lang="en-US" sz="1400" dirty="0" err="1">
                <a:solidFill>
                  <a:srgbClr val="000000"/>
                </a:solidFill>
                <a:latin typeface="Calibri" pitchFamily="34" charset="0"/>
                <a:ea typeface="Calibri" pitchFamily="34" charset="-122"/>
                <a:cs typeface="Calibri" pitchFamily="34" charset="-120"/>
              </a:rPr>
              <a:t>wird</a:t>
            </a:r>
            <a:r>
              <a:rPr lang="en-US" sz="1400" dirty="0">
                <a:solidFill>
                  <a:srgbClr val="000000"/>
                </a:solidFill>
                <a:latin typeface="Calibri" pitchFamily="34" charset="0"/>
                <a:ea typeface="Calibri" pitchFamily="34" charset="-122"/>
                <a:cs typeface="Calibri" pitchFamily="34" charset="-120"/>
              </a:rPr>
              <a:t> </a:t>
            </a:r>
            <a:r>
              <a:rPr lang="en-US" sz="1400" dirty="0" err="1">
                <a:solidFill>
                  <a:srgbClr val="000000"/>
                </a:solidFill>
                <a:latin typeface="Calibri" pitchFamily="34" charset="0"/>
                <a:ea typeface="Calibri" pitchFamily="34" charset="-122"/>
                <a:cs typeface="Calibri" pitchFamily="34" charset="-120"/>
              </a:rPr>
              <a:t>blockiert</a:t>
            </a: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3" name="Text 5">
            <a:extLst>
              <a:ext uri="{FF2B5EF4-FFF2-40B4-BE49-F238E27FC236}">
                <a16:creationId xmlns:a16="http://schemas.microsoft.com/office/drawing/2014/main" id="{5F800674-4C8E-75DF-CFFF-6DF82993985D}"/>
              </a:ext>
            </a:extLst>
          </p:cNvPr>
          <p:cNvSpPr/>
          <p:nvPr/>
        </p:nvSpPr>
        <p:spPr>
          <a:xfrm>
            <a:off x="6355080" y="2995088"/>
            <a:ext cx="5486400" cy="274320"/>
          </a:xfrm>
          <a:prstGeom prst="rect">
            <a:avLst/>
          </a:prstGeom>
          <a:noFill/>
          <a:ln/>
        </p:spPr>
        <p:txBody>
          <a:bodyPr wrap="square" lIns="0" tIns="0" rIns="0" bIns="0" rtlCol="0" anchor="ctr"/>
          <a:lstStyle/>
          <a:p>
            <a:pPr marL="0" indent="0">
              <a:buNone/>
            </a:pPr>
            <a:r>
              <a:rPr lang="en-US" sz="1100" b="1" kern="0" spc="250" dirty="0">
                <a:solidFill>
                  <a:srgbClr val="9AA3AF"/>
                </a:solidFill>
                <a:latin typeface="Calibri" pitchFamily="34" charset="0"/>
                <a:ea typeface="Calibri" pitchFamily="34" charset="-122"/>
                <a:cs typeface="Calibri" pitchFamily="34" charset="-120"/>
              </a:rPr>
              <a:t>KONFIGURATION</a:t>
            </a:r>
            <a:endParaRPr lang="en-US" sz="1100" dirty="0"/>
          </a:p>
        </p:txBody>
      </p:sp>
      <p:sp>
        <p:nvSpPr>
          <p:cNvPr id="24" name="Text 6">
            <a:extLst>
              <a:ext uri="{FF2B5EF4-FFF2-40B4-BE49-F238E27FC236}">
                <a16:creationId xmlns:a16="http://schemas.microsoft.com/office/drawing/2014/main" id="{F6FC7321-DEED-5FB3-4F5E-1D428DD48DB9}"/>
              </a:ext>
            </a:extLst>
          </p:cNvPr>
          <p:cNvSpPr/>
          <p:nvPr/>
        </p:nvSpPr>
        <p:spPr>
          <a:xfrm>
            <a:off x="6355080" y="3269408"/>
            <a:ext cx="6126480" cy="365760"/>
          </a:xfrm>
          <a:prstGeom prst="rect">
            <a:avLst/>
          </a:prstGeom>
          <a:noFill/>
          <a:ln/>
        </p:spPr>
        <p:txBody>
          <a:bodyPr wrap="square" lIns="0" tIns="0" rIns="0" bIns="0" rtlCol="0" anchor="ctr"/>
          <a:lstStyle/>
          <a:p>
            <a:pPr marL="0" indent="0">
              <a:buNone/>
            </a:pPr>
            <a:r>
              <a:rPr lang="en-US" sz="1350" b="1" dirty="0" err="1">
                <a:solidFill>
                  <a:srgbClr val="16181D"/>
                </a:solidFill>
                <a:latin typeface="Consolas" pitchFamily="34" charset="0"/>
                <a:ea typeface="Consolas" pitchFamily="34" charset="-122"/>
                <a:cs typeface="Consolas" pitchFamily="34" charset="-120"/>
              </a:rPr>
              <a:t>allowedOriginPatterns</a:t>
            </a:r>
            <a:r>
              <a:rPr lang="en-US" sz="1350" b="1" dirty="0">
                <a:solidFill>
                  <a:srgbClr val="16181D"/>
                </a:solidFill>
                <a:latin typeface="Consolas" pitchFamily="34" charset="0"/>
                <a:ea typeface="Consolas" pitchFamily="34" charset="-122"/>
                <a:cs typeface="Consolas" pitchFamily="34" charset="-120"/>
              </a:rPr>
              <a:t>(</a:t>
            </a:r>
            <a:r>
              <a:rPr lang="en-US" sz="1350" b="1" dirty="0" err="1">
                <a:solidFill>
                  <a:srgbClr val="16181D"/>
                </a:solidFill>
                <a:latin typeface="Consolas" pitchFamily="34" charset="0"/>
                <a:ea typeface="Consolas" pitchFamily="34" charset="-122"/>
                <a:cs typeface="Consolas" pitchFamily="34" charset="-120"/>
              </a:rPr>
              <a:t>List.of</a:t>
            </a:r>
            <a:r>
              <a:rPr lang="en-US" sz="1350" b="1" dirty="0">
                <a:solidFill>
                  <a:srgbClr val="16181D"/>
                </a:solidFill>
                <a:latin typeface="Consolas" pitchFamily="34" charset="0"/>
                <a:ea typeface="Consolas" pitchFamily="34" charset="-122"/>
                <a:cs typeface="Consolas" pitchFamily="34" charset="-120"/>
              </a:rPr>
              <a:t>("http://localhost:8078"))</a:t>
            </a:r>
            <a:endParaRPr lang="en-US" sz="1350" dirty="0"/>
          </a:p>
        </p:txBody>
      </p:sp>
      <p:sp>
        <p:nvSpPr>
          <p:cNvPr id="25" name="Text 7">
            <a:extLst>
              <a:ext uri="{FF2B5EF4-FFF2-40B4-BE49-F238E27FC236}">
                <a16:creationId xmlns:a16="http://schemas.microsoft.com/office/drawing/2014/main" id="{99790533-209D-69DC-D303-9149D137A1B2}"/>
              </a:ext>
            </a:extLst>
          </p:cNvPr>
          <p:cNvSpPr/>
          <p:nvPr/>
        </p:nvSpPr>
        <p:spPr>
          <a:xfrm>
            <a:off x="6355080" y="3653456"/>
            <a:ext cx="6126480" cy="365760"/>
          </a:xfrm>
          <a:prstGeom prst="rect">
            <a:avLst/>
          </a:prstGeom>
          <a:noFill/>
          <a:ln/>
        </p:spPr>
        <p:txBody>
          <a:bodyPr wrap="square" lIns="0" tIns="0" rIns="0" bIns="0" rtlCol="0" anchor="ctr"/>
          <a:lstStyle/>
          <a:p>
            <a:pPr marL="0" indent="0">
              <a:buNone/>
            </a:pPr>
            <a:r>
              <a:rPr lang="en-US" sz="1350" b="1" dirty="0" err="1">
                <a:solidFill>
                  <a:srgbClr val="16181D"/>
                </a:solidFill>
                <a:latin typeface="Consolas" pitchFamily="34" charset="0"/>
                <a:ea typeface="Consolas" pitchFamily="34" charset="-122"/>
                <a:cs typeface="Consolas" pitchFamily="34" charset="-120"/>
              </a:rPr>
              <a:t>allowCredentials</a:t>
            </a:r>
            <a:r>
              <a:rPr lang="en-US" sz="1350" b="1" dirty="0">
                <a:solidFill>
                  <a:srgbClr val="16181D"/>
                </a:solidFill>
                <a:latin typeface="Consolas" pitchFamily="34" charset="0"/>
                <a:ea typeface="Consolas" pitchFamily="34" charset="-122"/>
                <a:cs typeface="Consolas" pitchFamily="34" charset="-120"/>
              </a:rPr>
              <a:t>(false)</a:t>
            </a:r>
            <a:endParaRPr lang="en-US" sz="1350" dirty="0"/>
          </a:p>
        </p:txBody>
      </p:sp>
      <p:sp>
        <p:nvSpPr>
          <p:cNvPr id="12" name="Text 1">
            <a:extLst>
              <a:ext uri="{FF2B5EF4-FFF2-40B4-BE49-F238E27FC236}">
                <a16:creationId xmlns:a16="http://schemas.microsoft.com/office/drawing/2014/main" id="{BD236A1F-AEF5-3B98-3186-848018F9A358}"/>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20</a:t>
            </a:fld>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3" grpId="0" animBg="1"/>
      <p:bldP spid="24" grpId="0" animBg="1"/>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B95CA36-7AD5-4CED-959F-F065EF9A96F2}"/>
              </a:ext>
            </a:extLst>
          </p:cNvPr>
          <p:cNvSpPr>
            <a:spLocks noGrp="1"/>
          </p:cNvSpPr>
          <p:nvPr/>
        </p:nvSpPr>
        <p:spPr>
          <a:xfrm>
            <a:off x="868680" y="1874520"/>
            <a:ext cx="7315200" cy="320040"/>
          </a:xfrm>
          <a:prstGeom prst="rect">
            <a:avLst/>
          </a:prstGeom>
          <a:noFill/>
        </p:spPr>
        <p:txBody>
          <a:bodyPr wrap="square" lIns="0" tIns="0" rIns="0" bIns="0" anchor="ctr"/>
          <a:lstStyle/>
          <a:p>
            <a:pPr marL="0" indent="0">
              <a:buNone/>
            </a:pPr>
            <a:r>
              <a:rPr sz="1200" b="1" dirty="0">
                <a:solidFill>
                  <a:srgbClr val="1463FF"/>
                </a:solidFill>
                <a:latin typeface="Calibri"/>
                <a:ea typeface="Calibri"/>
                <a:cs typeface="Calibri"/>
              </a:rPr>
              <a:t>LIVE DEMO · </a:t>
            </a:r>
            <a:r>
              <a:rPr lang="de-DE" sz="1200" b="1" dirty="0">
                <a:solidFill>
                  <a:srgbClr val="1463FF"/>
                </a:solidFill>
                <a:latin typeface="Calibri"/>
                <a:ea typeface="Calibri"/>
                <a:cs typeface="Calibri"/>
              </a:rPr>
              <a:t>CORS</a:t>
            </a:r>
            <a:endParaRPr sz="1200" b="1" dirty="0">
              <a:solidFill>
                <a:srgbClr val="1463FF"/>
              </a:solidFill>
              <a:latin typeface="Calibri"/>
              <a:ea typeface="Calibri"/>
              <a:cs typeface="Calibri"/>
            </a:endParaRPr>
          </a:p>
        </p:txBody>
      </p:sp>
      <p:sp>
        <p:nvSpPr>
          <p:cNvPr id="3" name="Text 1">
            <a:extLst>
              <a:ext uri="{FF2B5EF4-FFF2-40B4-BE49-F238E27FC236}">
                <a16:creationId xmlns:a16="http://schemas.microsoft.com/office/drawing/2014/main" id="{FD8DA67A-FD81-4D52-AB3E-0B0E93F9DAB5}"/>
              </a:ext>
            </a:extLst>
          </p:cNvPr>
          <p:cNvSpPr>
            <a:spLocks noGrp="1"/>
          </p:cNvSpPr>
          <p:nvPr/>
        </p:nvSpPr>
        <p:spPr>
          <a:xfrm>
            <a:off x="822960" y="2194560"/>
            <a:ext cx="10058400" cy="1463040"/>
          </a:xfrm>
          <a:prstGeom prst="rect">
            <a:avLst/>
          </a:prstGeom>
          <a:noFill/>
        </p:spPr>
        <p:txBody>
          <a:bodyPr wrap="square" lIns="0" tIns="0" rIns="0" bIns="0" anchor="ctr"/>
          <a:lstStyle/>
          <a:p>
            <a:pPr marL="0" indent="0">
              <a:buNone/>
            </a:pPr>
            <a:r>
              <a:rPr sz="11000" b="1" dirty="0">
                <a:solidFill>
                  <a:srgbClr val="16181D"/>
                </a:solidFill>
                <a:latin typeface="Trebuchet MS"/>
                <a:ea typeface="Trebuchet MS"/>
                <a:cs typeface="Trebuchet MS"/>
              </a:rPr>
              <a:t>Zur Live Demo</a:t>
            </a:r>
          </a:p>
        </p:txBody>
      </p:sp>
      <p:sp>
        <p:nvSpPr>
          <p:cNvPr id="4" name="Text 2">
            <a:extLst>
              <a:ext uri="{FF2B5EF4-FFF2-40B4-BE49-F238E27FC236}">
                <a16:creationId xmlns:a16="http://schemas.microsoft.com/office/drawing/2014/main" id="{17D4FDB8-F8F0-4D96-95F0-9B90E32AF337}"/>
              </a:ext>
            </a:extLst>
          </p:cNvPr>
          <p:cNvSpPr>
            <a:spLocks noGrp="1"/>
          </p:cNvSpPr>
          <p:nvPr/>
        </p:nvSpPr>
        <p:spPr>
          <a:xfrm>
            <a:off x="868680" y="3703320"/>
            <a:ext cx="10058400" cy="502920"/>
          </a:xfrm>
          <a:prstGeom prst="rect">
            <a:avLst/>
          </a:prstGeom>
          <a:noFill/>
        </p:spPr>
        <p:txBody>
          <a:bodyPr wrap="square" lIns="0" tIns="0" rIns="0" bIns="0" anchor="ctr"/>
          <a:lstStyle/>
          <a:p>
            <a:pPr marL="0" indent="0">
              <a:buNone/>
            </a:pPr>
            <a:endParaRPr/>
          </a:p>
        </p:txBody>
      </p:sp>
      <p:sp>
        <p:nvSpPr>
          <p:cNvPr id="5" name="Shape 3">
            <a:extLst>
              <a:ext uri="{FF2B5EF4-FFF2-40B4-BE49-F238E27FC236}">
                <a16:creationId xmlns:a16="http://schemas.microsoft.com/office/drawing/2014/main" id="{42345276-9CC1-4302-B204-8758E42AE5A8}"/>
              </a:ext>
            </a:extLst>
          </p:cNvPr>
          <p:cNvSpPr>
            <a:spLocks noGrp="1"/>
          </p:cNvSpPr>
          <p:nvPr/>
        </p:nvSpPr>
        <p:spPr>
          <a:xfrm>
            <a:off x="868680" y="4526280"/>
            <a:ext cx="1828800" cy="0"/>
          </a:xfrm>
          <a:prstGeom prst="line">
            <a:avLst/>
          </a:prstGeom>
          <a:noFill/>
          <a:ln w="28575">
            <a:solidFill>
              <a:srgbClr val="16181D"/>
            </a:solidFill>
            <a:prstDash val="solid"/>
          </a:ln>
        </p:spPr>
      </p:sp>
      <p:sp>
        <p:nvSpPr>
          <p:cNvPr id="6" name="Text 4">
            <a:extLst>
              <a:ext uri="{FF2B5EF4-FFF2-40B4-BE49-F238E27FC236}">
                <a16:creationId xmlns:a16="http://schemas.microsoft.com/office/drawing/2014/main" id="{468481FB-4609-481A-89AB-8748CC339F06}"/>
              </a:ext>
            </a:extLst>
          </p:cNvPr>
          <p:cNvSpPr>
            <a:spLocks noGrp="1"/>
          </p:cNvSpPr>
          <p:nvPr/>
        </p:nvSpPr>
        <p:spPr>
          <a:xfrm>
            <a:off x="868680" y="4754880"/>
            <a:ext cx="8686800" cy="457200"/>
          </a:xfrm>
          <a:prstGeom prst="rect">
            <a:avLst/>
          </a:prstGeom>
          <a:noFill/>
        </p:spPr>
        <p:txBody>
          <a:bodyPr wrap="square" lIns="0" tIns="0" rIns="0" bIns="0" anchor="ctr"/>
          <a:lstStyle/>
          <a:p>
            <a:pPr marL="0" indent="0">
              <a:buNone/>
            </a:pPr>
            <a:r>
              <a:rPr lang="de-DE" sz="1600" dirty="0">
                <a:solidFill>
                  <a:srgbClr val="55606E"/>
                </a:solidFill>
                <a:latin typeface="Calibri"/>
                <a:ea typeface="Calibri"/>
                <a:cs typeface="Calibri"/>
              </a:rPr>
              <a:t>Cross Origin Anfragen werden erst durch eine Unsichere Konfiguration durchgelassen und dann blockiert.</a:t>
            </a:r>
            <a:endParaRPr sz="1600" dirty="0">
              <a:solidFill>
                <a:srgbClr val="55606E"/>
              </a:solidFill>
              <a:latin typeface="Calibri"/>
              <a:ea typeface="Calibri"/>
              <a:cs typeface="Calibri"/>
            </a:endParaRPr>
          </a:p>
        </p:txBody>
      </p:sp>
      <p:sp>
        <p:nvSpPr>
          <p:cNvPr id="7" name="Text 5">
            <a:extLst>
              <a:ext uri="{FF2B5EF4-FFF2-40B4-BE49-F238E27FC236}">
                <a16:creationId xmlns:a16="http://schemas.microsoft.com/office/drawing/2014/main" id="{94A987EA-ED23-44AA-ABC1-DB16DB020FDD}"/>
              </a:ext>
            </a:extLst>
          </p:cNvPr>
          <p:cNvSpPr>
            <a:spLocks noGrp="1"/>
          </p:cNvSpPr>
          <p:nvPr/>
        </p:nvSpPr>
        <p:spPr>
          <a:xfrm>
            <a:off x="9448495" y="6080760"/>
            <a:ext cx="1874520" cy="320040"/>
          </a:xfrm>
          <a:prstGeom prst="rect">
            <a:avLst/>
          </a:prstGeom>
          <a:noFill/>
        </p:spPr>
        <p:txBody>
          <a:bodyPr wrap="square" lIns="0" tIns="0" rIns="0" bIns="0" anchor="ctr"/>
          <a:lstStyle/>
          <a:p>
            <a:pPr marL="0" indent="0" algn="r">
              <a:buNone/>
            </a:pPr>
            <a:r>
              <a:rPr lang="de-DE" sz="1200" i="1" dirty="0">
                <a:solidFill>
                  <a:srgbClr val="9AA3AF"/>
                </a:solidFill>
                <a:latin typeface="Calibri"/>
                <a:ea typeface="Calibri"/>
                <a:cs typeface="Calibri"/>
              </a:rPr>
              <a:t>Ole &amp; Tom</a:t>
            </a:r>
            <a:endParaRPr sz="1200" i="1" dirty="0">
              <a:solidFill>
                <a:srgbClr val="9AA3AF"/>
              </a:solidFill>
              <a:latin typeface="Calibri"/>
              <a:ea typeface="Calibri"/>
              <a:cs typeface="Calibri"/>
            </a:endParaRPr>
          </a:p>
        </p:txBody>
      </p:sp>
    </p:spTree>
    <p:extLst>
      <p:ext uri="{BB962C8B-B14F-4D97-AF65-F5344CB8AC3E}">
        <p14:creationId xmlns:p14="http://schemas.microsoft.com/office/powerpoint/2010/main" val="2481334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KRITISCHES RISIKO · ARCHITEKTUR</a:t>
            </a:r>
            <a:endParaRPr lang="en-US" sz="1050" dirty="0"/>
          </a:p>
        </p:txBody>
      </p:sp>
      <p:sp>
        <p:nvSpPr>
          <p:cNvPr id="4" name="Text 2"/>
          <p:cNvSpPr/>
          <p:nvPr/>
        </p:nvSpPr>
        <p:spPr>
          <a:xfrm>
            <a:off x="868680" y="1051560"/>
            <a:ext cx="10424160" cy="777240"/>
          </a:xfrm>
          <a:prstGeom prst="rect">
            <a:avLst/>
          </a:prstGeom>
          <a:noFill/>
          <a:ln/>
        </p:spPr>
        <p:txBody>
          <a:bodyPr wrap="square" lIns="0" tIns="0" rIns="0" bIns="0" rtlCol="0" anchor="ctr"/>
          <a:lstStyle/>
          <a:p>
            <a:pPr marL="0" indent="0">
              <a:buNone/>
            </a:pPr>
            <a:r>
              <a:rPr lang="en-US" sz="3800" b="1" dirty="0">
                <a:solidFill>
                  <a:srgbClr val="16181D"/>
                </a:solidFill>
                <a:latin typeface="Trebuchet MS" pitchFamily="34" charset="0"/>
                <a:ea typeface="Trebuchet MS" pitchFamily="34" charset="-122"/>
                <a:cs typeface="Trebuchet MS" pitchFamily="34" charset="-120"/>
              </a:rPr>
              <a:t>Das eigentliche Risiko</a:t>
            </a:r>
            <a:endParaRPr lang="en-US" sz="3800" dirty="0"/>
          </a:p>
        </p:txBody>
      </p:sp>
      <p:sp>
        <p:nvSpPr>
          <p:cNvPr id="5" name="Text 3"/>
          <p:cNvSpPr/>
          <p:nvPr/>
        </p:nvSpPr>
        <p:spPr>
          <a:xfrm>
            <a:off x="868680" y="1874520"/>
            <a:ext cx="10241280" cy="64008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Die Excel-Demo ist nur der sichtbare Teil. Kritisch wird es durch </a:t>
            </a:r>
            <a:r>
              <a:rPr lang="en-US" sz="1700" dirty="0" err="1">
                <a:solidFill>
                  <a:srgbClr val="55606E"/>
                </a:solidFill>
                <a:latin typeface="Calibri" pitchFamily="34" charset="0"/>
                <a:ea typeface="Calibri" pitchFamily="34" charset="-122"/>
                <a:cs typeface="Calibri" pitchFamily="34" charset="-120"/>
              </a:rPr>
              <a:t>eine</a:t>
            </a:r>
            <a:r>
              <a:rPr lang="en-US" sz="1700" dirty="0">
                <a:solidFill>
                  <a:srgbClr val="55606E"/>
                </a:solidFill>
                <a:latin typeface="Calibri" pitchFamily="34" charset="0"/>
                <a:ea typeface="Calibri" pitchFamily="34" charset="-122"/>
                <a:cs typeface="Calibri" pitchFamily="34" charset="-120"/>
              </a:rPr>
              <a:t> </a:t>
            </a:r>
            <a:r>
              <a:rPr lang="en-US" sz="1700" dirty="0" err="1">
                <a:solidFill>
                  <a:srgbClr val="55606E"/>
                </a:solidFill>
                <a:latin typeface="Calibri" pitchFamily="34" charset="0"/>
                <a:ea typeface="Calibri" pitchFamily="34" charset="-122"/>
                <a:cs typeface="Calibri" pitchFamily="34" charset="-120"/>
              </a:rPr>
              <a:t>Fehlerkette</a:t>
            </a:r>
            <a:r>
              <a:rPr lang="en-US" sz="1700" dirty="0">
                <a:solidFill>
                  <a:srgbClr val="55606E"/>
                </a:solidFill>
                <a:latin typeface="Calibri" pitchFamily="34" charset="0"/>
                <a:ea typeface="Calibri" pitchFamily="34" charset="-122"/>
                <a:cs typeface="Calibri" pitchFamily="34" charset="-120"/>
              </a:rPr>
              <a:t>, beginnend bei Keycloak.</a:t>
            </a:r>
            <a:endParaRPr lang="en-US" sz="1700" dirty="0"/>
          </a:p>
        </p:txBody>
      </p:sp>
      <p:sp>
        <p:nvSpPr>
          <p:cNvPr id="6" name="Text 4"/>
          <p:cNvSpPr/>
          <p:nvPr/>
        </p:nvSpPr>
        <p:spPr>
          <a:xfrm>
            <a:off x="868680" y="2880360"/>
            <a:ext cx="7315200" cy="274320"/>
          </a:xfrm>
          <a:prstGeom prst="rect">
            <a:avLst/>
          </a:prstGeom>
          <a:noFill/>
          <a:ln/>
        </p:spPr>
        <p:txBody>
          <a:bodyPr wrap="square" lIns="0" tIns="0" rIns="0" bIns="0" rtlCol="0" anchor="ctr"/>
          <a:lstStyle/>
          <a:p>
            <a:pPr marL="0" indent="0">
              <a:buNone/>
            </a:pPr>
            <a:r>
              <a:rPr lang="en-US" sz="1150" b="1" kern="0" spc="250" dirty="0">
                <a:solidFill>
                  <a:srgbClr val="D23B4E"/>
                </a:solidFill>
                <a:latin typeface="Calibri" pitchFamily="34" charset="0"/>
                <a:ea typeface="Calibri" pitchFamily="34" charset="-122"/>
                <a:cs typeface="Calibri" pitchFamily="34" charset="-120"/>
              </a:rPr>
              <a:t>IN scheduler.json</a:t>
            </a:r>
            <a:endParaRPr lang="en-US" sz="1150" dirty="0"/>
          </a:p>
        </p:txBody>
      </p:sp>
      <p:sp>
        <p:nvSpPr>
          <p:cNvPr id="7" name="Shape 5"/>
          <p:cNvSpPr/>
          <p:nvPr/>
        </p:nvSpPr>
        <p:spPr>
          <a:xfrm>
            <a:off x="868680" y="3291840"/>
            <a:ext cx="10454335" cy="0"/>
          </a:xfrm>
          <a:prstGeom prst="line">
            <a:avLst/>
          </a:prstGeom>
          <a:noFill/>
          <a:ln w="12700">
            <a:solidFill>
              <a:srgbClr val="E4E7EC"/>
            </a:solidFill>
            <a:prstDash val="solid"/>
          </a:ln>
        </p:spPr>
      </p:sp>
      <p:sp>
        <p:nvSpPr>
          <p:cNvPr id="8" name="Text 6"/>
          <p:cNvSpPr/>
          <p:nvPr/>
        </p:nvSpPr>
        <p:spPr>
          <a:xfrm>
            <a:off x="868680" y="3410712"/>
            <a:ext cx="5943600" cy="411480"/>
          </a:xfrm>
          <a:prstGeom prst="rect">
            <a:avLst/>
          </a:prstGeom>
          <a:noFill/>
          <a:ln/>
        </p:spPr>
        <p:txBody>
          <a:bodyPr wrap="square" lIns="0" tIns="0" rIns="0" bIns="0" rtlCol="0" anchor="ctr"/>
          <a:lstStyle/>
          <a:p>
            <a:pPr marL="0" indent="0">
              <a:buNone/>
            </a:pPr>
            <a:r>
              <a:rPr lang="en-US" sz="1500" b="1" dirty="0">
                <a:solidFill>
                  <a:srgbClr val="16181D"/>
                </a:solidFill>
                <a:latin typeface="Consolas" pitchFamily="34" charset="0"/>
                <a:ea typeface="Consolas" pitchFamily="34" charset="-122"/>
                <a:cs typeface="Consolas" pitchFamily="34" charset="-120"/>
              </a:rPr>
              <a:t>webOrigins: ["*"]</a:t>
            </a:r>
            <a:endParaRPr lang="en-US" sz="1500" dirty="0"/>
          </a:p>
        </p:txBody>
      </p:sp>
      <p:sp>
        <p:nvSpPr>
          <p:cNvPr id="9" name="Text 7"/>
          <p:cNvSpPr/>
          <p:nvPr/>
        </p:nvSpPr>
        <p:spPr>
          <a:xfrm>
            <a:off x="6751015" y="3410712"/>
            <a:ext cx="4572000" cy="411480"/>
          </a:xfrm>
          <a:prstGeom prst="rect">
            <a:avLst/>
          </a:prstGeom>
          <a:noFill/>
          <a:ln/>
        </p:spPr>
        <p:txBody>
          <a:bodyPr wrap="square" lIns="0" tIns="0" rIns="0" bIns="0" rtlCol="0" anchor="ctr"/>
          <a:lstStyle/>
          <a:p>
            <a:pPr marL="0" indent="0" algn="r">
              <a:buNone/>
            </a:pPr>
            <a:r>
              <a:rPr lang="en-US" sz="1400" i="1" dirty="0">
                <a:solidFill>
                  <a:srgbClr val="D23B4E"/>
                </a:solidFill>
                <a:latin typeface="Calibri" pitchFamily="34" charset="0"/>
                <a:ea typeface="Calibri" pitchFamily="34" charset="-122"/>
                <a:cs typeface="Calibri" pitchFamily="34" charset="-120"/>
              </a:rPr>
              <a:t>jede Origin erlaubt</a:t>
            </a:r>
            <a:endParaRPr lang="en-US" sz="1400" dirty="0"/>
          </a:p>
        </p:txBody>
      </p:sp>
      <p:sp>
        <p:nvSpPr>
          <p:cNvPr id="10" name="Shape 8"/>
          <p:cNvSpPr/>
          <p:nvPr/>
        </p:nvSpPr>
        <p:spPr>
          <a:xfrm>
            <a:off x="868680" y="3950208"/>
            <a:ext cx="10454335" cy="0"/>
          </a:xfrm>
          <a:prstGeom prst="line">
            <a:avLst/>
          </a:prstGeom>
          <a:noFill/>
          <a:ln w="12700">
            <a:solidFill>
              <a:srgbClr val="E4E7EC"/>
            </a:solidFill>
            <a:prstDash val="solid"/>
          </a:ln>
        </p:spPr>
      </p:sp>
      <p:sp>
        <p:nvSpPr>
          <p:cNvPr id="11" name="Text 9"/>
          <p:cNvSpPr/>
          <p:nvPr/>
        </p:nvSpPr>
        <p:spPr>
          <a:xfrm>
            <a:off x="868680" y="4069080"/>
            <a:ext cx="5943600" cy="411480"/>
          </a:xfrm>
          <a:prstGeom prst="rect">
            <a:avLst/>
          </a:prstGeom>
          <a:noFill/>
          <a:ln/>
        </p:spPr>
        <p:txBody>
          <a:bodyPr wrap="square" lIns="0" tIns="0" rIns="0" bIns="0" rtlCol="0" anchor="ctr"/>
          <a:lstStyle/>
          <a:p>
            <a:pPr marL="0" indent="0">
              <a:buNone/>
            </a:pPr>
            <a:r>
              <a:rPr lang="en-US" sz="1500" b="1" dirty="0">
                <a:solidFill>
                  <a:srgbClr val="16181D"/>
                </a:solidFill>
                <a:latin typeface="Consolas" pitchFamily="34" charset="0"/>
                <a:ea typeface="Consolas" pitchFamily="34" charset="-122"/>
                <a:cs typeface="Consolas" pitchFamily="34" charset="-120"/>
              </a:rPr>
              <a:t>implicitFlowEnabled</a:t>
            </a:r>
            <a:endParaRPr lang="en-US" sz="1500" dirty="0"/>
          </a:p>
        </p:txBody>
      </p:sp>
      <p:sp>
        <p:nvSpPr>
          <p:cNvPr id="12" name="Text 10"/>
          <p:cNvSpPr/>
          <p:nvPr/>
        </p:nvSpPr>
        <p:spPr>
          <a:xfrm>
            <a:off x="6751015" y="4069080"/>
            <a:ext cx="4572000" cy="411480"/>
          </a:xfrm>
          <a:prstGeom prst="rect">
            <a:avLst/>
          </a:prstGeom>
          <a:noFill/>
          <a:ln/>
        </p:spPr>
        <p:txBody>
          <a:bodyPr wrap="square" lIns="0" tIns="0" rIns="0" bIns="0" rtlCol="0" anchor="ctr"/>
          <a:lstStyle/>
          <a:p>
            <a:pPr marL="0" indent="0" algn="r">
              <a:buNone/>
            </a:pPr>
            <a:r>
              <a:rPr lang="en-US" sz="1400" i="1" dirty="0">
                <a:solidFill>
                  <a:srgbClr val="D23B4E"/>
                </a:solidFill>
                <a:latin typeface="Calibri" pitchFamily="34" charset="0"/>
                <a:ea typeface="Calibri" pitchFamily="34" charset="-122"/>
                <a:cs typeface="Calibri" pitchFamily="34" charset="-120"/>
              </a:rPr>
              <a:t>veralteter Flow aktiv</a:t>
            </a:r>
            <a:endParaRPr lang="en-US" sz="1400" dirty="0"/>
          </a:p>
        </p:txBody>
      </p:sp>
      <p:sp>
        <p:nvSpPr>
          <p:cNvPr id="13" name="Shape 11"/>
          <p:cNvSpPr/>
          <p:nvPr/>
        </p:nvSpPr>
        <p:spPr>
          <a:xfrm>
            <a:off x="868680" y="4608576"/>
            <a:ext cx="10454335" cy="0"/>
          </a:xfrm>
          <a:prstGeom prst="line">
            <a:avLst/>
          </a:prstGeom>
          <a:noFill/>
          <a:ln w="12700">
            <a:solidFill>
              <a:srgbClr val="E4E7EC"/>
            </a:solidFill>
            <a:prstDash val="solid"/>
          </a:ln>
        </p:spPr>
      </p:sp>
      <p:sp>
        <p:nvSpPr>
          <p:cNvPr id="14" name="Text 12"/>
          <p:cNvSpPr/>
          <p:nvPr/>
        </p:nvSpPr>
        <p:spPr>
          <a:xfrm>
            <a:off x="868680" y="4727448"/>
            <a:ext cx="5943600" cy="411480"/>
          </a:xfrm>
          <a:prstGeom prst="rect">
            <a:avLst/>
          </a:prstGeom>
          <a:noFill/>
          <a:ln/>
        </p:spPr>
        <p:txBody>
          <a:bodyPr wrap="square" lIns="0" tIns="0" rIns="0" bIns="0" rtlCol="0" anchor="ctr"/>
          <a:lstStyle/>
          <a:p>
            <a:pPr marL="0" indent="0">
              <a:buNone/>
            </a:pPr>
            <a:r>
              <a:rPr lang="en-US" sz="1500" b="1" dirty="0">
                <a:solidFill>
                  <a:srgbClr val="16181D"/>
                </a:solidFill>
                <a:latin typeface="Consolas" pitchFamily="34" charset="0"/>
                <a:ea typeface="Consolas" pitchFamily="34" charset="-122"/>
                <a:cs typeface="Consolas" pitchFamily="34" charset="-120"/>
              </a:rPr>
              <a:t>directAccessGrants</a:t>
            </a:r>
            <a:endParaRPr lang="en-US" sz="1500" dirty="0"/>
          </a:p>
        </p:txBody>
      </p:sp>
      <p:sp>
        <p:nvSpPr>
          <p:cNvPr id="15" name="Text 13"/>
          <p:cNvSpPr/>
          <p:nvPr/>
        </p:nvSpPr>
        <p:spPr>
          <a:xfrm>
            <a:off x="6751015" y="4727448"/>
            <a:ext cx="4572000" cy="411480"/>
          </a:xfrm>
          <a:prstGeom prst="rect">
            <a:avLst/>
          </a:prstGeom>
          <a:noFill/>
          <a:ln/>
        </p:spPr>
        <p:txBody>
          <a:bodyPr wrap="square" lIns="0" tIns="0" rIns="0" bIns="0" rtlCol="0" anchor="ctr"/>
          <a:lstStyle/>
          <a:p>
            <a:pPr marL="0" indent="0" algn="r">
              <a:buNone/>
            </a:pPr>
            <a:r>
              <a:rPr lang="en-US" sz="1400" i="1" dirty="0">
                <a:solidFill>
                  <a:srgbClr val="D23B4E"/>
                </a:solidFill>
                <a:latin typeface="Calibri" pitchFamily="34" charset="0"/>
                <a:ea typeface="Calibri" pitchFamily="34" charset="-122"/>
                <a:cs typeface="Calibri" pitchFamily="34" charset="-120"/>
              </a:rPr>
              <a:t>Passwort-Grant aktiv</a:t>
            </a:r>
            <a:endParaRPr lang="en-US" sz="1400" dirty="0"/>
          </a:p>
        </p:txBody>
      </p:sp>
      <p:sp>
        <p:nvSpPr>
          <p:cNvPr id="16" name="Text 14"/>
          <p:cNvSpPr/>
          <p:nvPr/>
        </p:nvSpPr>
        <p:spPr>
          <a:xfrm>
            <a:off x="868680" y="5358384"/>
            <a:ext cx="10241280" cy="457200"/>
          </a:xfrm>
          <a:prstGeom prst="rect">
            <a:avLst/>
          </a:prstGeom>
          <a:noFill/>
          <a:ln/>
        </p:spPr>
        <p:txBody>
          <a:bodyPr wrap="square" lIns="0" tIns="0" rIns="0" bIns="0" rtlCol="0" anchor="ctr"/>
          <a:lstStyle/>
          <a:p>
            <a:pPr marL="0" indent="0">
              <a:buNone/>
            </a:pPr>
            <a:r>
              <a:rPr lang="en-US" sz="1350" i="1" dirty="0">
                <a:solidFill>
                  <a:srgbClr val="9AA3AF"/>
                </a:solidFill>
                <a:latin typeface="Calibri" pitchFamily="34" charset="0"/>
                <a:ea typeface="Calibri" pitchFamily="34" charset="-122"/>
                <a:cs typeface="Calibri" pitchFamily="34" charset="-120"/>
              </a:rPr>
              <a:t>Veraltete Flows und eine Wildcard bei den Web-Origins - </a:t>
            </a:r>
            <a:r>
              <a:rPr lang="en-US" sz="1350" i="1" dirty="0" err="1">
                <a:solidFill>
                  <a:srgbClr val="9AA3AF"/>
                </a:solidFill>
                <a:latin typeface="Calibri" pitchFamily="34" charset="0"/>
                <a:ea typeface="Calibri" pitchFamily="34" charset="-122"/>
                <a:cs typeface="Calibri" pitchFamily="34" charset="-120"/>
              </a:rPr>
              <a:t>zu</a:t>
            </a:r>
            <a:r>
              <a:rPr lang="en-US" sz="1350" i="1" dirty="0">
                <a:solidFill>
                  <a:srgbClr val="9AA3AF"/>
                </a:solidFill>
                <a:latin typeface="Calibri" pitchFamily="34" charset="0"/>
                <a:ea typeface="Calibri" pitchFamily="34" charset="-122"/>
                <a:cs typeface="Calibri" pitchFamily="34" charset="-120"/>
              </a:rPr>
              <a:t> </a:t>
            </a:r>
            <a:r>
              <a:rPr lang="en-US" sz="1350" i="1" dirty="0" err="1">
                <a:solidFill>
                  <a:srgbClr val="9AA3AF"/>
                </a:solidFill>
                <a:latin typeface="Calibri" pitchFamily="34" charset="0"/>
                <a:ea typeface="Calibri" pitchFamily="34" charset="-122"/>
                <a:cs typeface="Calibri" pitchFamily="34" charset="-120"/>
              </a:rPr>
              <a:t>breit</a:t>
            </a:r>
            <a:r>
              <a:rPr lang="en-US" sz="1350" i="1" dirty="0">
                <a:solidFill>
                  <a:srgbClr val="9AA3AF"/>
                </a:solidFill>
                <a:latin typeface="Calibri" pitchFamily="34" charset="0"/>
                <a:ea typeface="Calibri" pitchFamily="34" charset="-122"/>
                <a:cs typeface="Calibri" pitchFamily="34" charset="-120"/>
              </a:rPr>
              <a:t> für einen SPA-Client.</a:t>
            </a:r>
            <a:endParaRPr lang="en-US" sz="1350" dirty="0"/>
          </a:p>
        </p:txBody>
      </p:sp>
      <p:sp>
        <p:nvSpPr>
          <p:cNvPr id="17" name="Text 1">
            <a:extLst>
              <a:ext uri="{FF2B5EF4-FFF2-40B4-BE49-F238E27FC236}">
                <a16:creationId xmlns:a16="http://schemas.microsoft.com/office/drawing/2014/main" id="{E4CBF162-AD41-8BBF-E6AF-09E8ABA6A2D9}"/>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22</a:t>
            </a:fld>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KRITISCHES RISIKO · ACCOUNT-TAKEOVER</a:t>
            </a:r>
            <a:endParaRPr lang="en-US" sz="1050" dirty="0"/>
          </a:p>
        </p:txBody>
      </p:sp>
      <p:sp>
        <p:nvSpPr>
          <p:cNvPr id="4" name="Text 2"/>
          <p:cNvSpPr/>
          <p:nvPr/>
        </p:nvSpPr>
        <p:spPr>
          <a:xfrm>
            <a:off x="868680" y="1051560"/>
            <a:ext cx="10424160" cy="777240"/>
          </a:xfrm>
          <a:prstGeom prst="rect">
            <a:avLst/>
          </a:prstGeom>
          <a:noFill/>
          <a:ln/>
        </p:spPr>
        <p:txBody>
          <a:bodyPr wrap="square" lIns="0" tIns="0" rIns="0" bIns="0" rtlCol="0" anchor="ctr"/>
          <a:lstStyle/>
          <a:p>
            <a:pPr marL="0" indent="0">
              <a:buNone/>
            </a:pPr>
            <a:r>
              <a:rPr lang="en-US" sz="3600" b="1" dirty="0">
                <a:solidFill>
                  <a:srgbClr val="16181D"/>
                </a:solidFill>
                <a:latin typeface="Trebuchet MS" pitchFamily="34" charset="0"/>
                <a:ea typeface="Trebuchet MS" pitchFamily="34" charset="-122"/>
                <a:cs typeface="Trebuchet MS" pitchFamily="34" charset="-120"/>
              </a:rPr>
              <a:t>Token-Diebstahl als Fehlerkette</a:t>
            </a:r>
            <a:endParaRPr lang="en-US" sz="3600" dirty="0"/>
          </a:p>
        </p:txBody>
      </p:sp>
      <p:sp>
        <p:nvSpPr>
          <p:cNvPr id="5" name="Text 3"/>
          <p:cNvSpPr/>
          <p:nvPr/>
        </p:nvSpPr>
        <p:spPr>
          <a:xfrm>
            <a:off x="868680" y="1874520"/>
            <a:ext cx="10424160" cy="640080"/>
          </a:xfrm>
          <a:prstGeom prst="rect">
            <a:avLst/>
          </a:prstGeom>
          <a:noFill/>
          <a:ln/>
        </p:spPr>
        <p:txBody>
          <a:bodyPr wrap="square" lIns="0" tIns="0" rIns="0" bIns="0" rtlCol="0" anchor="ctr"/>
          <a:lstStyle/>
          <a:p>
            <a:pPr marL="0" indent="0">
              <a:buNone/>
            </a:pPr>
            <a:r>
              <a:rPr lang="en-US" sz="1650" dirty="0" err="1">
                <a:solidFill>
                  <a:srgbClr val="55606E"/>
                </a:solidFill>
                <a:latin typeface="Calibri" pitchFamily="34" charset="0"/>
                <a:ea typeface="Calibri" pitchFamily="34" charset="-122"/>
                <a:cs typeface="Calibri" pitchFamily="34" charset="-120"/>
              </a:rPr>
              <a:t>Über</a:t>
            </a:r>
            <a:r>
              <a:rPr lang="en-US" sz="1650" dirty="0">
                <a:solidFill>
                  <a:srgbClr val="55606E"/>
                </a:solidFill>
                <a:latin typeface="Calibri" pitchFamily="34" charset="0"/>
                <a:ea typeface="Calibri" pitchFamily="34" charset="-122"/>
                <a:cs typeface="Calibri" pitchFamily="34" charset="-120"/>
              </a:rPr>
              <a:t> </a:t>
            </a:r>
            <a:r>
              <a:rPr lang="en-US" sz="1650" dirty="0" err="1">
                <a:solidFill>
                  <a:srgbClr val="55606E"/>
                </a:solidFill>
                <a:latin typeface="Calibri" pitchFamily="34" charset="0"/>
                <a:ea typeface="Calibri" pitchFamily="34" charset="-122"/>
                <a:cs typeface="Calibri" pitchFamily="34" charset="-120"/>
              </a:rPr>
              <a:t>dieselbe</a:t>
            </a:r>
            <a:r>
              <a:rPr lang="en-US" sz="1650" dirty="0">
                <a:solidFill>
                  <a:srgbClr val="55606E"/>
                </a:solidFill>
                <a:latin typeface="Calibri" pitchFamily="34" charset="0"/>
                <a:ea typeface="Calibri" pitchFamily="34" charset="-122"/>
                <a:cs typeface="Calibri" pitchFamily="34" charset="-120"/>
              </a:rPr>
              <a:t> CORS-</a:t>
            </a:r>
            <a:r>
              <a:rPr lang="en-US" sz="1650" dirty="0" err="1">
                <a:solidFill>
                  <a:srgbClr val="55606E"/>
                </a:solidFill>
                <a:latin typeface="Calibri" pitchFamily="34" charset="0"/>
                <a:ea typeface="Calibri" pitchFamily="34" charset="-122"/>
                <a:cs typeface="Calibri" pitchFamily="34" charset="-120"/>
              </a:rPr>
              <a:t>Lücke</a:t>
            </a:r>
            <a:r>
              <a:rPr lang="en-US" sz="1650" dirty="0">
                <a:solidFill>
                  <a:srgbClr val="55606E"/>
                </a:solidFill>
                <a:latin typeface="Calibri" pitchFamily="34" charset="0"/>
                <a:ea typeface="Calibri" pitchFamily="34" charset="-122"/>
                <a:cs typeface="Calibri" pitchFamily="34" charset="-120"/>
              </a:rPr>
              <a:t> an der API </a:t>
            </a:r>
            <a:r>
              <a:rPr lang="en-US" sz="1650" dirty="0" err="1">
                <a:solidFill>
                  <a:srgbClr val="55606E"/>
                </a:solidFill>
                <a:latin typeface="Calibri" pitchFamily="34" charset="0"/>
                <a:ea typeface="Calibri" pitchFamily="34" charset="-122"/>
                <a:cs typeface="Calibri" pitchFamily="34" charset="-120"/>
              </a:rPr>
              <a:t>wird</a:t>
            </a:r>
            <a:r>
              <a:rPr lang="en-US" sz="1650" dirty="0">
                <a:solidFill>
                  <a:srgbClr val="55606E"/>
                </a:solidFill>
                <a:latin typeface="Calibri" pitchFamily="34" charset="0"/>
                <a:ea typeface="Calibri" pitchFamily="34" charset="-122"/>
                <a:cs typeface="Calibri" pitchFamily="34" charset="-120"/>
              </a:rPr>
              <a:t> aus Mitlesen </a:t>
            </a:r>
            <a:r>
              <a:rPr lang="en-US" sz="1650" dirty="0" err="1">
                <a:solidFill>
                  <a:srgbClr val="55606E"/>
                </a:solidFill>
                <a:latin typeface="Calibri" pitchFamily="34" charset="0"/>
                <a:ea typeface="Calibri" pitchFamily="34" charset="-122"/>
                <a:cs typeface="Calibri" pitchFamily="34" charset="-120"/>
              </a:rPr>
              <a:t>eine</a:t>
            </a:r>
            <a:r>
              <a:rPr lang="en-US" sz="1650" dirty="0">
                <a:solidFill>
                  <a:srgbClr val="55606E"/>
                </a:solidFill>
                <a:latin typeface="Calibri" pitchFamily="34" charset="0"/>
                <a:ea typeface="Calibri" pitchFamily="34" charset="-122"/>
                <a:cs typeface="Calibri" pitchFamily="34" charset="-120"/>
              </a:rPr>
              <a:t> </a:t>
            </a:r>
            <a:r>
              <a:rPr lang="en-US" sz="1650" dirty="0" err="1">
                <a:solidFill>
                  <a:srgbClr val="55606E"/>
                </a:solidFill>
                <a:latin typeface="Calibri" pitchFamily="34" charset="0"/>
                <a:ea typeface="Calibri" pitchFamily="34" charset="-122"/>
                <a:cs typeface="Calibri" pitchFamily="34" charset="-120"/>
              </a:rPr>
              <a:t>vollständige</a:t>
            </a:r>
            <a:r>
              <a:rPr lang="en-US" sz="1650" dirty="0">
                <a:solidFill>
                  <a:srgbClr val="55606E"/>
                </a:solidFill>
                <a:latin typeface="Calibri" pitchFamily="34" charset="0"/>
                <a:ea typeface="Calibri" pitchFamily="34" charset="-122"/>
                <a:cs typeface="Calibri" pitchFamily="34" charset="-120"/>
              </a:rPr>
              <a:t> </a:t>
            </a:r>
            <a:r>
              <a:rPr lang="en-US" sz="1650" dirty="0" err="1">
                <a:solidFill>
                  <a:srgbClr val="55606E"/>
                </a:solidFill>
                <a:latin typeface="Calibri" pitchFamily="34" charset="0"/>
                <a:ea typeface="Calibri" pitchFamily="34" charset="-122"/>
                <a:cs typeface="Calibri" pitchFamily="34" charset="-120"/>
              </a:rPr>
              <a:t>Identitätsübernahme</a:t>
            </a:r>
            <a:r>
              <a:rPr lang="en-US" sz="1650" dirty="0">
                <a:solidFill>
                  <a:srgbClr val="55606E"/>
                </a:solidFill>
                <a:latin typeface="Calibri" pitchFamily="34" charset="0"/>
                <a:ea typeface="Calibri" pitchFamily="34" charset="-122"/>
                <a:cs typeface="Calibri" pitchFamily="34" charset="-120"/>
              </a:rPr>
              <a:t>.</a:t>
            </a:r>
            <a:endParaRPr lang="en-US" sz="1650" dirty="0"/>
          </a:p>
        </p:txBody>
      </p:sp>
      <p:sp>
        <p:nvSpPr>
          <p:cNvPr id="6" name="Text 4"/>
          <p:cNvSpPr/>
          <p:nvPr/>
        </p:nvSpPr>
        <p:spPr>
          <a:xfrm>
            <a:off x="1080897" y="2898648"/>
            <a:ext cx="640080" cy="457200"/>
          </a:xfrm>
          <a:prstGeom prst="rect">
            <a:avLst/>
          </a:prstGeom>
          <a:noFill/>
          <a:ln/>
        </p:spPr>
        <p:txBody>
          <a:bodyPr wrap="square" lIns="0" tIns="0" rIns="0" bIns="0" rtlCol="0" anchor="ctr"/>
          <a:lstStyle/>
          <a:p>
            <a:pPr marL="0" indent="0">
              <a:buNone/>
            </a:pPr>
            <a:r>
              <a:rPr lang="en-US" sz="2000" b="1" dirty="0">
                <a:solidFill>
                  <a:srgbClr val="9AA3AF"/>
                </a:solidFill>
                <a:latin typeface="Trebuchet MS" pitchFamily="34" charset="0"/>
                <a:ea typeface="Trebuchet MS" pitchFamily="34" charset="-122"/>
                <a:cs typeface="Trebuchet MS" pitchFamily="34" charset="-120"/>
              </a:rPr>
              <a:t>01</a:t>
            </a:r>
            <a:endParaRPr lang="en-US" sz="2000" dirty="0"/>
          </a:p>
        </p:txBody>
      </p:sp>
      <p:sp>
        <p:nvSpPr>
          <p:cNvPr id="7" name="Text 5"/>
          <p:cNvSpPr/>
          <p:nvPr/>
        </p:nvSpPr>
        <p:spPr>
          <a:xfrm>
            <a:off x="1883665" y="2898648"/>
            <a:ext cx="1087755"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Trebuchet MS" pitchFamily="34" charset="0"/>
                <a:ea typeface="Trebuchet MS" pitchFamily="34" charset="-122"/>
                <a:cs typeface="Trebuchet MS" pitchFamily="34" charset="-120"/>
              </a:rPr>
              <a:t>Login</a:t>
            </a:r>
            <a:endParaRPr lang="en-US" sz="1800" dirty="0"/>
          </a:p>
        </p:txBody>
      </p:sp>
      <p:sp>
        <p:nvSpPr>
          <p:cNvPr id="8" name="Text 6"/>
          <p:cNvSpPr/>
          <p:nvPr/>
        </p:nvSpPr>
        <p:spPr>
          <a:xfrm>
            <a:off x="3566312" y="2898648"/>
            <a:ext cx="5059375" cy="457200"/>
          </a:xfrm>
          <a:prstGeom prst="rect">
            <a:avLst/>
          </a:prstGeom>
          <a:noFill/>
          <a:ln/>
        </p:spPr>
        <p:txBody>
          <a:bodyPr wrap="square" lIns="0" tIns="0" rIns="0" bIns="0" rtlCol="0" anchor="ctr"/>
          <a:lstStyle/>
          <a:p>
            <a:pPr marL="0" indent="0">
              <a:buNone/>
            </a:pPr>
            <a:r>
              <a:rPr lang="en-US" sz="1450" dirty="0" err="1">
                <a:solidFill>
                  <a:srgbClr val="55606E"/>
                </a:solidFill>
                <a:latin typeface="Calibri" pitchFamily="34" charset="0"/>
                <a:ea typeface="Calibri" pitchFamily="34" charset="-122"/>
                <a:cs typeface="Calibri" pitchFamily="34" charset="-120"/>
              </a:rPr>
              <a:t>Nutzer</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ist</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angemeldet</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gültiges</a:t>
            </a:r>
            <a:r>
              <a:rPr lang="en-US" sz="1450" dirty="0">
                <a:solidFill>
                  <a:srgbClr val="55606E"/>
                </a:solidFill>
                <a:latin typeface="Calibri" pitchFamily="34" charset="0"/>
                <a:ea typeface="Calibri" pitchFamily="34" charset="-122"/>
                <a:cs typeface="Calibri" pitchFamily="34" charset="-120"/>
              </a:rPr>
              <a:t> Bearer-Token </a:t>
            </a:r>
            <a:r>
              <a:rPr lang="en-US" sz="1450" dirty="0" err="1">
                <a:solidFill>
                  <a:srgbClr val="55606E"/>
                </a:solidFill>
                <a:latin typeface="Calibri" pitchFamily="34" charset="0"/>
                <a:ea typeface="Calibri" pitchFamily="34" charset="-122"/>
                <a:cs typeface="Calibri" pitchFamily="34" charset="-120"/>
              </a:rPr>
              <a:t>liegt</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im</a:t>
            </a:r>
            <a:r>
              <a:rPr lang="en-US" sz="1450" dirty="0">
                <a:solidFill>
                  <a:srgbClr val="55606E"/>
                </a:solidFill>
                <a:latin typeface="Calibri" pitchFamily="34" charset="0"/>
                <a:ea typeface="Calibri" pitchFamily="34" charset="-122"/>
                <a:cs typeface="Calibri" pitchFamily="34" charset="-120"/>
              </a:rPr>
              <a:t> Browser.</a:t>
            </a:r>
            <a:endParaRPr lang="en-US" sz="1450" dirty="0"/>
          </a:p>
        </p:txBody>
      </p:sp>
      <p:sp>
        <p:nvSpPr>
          <p:cNvPr id="9" name="Shape 7"/>
          <p:cNvSpPr/>
          <p:nvPr/>
        </p:nvSpPr>
        <p:spPr>
          <a:xfrm>
            <a:off x="1245489" y="3419856"/>
            <a:ext cx="0" cy="256032"/>
          </a:xfrm>
          <a:prstGeom prst="line">
            <a:avLst/>
          </a:prstGeom>
          <a:noFill/>
          <a:ln w="15875">
            <a:solidFill>
              <a:srgbClr val="D2D8DF"/>
            </a:solidFill>
            <a:prstDash val="solid"/>
          </a:ln>
        </p:spPr>
      </p:sp>
      <p:sp>
        <p:nvSpPr>
          <p:cNvPr id="10" name="Text 8"/>
          <p:cNvSpPr/>
          <p:nvPr/>
        </p:nvSpPr>
        <p:spPr>
          <a:xfrm>
            <a:off x="1080897" y="3739896"/>
            <a:ext cx="640080" cy="457200"/>
          </a:xfrm>
          <a:prstGeom prst="rect">
            <a:avLst/>
          </a:prstGeom>
          <a:noFill/>
          <a:ln/>
        </p:spPr>
        <p:txBody>
          <a:bodyPr wrap="square" lIns="0" tIns="0" rIns="0" bIns="0" rtlCol="0" anchor="ctr"/>
          <a:lstStyle/>
          <a:p>
            <a:pPr marL="0" indent="0">
              <a:buNone/>
            </a:pPr>
            <a:r>
              <a:rPr lang="en-US" sz="2000" b="1" dirty="0">
                <a:solidFill>
                  <a:srgbClr val="9AA3AF"/>
                </a:solidFill>
                <a:latin typeface="Trebuchet MS" pitchFamily="34" charset="0"/>
                <a:ea typeface="Trebuchet MS" pitchFamily="34" charset="-122"/>
                <a:cs typeface="Trebuchet MS" pitchFamily="34" charset="-120"/>
              </a:rPr>
              <a:t>02</a:t>
            </a:r>
            <a:endParaRPr lang="en-US" sz="2000" dirty="0"/>
          </a:p>
        </p:txBody>
      </p:sp>
      <p:sp>
        <p:nvSpPr>
          <p:cNvPr id="11" name="Text 9"/>
          <p:cNvSpPr/>
          <p:nvPr/>
        </p:nvSpPr>
        <p:spPr>
          <a:xfrm>
            <a:off x="1883665" y="3739896"/>
            <a:ext cx="1087755"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Trebuchet MS" pitchFamily="34" charset="0"/>
                <a:ea typeface="Trebuchet MS" pitchFamily="34" charset="-122"/>
                <a:cs typeface="Trebuchet MS" pitchFamily="34" charset="-120"/>
              </a:rPr>
              <a:t>/session</a:t>
            </a:r>
            <a:endParaRPr lang="en-US" sz="1800" dirty="0"/>
          </a:p>
        </p:txBody>
      </p:sp>
      <p:sp>
        <p:nvSpPr>
          <p:cNvPr id="12" name="Text 10"/>
          <p:cNvSpPr/>
          <p:nvPr/>
        </p:nvSpPr>
        <p:spPr>
          <a:xfrm>
            <a:off x="3566312" y="3739896"/>
            <a:ext cx="5059375" cy="457200"/>
          </a:xfrm>
          <a:prstGeom prst="rect">
            <a:avLst/>
          </a:prstGeom>
          <a:noFill/>
          <a:ln/>
        </p:spPr>
        <p:txBody>
          <a:bodyPr wrap="square" lIns="0" tIns="0" rIns="0" bIns="0" rtlCol="0" anchor="ctr"/>
          <a:lstStyle/>
          <a:p>
            <a:pPr marL="0" indent="0">
              <a:buNone/>
            </a:pPr>
            <a:r>
              <a:rPr lang="en-US" sz="1450" dirty="0" err="1">
                <a:solidFill>
                  <a:srgbClr val="55606E"/>
                </a:solidFill>
                <a:latin typeface="Calibri" pitchFamily="34" charset="0"/>
                <a:ea typeface="Calibri" pitchFamily="34" charset="-122"/>
                <a:cs typeface="Calibri" pitchFamily="34" charset="-120"/>
              </a:rPr>
              <a:t>Fremde</a:t>
            </a:r>
            <a:r>
              <a:rPr lang="en-US" sz="1450" dirty="0">
                <a:solidFill>
                  <a:srgbClr val="55606E"/>
                </a:solidFill>
                <a:latin typeface="Calibri" pitchFamily="34" charset="0"/>
                <a:ea typeface="Calibri" pitchFamily="34" charset="-122"/>
                <a:cs typeface="Calibri" pitchFamily="34" charset="-120"/>
              </a:rPr>
              <a:t> Seite liest die Antwort dank offenem CORS.</a:t>
            </a:r>
            <a:endParaRPr lang="en-US" sz="1450" dirty="0"/>
          </a:p>
        </p:txBody>
      </p:sp>
      <p:sp>
        <p:nvSpPr>
          <p:cNvPr id="13" name="Shape 11"/>
          <p:cNvSpPr/>
          <p:nvPr/>
        </p:nvSpPr>
        <p:spPr>
          <a:xfrm>
            <a:off x="1245489" y="4261104"/>
            <a:ext cx="0" cy="256032"/>
          </a:xfrm>
          <a:prstGeom prst="line">
            <a:avLst/>
          </a:prstGeom>
          <a:noFill/>
          <a:ln w="15875">
            <a:solidFill>
              <a:srgbClr val="D2D8DF"/>
            </a:solidFill>
            <a:prstDash val="solid"/>
          </a:ln>
        </p:spPr>
      </p:sp>
      <p:sp>
        <p:nvSpPr>
          <p:cNvPr id="14" name="Text 12"/>
          <p:cNvSpPr/>
          <p:nvPr/>
        </p:nvSpPr>
        <p:spPr>
          <a:xfrm>
            <a:off x="1080897" y="4581144"/>
            <a:ext cx="640080" cy="457200"/>
          </a:xfrm>
          <a:prstGeom prst="rect">
            <a:avLst/>
          </a:prstGeom>
          <a:noFill/>
          <a:ln/>
        </p:spPr>
        <p:txBody>
          <a:bodyPr wrap="square" lIns="0" tIns="0" rIns="0" bIns="0" rtlCol="0" anchor="ctr"/>
          <a:lstStyle/>
          <a:p>
            <a:pPr marL="0" indent="0">
              <a:buNone/>
            </a:pPr>
            <a:r>
              <a:rPr lang="en-US" sz="2000" b="1" dirty="0">
                <a:solidFill>
                  <a:srgbClr val="9AA3AF"/>
                </a:solidFill>
                <a:latin typeface="Trebuchet MS" pitchFamily="34" charset="0"/>
                <a:ea typeface="Trebuchet MS" pitchFamily="34" charset="-122"/>
                <a:cs typeface="Trebuchet MS" pitchFamily="34" charset="-120"/>
              </a:rPr>
              <a:t>03</a:t>
            </a:r>
            <a:endParaRPr lang="en-US" sz="2000" dirty="0"/>
          </a:p>
        </p:txBody>
      </p:sp>
      <p:sp>
        <p:nvSpPr>
          <p:cNvPr id="15" name="Text 13"/>
          <p:cNvSpPr/>
          <p:nvPr/>
        </p:nvSpPr>
        <p:spPr>
          <a:xfrm>
            <a:off x="1883665" y="4581144"/>
            <a:ext cx="1087755" cy="457200"/>
          </a:xfrm>
          <a:prstGeom prst="rect">
            <a:avLst/>
          </a:prstGeom>
          <a:noFill/>
          <a:ln/>
        </p:spPr>
        <p:txBody>
          <a:bodyPr wrap="square" lIns="0" tIns="0" rIns="0" bIns="0" rtlCol="0" anchor="ctr"/>
          <a:lstStyle/>
          <a:p>
            <a:pPr marL="0" indent="0" algn="ctr">
              <a:buNone/>
            </a:pPr>
            <a:r>
              <a:rPr lang="en-US" b="1" dirty="0">
                <a:solidFill>
                  <a:srgbClr val="16181D"/>
                </a:solidFill>
                <a:latin typeface="Trebuchet MS" pitchFamily="34" charset="0"/>
                <a:ea typeface="Trebuchet MS" pitchFamily="34" charset="-122"/>
                <a:cs typeface="Trebuchet MS" pitchFamily="34" charset="-120"/>
              </a:rPr>
              <a:t>Leaking</a:t>
            </a:r>
            <a:endParaRPr lang="en-US" sz="1800" dirty="0"/>
          </a:p>
        </p:txBody>
      </p:sp>
      <p:sp>
        <p:nvSpPr>
          <p:cNvPr id="16" name="Text 14"/>
          <p:cNvSpPr/>
          <p:nvPr/>
        </p:nvSpPr>
        <p:spPr>
          <a:xfrm>
            <a:off x="3566312" y="4581144"/>
            <a:ext cx="5059375" cy="457200"/>
          </a:xfrm>
          <a:prstGeom prst="rect">
            <a:avLst/>
          </a:prstGeom>
          <a:noFill/>
          <a:ln/>
        </p:spPr>
        <p:txBody>
          <a:bodyPr wrap="square" lIns="0" tIns="0" rIns="0" bIns="0" rtlCol="0" anchor="ctr"/>
          <a:lstStyle/>
          <a:p>
            <a:pPr marL="0" indent="0">
              <a:buNone/>
            </a:pPr>
            <a:r>
              <a:rPr lang="en-US" sz="1450" dirty="0">
                <a:solidFill>
                  <a:srgbClr val="55606E"/>
                </a:solidFill>
                <a:latin typeface="Calibri" pitchFamily="34" charset="0"/>
                <a:ea typeface="Calibri" pitchFamily="34" charset="-122"/>
                <a:cs typeface="Calibri" pitchFamily="34" charset="-120"/>
              </a:rPr>
              <a:t>Das </a:t>
            </a:r>
            <a:r>
              <a:rPr lang="en-US" sz="1450" dirty="0" err="1">
                <a:solidFill>
                  <a:srgbClr val="55606E"/>
                </a:solidFill>
                <a:latin typeface="Calibri" pitchFamily="34" charset="0"/>
                <a:ea typeface="Calibri" pitchFamily="34" charset="-122"/>
                <a:cs typeface="Calibri" pitchFamily="34" charset="-120"/>
              </a:rPr>
              <a:t>gültige</a:t>
            </a:r>
            <a:r>
              <a:rPr lang="en-US" sz="1450" dirty="0">
                <a:solidFill>
                  <a:srgbClr val="55606E"/>
                </a:solidFill>
                <a:latin typeface="Calibri" pitchFamily="34" charset="0"/>
                <a:ea typeface="Calibri" pitchFamily="34" charset="-122"/>
                <a:cs typeface="Calibri" pitchFamily="34" charset="-120"/>
              </a:rPr>
              <a:t> Bearer-Token </a:t>
            </a:r>
            <a:r>
              <a:rPr lang="en-US" sz="1450" dirty="0" err="1">
                <a:solidFill>
                  <a:srgbClr val="55606E"/>
                </a:solidFill>
                <a:latin typeface="Calibri" pitchFamily="34" charset="0"/>
                <a:ea typeface="Calibri" pitchFamily="34" charset="-122"/>
                <a:cs typeface="Calibri" pitchFamily="34" charset="-120"/>
              </a:rPr>
              <a:t>wird</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im</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Klartext</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ausgelesen</a:t>
            </a:r>
            <a:r>
              <a:rPr lang="en-US" sz="1450" dirty="0">
                <a:solidFill>
                  <a:srgbClr val="55606E"/>
                </a:solidFill>
                <a:latin typeface="Calibri" pitchFamily="34" charset="0"/>
                <a:ea typeface="Calibri" pitchFamily="34" charset="-122"/>
                <a:cs typeface="Calibri" pitchFamily="34" charset="-120"/>
              </a:rPr>
              <a:t>.</a:t>
            </a:r>
            <a:endParaRPr lang="en-US" sz="1450" dirty="0"/>
          </a:p>
        </p:txBody>
      </p:sp>
      <p:sp>
        <p:nvSpPr>
          <p:cNvPr id="17" name="Shape 15"/>
          <p:cNvSpPr/>
          <p:nvPr/>
        </p:nvSpPr>
        <p:spPr>
          <a:xfrm>
            <a:off x="1245489" y="5102352"/>
            <a:ext cx="0" cy="256032"/>
          </a:xfrm>
          <a:prstGeom prst="line">
            <a:avLst/>
          </a:prstGeom>
          <a:noFill/>
          <a:ln w="15875">
            <a:solidFill>
              <a:srgbClr val="D2D8DF"/>
            </a:solidFill>
            <a:prstDash val="solid"/>
          </a:ln>
        </p:spPr>
      </p:sp>
      <p:sp>
        <p:nvSpPr>
          <p:cNvPr id="18" name="Text 16"/>
          <p:cNvSpPr/>
          <p:nvPr/>
        </p:nvSpPr>
        <p:spPr>
          <a:xfrm>
            <a:off x="1080897" y="5422392"/>
            <a:ext cx="640080" cy="457200"/>
          </a:xfrm>
          <a:prstGeom prst="rect">
            <a:avLst/>
          </a:prstGeom>
          <a:noFill/>
          <a:ln/>
        </p:spPr>
        <p:txBody>
          <a:bodyPr wrap="square" lIns="0" tIns="0" rIns="0" bIns="0" rtlCol="0" anchor="ctr"/>
          <a:lstStyle/>
          <a:p>
            <a:pPr marL="0" indent="0">
              <a:buNone/>
            </a:pPr>
            <a:r>
              <a:rPr lang="en-US" sz="2000" b="1" dirty="0">
                <a:solidFill>
                  <a:srgbClr val="D23B4E"/>
                </a:solidFill>
                <a:latin typeface="Trebuchet MS" pitchFamily="34" charset="0"/>
                <a:ea typeface="Trebuchet MS" pitchFamily="34" charset="-122"/>
                <a:cs typeface="Trebuchet MS" pitchFamily="34" charset="-120"/>
              </a:rPr>
              <a:t>04</a:t>
            </a:r>
            <a:endParaRPr lang="en-US" sz="2000" dirty="0"/>
          </a:p>
        </p:txBody>
      </p:sp>
      <p:sp>
        <p:nvSpPr>
          <p:cNvPr id="19" name="Text 17"/>
          <p:cNvSpPr/>
          <p:nvPr/>
        </p:nvSpPr>
        <p:spPr>
          <a:xfrm>
            <a:off x="1883665" y="5422392"/>
            <a:ext cx="1087755"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Trebuchet MS" pitchFamily="34" charset="0"/>
                <a:ea typeface="Trebuchet MS" pitchFamily="34" charset="-122"/>
                <a:cs typeface="Trebuchet MS" pitchFamily="34" charset="-120"/>
              </a:rPr>
              <a:t>Takeover</a:t>
            </a:r>
            <a:endParaRPr lang="en-US" sz="1800" dirty="0"/>
          </a:p>
        </p:txBody>
      </p:sp>
      <p:sp>
        <p:nvSpPr>
          <p:cNvPr id="20" name="Text 18"/>
          <p:cNvSpPr/>
          <p:nvPr/>
        </p:nvSpPr>
        <p:spPr>
          <a:xfrm>
            <a:off x="3566312" y="5422392"/>
            <a:ext cx="5059375" cy="457200"/>
          </a:xfrm>
          <a:prstGeom prst="rect">
            <a:avLst/>
          </a:prstGeom>
          <a:noFill/>
          <a:ln/>
        </p:spPr>
        <p:txBody>
          <a:bodyPr wrap="square" lIns="0" tIns="0" rIns="0" bIns="0" rtlCol="0" anchor="ctr"/>
          <a:lstStyle/>
          <a:p>
            <a:pPr marL="0" indent="0">
              <a:buNone/>
            </a:pPr>
            <a:r>
              <a:rPr lang="en-US" sz="1450" dirty="0">
                <a:solidFill>
                  <a:srgbClr val="55606E"/>
                </a:solidFill>
                <a:latin typeface="Calibri" pitchFamily="34" charset="0"/>
                <a:ea typeface="Calibri" pitchFamily="34" charset="-122"/>
                <a:cs typeface="Calibri" pitchFamily="34" charset="-120"/>
              </a:rPr>
              <a:t>Angreifer </a:t>
            </a:r>
            <a:r>
              <a:rPr lang="en-US" sz="1450" dirty="0" err="1">
                <a:solidFill>
                  <a:srgbClr val="55606E"/>
                </a:solidFill>
                <a:latin typeface="Calibri" pitchFamily="34" charset="0"/>
                <a:ea typeface="Calibri" pitchFamily="34" charset="-122"/>
                <a:cs typeface="Calibri" pitchFamily="34" charset="-120"/>
              </a:rPr>
              <a:t>agiert</a:t>
            </a:r>
            <a:r>
              <a:rPr lang="en-US" sz="1450" dirty="0">
                <a:solidFill>
                  <a:srgbClr val="55606E"/>
                </a:solidFill>
                <a:latin typeface="Calibri" pitchFamily="34" charset="0"/>
                <a:ea typeface="Calibri" pitchFamily="34" charset="-122"/>
                <a:cs typeface="Calibri" pitchFamily="34" charset="-120"/>
              </a:rPr>
              <a:t> </a:t>
            </a:r>
            <a:r>
              <a:rPr lang="en-US" sz="1450" dirty="0" err="1">
                <a:solidFill>
                  <a:srgbClr val="55606E"/>
                </a:solidFill>
                <a:latin typeface="Calibri" pitchFamily="34" charset="0"/>
                <a:ea typeface="Calibri" pitchFamily="34" charset="-122"/>
                <a:cs typeface="Calibri" pitchFamily="34" charset="-120"/>
              </a:rPr>
              <a:t>vollständig</a:t>
            </a:r>
            <a:r>
              <a:rPr lang="en-US" sz="1450" dirty="0">
                <a:solidFill>
                  <a:srgbClr val="55606E"/>
                </a:solidFill>
                <a:latin typeface="Calibri" pitchFamily="34" charset="0"/>
                <a:ea typeface="Calibri" pitchFamily="34" charset="-122"/>
                <a:cs typeface="Calibri" pitchFamily="34" charset="-120"/>
              </a:rPr>
              <a:t> als der Nutzer.</a:t>
            </a:r>
            <a:endParaRPr lang="en-US" sz="1450" dirty="0"/>
          </a:p>
        </p:txBody>
      </p:sp>
      <p:sp>
        <p:nvSpPr>
          <p:cNvPr id="21" name="Text 1">
            <a:extLst>
              <a:ext uri="{FF2B5EF4-FFF2-40B4-BE49-F238E27FC236}">
                <a16:creationId xmlns:a16="http://schemas.microsoft.com/office/drawing/2014/main" id="{56F96ED9-BE3A-4178-B271-B9ED9DFDF13F}"/>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23</a:t>
            </a:fld>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FAZIT · ARCHITEKTUR</a:t>
            </a:r>
            <a:endParaRPr lang="en-US" sz="1050" dirty="0"/>
          </a:p>
        </p:txBody>
      </p:sp>
      <p:sp>
        <p:nvSpPr>
          <p:cNvPr id="4" name="Text 2"/>
          <p:cNvSpPr/>
          <p:nvPr/>
        </p:nvSpPr>
        <p:spPr>
          <a:xfrm>
            <a:off x="868680" y="1051560"/>
            <a:ext cx="10607040" cy="777240"/>
          </a:xfrm>
          <a:prstGeom prst="rect">
            <a:avLst/>
          </a:prstGeom>
          <a:noFill/>
          <a:ln/>
        </p:spPr>
        <p:txBody>
          <a:bodyPr wrap="square" lIns="0" tIns="0" rIns="0" bIns="0" rtlCol="0" anchor="ctr"/>
          <a:lstStyle/>
          <a:p>
            <a:pPr marL="0" indent="0">
              <a:buNone/>
            </a:pPr>
            <a:r>
              <a:rPr lang="en-US" sz="3400" b="1" dirty="0">
                <a:solidFill>
                  <a:srgbClr val="16181D"/>
                </a:solidFill>
                <a:latin typeface="Trebuchet MS" pitchFamily="34" charset="0"/>
                <a:ea typeface="Trebuchet MS" pitchFamily="34" charset="-122"/>
                <a:cs typeface="Trebuchet MS" pitchFamily="34" charset="-120"/>
              </a:rPr>
              <a:t>Das </a:t>
            </a:r>
            <a:r>
              <a:rPr lang="en-US" sz="3400" b="1" dirty="0" err="1">
                <a:solidFill>
                  <a:srgbClr val="16181D"/>
                </a:solidFill>
                <a:latin typeface="Trebuchet MS" pitchFamily="34" charset="0"/>
                <a:ea typeface="Trebuchet MS" pitchFamily="34" charset="-122"/>
                <a:cs typeface="Trebuchet MS" pitchFamily="34" charset="-120"/>
              </a:rPr>
              <a:t>Zusammenspiel</a:t>
            </a:r>
            <a:r>
              <a:rPr lang="en-US" sz="3400" b="1" dirty="0">
                <a:solidFill>
                  <a:srgbClr val="16181D"/>
                </a:solidFill>
                <a:latin typeface="Trebuchet MS" pitchFamily="34" charset="0"/>
                <a:ea typeface="Trebuchet MS" pitchFamily="34" charset="-122"/>
                <a:cs typeface="Trebuchet MS" pitchFamily="34" charset="-120"/>
              </a:rPr>
              <a:t> der </a:t>
            </a:r>
            <a:r>
              <a:rPr lang="en-US" sz="3400" b="1" dirty="0" err="1">
                <a:solidFill>
                  <a:srgbClr val="16181D"/>
                </a:solidFill>
                <a:latin typeface="Trebuchet MS" pitchFamily="34" charset="0"/>
                <a:ea typeface="Trebuchet MS" pitchFamily="34" charset="-122"/>
                <a:cs typeface="Trebuchet MS" pitchFamily="34" charset="-120"/>
              </a:rPr>
              <a:t>Schwachstellen</a:t>
            </a:r>
            <a:endParaRPr lang="en-US" sz="3400" dirty="0"/>
          </a:p>
        </p:txBody>
      </p:sp>
      <p:sp>
        <p:nvSpPr>
          <p:cNvPr id="5" name="Text 3"/>
          <p:cNvSpPr/>
          <p:nvPr/>
        </p:nvSpPr>
        <p:spPr>
          <a:xfrm>
            <a:off x="868680" y="1874520"/>
            <a:ext cx="10241280" cy="457200"/>
          </a:xfrm>
          <a:prstGeom prst="rect">
            <a:avLst/>
          </a:prstGeom>
          <a:noFill/>
          <a:ln/>
        </p:spPr>
        <p:txBody>
          <a:bodyPr wrap="square" lIns="0" tIns="0" rIns="0" bIns="0" rtlCol="0" anchor="ctr"/>
          <a:lstStyle/>
          <a:p>
            <a:pPr marL="0" indent="0">
              <a:buNone/>
            </a:pPr>
            <a:r>
              <a:rPr lang="en-US" sz="1700" dirty="0">
                <a:solidFill>
                  <a:srgbClr val="55606E"/>
                </a:solidFill>
                <a:latin typeface="Calibri" pitchFamily="34" charset="0"/>
                <a:ea typeface="Calibri" pitchFamily="34" charset="-122"/>
                <a:cs typeface="Calibri" pitchFamily="34" charset="-120"/>
              </a:rPr>
              <a:t>Keine </a:t>
            </a:r>
            <a:r>
              <a:rPr lang="en-US" sz="1700" dirty="0" err="1">
                <a:solidFill>
                  <a:srgbClr val="55606E"/>
                </a:solidFill>
                <a:latin typeface="Calibri" pitchFamily="34" charset="0"/>
                <a:ea typeface="Calibri" pitchFamily="34" charset="-122"/>
                <a:cs typeface="Calibri" pitchFamily="34" charset="-120"/>
              </a:rPr>
              <a:t>Einzel-Lücke</a:t>
            </a:r>
            <a:r>
              <a:rPr lang="en-US" sz="1700" dirty="0">
                <a:solidFill>
                  <a:srgbClr val="55606E"/>
                </a:solidFill>
                <a:latin typeface="Calibri" pitchFamily="34" charset="0"/>
                <a:ea typeface="Calibri" pitchFamily="34" charset="-122"/>
                <a:cs typeface="Calibri" pitchFamily="34" charset="-120"/>
              </a:rPr>
              <a:t>, </a:t>
            </a:r>
            <a:r>
              <a:rPr lang="en-US" sz="1700" dirty="0" err="1">
                <a:solidFill>
                  <a:srgbClr val="55606E"/>
                </a:solidFill>
                <a:latin typeface="Calibri" pitchFamily="34" charset="0"/>
                <a:ea typeface="Calibri" pitchFamily="34" charset="-122"/>
                <a:cs typeface="Calibri" pitchFamily="34" charset="-120"/>
              </a:rPr>
              <a:t>sondern</a:t>
            </a:r>
            <a:r>
              <a:rPr lang="en-US" sz="1700" dirty="0">
                <a:solidFill>
                  <a:srgbClr val="55606E"/>
                </a:solidFill>
                <a:latin typeface="Calibri" pitchFamily="34" charset="0"/>
                <a:ea typeface="Calibri" pitchFamily="34" charset="-122"/>
                <a:cs typeface="Calibri" pitchFamily="34" charset="-120"/>
              </a:rPr>
              <a:t> </a:t>
            </a:r>
            <a:r>
              <a:rPr lang="de-DE" sz="1700" dirty="0">
                <a:solidFill>
                  <a:srgbClr val="55606E"/>
                </a:solidFill>
                <a:latin typeface="Calibri" pitchFamily="34" charset="0"/>
                <a:ea typeface="Calibri" pitchFamily="34" charset="-122"/>
                <a:cs typeface="Calibri" pitchFamily="34" charset="-120"/>
              </a:rPr>
              <a:t>die Schichten machen es kritisch</a:t>
            </a:r>
          </a:p>
        </p:txBody>
      </p:sp>
      <p:sp>
        <p:nvSpPr>
          <p:cNvPr id="6" name="Shape 4"/>
          <p:cNvSpPr/>
          <p:nvPr/>
        </p:nvSpPr>
        <p:spPr>
          <a:xfrm>
            <a:off x="868680" y="2743200"/>
            <a:ext cx="10454335" cy="0"/>
          </a:xfrm>
          <a:prstGeom prst="line">
            <a:avLst/>
          </a:prstGeom>
          <a:noFill/>
          <a:ln w="12700">
            <a:solidFill>
              <a:srgbClr val="E4E7EC"/>
            </a:solidFill>
            <a:prstDash val="solid"/>
          </a:ln>
        </p:spPr>
      </p:sp>
      <p:sp>
        <p:nvSpPr>
          <p:cNvPr id="7" name="Text 5"/>
          <p:cNvSpPr/>
          <p:nvPr/>
        </p:nvSpPr>
        <p:spPr>
          <a:xfrm>
            <a:off x="868680" y="2889504"/>
            <a:ext cx="10454335" cy="384048"/>
          </a:xfrm>
          <a:prstGeom prst="rect">
            <a:avLst/>
          </a:prstGeom>
          <a:noFill/>
          <a:ln/>
        </p:spPr>
        <p:txBody>
          <a:bodyPr wrap="square" lIns="0" tIns="0" rIns="0" bIns="0" rtlCol="0" anchor="ctr"/>
          <a:lstStyle/>
          <a:p>
            <a:pPr marL="0" indent="0">
              <a:buNone/>
            </a:pPr>
            <a:r>
              <a:rPr lang="en-US" sz="1900" b="1" dirty="0">
                <a:solidFill>
                  <a:srgbClr val="16181D"/>
                </a:solidFill>
                <a:latin typeface="Trebuchet MS" pitchFamily="34" charset="0"/>
                <a:ea typeface="Trebuchet MS" pitchFamily="34" charset="-122"/>
                <a:cs typeface="Trebuchet MS" pitchFamily="34" charset="-120"/>
              </a:rPr>
              <a:t>Offenes CORS</a:t>
            </a:r>
            <a:endParaRPr lang="en-US" sz="1900" dirty="0"/>
          </a:p>
        </p:txBody>
      </p:sp>
      <p:sp>
        <p:nvSpPr>
          <p:cNvPr id="8" name="Text 6"/>
          <p:cNvSpPr/>
          <p:nvPr/>
        </p:nvSpPr>
        <p:spPr>
          <a:xfrm>
            <a:off x="868680" y="3310128"/>
            <a:ext cx="10454335" cy="36576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weicht die Browser-Sperre für fremde Origins auf.</a:t>
            </a:r>
            <a:endParaRPr lang="en-US" sz="1400" dirty="0"/>
          </a:p>
        </p:txBody>
      </p:sp>
      <p:sp>
        <p:nvSpPr>
          <p:cNvPr id="9" name="Shape 7"/>
          <p:cNvSpPr/>
          <p:nvPr/>
        </p:nvSpPr>
        <p:spPr>
          <a:xfrm>
            <a:off x="868680" y="3822192"/>
            <a:ext cx="10454335" cy="0"/>
          </a:xfrm>
          <a:prstGeom prst="line">
            <a:avLst/>
          </a:prstGeom>
          <a:noFill/>
          <a:ln w="12700">
            <a:solidFill>
              <a:srgbClr val="E4E7EC"/>
            </a:solidFill>
            <a:prstDash val="solid"/>
          </a:ln>
        </p:spPr>
      </p:sp>
      <p:sp>
        <p:nvSpPr>
          <p:cNvPr id="10" name="Text 8"/>
          <p:cNvSpPr/>
          <p:nvPr/>
        </p:nvSpPr>
        <p:spPr>
          <a:xfrm>
            <a:off x="868680" y="3968496"/>
            <a:ext cx="10454335" cy="384048"/>
          </a:xfrm>
          <a:prstGeom prst="rect">
            <a:avLst/>
          </a:prstGeom>
          <a:noFill/>
          <a:ln/>
        </p:spPr>
        <p:txBody>
          <a:bodyPr wrap="square" lIns="0" tIns="0" rIns="0" bIns="0" rtlCol="0" anchor="ctr"/>
          <a:lstStyle/>
          <a:p>
            <a:pPr marL="0" indent="0">
              <a:buNone/>
            </a:pPr>
            <a:r>
              <a:rPr lang="en-US" sz="1900" b="1" dirty="0">
                <a:solidFill>
                  <a:srgbClr val="16181D"/>
                </a:solidFill>
                <a:latin typeface="Trebuchet MS" pitchFamily="34" charset="0"/>
                <a:ea typeface="Trebuchet MS" pitchFamily="34" charset="-122"/>
                <a:cs typeface="Trebuchet MS" pitchFamily="34" charset="-120"/>
              </a:rPr>
              <a:t>Unauthentifizierter /files-Endpunkt</a:t>
            </a:r>
            <a:endParaRPr lang="en-US" sz="1900" dirty="0"/>
          </a:p>
        </p:txBody>
      </p:sp>
      <p:sp>
        <p:nvSpPr>
          <p:cNvPr id="11" name="Text 9"/>
          <p:cNvSpPr/>
          <p:nvPr/>
        </p:nvSpPr>
        <p:spPr>
          <a:xfrm>
            <a:off x="868680" y="4389120"/>
            <a:ext cx="10454335" cy="36576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liefert Datei-Exporte ohne Anmeldung.</a:t>
            </a:r>
            <a:endParaRPr lang="en-US" sz="1400" dirty="0"/>
          </a:p>
        </p:txBody>
      </p:sp>
      <p:sp>
        <p:nvSpPr>
          <p:cNvPr id="12" name="Shape 10"/>
          <p:cNvSpPr/>
          <p:nvPr/>
        </p:nvSpPr>
        <p:spPr>
          <a:xfrm>
            <a:off x="868680" y="4901184"/>
            <a:ext cx="10454335" cy="0"/>
          </a:xfrm>
          <a:prstGeom prst="line">
            <a:avLst/>
          </a:prstGeom>
          <a:noFill/>
          <a:ln w="12700">
            <a:solidFill>
              <a:srgbClr val="E4E7EC"/>
            </a:solidFill>
            <a:prstDash val="solid"/>
          </a:ln>
        </p:spPr>
      </p:sp>
      <p:sp>
        <p:nvSpPr>
          <p:cNvPr id="13" name="Text 11"/>
          <p:cNvSpPr/>
          <p:nvPr/>
        </p:nvSpPr>
        <p:spPr>
          <a:xfrm>
            <a:off x="868680" y="5047488"/>
            <a:ext cx="10454335" cy="384048"/>
          </a:xfrm>
          <a:prstGeom prst="rect">
            <a:avLst/>
          </a:prstGeom>
          <a:noFill/>
          <a:ln/>
        </p:spPr>
        <p:txBody>
          <a:bodyPr wrap="square" lIns="0" tIns="0" rIns="0" bIns="0" rtlCol="0" anchor="ctr"/>
          <a:lstStyle/>
          <a:p>
            <a:pPr marL="0" indent="0">
              <a:buNone/>
            </a:pPr>
            <a:r>
              <a:rPr lang="en-US" sz="1900" b="1" dirty="0" err="1">
                <a:solidFill>
                  <a:srgbClr val="16181D"/>
                </a:solidFill>
                <a:latin typeface="Trebuchet MS" pitchFamily="34" charset="0"/>
                <a:ea typeface="Trebuchet MS" pitchFamily="34" charset="-122"/>
                <a:cs typeface="Trebuchet MS" pitchFamily="34" charset="-120"/>
              </a:rPr>
              <a:t>Unsichere</a:t>
            </a:r>
            <a:r>
              <a:rPr lang="en-US" sz="1900" b="1" dirty="0">
                <a:solidFill>
                  <a:srgbClr val="16181D"/>
                </a:solidFill>
                <a:latin typeface="Trebuchet MS" pitchFamily="34" charset="0"/>
                <a:ea typeface="Trebuchet MS" pitchFamily="34" charset="-122"/>
                <a:cs typeface="Trebuchet MS" pitchFamily="34" charset="-120"/>
              </a:rPr>
              <a:t> Keycloak-Regeln</a:t>
            </a:r>
            <a:endParaRPr lang="en-US" sz="1900" dirty="0"/>
          </a:p>
        </p:txBody>
      </p:sp>
      <p:sp>
        <p:nvSpPr>
          <p:cNvPr id="14" name="Text 12"/>
          <p:cNvSpPr/>
          <p:nvPr/>
        </p:nvSpPr>
        <p:spPr>
          <a:xfrm>
            <a:off x="868680" y="5468112"/>
            <a:ext cx="10454335" cy="365760"/>
          </a:xfrm>
          <a:prstGeom prst="rect">
            <a:avLst/>
          </a:prstGeom>
          <a:noFill/>
          <a:ln/>
        </p:spPr>
        <p:txBody>
          <a:bodyPr wrap="square" lIns="0" tIns="0" rIns="0" bIns="0" rtlCol="0" anchor="ctr"/>
          <a:lstStyle/>
          <a:p>
            <a:pPr marL="0" indent="0">
              <a:buNone/>
            </a:pPr>
            <a:r>
              <a:rPr lang="en-US" sz="1400" dirty="0">
                <a:solidFill>
                  <a:srgbClr val="55606E"/>
                </a:solidFill>
                <a:latin typeface="Calibri" pitchFamily="34" charset="0"/>
                <a:ea typeface="Calibri" pitchFamily="34" charset="-122"/>
                <a:cs typeface="Calibri" pitchFamily="34" charset="-120"/>
              </a:rPr>
              <a:t>Wildcard-Origins und veraltete Token-Flows.</a:t>
            </a:r>
            <a:endParaRPr lang="en-US" sz="1400" dirty="0"/>
          </a:p>
        </p:txBody>
      </p:sp>
      <p:sp>
        <p:nvSpPr>
          <p:cNvPr id="15" name="Text 1">
            <a:extLst>
              <a:ext uri="{FF2B5EF4-FFF2-40B4-BE49-F238E27FC236}">
                <a16:creationId xmlns:a16="http://schemas.microsoft.com/office/drawing/2014/main" id="{E30CECDF-2AC1-01E7-3CE7-CA5D74B92E3C}"/>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24</a:t>
            </a:fld>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502920"/>
            <a:ext cx="8229600" cy="274320"/>
          </a:xfrm>
          <a:prstGeom prst="rect">
            <a:avLst/>
          </a:prstGeom>
          <a:noFill/>
          <a:ln/>
        </p:spPr>
        <p:txBody>
          <a:bodyPr wrap="square" lIns="0" tIns="0" rIns="0" bIns="0" rtlCol="0" anchor="ctr"/>
          <a:lstStyle/>
          <a:p>
            <a:pPr marL="0" indent="0">
              <a:buNone/>
            </a:pPr>
            <a:r>
              <a:rPr lang="en-US" sz="1050" b="1" kern="0" spc="250" dirty="0">
                <a:solidFill>
                  <a:srgbClr val="9AA3AF"/>
                </a:solidFill>
                <a:latin typeface="Calibri" pitchFamily="34" charset="0"/>
                <a:ea typeface="Calibri" pitchFamily="34" charset="-122"/>
                <a:cs typeface="Calibri" pitchFamily="34" charset="-120"/>
              </a:rPr>
              <a:t>FAZIT</a:t>
            </a:r>
            <a:endParaRPr lang="en-US" sz="1050" dirty="0"/>
          </a:p>
        </p:txBody>
      </p:sp>
      <p:sp>
        <p:nvSpPr>
          <p:cNvPr id="4" name="Text 2"/>
          <p:cNvSpPr/>
          <p:nvPr/>
        </p:nvSpPr>
        <p:spPr>
          <a:xfrm>
            <a:off x="868680" y="1188720"/>
            <a:ext cx="10058400" cy="822960"/>
          </a:xfrm>
          <a:prstGeom prst="rect">
            <a:avLst/>
          </a:prstGeom>
          <a:noFill/>
          <a:ln/>
        </p:spPr>
        <p:txBody>
          <a:bodyPr wrap="square" lIns="0" tIns="0" rIns="0" bIns="0" rtlCol="0" anchor="ctr"/>
          <a:lstStyle/>
          <a:p>
            <a:pPr marL="0" indent="0">
              <a:buNone/>
            </a:pPr>
            <a:r>
              <a:rPr lang="en-US" sz="4400" b="1" dirty="0">
                <a:solidFill>
                  <a:srgbClr val="16181D"/>
                </a:solidFill>
                <a:latin typeface="Trebuchet MS" pitchFamily="34" charset="0"/>
                <a:ea typeface="Trebuchet MS" pitchFamily="34" charset="-122"/>
                <a:cs typeface="Trebuchet MS" pitchFamily="34" charset="-120"/>
              </a:rPr>
              <a:t>Fazit</a:t>
            </a:r>
            <a:endParaRPr lang="en-US" sz="4400" dirty="0"/>
          </a:p>
        </p:txBody>
      </p:sp>
      <p:sp>
        <p:nvSpPr>
          <p:cNvPr id="5" name="Text 3"/>
          <p:cNvSpPr/>
          <p:nvPr/>
        </p:nvSpPr>
        <p:spPr>
          <a:xfrm>
            <a:off x="868680" y="2103120"/>
            <a:ext cx="10058400" cy="822960"/>
          </a:xfrm>
          <a:prstGeom prst="rect">
            <a:avLst/>
          </a:prstGeom>
          <a:noFill/>
          <a:ln/>
        </p:spPr>
        <p:txBody>
          <a:bodyPr wrap="square" lIns="0" tIns="0" rIns="0" bIns="0" rtlCol="0" anchor="ctr"/>
          <a:lstStyle/>
          <a:p>
            <a:pPr marL="0" indent="0">
              <a:buNone/>
            </a:pPr>
            <a:r>
              <a:rPr lang="en-US" sz="2100" b="1" dirty="0">
                <a:solidFill>
                  <a:srgbClr val="16181D"/>
                </a:solidFill>
                <a:latin typeface="Trebuchet MS" pitchFamily="34" charset="0"/>
                <a:ea typeface="Trebuchet MS" pitchFamily="34" charset="-122"/>
                <a:cs typeface="Trebuchet MS" pitchFamily="34" charset="-120"/>
              </a:rPr>
              <a:t>CORS ist kein Schutz - es weicht die Browser-Sperre kontrolliert auf.</a:t>
            </a:r>
          </a:p>
          <a:p>
            <a:pPr marL="0" indent="0">
              <a:buNone/>
            </a:pPr>
            <a:r>
              <a:rPr lang="en-US" sz="2100" b="1" dirty="0">
                <a:solidFill>
                  <a:srgbClr val="16181D"/>
                </a:solidFill>
                <a:latin typeface="Trebuchet MS" pitchFamily="34" charset="0"/>
                <a:ea typeface="Trebuchet MS" pitchFamily="34" charset="-122"/>
                <a:cs typeface="Trebuchet MS" pitchFamily="34" charset="-120"/>
              </a:rPr>
              <a:t>Auth </a:t>
            </a:r>
            <a:r>
              <a:rPr lang="en-US" sz="2100" b="1" dirty="0" err="1">
                <a:solidFill>
                  <a:srgbClr val="16181D"/>
                </a:solidFill>
                <a:latin typeface="Trebuchet MS" pitchFamily="34" charset="0"/>
                <a:ea typeface="Trebuchet MS" pitchFamily="34" charset="-122"/>
                <a:cs typeface="Trebuchet MS" pitchFamily="34" charset="-120"/>
              </a:rPr>
              <a:t>prüft</a:t>
            </a:r>
            <a:r>
              <a:rPr lang="en-US" sz="2100" b="1" dirty="0">
                <a:solidFill>
                  <a:srgbClr val="16181D"/>
                </a:solidFill>
                <a:latin typeface="Trebuchet MS" pitchFamily="34" charset="0"/>
                <a:ea typeface="Trebuchet MS" pitchFamily="34" charset="-122"/>
                <a:cs typeface="Trebuchet MS" pitchFamily="34" charset="-120"/>
              </a:rPr>
              <a:t> die Rechte.</a:t>
            </a:r>
            <a:endParaRPr lang="en-US" sz="2100" dirty="0"/>
          </a:p>
        </p:txBody>
      </p:sp>
      <p:sp>
        <p:nvSpPr>
          <p:cNvPr id="6" name="Shape 4"/>
          <p:cNvSpPr/>
          <p:nvPr/>
        </p:nvSpPr>
        <p:spPr>
          <a:xfrm>
            <a:off x="868680" y="3200400"/>
            <a:ext cx="10454335" cy="0"/>
          </a:xfrm>
          <a:prstGeom prst="line">
            <a:avLst/>
          </a:prstGeom>
          <a:noFill/>
          <a:ln w="12700">
            <a:solidFill>
              <a:srgbClr val="E4E7EC"/>
            </a:solidFill>
            <a:prstDash val="solid"/>
          </a:ln>
        </p:spPr>
      </p:sp>
      <p:sp>
        <p:nvSpPr>
          <p:cNvPr id="7" name="Text 5"/>
          <p:cNvSpPr/>
          <p:nvPr/>
        </p:nvSpPr>
        <p:spPr>
          <a:xfrm>
            <a:off x="868680" y="3429000"/>
            <a:ext cx="7315200" cy="274320"/>
          </a:xfrm>
          <a:prstGeom prst="rect">
            <a:avLst/>
          </a:prstGeom>
          <a:noFill/>
          <a:ln/>
        </p:spPr>
        <p:txBody>
          <a:bodyPr wrap="square" lIns="0" tIns="0" rIns="0" bIns="0" rtlCol="0" anchor="ctr"/>
          <a:lstStyle/>
          <a:p>
            <a:pPr marL="0" indent="0">
              <a:buNone/>
            </a:pPr>
            <a:r>
              <a:rPr lang="en-US" sz="1150" b="1" kern="0" spc="250" dirty="0">
                <a:solidFill>
                  <a:srgbClr val="1E8F5E"/>
                </a:solidFill>
                <a:latin typeface="Calibri" pitchFamily="34" charset="0"/>
                <a:ea typeface="Calibri" pitchFamily="34" charset="-122"/>
                <a:cs typeface="Calibri" pitchFamily="34" charset="-120"/>
              </a:rPr>
              <a:t>DIE FINALE LÖSUNG</a:t>
            </a:r>
            <a:endParaRPr lang="en-US" sz="1150" dirty="0"/>
          </a:p>
        </p:txBody>
      </p:sp>
      <p:sp>
        <p:nvSpPr>
          <p:cNvPr id="8" name="Text 6"/>
          <p:cNvSpPr/>
          <p:nvPr/>
        </p:nvSpPr>
        <p:spPr>
          <a:xfrm>
            <a:off x="868680" y="3794760"/>
            <a:ext cx="548640" cy="457200"/>
          </a:xfrm>
          <a:prstGeom prst="rect">
            <a:avLst/>
          </a:prstGeom>
          <a:noFill/>
          <a:ln/>
        </p:spPr>
        <p:txBody>
          <a:bodyPr wrap="square" lIns="0" tIns="0" rIns="0" bIns="0" rtlCol="0" anchor="ctr"/>
          <a:lstStyle/>
          <a:p>
            <a:pPr marL="0" indent="0">
              <a:buNone/>
            </a:pPr>
            <a:r>
              <a:rPr lang="en-US" sz="1700" b="1" dirty="0">
                <a:solidFill>
                  <a:srgbClr val="9AA3AF"/>
                </a:solidFill>
                <a:latin typeface="Trebuchet MS" pitchFamily="34" charset="0"/>
                <a:ea typeface="Trebuchet MS" pitchFamily="34" charset="-122"/>
                <a:cs typeface="Trebuchet MS" pitchFamily="34" charset="-120"/>
              </a:rPr>
              <a:t>01</a:t>
            </a:r>
            <a:endParaRPr lang="en-US" sz="1700" dirty="0"/>
          </a:p>
        </p:txBody>
      </p:sp>
      <p:sp>
        <p:nvSpPr>
          <p:cNvPr id="9" name="Text 7"/>
          <p:cNvSpPr/>
          <p:nvPr/>
        </p:nvSpPr>
        <p:spPr>
          <a:xfrm>
            <a:off x="1508760" y="3794760"/>
            <a:ext cx="9814255" cy="45720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Saubere Trennung von Dev- und Prod-Properties.</a:t>
            </a:r>
            <a:endParaRPr lang="en-US" sz="1600" dirty="0"/>
          </a:p>
        </p:txBody>
      </p:sp>
      <p:sp>
        <p:nvSpPr>
          <p:cNvPr id="10" name="Text 8"/>
          <p:cNvSpPr/>
          <p:nvPr/>
        </p:nvSpPr>
        <p:spPr>
          <a:xfrm>
            <a:off x="868680" y="4343400"/>
            <a:ext cx="548640" cy="457200"/>
          </a:xfrm>
          <a:prstGeom prst="rect">
            <a:avLst/>
          </a:prstGeom>
          <a:noFill/>
          <a:ln/>
        </p:spPr>
        <p:txBody>
          <a:bodyPr wrap="square" lIns="0" tIns="0" rIns="0" bIns="0" rtlCol="0" anchor="ctr"/>
          <a:lstStyle/>
          <a:p>
            <a:pPr marL="0" indent="0">
              <a:buNone/>
            </a:pPr>
            <a:r>
              <a:rPr lang="en-US" sz="1700" b="1" dirty="0">
                <a:solidFill>
                  <a:srgbClr val="9AA3AF"/>
                </a:solidFill>
                <a:latin typeface="Trebuchet MS" pitchFamily="34" charset="0"/>
                <a:ea typeface="Trebuchet MS" pitchFamily="34" charset="-122"/>
                <a:cs typeface="Trebuchet MS" pitchFamily="34" charset="-120"/>
              </a:rPr>
              <a:t>02</a:t>
            </a:r>
            <a:endParaRPr lang="en-US" sz="1700" dirty="0"/>
          </a:p>
        </p:txBody>
      </p:sp>
      <p:sp>
        <p:nvSpPr>
          <p:cNvPr id="11" name="Text 9"/>
          <p:cNvSpPr/>
          <p:nvPr/>
        </p:nvSpPr>
        <p:spPr>
          <a:xfrm>
            <a:off x="1508760" y="4343400"/>
            <a:ext cx="9814255" cy="457200"/>
          </a:xfrm>
          <a:prstGeom prst="rect">
            <a:avLst/>
          </a:prstGeom>
          <a:noFill/>
          <a:ln/>
        </p:spPr>
        <p:txBody>
          <a:bodyPr wrap="square" lIns="0" tIns="0" rIns="0" bIns="0" rtlCol="0" anchor="ctr"/>
          <a:lstStyle/>
          <a:p>
            <a:pPr marL="0" indent="0">
              <a:buNone/>
            </a:pPr>
            <a:r>
              <a:rPr lang="en-US" sz="1600" dirty="0" err="1">
                <a:solidFill>
                  <a:srgbClr val="16181D"/>
                </a:solidFill>
                <a:latin typeface="Calibri" pitchFamily="34" charset="0"/>
                <a:ea typeface="Calibri" pitchFamily="34" charset="-122"/>
                <a:cs typeface="Calibri" pitchFamily="34" charset="-120"/>
              </a:rPr>
              <a:t>Authentifizierung</a:t>
            </a:r>
            <a:r>
              <a:rPr lang="en-US" sz="1600" dirty="0">
                <a:solidFill>
                  <a:srgbClr val="16181D"/>
                </a:solidFill>
                <a:latin typeface="Calibri" pitchFamily="34" charset="0"/>
                <a:ea typeface="Calibri" pitchFamily="34" charset="-122"/>
                <a:cs typeface="Calibri" pitchFamily="34" charset="-120"/>
              </a:rPr>
              <a:t> für Datei-Exporte erzwingen.</a:t>
            </a:r>
            <a:endParaRPr lang="en-US" sz="1600" dirty="0"/>
          </a:p>
        </p:txBody>
      </p:sp>
      <p:sp>
        <p:nvSpPr>
          <p:cNvPr id="12" name="Text 10"/>
          <p:cNvSpPr/>
          <p:nvPr/>
        </p:nvSpPr>
        <p:spPr>
          <a:xfrm>
            <a:off x="868680" y="4892040"/>
            <a:ext cx="548640" cy="457200"/>
          </a:xfrm>
          <a:prstGeom prst="rect">
            <a:avLst/>
          </a:prstGeom>
          <a:noFill/>
          <a:ln/>
        </p:spPr>
        <p:txBody>
          <a:bodyPr wrap="square" lIns="0" tIns="0" rIns="0" bIns="0" rtlCol="0" anchor="ctr"/>
          <a:lstStyle/>
          <a:p>
            <a:pPr marL="0" indent="0">
              <a:buNone/>
            </a:pPr>
            <a:r>
              <a:rPr lang="en-US" sz="1700" b="1" dirty="0">
                <a:solidFill>
                  <a:srgbClr val="9AA3AF"/>
                </a:solidFill>
                <a:latin typeface="Trebuchet MS" pitchFamily="34" charset="0"/>
                <a:ea typeface="Trebuchet MS" pitchFamily="34" charset="-122"/>
                <a:cs typeface="Trebuchet MS" pitchFamily="34" charset="-120"/>
              </a:rPr>
              <a:t>03</a:t>
            </a:r>
            <a:endParaRPr lang="en-US" sz="1700" dirty="0"/>
          </a:p>
        </p:txBody>
      </p:sp>
      <p:sp>
        <p:nvSpPr>
          <p:cNvPr id="13" name="Text 11"/>
          <p:cNvSpPr/>
          <p:nvPr/>
        </p:nvSpPr>
        <p:spPr>
          <a:xfrm>
            <a:off x="1508760" y="4892040"/>
            <a:ext cx="9814255" cy="45720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Keycloak-Wildcards schliessen, veraltete Flows deaktivieren.</a:t>
            </a:r>
            <a:endParaRPr lang="en-US" sz="1600" dirty="0"/>
          </a:p>
        </p:txBody>
      </p:sp>
      <p:sp>
        <p:nvSpPr>
          <p:cNvPr id="14" name="Text 12"/>
          <p:cNvSpPr/>
          <p:nvPr/>
        </p:nvSpPr>
        <p:spPr>
          <a:xfrm>
            <a:off x="868680" y="5440680"/>
            <a:ext cx="548640" cy="457200"/>
          </a:xfrm>
          <a:prstGeom prst="rect">
            <a:avLst/>
          </a:prstGeom>
          <a:noFill/>
          <a:ln/>
        </p:spPr>
        <p:txBody>
          <a:bodyPr wrap="square" lIns="0" tIns="0" rIns="0" bIns="0" rtlCol="0" anchor="ctr"/>
          <a:lstStyle/>
          <a:p>
            <a:pPr marL="0" indent="0">
              <a:buNone/>
            </a:pPr>
            <a:r>
              <a:rPr lang="en-US" sz="1700" b="1" dirty="0">
                <a:solidFill>
                  <a:srgbClr val="9AA3AF"/>
                </a:solidFill>
                <a:latin typeface="Trebuchet MS" pitchFamily="34" charset="0"/>
                <a:ea typeface="Trebuchet MS" pitchFamily="34" charset="-122"/>
                <a:cs typeface="Trebuchet MS" pitchFamily="34" charset="-120"/>
              </a:rPr>
              <a:t>04</a:t>
            </a:r>
            <a:endParaRPr lang="en-US" sz="1700" dirty="0"/>
          </a:p>
        </p:txBody>
      </p:sp>
      <p:sp>
        <p:nvSpPr>
          <p:cNvPr id="15" name="Text 13"/>
          <p:cNvSpPr/>
          <p:nvPr/>
        </p:nvSpPr>
        <p:spPr>
          <a:xfrm>
            <a:off x="1508760" y="5440680"/>
            <a:ext cx="9814255" cy="45720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Feste CORS-Allowlist statt Origin-Spiegelung.</a:t>
            </a:r>
            <a:endParaRPr lang="en-US" sz="1600" dirty="0"/>
          </a:p>
        </p:txBody>
      </p:sp>
      <p:sp>
        <p:nvSpPr>
          <p:cNvPr id="16" name="Text 1">
            <a:extLst>
              <a:ext uri="{FF2B5EF4-FFF2-40B4-BE49-F238E27FC236}">
                <a16:creationId xmlns:a16="http://schemas.microsoft.com/office/drawing/2014/main" id="{50AC08BC-9F32-DDAA-6B5E-9BC06F58D6F6}"/>
              </a:ext>
            </a:extLst>
          </p:cNvPr>
          <p:cNvSpPr/>
          <p:nvPr/>
        </p:nvSpPr>
        <p:spPr>
          <a:xfrm>
            <a:off x="10774375" y="502920"/>
            <a:ext cx="548640" cy="274320"/>
          </a:xfrm>
          <a:prstGeom prst="rect">
            <a:avLst/>
          </a:prstGeom>
          <a:noFill/>
          <a:ln/>
        </p:spPr>
        <p:txBody>
          <a:bodyPr wrap="square" lIns="0" tIns="0" rIns="0" bIns="0" rtlCol="0" anchor="ctr"/>
          <a:lstStyle/>
          <a:p>
            <a:pPr marL="0" indent="0" algn="r">
              <a:buNone/>
            </a:pPr>
            <a:fld id="{B45D24B6-C78C-43F1-9D4F-88F7B48373A8}" type="slidenum">
              <a:rPr lang="en-US" sz="1050" b="1" kern="0" spc="100" smtClean="0">
                <a:solidFill>
                  <a:srgbClr val="9AA3AF"/>
                </a:solidFill>
                <a:latin typeface="Calibri" pitchFamily="34" charset="0"/>
                <a:ea typeface="Calibri" pitchFamily="34" charset="-122"/>
                <a:cs typeface="Calibri" pitchFamily="34" charset="-120"/>
              </a:rPr>
              <a:t>25</a:t>
            </a:fld>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1870</Words>
  <Application>Microsoft Office PowerPoint</Application>
  <DocSecurity>0</DocSecurity>
  <PresentationFormat>Breitbild</PresentationFormat>
  <Paragraphs>348</Paragraphs>
  <Slides>25</Slides>
  <Notes>25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Calibri</vt:lpstr>
      <vt:lpstr>Consolas</vt:lpstr>
      <vt:lpstr>Trebuchet MS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Tom Markmann</cp:lastModifiedBy>
  <cp:revision>7</cp:revision>
  <dcterms:created xsi:type="dcterms:W3CDTF">2026-06-09T16:20:32Z</dcterms:created>
  <dcterms:modified xsi:type="dcterms:W3CDTF">2026-06-10T07:00:48Z</dcterms:modified>
</cp:coreProperties>
</file>