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7" r:id="rId5"/>
    <p:sldId id="262" r:id="rId6"/>
    <p:sldId id="263" r:id="rId7"/>
    <p:sldId id="264" r:id="rId8"/>
    <p:sldId id="265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03" autoAdjust="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36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3204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Arvid: Zuerst die unsichere Variante öffnen und die Codeausführung zeigen. Danach die sichere Variante starten. Der gespeicherte Payload bleibt unverändert, wird aber nur noch als Text angezeigt.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1783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4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2 · LIVE-DEMO &amp; RISIKO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41248" y="21031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CORS in Aktion</a:t>
            </a:r>
            <a:endParaRPr lang="en-US" sz="7400" dirty="0"/>
          </a:p>
        </p:txBody>
      </p:sp>
      <p:sp>
        <p:nvSpPr>
          <p:cNvPr id="4" name="Text 2"/>
          <p:cNvSpPr/>
          <p:nvPr/>
        </p:nvSpPr>
        <p:spPr>
          <a:xfrm>
            <a:off x="868680" y="34290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5560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Vom blockierten Request zum Account-Takeover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68680" y="4224528"/>
            <a:ext cx="1828800" cy="0"/>
          </a:xfrm>
          <a:prstGeom prst="line">
            <a:avLst/>
          </a:prstGeom>
          <a:noFill/>
          <a:ln w="28575">
            <a:solidFill>
              <a:srgbClr val="1618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434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Live-Demo · das kritische Risiko · die Lehren daraus.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448495" y="6080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Vortrag: Tom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AUFBAU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774375" y="502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fld id="{B45D24B6-C78C-43F1-9D4F-88F7B48373A8}" type="slidenum">
              <a:rPr lang="en-US" sz="1050" b="1" kern="0" spc="100" smtClean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fld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68680" y="10515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</a:t>
            </a:r>
            <a:r>
              <a:rPr lang="en-US" sz="170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lokale</a:t>
            </a:r>
            <a:r>
              <a:rPr lang="en-US" sz="17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Komponenten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2788920"/>
            <a:ext cx="10454335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916936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up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· Postgres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579815" y="291693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9A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:8080 / :5432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3630168"/>
            <a:ext cx="10454335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758184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gradlew</a:t>
            </a:r>
            <a:r>
              <a:rPr lang="en-US" sz="150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b="1" dirty="0" err="1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bootRun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408736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Spring-Boot-API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579815" y="375818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9A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:8079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68680" y="4471416"/>
            <a:ext cx="10454335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599432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492861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reguläres</a:t>
            </a: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Vue-Frontend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579815" y="45994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9A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:8078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68680" y="5312664"/>
            <a:ext cx="10454335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54406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http.server 5173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8680" y="5769864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exploit.html - die </a:t>
            </a:r>
            <a:r>
              <a:rPr lang="en-US" sz="12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Angreifer-Seite</a:t>
            </a: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auf </a:t>
            </a:r>
            <a:r>
              <a:rPr lang="en-US" sz="12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anderem</a:t>
            </a: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Port für CORS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579815" y="5440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D23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:5173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ZUSTAND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774375" y="502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fld id="{EC1E1F00-EE60-4053-BF9B-450ECA91BF00}" type="slidenum">
              <a:rPr lang="en-US" sz="1050" b="1" kern="0" spc="100" smtClean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fld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68680" y="9144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D2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ERFOLGREICHE HACK · UNSICHERES CORS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Lautloser Download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5122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Unsichere</a:t>
            </a:r>
            <a:r>
              <a:rPr lang="en-US" sz="15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CORS-</a:t>
            </a:r>
            <a:r>
              <a:rPr lang="en-US" sz="15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Konfiguration</a:t>
            </a:r>
            <a:r>
              <a:rPr lang="en-US" sz="15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</a:t>
            </a:r>
            <a:r>
              <a:rPr lang="en-US" sz="15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Spring-Backend</a:t>
            </a:r>
          </a:p>
          <a:p>
            <a:pPr marL="0" indent="0">
              <a:buNone/>
            </a:pP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2995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326940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allowedOriginPatterns("*")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365345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allowCredentials(true)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42985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D2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EFFEKT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4572856"/>
            <a:ext cx="48939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Klick </a:t>
            </a:r>
            <a:r>
              <a:rPr lang="en-US" sz="1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triggert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einen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automatischen, lautlosen Download der echten Excel-Datei Stundenplan_Export.xlsx von der Scheduler-API</a:t>
            </a:r>
            <a:endParaRPr lang="en-US" sz="1400" dirty="0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F74A304D-4C30-1941-E54D-816F2E12DCFD}"/>
              </a:ext>
            </a:extLst>
          </p:cNvPr>
          <p:cNvSpPr/>
          <p:nvPr/>
        </p:nvSpPr>
        <p:spPr>
          <a:xfrm rot="16200000" flipH="1">
            <a:off x="3169922" y="3429002"/>
            <a:ext cx="5852157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0AD32B5F-4A91-871B-56E9-FF2D91F6C299}"/>
              </a:ext>
            </a:extLst>
          </p:cNvPr>
          <p:cNvSpPr/>
          <p:nvPr/>
        </p:nvSpPr>
        <p:spPr>
          <a:xfrm>
            <a:off x="6355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ZUSTAND 2</a:t>
            </a:r>
            <a:endParaRPr lang="en-US" sz="105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07971162-B37B-8A9D-D9B1-4A5EB8C332EF}"/>
              </a:ext>
            </a:extLst>
          </p:cNvPr>
          <p:cNvSpPr/>
          <p:nvPr/>
        </p:nvSpPr>
        <p:spPr>
          <a:xfrm>
            <a:off x="6355080" y="9144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1E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SICHERE FIX · DIE ALLOWLIST</a:t>
            </a:r>
            <a:endParaRPr lang="en-US" sz="115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80968698-DED7-F625-46E5-4E85083A0B26}"/>
              </a:ext>
            </a:extLst>
          </p:cNvPr>
          <p:cNvSpPr/>
          <p:nvPr/>
        </p:nvSpPr>
        <p:spPr>
          <a:xfrm>
            <a:off x="6355080" y="12344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Feste Allowlist</a:t>
            </a:r>
            <a:endParaRPr lang="en-US" sz="36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31024434-F174-3604-AE84-1156CBF01313}"/>
              </a:ext>
            </a:extLst>
          </p:cNvPr>
          <p:cNvSpPr/>
          <p:nvPr/>
        </p:nvSpPr>
        <p:spPr>
          <a:xfrm>
            <a:off x="6355080" y="20116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Sichere</a:t>
            </a:r>
            <a:r>
              <a:rPr lang="en-US" sz="15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CORS-</a:t>
            </a:r>
            <a:r>
              <a:rPr lang="en-US" sz="15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Konfiguration</a:t>
            </a:r>
            <a:r>
              <a:rPr lang="en-US" sz="15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durch</a:t>
            </a:r>
            <a:r>
              <a:rPr lang="en-US" sz="15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feste, </a:t>
            </a:r>
            <a:r>
              <a:rPr lang="en-US" sz="15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restriktive</a:t>
            </a:r>
            <a:r>
              <a:rPr lang="en-US" sz="15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Allowlist</a:t>
            </a:r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2B154276-CA3F-BA90-796B-19D34E1D4906}"/>
              </a:ext>
            </a:extLst>
          </p:cNvPr>
          <p:cNvSpPr/>
          <p:nvPr/>
        </p:nvSpPr>
        <p:spPr>
          <a:xfrm>
            <a:off x="6355080" y="42985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1E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EFFEKT</a:t>
            </a:r>
            <a:endParaRPr lang="en-US" sz="110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E4A428AB-491B-8447-BABC-BDBB61382490}"/>
              </a:ext>
            </a:extLst>
          </p:cNvPr>
          <p:cNvSpPr/>
          <p:nvPr/>
        </p:nvSpPr>
        <p:spPr>
          <a:xfrm>
            <a:off x="6355080" y="4572856"/>
            <a:ext cx="54863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</a:t>
            </a:r>
            <a:r>
              <a:rPr lang="en-US" sz="1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reguläre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Frontend auf Port 8078 darf </a:t>
            </a:r>
            <a:r>
              <a:rPr lang="en-US" sz="1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arbeiten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</a:t>
            </a:r>
            <a:r>
              <a:rPr lang="en-US" sz="1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Angreifer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-Origin - </a:t>
            </a:r>
            <a:r>
              <a:rPr lang="en-US" sz="1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oder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unbefugter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Port - </a:t>
            </a:r>
            <a:r>
              <a:rPr lang="en-US" sz="1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wird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blockiert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5F800674-4C8E-75DF-CFFF-6DF82993985D}"/>
              </a:ext>
            </a:extLst>
          </p:cNvPr>
          <p:cNvSpPr/>
          <p:nvPr/>
        </p:nvSpPr>
        <p:spPr>
          <a:xfrm>
            <a:off x="6355080" y="2995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KONFIGURATION</a:t>
            </a:r>
            <a:endParaRPr lang="en-US" sz="1100" dirty="0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F6FC7321-DEED-5FB3-4F5E-1D428DD48DB9}"/>
              </a:ext>
            </a:extLst>
          </p:cNvPr>
          <p:cNvSpPr/>
          <p:nvPr/>
        </p:nvSpPr>
        <p:spPr>
          <a:xfrm>
            <a:off x="6355080" y="326940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 err="1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allowedOriginPatterns</a:t>
            </a:r>
            <a:r>
              <a:rPr lang="en-US" sz="135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50" b="1" dirty="0" err="1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List.of</a:t>
            </a:r>
            <a:r>
              <a:rPr lang="en-US" sz="135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("http://localhost:8078"))</a:t>
            </a:r>
            <a:endParaRPr lang="en-US" sz="1350" dirty="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99790533-209D-69DC-D303-9149D137A1B2}"/>
              </a:ext>
            </a:extLst>
          </p:cNvPr>
          <p:cNvSpPr/>
          <p:nvPr/>
        </p:nvSpPr>
        <p:spPr>
          <a:xfrm>
            <a:off x="6355080" y="365345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 err="1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allowCredentials</a:t>
            </a:r>
            <a:r>
              <a:rPr lang="en-US" sz="135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(false)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3" grpId="0" animBg="1"/>
      <p:bldP spid="24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B95CA36-7AD5-4CED-959F-F065EF9A96F2}"/>
              </a:ext>
            </a:extLst>
          </p:cNvPr>
          <p:cNvSpPr>
            <a:spLocks noGrp="1"/>
          </p:cNvSpPr>
          <p:nvPr/>
        </p:nvSpPr>
        <p:spPr>
          <a:xfrm>
            <a:off x="868680" y="1874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 dirty="0">
                <a:solidFill>
                  <a:srgbClr val="1463FF"/>
                </a:solidFill>
                <a:latin typeface="Calibri"/>
                <a:ea typeface="Calibri"/>
                <a:cs typeface="Calibri"/>
              </a:rPr>
              <a:t>LIVE DEMO · </a:t>
            </a:r>
            <a:r>
              <a:rPr lang="de-DE" sz="1200" b="1" dirty="0">
                <a:solidFill>
                  <a:srgbClr val="1463FF"/>
                </a:solidFill>
                <a:latin typeface="Calibri"/>
                <a:ea typeface="Calibri"/>
                <a:cs typeface="Calibri"/>
              </a:rPr>
              <a:t>CORS</a:t>
            </a:r>
            <a:endParaRPr sz="1200" b="1" dirty="0">
              <a:solidFill>
                <a:srgbClr val="1463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D8DA67A-FD81-4D52-AB3E-0B0E93F9DAB5}"/>
              </a:ext>
            </a:extLst>
          </p:cNvPr>
          <p:cNvSpPr>
            <a:spLocks noGrp="1"/>
          </p:cNvSpPr>
          <p:nvPr/>
        </p:nvSpPr>
        <p:spPr>
          <a:xfrm>
            <a:off x="822960" y="219456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0" b="1" dirty="0">
                <a:solidFill>
                  <a:srgbClr val="16181D"/>
                </a:solidFill>
                <a:latin typeface="Trebuchet MS"/>
                <a:ea typeface="Trebuchet MS"/>
                <a:cs typeface="Trebuchet MS"/>
              </a:rPr>
              <a:t>Zur Live Demo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7D4FDB8-F8F0-4D96-95F0-9B90E32AF337}"/>
              </a:ext>
            </a:extLst>
          </p:cNvPr>
          <p:cNvSpPr>
            <a:spLocks noGrp="1"/>
          </p:cNvSpPr>
          <p:nvPr/>
        </p:nvSpPr>
        <p:spPr>
          <a:xfrm>
            <a:off x="868680" y="370332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2345276-9CC1-4302-B204-8758E42AE5A8}"/>
              </a:ext>
            </a:extLst>
          </p:cNvPr>
          <p:cNvSpPr>
            <a:spLocks noGrp="1"/>
          </p:cNvSpPr>
          <p:nvPr/>
        </p:nvSpPr>
        <p:spPr>
          <a:xfrm>
            <a:off x="868680" y="4526280"/>
            <a:ext cx="1828800" cy="0"/>
          </a:xfrm>
          <a:prstGeom prst="line">
            <a:avLst/>
          </a:prstGeom>
          <a:noFill/>
          <a:ln w="28575">
            <a:solidFill>
              <a:srgbClr val="16181D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68481FB-4609-481A-89AB-8748CC339F06}"/>
              </a:ext>
            </a:extLst>
          </p:cNvPr>
          <p:cNvSpPr>
            <a:spLocks noGrp="1"/>
          </p:cNvSpPr>
          <p:nvPr/>
        </p:nvSpPr>
        <p:spPr>
          <a:xfrm>
            <a:off x="868680" y="475488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de-DE" sz="1600" dirty="0">
                <a:solidFill>
                  <a:srgbClr val="55606E"/>
                </a:solidFill>
                <a:latin typeface="Calibri"/>
                <a:ea typeface="Calibri"/>
                <a:cs typeface="Calibri"/>
              </a:rPr>
              <a:t>Cross Origin Anfragen werden erst durch eine Unsichere Konfiguration durchgelassen und dann blockiert.</a:t>
            </a:r>
            <a:endParaRPr sz="1600" dirty="0">
              <a:solidFill>
                <a:srgbClr val="55606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4A987EA-ED23-44AA-ABC1-DB16DB020FDD}"/>
              </a:ext>
            </a:extLst>
          </p:cNvPr>
          <p:cNvSpPr>
            <a:spLocks noGrp="1"/>
          </p:cNvSpPr>
          <p:nvPr/>
        </p:nvSpPr>
        <p:spPr>
          <a:xfrm>
            <a:off x="9448495" y="6080760"/>
            <a:ext cx="18745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de-DE" sz="1200" i="1" dirty="0">
                <a:solidFill>
                  <a:srgbClr val="9AA3AF"/>
                </a:solidFill>
                <a:latin typeface="Calibri"/>
                <a:ea typeface="Calibri"/>
                <a:cs typeface="Calibri"/>
              </a:rPr>
              <a:t>Ole &amp; Tom</a:t>
            </a:r>
            <a:endParaRPr sz="1200" i="1" dirty="0">
              <a:solidFill>
                <a:srgbClr val="9AA3A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E041B37F-1298-875C-AAE5-73D143D9A2D6}"/>
              </a:ext>
            </a:extLst>
          </p:cNvPr>
          <p:cNvSpPr/>
          <p:nvPr/>
        </p:nvSpPr>
        <p:spPr>
          <a:xfrm>
            <a:off x="10774375" y="502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fld id="{EC1E1F00-EE60-4053-BF9B-450ECA91BF00}" type="slidenum">
              <a:rPr lang="en-US" sz="1050" b="1" kern="0" spc="100" smtClean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fld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44883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KRITISCHES RISIKO · ARCHITEKTUR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774375" y="502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fld id="{801916E0-8CAD-4ED9-AE5B-00F940BF32AD}" type="slidenum">
              <a:rPr lang="en-US" sz="1050" b="1" kern="0" spc="10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fld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68680" y="1051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 eigentliche Risiko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Excel-Demo ist nur der sichtbare Teil. Kritisch wird es durch </a:t>
            </a:r>
            <a:r>
              <a:rPr lang="en-US" sz="170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</a:t>
            </a:r>
            <a:r>
              <a:rPr lang="en-US" sz="17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Fehlerkette</a:t>
            </a:r>
            <a:r>
              <a:rPr lang="en-US" sz="17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beginnend bei Keycloak.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880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D2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scheduler.json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68680" y="3291840"/>
            <a:ext cx="10454335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41071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webOrigins: ["*"]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51015" y="341071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D2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Origin erlaubt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3950208"/>
            <a:ext cx="10454335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0690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implicitFlowEnabled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51015" y="40690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D2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veralteter Flow aktiv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68680" y="4608576"/>
            <a:ext cx="10454335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72744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directAccessGrants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51015" y="47274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D2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Passwort-Grant aktiv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535838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Veraltete Flows und eine Wildcard bei den Web-Origins - </a:t>
            </a:r>
            <a:r>
              <a:rPr lang="en-US" sz="1350" i="1" dirty="0" err="1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</a:t>
            </a:r>
            <a:r>
              <a:rPr lang="en-US" sz="1350" i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i="1" dirty="0" err="1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breit</a:t>
            </a:r>
            <a:r>
              <a:rPr lang="en-US" sz="1350" i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für einen SPA-Client.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KRITISCHES RISIKO · ACCOUNT-TAKEOVER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774375" y="502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fld id="{C0AE6D57-F194-40B8-81E4-788C66D9407D}" type="slidenum">
              <a:rPr lang="en-US" sz="1050" b="1" kern="0" spc="100" smtClean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fld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68680" y="1051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Token-Diebstahl als Fehlerkette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</a:t>
            </a:r>
            <a:r>
              <a:rPr lang="en-US" sz="16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dieselbe</a:t>
            </a:r>
            <a:r>
              <a:rPr lang="en-US" sz="16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CORS-</a:t>
            </a:r>
            <a:r>
              <a:rPr lang="en-US" sz="16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Lücke</a:t>
            </a:r>
            <a:r>
              <a:rPr lang="en-US" sz="16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 der API </a:t>
            </a:r>
            <a:r>
              <a:rPr lang="en-US" sz="16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wird</a:t>
            </a:r>
            <a:r>
              <a:rPr lang="en-US" sz="16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aus Mitlesen </a:t>
            </a:r>
            <a:r>
              <a:rPr lang="en-US" sz="16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</a:t>
            </a:r>
            <a:r>
              <a:rPr lang="en-US" sz="16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vollständige</a:t>
            </a:r>
            <a:r>
              <a:rPr lang="en-US" sz="16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Identitätsübernahme</a:t>
            </a:r>
            <a:r>
              <a:rPr lang="en-US" sz="16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080897" y="28986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A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83665" y="2898648"/>
            <a:ext cx="10877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566312" y="2898648"/>
            <a:ext cx="5059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Nutzer</a:t>
            </a:r>
            <a:r>
              <a:rPr lang="en-US" sz="14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</a:t>
            </a:r>
            <a:r>
              <a:rPr lang="en-US" sz="14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angemeldet</a:t>
            </a:r>
            <a:r>
              <a:rPr lang="en-US" sz="14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gültiges</a:t>
            </a:r>
            <a:r>
              <a:rPr lang="en-US" sz="14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Bearer-Token </a:t>
            </a:r>
            <a:r>
              <a:rPr lang="en-US" sz="14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liegt</a:t>
            </a:r>
            <a:r>
              <a:rPr lang="en-US" sz="14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</a:t>
            </a:r>
            <a:r>
              <a:rPr lang="en-US" sz="14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Browser.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1245489" y="3419856"/>
            <a:ext cx="0" cy="256032"/>
          </a:xfrm>
          <a:prstGeom prst="line">
            <a:avLst/>
          </a:prstGeom>
          <a:noFill/>
          <a:ln w="15875">
            <a:solidFill>
              <a:srgbClr val="D2D8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0897" y="373989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A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83665" y="3739896"/>
            <a:ext cx="10877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/session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312" y="3739896"/>
            <a:ext cx="5059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Fremde</a:t>
            </a:r>
            <a:r>
              <a:rPr lang="en-US" sz="14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Seite liest die Antwort dank offenem CORS.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1245489" y="4261104"/>
            <a:ext cx="0" cy="256032"/>
          </a:xfrm>
          <a:prstGeom prst="line">
            <a:avLst/>
          </a:prstGeom>
          <a:noFill/>
          <a:ln w="15875">
            <a:solidFill>
              <a:srgbClr val="D2D8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0897" y="458114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A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83665" y="4581144"/>
            <a:ext cx="10877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Leaking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66312" y="4581144"/>
            <a:ext cx="5059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</a:t>
            </a:r>
            <a:r>
              <a:rPr lang="en-US" sz="14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gültige</a:t>
            </a:r>
            <a:r>
              <a:rPr lang="en-US" sz="14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Bearer-Token </a:t>
            </a:r>
            <a:r>
              <a:rPr lang="en-US" sz="14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wird</a:t>
            </a:r>
            <a:r>
              <a:rPr lang="en-US" sz="14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</a:t>
            </a:r>
            <a:r>
              <a:rPr lang="en-US" sz="14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Klartext</a:t>
            </a:r>
            <a:r>
              <a:rPr lang="en-US" sz="14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ausgelesen</a:t>
            </a:r>
            <a:r>
              <a:rPr lang="en-US" sz="14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1245489" y="5102352"/>
            <a:ext cx="0" cy="256032"/>
          </a:xfrm>
          <a:prstGeom prst="line">
            <a:avLst/>
          </a:prstGeom>
          <a:noFill/>
          <a:ln w="15875">
            <a:solidFill>
              <a:srgbClr val="D2D8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80897" y="54223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23B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883665" y="5422392"/>
            <a:ext cx="10877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Takeover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566312" y="5422392"/>
            <a:ext cx="5059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Angreifer </a:t>
            </a:r>
            <a:r>
              <a:rPr lang="en-US" sz="14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agiert</a:t>
            </a:r>
            <a:r>
              <a:rPr lang="en-US" sz="14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</a:t>
            </a:r>
            <a:r>
              <a:rPr lang="en-US" sz="14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als der Nutzer.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 · ARCHITEKTUR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774375" y="502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fld id="{2C4C7C6B-CBEA-4E45-A7C9-6509837A386B}" type="slidenum">
              <a:rPr lang="en-US" sz="1050" b="1" kern="0" spc="100" smtClean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fld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68680" y="10515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 </a:t>
            </a:r>
            <a:r>
              <a:rPr lang="en-US" sz="3400" b="1" dirty="0" err="1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Zusammenspiel</a:t>
            </a:r>
            <a:r>
              <a:rPr lang="en-US" sz="34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der </a:t>
            </a:r>
            <a:r>
              <a:rPr lang="en-US" sz="3400" b="1" dirty="0" err="1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Schwachstellen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</a:t>
            </a:r>
            <a:r>
              <a:rPr lang="en-US" sz="170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Einzel-Lücke</a:t>
            </a:r>
            <a:r>
              <a:rPr lang="en-US" sz="17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70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sondern</a:t>
            </a:r>
            <a:r>
              <a:rPr lang="en-US" sz="17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DE" sz="17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Schichten machen es kritisch</a:t>
            </a:r>
          </a:p>
        </p:txBody>
      </p:sp>
      <p:sp>
        <p:nvSpPr>
          <p:cNvPr id="6" name="Shape 4"/>
          <p:cNvSpPr/>
          <p:nvPr/>
        </p:nvSpPr>
        <p:spPr>
          <a:xfrm>
            <a:off x="868680" y="2743200"/>
            <a:ext cx="10454335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889504"/>
            <a:ext cx="104543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Offenes CORS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310128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weicht die Browser-Sperre für fremde Origins auf.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3822192"/>
            <a:ext cx="10454335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968496"/>
            <a:ext cx="104543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Unauthentifizierter /files-Endpunkt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68680" y="4389120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liefert Datei-Exporte ohne Anmeldung.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4901184"/>
            <a:ext cx="10454335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5047488"/>
            <a:ext cx="104543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 err="1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Unsichere</a:t>
            </a:r>
            <a:r>
              <a:rPr lang="en-US" sz="19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Keycloak-Regeln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68680" y="5468112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Wildcard-Origins und veraltete Token-Flows.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774375" y="502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fld id="{D74E9D49-C6E6-4B11-A2CD-BBB578FABE2E}" type="slidenum">
              <a:rPr lang="en-US" sz="1050" b="1" kern="0" spc="10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fld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68680" y="1188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Fazit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68680" y="2103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CORS ist kein Schutz - es weicht die Browser-Sperre kontrolliert auf.</a:t>
            </a:r>
          </a:p>
          <a:p>
            <a:pPr marL="0" indent="0">
              <a:buNone/>
            </a:pPr>
            <a:r>
              <a:rPr lang="en-US" sz="21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 </a:t>
            </a:r>
            <a:r>
              <a:rPr lang="en-US" sz="2100" b="1" dirty="0" err="1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prüft</a:t>
            </a:r>
            <a:r>
              <a:rPr lang="en-US" sz="21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die Rechte.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68680" y="3200400"/>
            <a:ext cx="10454335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429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1E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FINALE LÖSUNG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794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A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08760" y="3794760"/>
            <a:ext cx="9814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Saubere Trennung von Dev- und Prod-Properties.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4343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A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4343400"/>
            <a:ext cx="9814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Authentifizierung</a:t>
            </a:r>
            <a:r>
              <a:rPr lang="en-US" sz="16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für Datei-Exporte erzwingen.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4892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A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508760" y="4892040"/>
            <a:ext cx="9814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Keycloak-Wildcards schliessen, veraltete Flows deaktivieren.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5440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A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5440680"/>
            <a:ext cx="9814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Feste CORS-Allowlist statt Origin-Spiegelung.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458</Words>
  <Application>Microsoft Office PowerPoint</Application>
  <PresentationFormat>Breitbild</PresentationFormat>
  <Paragraphs>106</Paragraphs>
  <Slides>8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Trebuchet MS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CORS - Live-Demo &amp; kritisches Risiko (scheduler)</dc:title>
  <dc:subject>PptxGenJS Presentation</dc:subject>
  <dc:creator>Tom</dc:creator>
  <cp:lastModifiedBy>Tom Markmann</cp:lastModifiedBy>
  <cp:revision>16</cp:revision>
  <dcterms:created xsi:type="dcterms:W3CDTF">2026-06-09T12:31:34Z</dcterms:created>
  <dcterms:modified xsi:type="dcterms:W3CDTF">2026-06-10T06:41:23Z</dcterms:modified>
</cp:coreProperties>
</file>